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96" r:id="rId3"/>
    <p:sldId id="295" r:id="rId5"/>
    <p:sldId id="344" r:id="rId6"/>
    <p:sldId id="299" r:id="rId7"/>
    <p:sldId id="268" r:id="rId8"/>
    <p:sldId id="348" r:id="rId9"/>
    <p:sldId id="269" r:id="rId10"/>
    <p:sldId id="297" r:id="rId11"/>
    <p:sldId id="271" r:id="rId12"/>
    <p:sldId id="318" r:id="rId13"/>
    <p:sldId id="319" r:id="rId14"/>
    <p:sldId id="373" r:id="rId15"/>
    <p:sldId id="272" r:id="rId16"/>
    <p:sldId id="273" r:id="rId17"/>
    <p:sldId id="355" r:id="rId18"/>
    <p:sldId id="275" r:id="rId19"/>
    <p:sldId id="316" r:id="rId20"/>
    <p:sldId id="276" r:id="rId21"/>
    <p:sldId id="354" r:id="rId22"/>
    <p:sldId id="337" r:id="rId23"/>
    <p:sldId id="349" r:id="rId24"/>
    <p:sldId id="278" r:id="rId25"/>
    <p:sldId id="372" r:id="rId26"/>
  </p:sldIdLst>
  <p:sldSz cx="9144000" cy="6858000" type="screen4x3"/>
  <p:notesSz cx="6858000" cy="9144000"/>
  <p:custDataLst>
    <p:tags r:id="rId31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98" d="100"/>
          <a:sy n="98" d="100"/>
        </p:scale>
        <p:origin x="101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792" y="-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11A6BC-E67A-44EE-84FC-223B23A29AE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25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FB669E7-BE37-4B96-B4DF-711B375E83D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371A00-80BD-440E-9ADE-0C4839A8801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5302A5-FD5F-4444-8E93-A889191348C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A721021-8CBD-4DE7-97AF-D620A8277251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24ECE48-81CD-4697-B3D6-620919396B2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17C24F-1E6D-444C-9F82-30513E4A8B2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F3E5D45-3996-4352-ACBB-A2D3E7EB98A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F0852B2-A95E-450F-B605-8DF6E642D33D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AACCFD2-4DF5-4C4F-A2CC-FD5DDCC7ECA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C9B372-751F-4B41-BAD2-9FB7128621DB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FE10B67-5337-4223-B732-B8AB963DAD9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E530C5-0B99-4B78-99C1-686E30F2B91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4BAA066-3A1A-4910-8C48-1291EE5A8DA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D9606E-2954-4485-B57A-9075A98694C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B3B0D6-43A7-4F13-9927-D50BFB0C7D3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993DF9-BF2B-483B-A0C3-38325238915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9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1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7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9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2311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82312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77A95-F7B2-4ED3-99FF-0D67A16961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F9D8A-9DC0-4D69-8518-70DAC50E02B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3C663-9117-46D0-9789-D5619FE2B8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3B85D-2992-4DFB-83D6-51CB1C834B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D6E0C-F80F-49F4-8C8C-7F9E6D0ECD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330E0-7745-4ED6-8FBB-23F99CC5CA3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FB96D-3462-4B06-A9CA-C60B793F29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E4DCF-1570-460A-A8CA-8C8649290F5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6D502-E51D-45FE-B1DA-4830384FD9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CEB86-CDF0-4D24-8D89-440C53158E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B6234-A516-440E-9EA5-DA6DCE3BF4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2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81251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52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53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035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81255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6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7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8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59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0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1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2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3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4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5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6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81267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1268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69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1270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39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75 w 717"/>
                <a:gd name="T1" fmla="*/ 845 h 845"/>
                <a:gd name="T2" fmla="*/ 775 w 717"/>
                <a:gd name="T3" fmla="*/ 821 h 845"/>
                <a:gd name="T4" fmla="*/ 632 w 717"/>
                <a:gd name="T5" fmla="*/ 605 h 845"/>
                <a:gd name="T6" fmla="*/ 435 w 717"/>
                <a:gd name="T7" fmla="*/ 396 h 845"/>
                <a:gd name="T8" fmla="*/ 25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38 w 717"/>
                <a:gd name="T15" fmla="*/ 198 h 845"/>
                <a:gd name="T16" fmla="*/ 429 w 717"/>
                <a:gd name="T17" fmla="*/ 408 h 845"/>
                <a:gd name="T18" fmla="*/ 626 w 717"/>
                <a:gd name="T19" fmla="*/ 623 h 845"/>
                <a:gd name="T20" fmla="*/ 775 w 717"/>
                <a:gd name="T21" fmla="*/ 845 h 845"/>
                <a:gd name="T22" fmla="*/ 77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36 w 407"/>
                <a:gd name="T1" fmla="*/ 414 h 414"/>
                <a:gd name="T2" fmla="*/ 436 w 407"/>
                <a:gd name="T3" fmla="*/ 396 h 414"/>
                <a:gd name="T4" fmla="*/ 25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45 w 407"/>
                <a:gd name="T13" fmla="*/ 204 h 414"/>
                <a:gd name="T14" fmla="*/ 436 w 407"/>
                <a:gd name="T15" fmla="*/ 414 h 414"/>
                <a:gd name="T16" fmla="*/ 43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3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42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44 w 586"/>
                <a:gd name="T1" fmla="*/ 0 h 599"/>
                <a:gd name="T2" fmla="*/ 626 w 586"/>
                <a:gd name="T3" fmla="*/ 0 h 599"/>
                <a:gd name="T4" fmla="*/ 436 w 586"/>
                <a:gd name="T5" fmla="*/ 132 h 599"/>
                <a:gd name="T6" fmla="*/ 28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86 w 586"/>
                <a:gd name="T17" fmla="*/ 282 h 599"/>
                <a:gd name="T18" fmla="*/ 444 w 586"/>
                <a:gd name="T19" fmla="*/ 138 h 599"/>
                <a:gd name="T20" fmla="*/ 644 w 586"/>
                <a:gd name="T21" fmla="*/ 0 h 599"/>
                <a:gd name="T22" fmla="*/ 64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98 w 269"/>
                <a:gd name="T1" fmla="*/ 0 h 252"/>
                <a:gd name="T2" fmla="*/ 28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98 w 269"/>
                <a:gd name="T15" fmla="*/ 0 h 252"/>
                <a:gd name="T16" fmla="*/ 29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1287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81288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89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90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43955B6-121D-4605-991E-437CBD3DEA0A}" type="slidenum">
              <a:rPr lang="en-US" altLang="zh-CN"/>
            </a:fld>
            <a:endParaRPr lang="en-US" altLang="zh-CN"/>
          </a:p>
        </p:txBody>
      </p:sp>
      <p:sp>
        <p:nvSpPr>
          <p:cNvPr id="181291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程序设计概述</a:t>
            </a:r>
            <a:endParaRPr lang="zh-CN" altLang="en-US" dirty="0" smtClean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什么是程序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什么是程序设计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程序设计范式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程序设计步骤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程序设计语言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040560"/>
          </a:xfrm>
        </p:spPr>
        <p:txBody>
          <a:bodyPr>
            <a:normAutofit/>
          </a:bodyPr>
          <a:lstStyle/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用计算机来解决实际</a:t>
            </a:r>
            <a:r>
              <a:rPr lang="zh-CN" altLang="en-US" dirty="0"/>
              <a:t>问题是通过用计算机</a:t>
            </a:r>
            <a:r>
              <a:rPr lang="zh-CN" altLang="en-US" dirty="0">
                <a:solidFill>
                  <a:srgbClr val="FFC000"/>
                </a:solidFill>
              </a:rPr>
              <a:t>程序</a:t>
            </a:r>
            <a:r>
              <a:rPr lang="zh-CN" altLang="en-US" dirty="0"/>
              <a:t>对反映实际问题的一些</a:t>
            </a:r>
            <a:r>
              <a:rPr lang="zh-CN" altLang="en-US" dirty="0">
                <a:solidFill>
                  <a:srgbClr val="FFC000"/>
                </a:solidFill>
              </a:rPr>
              <a:t>数据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FFC000"/>
                </a:solidFill>
              </a:rPr>
              <a:t>处理</a:t>
            </a:r>
            <a:r>
              <a:rPr lang="zh-CN" altLang="en-US" dirty="0"/>
              <a:t>来实现的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程序的组成：</a:t>
            </a:r>
            <a:endParaRPr lang="zh-CN" altLang="en-US" dirty="0"/>
          </a:p>
          <a:p>
            <a:pPr marL="357505" indent="-357505" eaLnBrk="1" hangingPunct="1">
              <a:lnSpc>
                <a:spcPct val="110000"/>
              </a:lnSpc>
              <a:buNone/>
              <a:defRPr/>
            </a:pPr>
            <a:r>
              <a:rPr lang="zh-CN" altLang="en-US" dirty="0"/>
              <a:t>		</a:t>
            </a:r>
            <a:r>
              <a:rPr lang="zh-CN" altLang="en-US" b="1" dirty="0">
                <a:solidFill>
                  <a:srgbClr val="FFC000"/>
                </a:solidFill>
              </a:rPr>
              <a:t>程序</a:t>
            </a:r>
            <a:r>
              <a:rPr lang="zh-CN" altLang="en-US" b="1" dirty="0"/>
              <a:t> </a:t>
            </a:r>
            <a:r>
              <a:rPr lang="en-US" altLang="zh-CN" b="1" dirty="0"/>
              <a:t>= </a:t>
            </a:r>
            <a:r>
              <a:rPr lang="zh-CN" altLang="en-US" b="1" dirty="0">
                <a:solidFill>
                  <a:srgbClr val="FFC000"/>
                </a:solidFill>
              </a:rPr>
              <a:t>算法</a:t>
            </a:r>
            <a:r>
              <a:rPr lang="zh-CN" altLang="en-US" b="1" dirty="0"/>
              <a:t> </a:t>
            </a:r>
            <a:r>
              <a:rPr lang="en-US" altLang="zh-CN" b="1" dirty="0"/>
              <a:t>+ </a:t>
            </a:r>
            <a:r>
              <a:rPr lang="zh-CN" altLang="en-US" b="1" dirty="0">
                <a:solidFill>
                  <a:srgbClr val="FFC000"/>
                </a:solidFill>
              </a:rPr>
              <a:t>数据结构</a:t>
            </a:r>
            <a:endParaRPr lang="zh-CN" altLang="en-US" b="1" dirty="0">
              <a:solidFill>
                <a:srgbClr val="FFC000"/>
              </a:solidFill>
            </a:endParaRPr>
          </a:p>
          <a:p>
            <a:pPr marL="765175" lvl="1" indent="-365125" eaLnBrk="1" hangingPunct="1">
              <a:lnSpc>
                <a:spcPct val="110000"/>
              </a:lnSpc>
              <a:defRPr/>
            </a:pPr>
            <a:r>
              <a:rPr lang="zh-CN" altLang="en-US" dirty="0"/>
              <a:t>数据结构（</a:t>
            </a:r>
            <a:r>
              <a:rPr lang="en-US" altLang="zh-CN" dirty="0"/>
              <a:t>data structure</a:t>
            </a:r>
            <a:r>
              <a:rPr lang="zh-CN" altLang="en-US" dirty="0" smtClean="0"/>
              <a:t>）是</a:t>
            </a:r>
            <a:r>
              <a:rPr lang="zh-CN" altLang="en-US" dirty="0"/>
              <a:t>对反映待解</a:t>
            </a:r>
            <a:r>
              <a:rPr lang="zh-CN" altLang="en-US" dirty="0" smtClean="0"/>
              <a:t>问题的</a:t>
            </a:r>
            <a:r>
              <a:rPr lang="zh-CN" altLang="en-US" dirty="0">
                <a:solidFill>
                  <a:srgbClr val="FFC000"/>
                </a:solidFill>
              </a:rPr>
              <a:t>数据</a:t>
            </a:r>
            <a:r>
              <a:rPr lang="zh-CN" altLang="en-US" dirty="0"/>
              <a:t>的描述。</a:t>
            </a:r>
            <a:endParaRPr lang="en-US" altLang="zh-CN" dirty="0"/>
          </a:p>
          <a:p>
            <a:pPr marL="765175" lvl="1" indent="-36512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算法</a:t>
            </a:r>
            <a:r>
              <a:rPr lang="zh-CN" altLang="en-US" dirty="0"/>
              <a:t>（</a:t>
            </a:r>
            <a:r>
              <a:rPr lang="en-US" altLang="zh-CN" dirty="0"/>
              <a:t>algorithm</a:t>
            </a:r>
            <a:r>
              <a:rPr lang="zh-CN" altLang="en-US" dirty="0"/>
              <a:t>）是指对数据的</a:t>
            </a:r>
            <a:r>
              <a:rPr lang="zh-CN" altLang="en-US" dirty="0" smtClean="0">
                <a:solidFill>
                  <a:srgbClr val="FFC000"/>
                </a:solidFill>
              </a:rPr>
              <a:t>加工处理步骤</a:t>
            </a:r>
            <a:r>
              <a:rPr lang="zh-CN" altLang="en-US" dirty="0"/>
              <a:t>的描述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程序（</a:t>
            </a:r>
            <a:r>
              <a:rPr lang="en-US" altLang="zh-CN" dirty="0" smtClean="0"/>
              <a:t>Program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程序设计（</a:t>
            </a:r>
            <a:r>
              <a:rPr lang="en-US" altLang="zh-CN" dirty="0" smtClean="0"/>
              <a:t>Programming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要使得计算机能完成各种任务，就必须为它编写相应的程序。 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程序设计</a:t>
            </a:r>
            <a:r>
              <a:rPr lang="zh-CN" altLang="en-US" dirty="0" smtClean="0"/>
              <a:t>就是为计算机编写程序的过程（有时简称为</a:t>
            </a:r>
            <a:r>
              <a:rPr lang="zh-CN" altLang="en-US" dirty="0" smtClean="0">
                <a:solidFill>
                  <a:srgbClr val="FFC000"/>
                </a:solidFill>
              </a:rPr>
              <a:t>编程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程序设计要涉及：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程序设计范式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程序设计步骤 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程序设计语言</a:t>
            </a:r>
            <a:r>
              <a:rPr lang="zh-CN" altLang="en-US" dirty="0" smtClean="0"/>
              <a:t>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36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程序设计范式 </a:t>
            </a:r>
            <a:endParaRPr lang="zh-CN" alt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412" y="1340768"/>
            <a:ext cx="8353052" cy="5040560"/>
          </a:xfrm>
        </p:spPr>
        <p:txBody>
          <a:bodyPr>
            <a:normAutofit lnSpcReduction="10000"/>
          </a:bodyPr>
          <a:lstStyle/>
          <a:p>
            <a:pPr marL="365125" indent="-365125" eaLnBrk="1" hangingPunct="1">
              <a:lnSpc>
                <a:spcPct val="120000"/>
              </a:lnSpc>
              <a:defRPr/>
            </a:pPr>
            <a:r>
              <a:rPr lang="zh-CN" altLang="en-US" dirty="0"/>
              <a:t>如何看待和组织算法和</a:t>
            </a:r>
            <a:r>
              <a:rPr lang="zh-CN" altLang="en-US" dirty="0" smtClean="0"/>
              <a:t>数据结构存在</a:t>
            </a:r>
            <a:r>
              <a:rPr lang="zh-CN" altLang="en-US" dirty="0"/>
              <a:t>着不同的做法，从而形成不同的</a:t>
            </a:r>
            <a:r>
              <a:rPr lang="zh-CN" altLang="en-US" dirty="0">
                <a:solidFill>
                  <a:srgbClr val="FFC000"/>
                </a:solidFill>
              </a:rPr>
              <a:t>程序设计范式</a:t>
            </a:r>
            <a:r>
              <a:rPr lang="zh-CN" altLang="en-US" dirty="0"/>
              <a:t>（</a:t>
            </a:r>
            <a:r>
              <a:rPr lang="en-US" altLang="zh-CN" sz="2600" dirty="0"/>
              <a:t>programming paradigms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marL="765175" lvl="1" indent="-36512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程序设计范式是</a:t>
            </a:r>
            <a:r>
              <a:rPr lang="zh-CN" altLang="en-US" dirty="0"/>
              <a:t>设计、组织和编写程序的一种</a:t>
            </a:r>
            <a:r>
              <a:rPr lang="zh-CN" altLang="en-US" dirty="0" smtClean="0"/>
              <a:t>方式，它包含了一组</a:t>
            </a:r>
            <a:r>
              <a:rPr lang="zh-CN" altLang="en-US" dirty="0" smtClean="0">
                <a:solidFill>
                  <a:srgbClr val="FFC000"/>
                </a:solidFill>
              </a:rPr>
              <a:t>理论</a:t>
            </a:r>
            <a:r>
              <a:rPr lang="zh-CN" altLang="en-US" dirty="0">
                <a:solidFill>
                  <a:srgbClr val="FFC000"/>
                </a:solidFill>
              </a:rPr>
              <a:t>、原则和</a:t>
            </a:r>
            <a:r>
              <a:rPr lang="zh-CN" altLang="en-US" dirty="0" smtClean="0">
                <a:solidFill>
                  <a:srgbClr val="FFC000"/>
                </a:solidFill>
              </a:rPr>
              <a:t>概念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765175" lvl="1" indent="-36512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不同</a:t>
            </a:r>
            <a:r>
              <a:rPr lang="zh-CN" altLang="en-US" dirty="0"/>
              <a:t>的范式将采用不同的程序结构和程序元素来描述</a:t>
            </a:r>
            <a:r>
              <a:rPr lang="zh-CN" altLang="en-US" dirty="0" smtClean="0"/>
              <a:t>程序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marL="765175" lvl="1" indent="-36512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范式</a:t>
            </a:r>
            <a:r>
              <a:rPr lang="zh-CN" altLang="en-US" dirty="0"/>
              <a:t>具有针对性，不同的范式往往适合于解决不同类型的问题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US" dirty="0"/>
              <a:t>典型的程序设计范式有：</a:t>
            </a:r>
            <a:endParaRPr lang="zh-CN" altLang="en-US" dirty="0"/>
          </a:p>
          <a:p>
            <a:pPr marL="916305" lvl="1" eaLnBrk="1" hangingPunct="1">
              <a:lnSpc>
                <a:spcPct val="110000"/>
              </a:lnSpc>
              <a:defRPr/>
            </a:pPr>
            <a:r>
              <a:rPr lang="zh-CN" altLang="en-US" dirty="0"/>
              <a:t>过程式</a:t>
            </a:r>
            <a:endParaRPr lang="zh-CN" altLang="en-US" dirty="0"/>
          </a:p>
          <a:p>
            <a:pPr marL="916305" lvl="1" eaLnBrk="1" hangingPunct="1">
              <a:lnSpc>
                <a:spcPct val="110000"/>
              </a:lnSpc>
              <a:defRPr/>
            </a:pPr>
            <a:r>
              <a:rPr lang="zh-CN" altLang="en-US" dirty="0"/>
              <a:t>对象式</a:t>
            </a:r>
            <a:endParaRPr lang="zh-CN" altLang="en-US" dirty="0"/>
          </a:p>
          <a:p>
            <a:pPr marL="916305" lvl="1" eaLnBrk="1" hangingPunct="1">
              <a:lnSpc>
                <a:spcPct val="110000"/>
              </a:lnSpc>
              <a:defRPr/>
            </a:pPr>
            <a:r>
              <a:rPr lang="zh-CN" altLang="en-US" dirty="0"/>
              <a:t>函数式</a:t>
            </a:r>
            <a:endParaRPr lang="zh-CN" altLang="en-US" dirty="0"/>
          </a:p>
          <a:p>
            <a:pPr marL="916305"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逻辑式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过程式程序设计</a:t>
            </a:r>
            <a:endParaRPr lang="zh-CN" alt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604250" cy="5256213"/>
          </a:xfrm>
        </p:spPr>
        <p:txBody>
          <a:bodyPr>
            <a:normAutofit fontScale="92500" lnSpcReduction="10000"/>
          </a:bodyPr>
          <a:lstStyle/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一种以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功能</a:t>
            </a:r>
            <a:r>
              <a:rPr lang="zh-CN" altLang="en-US" sz="2800" dirty="0" smtClean="0"/>
              <a:t>或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操作</a:t>
            </a:r>
            <a:r>
              <a:rPr lang="zh-CN" altLang="en-US" sz="2800" dirty="0" smtClean="0"/>
              <a:t>为中心、基于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功能分解</a:t>
            </a:r>
            <a:r>
              <a:rPr lang="zh-CN" altLang="en-US" sz="2800" dirty="0" smtClean="0"/>
              <a:t>和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复合</a:t>
            </a:r>
            <a:r>
              <a:rPr lang="zh-CN" altLang="en-US" sz="2800" dirty="0" smtClean="0"/>
              <a:t>的程序设计范式。</a:t>
            </a:r>
            <a:endParaRPr lang="zh-CN" altLang="en-US" sz="2800" dirty="0" smtClean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程序</a:t>
            </a:r>
            <a:r>
              <a:rPr lang="zh-CN" altLang="en-US" sz="2800" dirty="0"/>
              <a:t>由一些</a:t>
            </a:r>
            <a:r>
              <a:rPr lang="zh-CN" altLang="en-US" sz="2800" dirty="0">
                <a:solidFill>
                  <a:srgbClr val="FFC000"/>
                </a:solidFill>
              </a:rPr>
              <a:t>子程序</a:t>
            </a:r>
            <a:r>
              <a:rPr lang="zh-CN" altLang="en-US" sz="2800" dirty="0"/>
              <a:t>构成，每个子程序对应一个子</a:t>
            </a:r>
            <a:r>
              <a:rPr lang="zh-CN" altLang="en-US" sz="2800" dirty="0" smtClean="0"/>
              <a:t>功能</a:t>
            </a:r>
            <a:r>
              <a:rPr lang="zh-CN" altLang="en-US" sz="2800" dirty="0"/>
              <a:t>；</a:t>
            </a:r>
            <a:r>
              <a:rPr lang="zh-CN" altLang="en-US" sz="2800" dirty="0" smtClean="0"/>
              <a:t>子程序由一系列</a:t>
            </a:r>
            <a:r>
              <a:rPr lang="zh-CN" altLang="en-US" sz="2800" dirty="0"/>
              <a:t>的操作（操作步骤</a:t>
            </a:r>
            <a:r>
              <a:rPr lang="zh-CN" altLang="en-US" sz="2800" dirty="0" smtClean="0"/>
              <a:t>）构成，它</a:t>
            </a:r>
            <a:r>
              <a:rPr lang="zh-CN" altLang="en-US" sz="2800" dirty="0"/>
              <a:t>是操作的封装体，实现了</a:t>
            </a:r>
            <a:r>
              <a:rPr lang="zh-CN" altLang="en-US" sz="2800" dirty="0">
                <a:solidFill>
                  <a:srgbClr val="FFC000"/>
                </a:solidFill>
              </a:rPr>
              <a:t>过程抽象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sz="2800" dirty="0"/>
              <a:t>程序的执行过程体现为一系列的子程序调用。</a:t>
            </a:r>
            <a:endParaRPr lang="zh-CN" altLang="en-US" sz="2800" dirty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sz="2800" dirty="0"/>
              <a:t>在过程式程序中，数据处于附属地位，它独立于子程序，在子程序调用时通过参数或全局变量传给子程序使用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早期</a:t>
            </a:r>
            <a:r>
              <a:rPr lang="zh-CN" altLang="en-US" sz="2800" dirty="0"/>
              <a:t>的程序设计大都采用了过程式程序设计范式，它与冯</a:t>
            </a:r>
            <a:r>
              <a:rPr lang="en-US" altLang="zh-CN" sz="2800" dirty="0" smtClean="0"/>
              <a:t>•</a:t>
            </a:r>
            <a:r>
              <a:rPr lang="zh-CN" altLang="en-US" sz="2800" dirty="0" smtClean="0"/>
              <a:t>诺依曼计算模型有着直接的对应。</a:t>
            </a:r>
            <a:endParaRPr lang="en-US" altLang="zh-CN" sz="2800" dirty="0" smtClean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本课程</a:t>
            </a:r>
            <a:r>
              <a:rPr lang="zh-CN" altLang="en-US" sz="2800" dirty="0">
                <a:solidFill>
                  <a:srgbClr val="FFC000"/>
                </a:solidFill>
              </a:rPr>
              <a:t>重点介绍过程式程序设计</a:t>
            </a:r>
            <a:r>
              <a:rPr lang="zh-CN" altLang="en-US" sz="2800" dirty="0" smtClean="0">
                <a:solidFill>
                  <a:srgbClr val="FFC000"/>
                </a:solidFill>
              </a:rPr>
              <a:t>范式。</a:t>
            </a:r>
            <a:endParaRPr lang="en-US" altLang="zh-CN" sz="28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对象式（面向对象） 程序设计</a:t>
            </a:r>
            <a:endParaRPr lang="zh-CN" altLang="en-US" smtClean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12875"/>
            <a:ext cx="8641085" cy="4968453"/>
          </a:xfrm>
        </p:spPr>
        <p:txBody>
          <a:bodyPr>
            <a:normAutofit fontScale="92500"/>
          </a:bodyPr>
          <a:lstStyle/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一种以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数据</a:t>
            </a:r>
            <a:r>
              <a:rPr lang="zh-CN" altLang="en-US" sz="2800" dirty="0" smtClean="0"/>
              <a:t>为中心、基于</a:t>
            </a:r>
            <a:r>
              <a:rPr lang="zh-CN" altLang="en-US" sz="2800" dirty="0" smtClean="0">
                <a:solidFill>
                  <a:srgbClr val="FFC000"/>
                </a:solidFill>
              </a:rPr>
              <a:t>对象</a:t>
            </a:r>
            <a:r>
              <a:rPr lang="zh-CN" altLang="en-US" sz="2800" dirty="0" smtClean="0"/>
              <a:t>的程序设计范式。</a:t>
            </a:r>
            <a:endParaRPr lang="zh-CN" altLang="en-US" sz="28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程序</a:t>
            </a:r>
            <a:r>
              <a:rPr lang="zh-CN" altLang="en-US" sz="2800" dirty="0"/>
              <a:t>由一些</a:t>
            </a:r>
            <a:r>
              <a:rPr lang="zh-CN" altLang="en-US" sz="2800" dirty="0">
                <a:solidFill>
                  <a:srgbClr val="FFC000"/>
                </a:solidFill>
              </a:rPr>
              <a:t>对象</a:t>
            </a:r>
            <a:r>
              <a:rPr lang="zh-CN" altLang="en-US" sz="2800" dirty="0"/>
              <a:t>构成，对象是由一些数据及可施于这些数据上的操作所组成的封装</a:t>
            </a:r>
            <a:r>
              <a:rPr lang="zh-CN" altLang="en-US" sz="2800" dirty="0" smtClean="0"/>
              <a:t>体，实现了</a:t>
            </a:r>
            <a:r>
              <a:rPr lang="zh-CN" altLang="en-US" sz="2800" dirty="0">
                <a:solidFill>
                  <a:schemeClr val="folHlink"/>
                </a:solidFill>
              </a:rPr>
              <a:t>数据抽象</a:t>
            </a:r>
            <a:r>
              <a:rPr lang="zh-CN" altLang="en-US" sz="2800" dirty="0" smtClean="0"/>
              <a:t>。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对象的特征由相应的</a:t>
            </a:r>
            <a:r>
              <a:rPr lang="zh-CN" altLang="en-US" sz="2800" dirty="0">
                <a:solidFill>
                  <a:srgbClr val="FFC000"/>
                </a:solidFill>
              </a:rPr>
              <a:t>类</a:t>
            </a:r>
            <a:r>
              <a:rPr lang="zh-CN" altLang="en-US" sz="2800" dirty="0"/>
              <a:t>来描述，一个类描述的对象特征可以从其它的类获得（</a:t>
            </a:r>
            <a:r>
              <a:rPr lang="zh-CN" altLang="en-US" sz="2800" dirty="0">
                <a:solidFill>
                  <a:srgbClr val="FFC000"/>
                </a:solidFill>
              </a:rPr>
              <a:t>继承</a:t>
            </a:r>
            <a:r>
              <a:rPr lang="zh-CN" altLang="en-US" sz="2800" dirty="0"/>
              <a:t>）。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程序的执行过程体现为各个对象之间相互发送和处理</a:t>
            </a:r>
            <a:r>
              <a:rPr lang="zh-CN" altLang="en-US" sz="2800" dirty="0">
                <a:solidFill>
                  <a:srgbClr val="FFC000"/>
                </a:solidFill>
              </a:rPr>
              <a:t>消息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在面向对象程序中，数据表现为对象的属性，对数据的操作是</a:t>
            </a:r>
            <a:r>
              <a:rPr lang="zh-CN" altLang="en-US" sz="2800" dirty="0" smtClean="0"/>
              <a:t>通过向包含数据的对象发送消息之后调用对象类提供</a:t>
            </a:r>
            <a:r>
              <a:rPr lang="zh-CN" altLang="en-US" sz="2800" dirty="0"/>
              <a:t>的</a:t>
            </a:r>
            <a:r>
              <a:rPr lang="zh-CN" altLang="en-US" sz="2800" dirty="0" smtClean="0"/>
              <a:t>操作来实现的。</a:t>
            </a:r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函数式与逻辑式 </a:t>
            </a:r>
            <a:endParaRPr lang="zh-CN" altLang="en-US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785225" cy="525693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函数式程序设计</a:t>
            </a:r>
            <a:endParaRPr lang="en-US" altLang="zh-CN" sz="2800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围绕</a:t>
            </a:r>
            <a:r>
              <a:rPr lang="zh-CN" altLang="en-US" sz="2400" dirty="0" smtClean="0">
                <a:solidFill>
                  <a:srgbClr val="FFC000"/>
                </a:solidFill>
              </a:rPr>
              <a:t>函数</a:t>
            </a:r>
            <a:r>
              <a:rPr lang="zh-CN" altLang="en-US" sz="2400" dirty="0" smtClean="0"/>
              <a:t>来进行的，计算过程体现为一系列的</a:t>
            </a:r>
            <a:r>
              <a:rPr lang="zh-CN" altLang="en-US" sz="2400" dirty="0" smtClean="0">
                <a:solidFill>
                  <a:srgbClr val="FFC000"/>
                </a:solidFill>
              </a:rPr>
              <a:t>函数应用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Function Application</a:t>
            </a:r>
            <a:r>
              <a:rPr lang="zh-CN" altLang="en-US" sz="2400" dirty="0" smtClean="0"/>
              <a:t>），它基于了递归函数理论和</a:t>
            </a:r>
            <a:r>
              <a:rPr lang="en-US" altLang="zh-CN" sz="2400" dirty="0" smtClean="0">
                <a:solidFill>
                  <a:srgbClr val="FFC000"/>
                </a:solidFill>
              </a:rPr>
              <a:t>lambda</a:t>
            </a:r>
            <a:r>
              <a:rPr lang="zh-CN" altLang="en-US" sz="2400" dirty="0" smtClean="0"/>
              <a:t>演算，其中，函数也被作为值来看待，即，函数的参数和计算结果也可以是函数。</a:t>
            </a:r>
            <a:endParaRPr lang="zh-CN" altLang="en-US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逻辑式程序设计</a:t>
            </a:r>
            <a:endParaRPr lang="en-US" altLang="zh-CN" sz="2800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把程序组织成一组</a:t>
            </a:r>
            <a:r>
              <a:rPr lang="zh-CN" altLang="en-US" sz="2400" dirty="0" smtClean="0">
                <a:solidFill>
                  <a:srgbClr val="FFC000"/>
                </a:solidFill>
              </a:rPr>
              <a:t>事实</a:t>
            </a:r>
            <a:r>
              <a:rPr lang="zh-CN" altLang="en-US" sz="2400" dirty="0" smtClean="0"/>
              <a:t>和一组</a:t>
            </a:r>
            <a:r>
              <a:rPr lang="zh-CN" altLang="en-US" sz="2400" dirty="0" smtClean="0">
                <a:solidFill>
                  <a:srgbClr val="FFC000"/>
                </a:solidFill>
              </a:rPr>
              <a:t>推理规则</a:t>
            </a:r>
            <a:r>
              <a:rPr lang="zh-CN" altLang="en-US" sz="2400" dirty="0" smtClean="0"/>
              <a:t>，在事实基础上运用推理规则来实施计算，它基于的是</a:t>
            </a:r>
            <a:r>
              <a:rPr lang="zh-CN" altLang="en-US" sz="2400" dirty="0" smtClean="0">
                <a:solidFill>
                  <a:srgbClr val="FFC000"/>
                </a:solidFill>
              </a:rPr>
              <a:t>谓词演算</a:t>
            </a:r>
            <a:r>
              <a:rPr lang="zh-CN" altLang="en-US" sz="2400" dirty="0" smtClean="0"/>
              <a:t>（</a:t>
            </a:r>
            <a:r>
              <a:rPr lang="en-US" altLang="zh-CN" sz="2200" dirty="0" smtClean="0"/>
              <a:t>Predicate Calculus</a:t>
            </a:r>
            <a:r>
              <a:rPr lang="zh-CN" altLang="en-US" sz="2400" dirty="0" smtClean="0"/>
              <a:t>）。</a:t>
            </a:r>
            <a:endParaRPr lang="zh-CN" altLang="en-US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上述两种程序设计</a:t>
            </a:r>
            <a:r>
              <a:rPr lang="zh-CN" altLang="en-US" sz="2800" dirty="0" smtClean="0"/>
              <a:t>范式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有</a:t>
            </a:r>
            <a:r>
              <a:rPr lang="zh-CN" altLang="en-US" sz="2400" dirty="0"/>
              <a:t>良好的数学理论支持，易于保证程序的</a:t>
            </a:r>
            <a:r>
              <a:rPr lang="zh-CN" altLang="en-US" sz="2400" dirty="0" smtClean="0"/>
              <a:t>正确性。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设计</a:t>
            </a:r>
            <a:r>
              <a:rPr lang="zh-CN" altLang="en-US" sz="2400" dirty="0"/>
              <a:t>出的程序比较精炼和具有潜在的并行性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适合于</a:t>
            </a:r>
            <a:r>
              <a:rPr lang="zh-CN" altLang="en-US" sz="2400" dirty="0"/>
              <a:t>需要</a:t>
            </a:r>
            <a:r>
              <a:rPr lang="zh-CN" altLang="en-US" sz="2400" dirty="0" smtClean="0"/>
              <a:t>大量地进行</a:t>
            </a:r>
            <a:r>
              <a:rPr lang="zh-CN" altLang="en-US" sz="2400" dirty="0"/>
              <a:t>复杂的</a:t>
            </a:r>
            <a:r>
              <a:rPr lang="zh-CN" altLang="en-US" sz="2400" dirty="0">
                <a:solidFill>
                  <a:srgbClr val="FFC000"/>
                </a:solidFill>
              </a:rPr>
              <a:t>符号处理</a:t>
            </a:r>
            <a:r>
              <a:rPr lang="zh-CN" altLang="en-US" sz="2400" dirty="0"/>
              <a:t>（非数值计算）的人工智能领域的应用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程序设计步骤</a:t>
            </a:r>
            <a:endParaRPr lang="zh-CN" altLang="en-US" smtClean="0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85454"/>
            <a:ext cx="8785225" cy="5255914"/>
          </a:xfrm>
        </p:spPr>
        <p:txBody>
          <a:bodyPr>
            <a:normAutofit fontScale="85000" lnSpcReduction="10000"/>
          </a:bodyPr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明确问题 </a:t>
            </a:r>
            <a:endParaRPr lang="zh-CN" altLang="en-US" dirty="0" smtClean="0"/>
          </a:p>
          <a:p>
            <a:pPr marL="900430" lvl="1" indent="-2717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搞清楚要解决的问题并给出问题的明确定义，即：</a:t>
            </a:r>
            <a:r>
              <a:rPr lang="zh-CN" altLang="en-US" dirty="0" smtClean="0">
                <a:solidFill>
                  <a:srgbClr val="FFCC66"/>
                </a:solidFill>
              </a:rPr>
              <a:t>做什么</a:t>
            </a:r>
            <a:r>
              <a:rPr lang="zh-CN" altLang="en-US" dirty="0" smtClean="0"/>
              <a:t>？</a:t>
            </a:r>
            <a:endParaRPr lang="zh-CN" altLang="en-US" dirty="0" smtClean="0"/>
          </a:p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系统设计 </a:t>
            </a:r>
            <a:endParaRPr lang="zh-CN" altLang="en-US" dirty="0" smtClean="0"/>
          </a:p>
          <a:p>
            <a:pPr marL="900430" lvl="1" indent="-2717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	从计算机角度给出问题的解决方案，即：</a:t>
            </a:r>
            <a:r>
              <a:rPr lang="zh-CN" altLang="en-US" dirty="0" smtClean="0">
                <a:solidFill>
                  <a:srgbClr val="FFCC66"/>
                </a:solidFill>
              </a:rPr>
              <a:t>如何做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900430" lvl="1" indent="-2717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包括</a:t>
            </a:r>
            <a:endParaRPr lang="en-US" altLang="zh-CN" dirty="0" smtClean="0"/>
          </a:p>
          <a:p>
            <a:pPr marL="1300480" lvl="2" indent="-271780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概要设计</a:t>
            </a:r>
            <a:r>
              <a:rPr lang="zh-CN" altLang="en-US" dirty="0" smtClean="0"/>
              <a:t>：给</a:t>
            </a:r>
            <a:r>
              <a:rPr lang="zh-CN" altLang="en-US" dirty="0"/>
              <a:t>出程序的总体</a:t>
            </a:r>
            <a:r>
              <a:rPr lang="zh-CN" altLang="en-US" dirty="0" smtClean="0"/>
              <a:t>结构。</a:t>
            </a:r>
            <a:endParaRPr lang="en-US" altLang="zh-CN" dirty="0" smtClean="0"/>
          </a:p>
          <a:p>
            <a:pPr marL="1300480" lvl="2" indent="-271780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详细设计</a:t>
            </a:r>
            <a:r>
              <a:rPr lang="zh-CN" altLang="en-US" dirty="0" smtClean="0"/>
              <a:t>：给出具体的数据结构和算法。</a:t>
            </a:r>
            <a:endParaRPr lang="en-US" altLang="zh-CN" dirty="0" smtClean="0"/>
          </a:p>
          <a:p>
            <a:pPr marL="900430" lvl="1" indent="-271780" eaLnBrk="1" hangingPunct="1">
              <a:lnSpc>
                <a:spcPct val="120000"/>
              </a:lnSpc>
              <a:defRPr/>
            </a:pPr>
            <a:r>
              <a:rPr lang="zh-CN" altLang="en-US" dirty="0"/>
              <a:t>系统设计的</a:t>
            </a:r>
            <a:r>
              <a:rPr lang="zh-CN" altLang="en-US" dirty="0" smtClean="0"/>
              <a:t>结果往往是</a:t>
            </a:r>
            <a:r>
              <a:rPr lang="zh-CN" altLang="en-US" dirty="0"/>
              <a:t>以某种抽象的不依赖于具体程序设计语言的形式来描述的。如：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功能模块结构图</a:t>
            </a:r>
            <a:r>
              <a:rPr lang="zh-CN" altLang="zh-CN" dirty="0">
                <a:effectLst/>
              </a:rPr>
              <a:t>、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流程图</a:t>
            </a:r>
            <a:r>
              <a:rPr lang="zh-CN" altLang="zh-CN" dirty="0">
                <a:effectLst/>
              </a:rPr>
              <a:t>、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类图</a:t>
            </a:r>
            <a:r>
              <a:rPr lang="zh-CN" altLang="zh-CN" dirty="0">
                <a:effectLst/>
              </a:rPr>
              <a:t>以及</a:t>
            </a:r>
            <a:r>
              <a:rPr lang="zh-CN" altLang="zh-CN" dirty="0">
                <a:solidFill>
                  <a:srgbClr val="FFC000"/>
                </a:solidFill>
                <a:effectLst/>
              </a:rPr>
              <a:t>伪代码</a:t>
            </a:r>
            <a:r>
              <a:rPr lang="zh-CN" altLang="zh-CN" dirty="0">
                <a:effectLst/>
              </a:rPr>
              <a:t>等</a:t>
            </a:r>
            <a:r>
              <a:rPr lang="zh-CN" altLang="en-US" dirty="0">
                <a:effectLst/>
              </a:rPr>
              <a:t>。</a:t>
            </a:r>
            <a:endParaRPr lang="en-US" altLang="zh-CN" dirty="0"/>
          </a:p>
          <a:p>
            <a:pPr marL="900430" lvl="1" indent="-271780" eaLnBrk="1" hangingPunct="1">
              <a:lnSpc>
                <a:spcPct val="120000"/>
              </a:lnSpc>
              <a:defRPr/>
            </a:pPr>
            <a:r>
              <a:rPr lang="zh-CN" altLang="en-US" dirty="0"/>
              <a:t>不同的程序设计范式决定了不同的设计方案和设计结果。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486172"/>
            <a:ext cx="8568952" cy="5255196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实现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选择用</a:t>
            </a:r>
            <a:r>
              <a:rPr lang="zh-CN" altLang="en-US" dirty="0" smtClean="0"/>
              <a:t>某种</a:t>
            </a:r>
            <a:r>
              <a:rPr lang="zh-CN" altLang="en-US" dirty="0" smtClean="0">
                <a:solidFill>
                  <a:srgbClr val="FFC000"/>
                </a:solidFill>
              </a:rPr>
              <a:t>程序语言</a:t>
            </a:r>
            <a:r>
              <a:rPr lang="zh-CN" altLang="en-US" dirty="0" smtClean="0"/>
              <a:t>把系统设计的结果表示出来，即</a:t>
            </a:r>
            <a:r>
              <a:rPr lang="zh-CN" altLang="en-US" dirty="0" smtClean="0">
                <a:solidFill>
                  <a:srgbClr val="FFC000"/>
                </a:solidFill>
              </a:rPr>
              <a:t>编程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coding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由于程序设计的大量工作是花在编程上的，常常把程序设计又称为编程。（编程有广义和狭义两个含义）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良好的</a:t>
            </a:r>
            <a:r>
              <a:rPr lang="zh-CN" altLang="en-US" dirty="0">
                <a:solidFill>
                  <a:srgbClr val="FFC000"/>
                </a:solidFill>
              </a:rPr>
              <a:t>编程风格</a:t>
            </a:r>
            <a:r>
              <a:rPr lang="zh-CN" altLang="en-US" dirty="0"/>
              <a:t>可以通过学习和训练来获得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测试</a:t>
            </a:r>
            <a:r>
              <a:rPr lang="zh-CN" altLang="en-US" dirty="0"/>
              <a:t>与调试 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程序可能含有错误，其中包括逻辑错误和运行异常错误。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测试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）是通过一些测试数据来运行程序，查看结果与预期是否相符。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如果程序发现程序有错，就需要</a:t>
            </a:r>
            <a:r>
              <a:rPr lang="zh-CN" altLang="en-US" dirty="0" smtClean="0"/>
              <a:t>对</a:t>
            </a:r>
            <a:r>
              <a:rPr lang="zh-CN" altLang="en-US" dirty="0" smtClean="0"/>
              <a:t>错误进行</a:t>
            </a:r>
            <a:r>
              <a:rPr lang="zh-CN" altLang="en-US" dirty="0" smtClean="0"/>
              <a:t>定位，这个过程</a:t>
            </a:r>
            <a:r>
              <a:rPr lang="zh-CN" altLang="en-US" dirty="0" smtClean="0"/>
              <a:t>称为</a:t>
            </a:r>
            <a:r>
              <a:rPr lang="zh-CN" altLang="en-US" dirty="0" smtClean="0">
                <a:solidFill>
                  <a:schemeClr val="folHlink"/>
                </a:solidFill>
              </a:rPr>
              <a:t>调试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）。 </a:t>
            </a:r>
            <a:endParaRPr lang="zh-CN" altLang="en-US" dirty="0" smtClean="0"/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36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程序设计步骤（续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/>
              <a:t>程序设计步骤（</a:t>
            </a:r>
            <a:r>
              <a:rPr lang="zh-CN" altLang="en-US" dirty="0" smtClean="0"/>
              <a:t>续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90563"/>
            <a:ext cx="8229600" cy="366662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运行维护 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所有的测试手段只能发现程序有错误，而不能证明程序没有错误！</a:t>
            </a:r>
            <a:endParaRPr lang="zh-CN" altLang="en-US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在程序使用中发现错误并改正错误的过程称为</a:t>
            </a:r>
            <a:r>
              <a:rPr lang="zh-CN" altLang="en-US" dirty="0">
                <a:solidFill>
                  <a:schemeClr val="folHlink"/>
                </a:solidFill>
              </a:rPr>
              <a:t>维护</a:t>
            </a:r>
            <a:r>
              <a:rPr lang="zh-CN" altLang="en-US" dirty="0"/>
              <a:t>，包括：</a:t>
            </a:r>
            <a:endParaRPr lang="en-US" altLang="zh-CN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正确性维护：改正程序中的错误。</a:t>
            </a:r>
            <a:endParaRPr lang="en-US" altLang="zh-CN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完善性维护：完善程序的功能。</a:t>
            </a:r>
            <a:endParaRPr lang="en-US" altLang="zh-CN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适应性维护：把程序移植到其它平台上。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程序设计语言 </a:t>
            </a:r>
            <a:endParaRPr lang="zh-CN" altLang="en-US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412" y="1556792"/>
            <a:ext cx="8497068" cy="5068888"/>
          </a:xfrm>
        </p:spPr>
        <p:txBody>
          <a:bodyPr/>
          <a:lstStyle/>
          <a:p>
            <a:pPr marL="357505" indent="-357505" eaLnBrk="1" hangingPunct="1">
              <a:defRPr/>
            </a:pPr>
            <a:r>
              <a:rPr lang="zh-CN" altLang="en-US" dirty="0" smtClean="0"/>
              <a:t>程序设计的结果需要用一种</a:t>
            </a:r>
            <a:r>
              <a:rPr lang="zh-CN" altLang="en-US" dirty="0" smtClean="0">
                <a:solidFill>
                  <a:srgbClr val="FFC000"/>
                </a:solidFill>
              </a:rPr>
              <a:t>能被计算机接受的语言</a:t>
            </a:r>
            <a:r>
              <a:rPr lang="zh-CN" altLang="en-US" dirty="0" smtClean="0"/>
              <a:t>（称为编程语言或程序语言）</a:t>
            </a:r>
            <a:r>
              <a:rPr lang="zh-CN" altLang="en-US" dirty="0"/>
              <a:t>表示</a:t>
            </a:r>
            <a:r>
              <a:rPr lang="zh-CN" altLang="en-US" dirty="0" smtClean="0"/>
              <a:t>出来（</a:t>
            </a:r>
            <a:r>
              <a:rPr lang="en-US" altLang="zh-CN" dirty="0" smtClean="0"/>
              <a:t>Coding</a:t>
            </a:r>
            <a:r>
              <a:rPr lang="zh-CN" altLang="en-US" dirty="0" smtClean="0"/>
              <a:t>）。</a:t>
            </a:r>
            <a:endParaRPr lang="zh-CN" altLang="en-US" dirty="0" smtClean="0"/>
          </a:p>
          <a:p>
            <a:pPr marL="357505" indent="-357505" eaLnBrk="1" hangingPunct="1">
              <a:defRPr/>
            </a:pPr>
            <a:r>
              <a:rPr lang="zh-CN" altLang="en-US" dirty="0" smtClean="0"/>
              <a:t>根据与计算机指令系统和人们解决问题所采用的描述语言（如：数学语言）的接近程度，常常把编程语言分为：</a:t>
            </a:r>
            <a:endParaRPr lang="zh-CN" altLang="en-US" dirty="0" smtClean="0"/>
          </a:p>
          <a:p>
            <a:pPr marL="824230" lvl="1" eaLnBrk="1" hangingPunct="1">
              <a:defRPr/>
            </a:pPr>
            <a:r>
              <a:rPr lang="zh-CN" altLang="en-US" dirty="0" smtClean="0"/>
              <a:t> 低级语言</a:t>
            </a:r>
            <a:endParaRPr lang="zh-CN" altLang="en-US" dirty="0" smtClean="0"/>
          </a:p>
          <a:p>
            <a:pPr marL="824230" lvl="1" eaLnBrk="1" hangingPunct="1">
              <a:defRPr/>
            </a:pPr>
            <a:r>
              <a:rPr lang="zh-CN" altLang="en-US" dirty="0" smtClean="0"/>
              <a:t> 高级语言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7341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低级语言</a:t>
            </a:r>
            <a:endParaRPr lang="zh-CN" alt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7" y="1628800"/>
            <a:ext cx="8280920" cy="5040560"/>
          </a:xfrm>
        </p:spPr>
        <p:txBody>
          <a:bodyPr>
            <a:normAutofit/>
          </a:bodyPr>
          <a:lstStyle/>
          <a:p>
            <a:pPr marL="357505" indent="-357505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低级语言</a:t>
            </a:r>
            <a:r>
              <a:rPr lang="zh-CN" altLang="en-US" dirty="0" smtClean="0"/>
              <a:t>是指特定计算机能够直接理解的语言（或与之直接对应的语言）。包括：</a:t>
            </a:r>
            <a:endParaRPr lang="zh-CN" altLang="en-US" dirty="0" smtClean="0"/>
          </a:p>
          <a:p>
            <a:pPr marL="908050" lvl="1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机器语言</a:t>
            </a:r>
            <a:endParaRPr lang="en-US" altLang="zh-CN" dirty="0" smtClean="0">
              <a:solidFill>
                <a:schemeClr val="folHlink"/>
              </a:solidFill>
            </a:endParaRPr>
          </a:p>
          <a:p>
            <a:pPr marL="1308100" lvl="2" eaLnBrk="1" hangingPunct="1">
              <a:defRPr/>
            </a:pPr>
            <a:r>
              <a:rPr lang="zh-CN" altLang="en-US" dirty="0"/>
              <a:t>用二进制编码来表示操作以及操作数的存储位置。</a:t>
            </a:r>
            <a:endParaRPr lang="zh-CN" altLang="en-US" dirty="0"/>
          </a:p>
          <a:p>
            <a:pPr marL="908050" lvl="1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汇编语言</a:t>
            </a:r>
            <a:endParaRPr lang="en-US" altLang="zh-CN" dirty="0" smtClean="0">
              <a:solidFill>
                <a:schemeClr val="folHlink"/>
              </a:solidFill>
            </a:endParaRPr>
          </a:p>
          <a:p>
            <a:pPr marL="1308100" lvl="2" eaLnBrk="1" hangingPunct="1">
              <a:defRPr/>
            </a:pPr>
            <a:r>
              <a:rPr lang="zh-CN" altLang="en-US" dirty="0" smtClean="0"/>
              <a:t>用符号名来表示操作和操作数的存储位置</a:t>
            </a:r>
            <a:r>
              <a:rPr lang="zh-CN" altLang="en-US" dirty="0" smtClean="0"/>
              <a:t>，使得程序容易编写和增加程序的易读性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308100" lvl="2" eaLnBrk="1" hangingPunct="1">
              <a:defRPr/>
            </a:pPr>
            <a:r>
              <a:rPr lang="zh-CN" altLang="en-US" dirty="0" smtClean="0"/>
              <a:t>汇编语言与机器语言有一一对应的关系，但它需要翻译成机器语言才能执行，这个过程叫做</a:t>
            </a:r>
            <a:r>
              <a:rPr lang="zh-CN" altLang="en-US" dirty="0" smtClean="0">
                <a:solidFill>
                  <a:schemeClr val="folHlink"/>
                </a:solidFill>
              </a:rPr>
              <a:t>汇编</a:t>
            </a:r>
            <a:r>
              <a:rPr lang="zh-CN" altLang="en-US" dirty="0" smtClean="0"/>
              <a:t>。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高级语言</a:t>
            </a:r>
            <a:r>
              <a:rPr lang="zh-CN" altLang="en-US" dirty="0" smtClean="0"/>
              <a:t>是</a:t>
            </a:r>
            <a:r>
              <a:rPr lang="zh-CN" altLang="en-US" dirty="0"/>
              <a:t>指人容易理解和有利于人对解题过程进行描述的程序语言。</a:t>
            </a:r>
            <a:endParaRPr lang="en-US" altLang="zh-CN" dirty="0"/>
          </a:p>
          <a:p>
            <a:pPr marL="757555" lvl="1" indent="-357505" eaLnBrk="1" hangingPunct="1">
              <a:lnSpc>
                <a:spcPct val="110000"/>
              </a:lnSpc>
              <a:defRPr/>
            </a:pPr>
            <a:r>
              <a:rPr lang="zh-CN" altLang="en-US" dirty="0"/>
              <a:t>典型的高级语言有：</a:t>
            </a:r>
            <a:r>
              <a:rPr lang="en-US" altLang="zh-CN" dirty="0"/>
              <a:t>FORTRAN</a:t>
            </a:r>
            <a:r>
              <a:rPr lang="zh-CN" altLang="en-US" dirty="0"/>
              <a:t>、</a:t>
            </a:r>
            <a:r>
              <a:rPr lang="en-US" altLang="zh-CN" dirty="0"/>
              <a:t>COBOL</a:t>
            </a:r>
            <a:r>
              <a:rPr lang="zh-CN" altLang="en-US" dirty="0"/>
              <a:t>、</a:t>
            </a:r>
            <a:r>
              <a:rPr lang="en-US" altLang="zh-CN" dirty="0"/>
              <a:t>Basic</a:t>
            </a:r>
            <a:r>
              <a:rPr lang="zh-CN" altLang="en-US" dirty="0"/>
              <a:t>、</a:t>
            </a:r>
            <a:r>
              <a:rPr lang="en-US" altLang="zh-CN" dirty="0"/>
              <a:t>Pascal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C</a:t>
            </a:r>
            <a:r>
              <a:rPr lang="zh-CN" altLang="en-US" dirty="0"/>
              <a:t>、</a:t>
            </a:r>
            <a:r>
              <a:rPr lang="en-US" altLang="zh-CN" dirty="0"/>
              <a:t>Ada</a:t>
            </a:r>
            <a:r>
              <a:rPr lang="zh-CN" altLang="en-US" dirty="0"/>
              <a:t>、</a:t>
            </a:r>
            <a:r>
              <a:rPr lang="en-US" altLang="zh-CN" dirty="0"/>
              <a:t>Modula-2</a:t>
            </a:r>
            <a:r>
              <a:rPr lang="zh-CN" altLang="en-US" dirty="0"/>
              <a:t>、</a:t>
            </a:r>
            <a:r>
              <a:rPr lang="en-US" altLang="zh-CN" dirty="0"/>
              <a:t>Lisp</a:t>
            </a:r>
            <a:r>
              <a:rPr lang="zh-CN" altLang="en-US" dirty="0"/>
              <a:t>、</a:t>
            </a:r>
            <a:r>
              <a:rPr lang="en-US" altLang="zh-CN" dirty="0"/>
              <a:t>Prolog</a:t>
            </a:r>
            <a:r>
              <a:rPr lang="zh-CN" altLang="en-US" dirty="0"/>
              <a:t>、</a:t>
            </a:r>
            <a:r>
              <a:rPr lang="en-US" altLang="zh-CN" dirty="0" err="1"/>
              <a:t>Simula</a:t>
            </a:r>
            <a:r>
              <a:rPr lang="zh-CN" altLang="en-US" dirty="0"/>
              <a:t>、</a:t>
            </a:r>
            <a:r>
              <a:rPr lang="en-US" altLang="zh-CN" dirty="0"/>
              <a:t>Smalltalk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C++</a:t>
            </a:r>
            <a:r>
              <a:rPr lang="zh-CN" altLang="en-US" dirty="0"/>
              <a:t>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等 </a:t>
            </a:r>
            <a:endParaRPr lang="en-US" altLang="zh-CN" dirty="0"/>
          </a:p>
          <a:p>
            <a:pPr marL="757555" lvl="1" indent="-35750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高级语言需要</a:t>
            </a:r>
            <a:r>
              <a:rPr lang="zh-CN" altLang="en-US" dirty="0"/>
              <a:t>翻译成</a:t>
            </a:r>
            <a:r>
              <a:rPr lang="zh-CN" altLang="en-US" dirty="0" smtClean="0"/>
              <a:t>机器语言或</a:t>
            </a:r>
            <a:r>
              <a:rPr lang="zh-CN" altLang="en-US" dirty="0"/>
              <a:t>汇编语言才能执行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dirty="0"/>
              <a:t>通常所讲的</a:t>
            </a:r>
            <a:r>
              <a:rPr lang="zh-CN" altLang="en-US" dirty="0">
                <a:solidFill>
                  <a:schemeClr val="folHlink"/>
                </a:solidFill>
              </a:rPr>
              <a:t>程序设计语言</a:t>
            </a:r>
            <a:r>
              <a:rPr lang="zh-CN" altLang="en-US" dirty="0"/>
              <a:t>往往指的是高级语言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569325" cy="1196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低级语言与高级语言程序的比较</a:t>
            </a:r>
            <a:endParaRPr lang="zh-CN" altLang="en-US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785225" cy="53276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 smtClean="0"/>
              <a:t>计算</a:t>
            </a:r>
            <a:r>
              <a:rPr lang="en-US" altLang="zh-CN" dirty="0" smtClean="0"/>
              <a:t>r=</a:t>
            </a:r>
            <a:r>
              <a:rPr lang="en-US" altLang="zh-CN" dirty="0" err="1" smtClean="0"/>
              <a:t>a+b</a:t>
            </a:r>
            <a:r>
              <a:rPr lang="en-US" altLang="zh-CN" dirty="0" smtClean="0"/>
              <a:t>*c-d</a:t>
            </a:r>
            <a:r>
              <a:rPr lang="zh-CN" altLang="en-US" dirty="0" smtClean="0"/>
              <a:t>的值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用汇编语言可写成：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		</a:t>
            </a:r>
            <a:r>
              <a:rPr lang="en-US" altLang="zh-CN" sz="2800" dirty="0" err="1" smtClean="0"/>
              <a:t>mov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ax,b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		</a:t>
            </a:r>
            <a:r>
              <a:rPr lang="en-US" altLang="zh-CN" sz="2800" dirty="0" err="1" smtClean="0"/>
              <a:t>mul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ax,c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		add </a:t>
            </a:r>
            <a:r>
              <a:rPr lang="en-US" altLang="zh-CN" sz="2800" dirty="0" err="1" smtClean="0"/>
              <a:t>ax,a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		sub </a:t>
            </a:r>
            <a:r>
              <a:rPr lang="en-US" altLang="zh-CN" sz="2800" dirty="0" err="1" smtClean="0"/>
              <a:t>ax,d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		</a:t>
            </a:r>
            <a:r>
              <a:rPr lang="en-US" altLang="zh-CN" sz="2800" dirty="0" err="1" smtClean="0"/>
              <a:t>mov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r,ax</a:t>
            </a:r>
            <a:endParaRPr lang="en-US" altLang="zh-CN" sz="2800" dirty="0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 err="1" smtClean="0"/>
              <a:t>mov</a:t>
            </a:r>
            <a:r>
              <a:rPr lang="zh-CN" altLang="en-US" dirty="0"/>
              <a:t>、</a:t>
            </a:r>
            <a:r>
              <a:rPr lang="en-US" altLang="zh-CN" dirty="0" err="1"/>
              <a:t>mul</a:t>
            </a:r>
            <a:r>
              <a:rPr lang="zh-CN" altLang="en-US" dirty="0"/>
              <a:t>、</a:t>
            </a:r>
            <a:r>
              <a:rPr lang="en-US" altLang="zh-CN" dirty="0"/>
              <a:t>add</a:t>
            </a:r>
            <a:r>
              <a:rPr lang="zh-CN" altLang="en-US" dirty="0"/>
              <a:t>、</a:t>
            </a:r>
            <a:r>
              <a:rPr lang="en-US" altLang="zh-CN" dirty="0"/>
              <a:t>sub</a:t>
            </a:r>
            <a:r>
              <a:rPr lang="zh-CN" altLang="en-US" dirty="0"/>
              <a:t>是计算机指令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/>
              <a:t>ax</a:t>
            </a:r>
            <a:r>
              <a:rPr lang="zh-CN" altLang="en-US" dirty="0"/>
              <a:t>是</a:t>
            </a:r>
            <a:r>
              <a:rPr lang="en-US" altLang="zh-CN" dirty="0" err="1"/>
              <a:t>cpu</a:t>
            </a:r>
            <a:r>
              <a:rPr lang="zh-CN" altLang="en-US" dirty="0"/>
              <a:t>内部的一个寄存器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表示数据的</a:t>
            </a:r>
            <a:r>
              <a:rPr lang="zh-CN" altLang="en-US" dirty="0" smtClean="0"/>
              <a:t>内存地址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 smtClean="0"/>
              <a:t>用高级语言可直接写成：</a:t>
            </a:r>
            <a:endParaRPr lang="zh-CN" altLang="en-US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		</a:t>
            </a:r>
            <a:r>
              <a:rPr lang="en-US" altLang="zh-CN" sz="2800" dirty="0" smtClean="0"/>
              <a:t>r = </a:t>
            </a:r>
            <a:r>
              <a:rPr lang="en-US" altLang="zh-CN" sz="2800" dirty="0" err="1" smtClean="0"/>
              <a:t>a+b</a:t>
            </a:r>
            <a:r>
              <a:rPr lang="en-US" altLang="zh-CN" sz="2800" dirty="0" smtClean="0"/>
              <a:t>*c-d</a:t>
            </a:r>
            <a:endParaRPr lang="en-US" altLang="zh-CN" sz="2800" dirty="0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 smtClean="0"/>
              <a:t> 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 </a:t>
            </a:r>
            <a:r>
              <a:rPr lang="zh-CN" altLang="en-US" dirty="0" smtClean="0"/>
              <a:t>是变量名</a:t>
            </a:r>
            <a:endParaRPr lang="en-US" altLang="zh-CN" dirty="0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CN" dirty="0" smtClean="0"/>
              <a:t>=</a:t>
            </a:r>
            <a:r>
              <a:rPr lang="zh-CN" altLang="en-US" dirty="0" smtClean="0"/>
              <a:t>、</a:t>
            </a:r>
            <a:r>
              <a:rPr lang="en-US" altLang="zh-CN" dirty="0" smtClean="0"/>
              <a:t>+</a:t>
            </a:r>
            <a:r>
              <a:rPr lang="zh-CN" altLang="en-US" dirty="0" smtClean="0"/>
              <a:t>、</a:t>
            </a:r>
            <a:r>
              <a:rPr lang="en-US" altLang="zh-CN" dirty="0" smtClean="0"/>
              <a:t>*</a:t>
            </a:r>
            <a:r>
              <a:rPr lang="zh-CN" altLang="en-US" dirty="0" smtClean="0"/>
              <a:t>、</a:t>
            </a:r>
            <a:r>
              <a:rPr lang="en-US" altLang="zh-CN" dirty="0" smtClean="0"/>
              <a:t>- </a:t>
            </a:r>
            <a:r>
              <a:rPr lang="zh-CN" altLang="en-US" dirty="0" smtClean="0"/>
              <a:t>是操作符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7975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低级语言的优、缺点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优点</a:t>
            </a:r>
            <a:r>
              <a:rPr lang="zh-CN" altLang="en-US" dirty="0" smtClean="0"/>
              <a:t>：写出的程序效率比较高，包括执行速度快和占用空间少。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缺点</a:t>
            </a:r>
            <a:r>
              <a:rPr lang="zh-CN" altLang="en-US" dirty="0" smtClean="0"/>
              <a:t>：程序的编写、理解与维护比较困难，难以保证程序的正确性；可移植性差（与运行的平台相关）。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高级语言的优、缺点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优点</a:t>
            </a:r>
            <a:r>
              <a:rPr lang="zh-CN" altLang="en-US" dirty="0" smtClean="0"/>
              <a:t>：程序的编写、理解与维护比较容易，有利于保证程序正确性；可移植性好（与运行的平台无关）。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缺点</a:t>
            </a:r>
            <a:r>
              <a:rPr lang="zh-CN" altLang="en-US" dirty="0" smtClean="0"/>
              <a:t>：用其编写的程序相对于用低级语言编写的程序效率要低，翻译成的机器指令数量较大 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98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高级语言的翻译</a:t>
            </a:r>
            <a:endParaRPr lang="zh-CN" altLang="en-US" dirty="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420" y="1484784"/>
            <a:ext cx="8281044" cy="5112568"/>
          </a:xfrm>
        </p:spPr>
        <p:txBody>
          <a:bodyPr>
            <a:normAutofit lnSpcReduction="10000"/>
          </a:bodyPr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/>
              <a:t>高级语言的</a:t>
            </a:r>
            <a:r>
              <a:rPr lang="zh-CN" altLang="en-US" dirty="0" smtClean="0"/>
              <a:t>翻译有</a:t>
            </a:r>
            <a:r>
              <a:rPr lang="zh-CN" altLang="en-US" dirty="0" smtClean="0">
                <a:solidFill>
                  <a:srgbClr val="FFC000"/>
                </a:solidFill>
              </a:rPr>
              <a:t>编译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rgbClr val="FFC000"/>
                </a:solidFill>
              </a:rPr>
              <a:t>解释</a:t>
            </a:r>
            <a:r>
              <a:rPr lang="zh-CN" altLang="en-US" dirty="0" smtClean="0"/>
              <a:t>两种方式。</a:t>
            </a:r>
            <a:endParaRPr lang="zh-CN" altLang="en-US" dirty="0" smtClean="0"/>
          </a:p>
          <a:p>
            <a:pPr marL="4241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编译方式</a:t>
            </a:r>
            <a:endParaRPr lang="zh-CN" altLang="en-US" dirty="0" smtClean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把高级语言程序（称为</a:t>
            </a:r>
            <a:r>
              <a:rPr lang="zh-CN" altLang="en-US" dirty="0" smtClean="0">
                <a:solidFill>
                  <a:schemeClr val="folHlink"/>
                </a:solidFill>
              </a:rPr>
              <a:t>源代码</a:t>
            </a:r>
            <a:r>
              <a:rPr lang="zh-CN" altLang="en-US" dirty="0" smtClean="0">
                <a:solidFill>
                  <a:schemeClr val="folHlink"/>
                </a:solidFill>
              </a:rPr>
              <a:t>程序，</a:t>
            </a:r>
            <a:r>
              <a:rPr lang="zh-CN" altLang="en-US" dirty="0" smtClean="0"/>
              <a:t>简称</a:t>
            </a:r>
            <a:r>
              <a:rPr lang="zh-CN" altLang="en-US" dirty="0" smtClean="0">
                <a:solidFill>
                  <a:schemeClr val="folHlink"/>
                </a:solidFill>
              </a:rPr>
              <a:t>源程序</a:t>
            </a:r>
            <a:r>
              <a:rPr lang="zh-CN" altLang="en-US" dirty="0" smtClean="0"/>
              <a:t>）</a:t>
            </a:r>
            <a:r>
              <a:rPr lang="zh-CN" altLang="en-US" dirty="0" smtClean="0"/>
              <a:t>首先翻译成功能上等价的机器语言程序（称为</a:t>
            </a:r>
            <a:r>
              <a:rPr lang="zh-CN" altLang="en-US" dirty="0" smtClean="0">
                <a:solidFill>
                  <a:schemeClr val="folHlink"/>
                </a:solidFill>
              </a:rPr>
              <a:t>目标代码程序</a:t>
            </a:r>
            <a:r>
              <a:rPr lang="zh-CN" altLang="en-US" dirty="0" smtClean="0"/>
              <a:t>）或汇编语言程序（再通过汇编程序把它翻译成目标代码程序）。</a:t>
            </a:r>
            <a:endParaRPr lang="en-US" altLang="zh-CN" dirty="0" smtClean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然后执行目标代码程序。在目标代码程序的执行中不再需要源程序。</a:t>
            </a:r>
            <a:endParaRPr lang="en-US" altLang="zh-CN" dirty="0" smtClean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翻译工作由</a:t>
            </a:r>
            <a:r>
              <a:rPr lang="zh-CN" altLang="en-US" dirty="0" smtClean="0">
                <a:solidFill>
                  <a:srgbClr val="FFC000"/>
                </a:solidFill>
              </a:rPr>
              <a:t>编译程序</a:t>
            </a:r>
            <a:r>
              <a:rPr lang="zh-CN" altLang="en-US" dirty="0" smtClean="0"/>
              <a:t>完成。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8"/>
          </a:xfrm>
        </p:spPr>
        <p:txBody>
          <a:bodyPr>
            <a:normAutofit fontScale="92500" lnSpcReduction="10000"/>
          </a:bodyPr>
          <a:lstStyle/>
          <a:p>
            <a:pPr marL="4241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解释方式</a:t>
            </a:r>
            <a:endParaRPr lang="zh-CN" altLang="en-US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对</a:t>
            </a:r>
            <a:r>
              <a:rPr lang="zh-CN" altLang="en-US" dirty="0" smtClean="0"/>
              <a:t>源程序</a:t>
            </a:r>
            <a:r>
              <a:rPr lang="zh-CN" altLang="en-US" dirty="0"/>
              <a:t>中的</a:t>
            </a:r>
            <a:r>
              <a:rPr lang="zh-CN" altLang="en-US" dirty="0" smtClean="0"/>
              <a:t>语句</a:t>
            </a:r>
            <a:r>
              <a:rPr lang="zh-CN" altLang="en-US" dirty="0" smtClean="0">
                <a:solidFill>
                  <a:srgbClr val="FFC000"/>
                </a:solidFill>
              </a:rPr>
              <a:t>逐条</a:t>
            </a:r>
            <a:r>
              <a:rPr lang="zh-CN" altLang="en-US" dirty="0"/>
              <a:t>进行翻译成目标代码并执行，翻译完了程序也就执行完了。</a:t>
            </a:r>
            <a:endParaRPr lang="en-US" altLang="zh-CN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这种翻译方式不产生目标代码程序，程序的每次执行都需要源程序。 </a:t>
            </a:r>
            <a:endParaRPr lang="en-US" altLang="zh-CN" dirty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/>
              <a:t>翻译工作由</a:t>
            </a:r>
            <a:r>
              <a:rPr lang="zh-CN" altLang="en-US" dirty="0">
                <a:solidFill>
                  <a:srgbClr val="FFC000"/>
                </a:solidFill>
              </a:rPr>
              <a:t>解释程序</a:t>
            </a:r>
            <a:r>
              <a:rPr lang="zh-CN" altLang="en-US" dirty="0"/>
              <a:t>完成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43180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混合方式</a:t>
            </a:r>
            <a:endParaRPr lang="en-US" altLang="zh-CN" dirty="0" smtClean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以解释方式执行高级语言程序比较灵活</a:t>
            </a:r>
            <a:r>
              <a:rPr lang="zh-CN" altLang="en-US" dirty="0" smtClean="0"/>
              <a:t>，对编程语言的限制较少，但</a:t>
            </a:r>
            <a:r>
              <a:rPr lang="zh-CN" altLang="en-US" dirty="0" smtClean="0"/>
              <a:t>效率比较低。</a:t>
            </a:r>
            <a:endParaRPr lang="en-US" altLang="zh-CN" dirty="0" smtClean="0"/>
          </a:p>
          <a:p>
            <a:pPr marL="831850"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可以先</a:t>
            </a:r>
            <a:r>
              <a:rPr lang="zh-CN" altLang="en-US" dirty="0" smtClean="0"/>
              <a:t>通过编译方式把高级语言程序翻译</a:t>
            </a:r>
            <a:r>
              <a:rPr lang="zh-CN" altLang="en-US" dirty="0"/>
              <a:t>成功能上等价</a:t>
            </a:r>
            <a:r>
              <a:rPr lang="zh-CN" altLang="en-US" dirty="0" smtClean="0"/>
              <a:t>的、相对简单的某种</a:t>
            </a:r>
            <a:r>
              <a:rPr lang="zh-CN" altLang="en-US" dirty="0" smtClean="0">
                <a:solidFill>
                  <a:srgbClr val="FFC000"/>
                </a:solidFill>
              </a:rPr>
              <a:t>中间语言</a:t>
            </a:r>
            <a:r>
              <a:rPr lang="zh-CN" altLang="en-US" dirty="0" smtClean="0"/>
              <a:t>程序，然后用解释方式执行这个中间语言程序。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高级语言的分类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按照适用的应用类型，可分为：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科学计算语言（如</a:t>
            </a:r>
            <a:r>
              <a:rPr lang="en-US" altLang="zh-CN" dirty="0" smtClean="0"/>
              <a:t>FORTRAN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商务处理语言（如</a:t>
            </a:r>
            <a:r>
              <a:rPr lang="en-US" altLang="zh-CN" dirty="0" smtClean="0"/>
              <a:t>COBOL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系统程序语言（如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网络应用语言（如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按照所支持的程序设计范式，可分为：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过程式语言（如</a:t>
            </a:r>
            <a:r>
              <a:rPr lang="en-US" altLang="zh-CN" dirty="0" smtClean="0"/>
              <a:t>FORTRAN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COBOL</a:t>
            </a:r>
            <a:r>
              <a:rPr lang="zh-CN" altLang="en-US" dirty="0" smtClean="0"/>
              <a:t>、</a:t>
            </a:r>
            <a:r>
              <a:rPr lang="en-US" altLang="zh-CN" dirty="0" smtClean="0"/>
              <a:t>Basic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Pascal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面向对象语言（如</a:t>
            </a:r>
            <a:r>
              <a:rPr lang="en-US" altLang="zh-CN" dirty="0" err="1" smtClean="0"/>
              <a:t>Simula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Smalltalk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函数式语言（如</a:t>
            </a:r>
            <a:r>
              <a:rPr lang="en-US" altLang="zh-CN" dirty="0" smtClean="0"/>
              <a:t>Lisp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逻辑式语言（如</a:t>
            </a:r>
            <a:r>
              <a:rPr lang="en-US" altLang="zh-CN" dirty="0" smtClean="0"/>
              <a:t>Prolog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混合式语言（如</a:t>
            </a:r>
            <a:r>
              <a:rPr lang="en-US" altLang="zh-CN" dirty="0" smtClean="0"/>
              <a:t>C++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按执行方式，可</a:t>
            </a:r>
            <a:r>
              <a:rPr lang="zh-CN" altLang="en-US" dirty="0" smtClean="0"/>
              <a:t>分为：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编译型语言（如</a:t>
            </a:r>
            <a:r>
              <a:rPr lang="en-US" altLang="zh-CN" dirty="0"/>
              <a:t>FORTRAN</a:t>
            </a:r>
            <a:r>
              <a:rPr lang="zh-CN" altLang="en-US" dirty="0"/>
              <a:t>、</a:t>
            </a:r>
            <a:r>
              <a:rPr lang="en-US" altLang="zh-CN" dirty="0"/>
              <a:t>COBOL</a:t>
            </a:r>
            <a:r>
              <a:rPr lang="zh-CN" altLang="en-US" dirty="0"/>
              <a:t>、</a:t>
            </a:r>
            <a:r>
              <a:rPr lang="en-US" altLang="zh-CN" dirty="0"/>
              <a:t>Pascal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Ada</a:t>
            </a:r>
            <a:r>
              <a:rPr lang="zh-CN" altLang="en-US" dirty="0"/>
              <a:t>、</a:t>
            </a:r>
            <a:r>
              <a:rPr lang="en-US" altLang="zh-CN" dirty="0"/>
              <a:t>Modula-2</a:t>
            </a:r>
            <a:r>
              <a:rPr lang="zh-CN" altLang="en-US" dirty="0"/>
              <a:t>、</a:t>
            </a:r>
            <a:r>
              <a:rPr lang="en-US" altLang="zh-CN" dirty="0" err="1"/>
              <a:t>Simula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解释型语言（如</a:t>
            </a:r>
            <a:r>
              <a:rPr lang="en-US" altLang="zh-CN" dirty="0"/>
              <a:t>Basic</a:t>
            </a:r>
            <a:r>
              <a:rPr lang="zh-CN" altLang="en-US" dirty="0"/>
              <a:t>、</a:t>
            </a:r>
            <a:r>
              <a:rPr lang="en-US" altLang="zh-CN" dirty="0"/>
              <a:t>Lisp</a:t>
            </a:r>
            <a:r>
              <a:rPr lang="zh-CN" altLang="en-US" dirty="0"/>
              <a:t>、</a:t>
            </a:r>
            <a:r>
              <a:rPr lang="en-US" altLang="zh-CN" dirty="0"/>
              <a:t>Prolog</a:t>
            </a:r>
            <a:r>
              <a:rPr lang="zh-CN" altLang="en-US" dirty="0"/>
              <a:t>、</a:t>
            </a:r>
            <a:r>
              <a:rPr lang="en-US" altLang="zh-CN" dirty="0" err="1"/>
              <a:t>Simula</a:t>
            </a:r>
            <a:r>
              <a:rPr lang="zh-CN" altLang="en-US" dirty="0"/>
              <a:t>、</a:t>
            </a:r>
            <a:r>
              <a:rPr lang="en-US" altLang="zh-CN" dirty="0"/>
              <a:t>Smalltalk</a:t>
            </a:r>
            <a:r>
              <a:rPr lang="zh-CN" altLang="en-US" dirty="0"/>
              <a:t>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11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语言的设计和实现</a:t>
            </a:r>
            <a:endParaRPr lang="zh-CN" altLang="en-US" dirty="0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80400" cy="54006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C66"/>
                </a:solidFill>
              </a:rPr>
              <a:t>语言的设计</a:t>
            </a:r>
            <a:r>
              <a:rPr lang="zh-CN" altLang="en-US" dirty="0" smtClean="0"/>
              <a:t>：给出语言的定义，包括语言的语法、语义和语用等。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语法：</a:t>
            </a:r>
            <a:r>
              <a:rPr lang="zh-CN" altLang="en-US" dirty="0" smtClean="0"/>
              <a:t>是指构作结构正确的语言成分所需遵循的规则。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语义：</a:t>
            </a:r>
            <a:r>
              <a:rPr lang="zh-CN" altLang="en-US" dirty="0" smtClean="0"/>
              <a:t>是指语言各个成分的含义。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语用：</a:t>
            </a:r>
            <a:r>
              <a:rPr lang="zh-CN" altLang="en-US" dirty="0" smtClean="0"/>
              <a:t>是指语言成分的使用场合及所产生的实际效果。（</a:t>
            </a:r>
            <a:r>
              <a:rPr lang="zh-CN" altLang="en-US" dirty="0" smtClean="0">
                <a:solidFill>
                  <a:srgbClr val="FFC000"/>
                </a:solidFill>
              </a:rPr>
              <a:t>初学者最不容易掌握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C66"/>
                </a:solidFill>
              </a:rPr>
              <a:t>语言的实现</a:t>
            </a:r>
            <a:r>
              <a:rPr lang="zh-CN" altLang="en-US" dirty="0" smtClean="0"/>
              <a:t>：在某种计算机平台上写出语言的翻译程序。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语言的实现者不必是语言的设计者，并且，针对某种语言可以有多种实现。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对语言的使用者来说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语言</a:t>
            </a:r>
            <a:r>
              <a:rPr lang="zh-CN" altLang="en-US" dirty="0"/>
              <a:t>的语法和语义相对来说容易掌握，只要学习和使用时仔细一点就能做到，</a:t>
            </a:r>
            <a:r>
              <a:rPr lang="zh-CN" altLang="en-US" dirty="0" smtClean="0"/>
              <a:t>而语言</a:t>
            </a:r>
            <a:r>
              <a:rPr lang="zh-CN" altLang="en-US" dirty="0"/>
              <a:t>的语用则不太容易把握，它需要大量的语言实践（用语言编程解决实际问题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/>
            <a:r>
              <a:rPr lang="zh-CN" altLang="en-US" dirty="0"/>
              <a:t>语言的使用者在使用某个语言成分时，</a:t>
            </a:r>
            <a:r>
              <a:rPr lang="zh-CN" altLang="en-US" dirty="0" smtClean="0"/>
              <a:t>往往还需要了解该成分的设计目的以及</a:t>
            </a:r>
            <a:r>
              <a:rPr lang="zh-CN" altLang="en-US" dirty="0"/>
              <a:t>该语言成分的实现</a:t>
            </a:r>
            <a:r>
              <a:rPr lang="zh-CN" altLang="en-US" dirty="0" smtClean="0"/>
              <a:t>效率等</a:t>
            </a:r>
            <a:r>
              <a:rPr lang="zh-CN" altLang="en-US" dirty="0"/>
              <a:t>问题。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GMwOGI0MDFlOGUxOGFhOGQ1Y2FmODNlN2E0MWRhYjIifQ=="/>
</p:tagLst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  <a:txDef>
      <a:spPr bwMode="auto">
        <a:noFill/>
        <a:ln>
          <a:noFill/>
        </a:ln>
      </a:spPr>
      <a:bodyPr/>
      <a:lstStyle>
        <a:defPPr eaLnBrk="1" hangingPunct="1">
          <a:lnSpc>
            <a:spcPct val="90000"/>
          </a:lnSpc>
          <a:defRPr sz="280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3449</Words>
  <Application>WPS 演示</Application>
  <PresentationFormat>全屏显示(4:3)</PresentationFormat>
  <Paragraphs>198</Paragraphs>
  <Slides>23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宋体</vt:lpstr>
      <vt:lpstr>Wingdings</vt:lpstr>
      <vt:lpstr>Verdana</vt:lpstr>
      <vt:lpstr>微软雅黑</vt:lpstr>
      <vt:lpstr>Arial Unicode MS</vt:lpstr>
      <vt:lpstr>Globe</vt:lpstr>
      <vt:lpstr>程序设计概述</vt:lpstr>
      <vt:lpstr>主要内容</vt:lpstr>
      <vt:lpstr>程序（Program）</vt:lpstr>
      <vt:lpstr>程序设计（Programming）</vt:lpstr>
      <vt:lpstr>程序设计范式 </vt:lpstr>
      <vt:lpstr>PowerPoint 演示文稿</vt:lpstr>
      <vt:lpstr>过程式程序设计</vt:lpstr>
      <vt:lpstr>对象式（面向对象） 程序设计</vt:lpstr>
      <vt:lpstr>函数式与逻辑式 </vt:lpstr>
      <vt:lpstr>程序设计步骤</vt:lpstr>
      <vt:lpstr>程序设计步骤（续1）</vt:lpstr>
      <vt:lpstr>程序设计步骤（续2）</vt:lpstr>
      <vt:lpstr>程序设计语言 </vt:lpstr>
      <vt:lpstr>低级语言</vt:lpstr>
      <vt:lpstr>高级语言</vt:lpstr>
      <vt:lpstr>低级语言与高级语言程序的比较</vt:lpstr>
      <vt:lpstr>PowerPoint 演示文稿</vt:lpstr>
      <vt:lpstr>高级语言的翻译</vt:lpstr>
      <vt:lpstr>PowerPoint 演示文稿</vt:lpstr>
      <vt:lpstr>高级语言的分类</vt:lpstr>
      <vt:lpstr>PowerPoint 演示文稿</vt:lpstr>
      <vt:lpstr>语言的设计和实现</vt:lpstr>
      <vt:lpstr>PowerPoint 演示文稿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概述</dc:title>
  <dc:creator>Chen Jiajun</dc:creator>
  <cp:lastModifiedBy>Ethereal_YC</cp:lastModifiedBy>
  <cp:revision>475</cp:revision>
  <dcterms:created xsi:type="dcterms:W3CDTF">2004-08-24T14:17:00Z</dcterms:created>
  <dcterms:modified xsi:type="dcterms:W3CDTF">2023-12-12T06:13:16Z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B6CE25DA2B934A66ACEFED138BBE6257_12</vt:lpwstr>
  </property>
  <property fmtid="{D5CDD505-2E9C-101B-9397-08002B2CF9AE}" pid="3" name="KSOProductBuildVer">
    <vt:lpwstr>2052-12.1.0.15990</vt:lpwstr>
  </property>
</Properties>
</file>
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3" r:id="rId3"/>
    <p:sldId id="312" r:id="rId4"/>
    <p:sldId id="258" r:id="rId5"/>
    <p:sldId id="332" r:id="rId6"/>
    <p:sldId id="260" r:id="rId7"/>
    <p:sldId id="259" r:id="rId8"/>
    <p:sldId id="261" r:id="rId9"/>
    <p:sldId id="262" r:id="rId10"/>
    <p:sldId id="319" r:id="rId11"/>
    <p:sldId id="326" r:id="rId12"/>
    <p:sldId id="263" r:id="rId13"/>
    <p:sldId id="264" r:id="rId14"/>
    <p:sldId id="270" r:id="rId15"/>
    <p:sldId id="271" r:id="rId16"/>
    <p:sldId id="323" r:id="rId17"/>
    <p:sldId id="272" r:id="rId18"/>
    <p:sldId id="273" r:id="rId19"/>
    <p:sldId id="274" r:id="rId20"/>
    <p:sldId id="320" r:id="rId21"/>
    <p:sldId id="277" r:id="rId22"/>
    <p:sldId id="278" r:id="rId23"/>
    <p:sldId id="279" r:id="rId24"/>
    <p:sldId id="280" r:id="rId25"/>
    <p:sldId id="281" r:id="rId26"/>
    <p:sldId id="282" r:id="rId27"/>
    <p:sldId id="314" r:id="rId28"/>
    <p:sldId id="285" r:id="rId29"/>
    <p:sldId id="325" r:id="rId30"/>
    <p:sldId id="286" r:id="rId31"/>
    <p:sldId id="287" r:id="rId32"/>
    <p:sldId id="288" r:id="rId33"/>
    <p:sldId id="340" r:id="rId34"/>
    <p:sldId id="289" r:id="rId35"/>
    <p:sldId id="337" r:id="rId36"/>
    <p:sldId id="338" r:id="rId37"/>
    <p:sldId id="336" r:id="rId38"/>
    <p:sldId id="291" r:id="rId39"/>
    <p:sldId id="292" r:id="rId40"/>
    <p:sldId id="293" r:id="rId41"/>
    <p:sldId id="294" r:id="rId42"/>
    <p:sldId id="305" r:id="rId43"/>
    <p:sldId id="298" r:id="rId44"/>
    <p:sldId id="299" r:id="rId45"/>
    <p:sldId id="304" r:id="rId46"/>
    <p:sldId id="306" r:id="rId47"/>
    <p:sldId id="324" r:id="rId48"/>
    <p:sldId id="308" r:id="rId49"/>
    <p:sldId id="307" r:id="rId50"/>
    <p:sldId id="339" r:id="rId51"/>
    <p:sldId id="311" r:id="rId52"/>
  </p:sldIdLst>
  <p:sldSz cx="9144000" cy="6858000" type="screen4x3"/>
  <p:notesSz cx="6858000" cy="9144000"/>
  <p:custDataLst>
    <p:tags r:id="rId5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1E3D7C"/>
    <a:srgbClr val="193265"/>
    <a:srgbClr val="203F7E"/>
    <a:srgbClr val="2850A0"/>
    <a:srgbClr val="23468D"/>
    <a:srgbClr val="0033CC"/>
    <a:srgbClr val="244B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83" autoAdjust="0"/>
    <p:restoredTop sz="94676" autoAdjust="0"/>
  </p:normalViewPr>
  <p:slideViewPr>
    <p:cSldViewPr showGuides="1">
      <p:cViewPr varScale="1">
        <p:scale>
          <a:sx n="91" d="100"/>
          <a:sy n="91" d="100"/>
        </p:scale>
        <p:origin x="104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gs" Target="tags/tag1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/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/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/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/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/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/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/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/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/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/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/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/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/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/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/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9 w 717"/>
                <a:gd name="T1" fmla="*/ 845 h 845"/>
                <a:gd name="T2" fmla="*/ 749 w 717"/>
                <a:gd name="T3" fmla="*/ 821 h 845"/>
                <a:gd name="T4" fmla="*/ 606 w 717"/>
                <a:gd name="T5" fmla="*/ 605 h 845"/>
                <a:gd name="T6" fmla="*/ 422 w 717"/>
                <a:gd name="T7" fmla="*/ 396 h 845"/>
                <a:gd name="T8" fmla="*/ 237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5 w 717"/>
                <a:gd name="T15" fmla="*/ 198 h 845"/>
                <a:gd name="T16" fmla="*/ 416 w 717"/>
                <a:gd name="T17" fmla="*/ 408 h 845"/>
                <a:gd name="T18" fmla="*/ 600 w 717"/>
                <a:gd name="T19" fmla="*/ 623 h 845"/>
                <a:gd name="T20" fmla="*/ 749 w 717"/>
                <a:gd name="T21" fmla="*/ 845 h 845"/>
                <a:gd name="T22" fmla="*/ 74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/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3 w 407"/>
                <a:gd name="T1" fmla="*/ 414 h 414"/>
                <a:gd name="T2" fmla="*/ 423 w 407"/>
                <a:gd name="T3" fmla="*/ 396 h 414"/>
                <a:gd name="T4" fmla="*/ 238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32 w 407"/>
                <a:gd name="T13" fmla="*/ 204 h 414"/>
                <a:gd name="T14" fmla="*/ 423 w 407"/>
                <a:gd name="T15" fmla="*/ 414 h 414"/>
                <a:gd name="T16" fmla="*/ 423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/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8 w 586"/>
                <a:gd name="T1" fmla="*/ 0 h 599"/>
                <a:gd name="T2" fmla="*/ 600 w 586"/>
                <a:gd name="T3" fmla="*/ 0 h 599"/>
                <a:gd name="T4" fmla="*/ 423 w 586"/>
                <a:gd name="T5" fmla="*/ 132 h 599"/>
                <a:gd name="T6" fmla="*/ 273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3 w 586"/>
                <a:gd name="T17" fmla="*/ 282 h 599"/>
                <a:gd name="T18" fmla="*/ 429 w 586"/>
                <a:gd name="T19" fmla="*/ 138 h 599"/>
                <a:gd name="T20" fmla="*/ 618 w 586"/>
                <a:gd name="T21" fmla="*/ 0 h 599"/>
                <a:gd name="T22" fmla="*/ 618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/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5 w 269"/>
                <a:gd name="T1" fmla="*/ 0 h 252"/>
                <a:gd name="T2" fmla="*/ 267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5 w 269"/>
                <a:gd name="T15" fmla="*/ 0 h 252"/>
                <a:gd name="T16" fmla="*/ 285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/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1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7172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7E385-AA97-4CF8-ABE6-28436E94279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84836-471C-40FC-973D-A52DA3453B5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8E6F58-6184-486F-9A40-F7DEA1CDE60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802D3E-9112-499D-A7E0-A2FE0407E0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19DC6-4EBE-4CB3-85E3-8C1F871EF1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C8FBE-CFF8-4426-BCF8-F60BAF7B58A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11446-A4D1-4689-9779-64260C79EAA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3836F4-0504-4FAF-8D40-C9904BFE7FE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BB864-7171-4050-8079-9F5AAEECA8A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A8A12C-FC5E-43C5-8E58-9CACF5EFDAC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4294F-FA12-4769-A9EE-7DA26D10237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90000">
              <a:srgbClr val="002C58"/>
            </a:gs>
            <a:gs pos="0">
              <a:schemeClr val="bg1">
                <a:lumMod val="75000"/>
              </a:schemeClr>
            </a:gs>
            <a:gs pos="100000">
              <a:schemeClr val="bg1">
                <a:gamma/>
                <a:shade val="39216"/>
                <a:invGamma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70659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0660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0661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/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70663" name="Freeform 7"/>
              <p:cNvSpPr/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4" name="Freeform 8"/>
              <p:cNvSpPr/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5" name="Freeform 9"/>
              <p:cNvSpPr/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6" name="Freeform 10"/>
              <p:cNvSpPr/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7" name="Freeform 11"/>
              <p:cNvSpPr/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8" name="Freeform 12"/>
              <p:cNvSpPr/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69" name="Freeform 13"/>
              <p:cNvSpPr/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0" name="Freeform 14"/>
              <p:cNvSpPr/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1" name="Freeform 15"/>
              <p:cNvSpPr/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2" name="Freeform 16"/>
              <p:cNvSpPr/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3" name="Freeform 17"/>
              <p:cNvSpPr/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4" name="Freeform 18"/>
              <p:cNvSpPr/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70675" name="Freeform 19"/>
              <p:cNvSpPr/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0676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0677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0678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/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9 w 717"/>
                <a:gd name="T1" fmla="*/ 845 h 845"/>
                <a:gd name="T2" fmla="*/ 749 w 717"/>
                <a:gd name="T3" fmla="*/ 821 h 845"/>
                <a:gd name="T4" fmla="*/ 606 w 717"/>
                <a:gd name="T5" fmla="*/ 605 h 845"/>
                <a:gd name="T6" fmla="*/ 422 w 717"/>
                <a:gd name="T7" fmla="*/ 396 h 845"/>
                <a:gd name="T8" fmla="*/ 237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5 w 717"/>
                <a:gd name="T15" fmla="*/ 198 h 845"/>
                <a:gd name="T16" fmla="*/ 416 w 717"/>
                <a:gd name="T17" fmla="*/ 408 h 845"/>
                <a:gd name="T18" fmla="*/ 600 w 717"/>
                <a:gd name="T19" fmla="*/ 623 h 845"/>
                <a:gd name="T20" fmla="*/ 749 w 717"/>
                <a:gd name="T21" fmla="*/ 845 h 845"/>
                <a:gd name="T22" fmla="*/ 74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3 w 407"/>
                <a:gd name="T1" fmla="*/ 414 h 414"/>
                <a:gd name="T2" fmla="*/ 423 w 407"/>
                <a:gd name="T3" fmla="*/ 396 h 414"/>
                <a:gd name="T4" fmla="*/ 238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32 w 407"/>
                <a:gd name="T13" fmla="*/ 204 h 414"/>
                <a:gd name="T14" fmla="*/ 423 w 407"/>
                <a:gd name="T15" fmla="*/ 414 h 414"/>
                <a:gd name="T16" fmla="*/ 423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1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/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8 w 586"/>
                <a:gd name="T1" fmla="*/ 0 h 599"/>
                <a:gd name="T2" fmla="*/ 600 w 586"/>
                <a:gd name="T3" fmla="*/ 0 h 599"/>
                <a:gd name="T4" fmla="*/ 423 w 586"/>
                <a:gd name="T5" fmla="*/ 132 h 599"/>
                <a:gd name="T6" fmla="*/ 273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3 w 586"/>
                <a:gd name="T17" fmla="*/ 282 h 599"/>
                <a:gd name="T18" fmla="*/ 429 w 586"/>
                <a:gd name="T19" fmla="*/ 138 h 599"/>
                <a:gd name="T20" fmla="*/ 618 w 586"/>
                <a:gd name="T21" fmla="*/ 0 h 599"/>
                <a:gd name="T22" fmla="*/ 618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5 w 269"/>
                <a:gd name="T1" fmla="*/ 0 h 252"/>
                <a:gd name="T2" fmla="*/ 267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5 w 269"/>
                <a:gd name="T15" fmla="*/ 0 h 252"/>
                <a:gd name="T16" fmla="*/ 285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/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0695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70696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97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698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6B726B6-D328-40A2-B22E-2BF837B42030}" type="slidenum">
              <a:rPr lang="en-US" altLang="zh-CN"/>
            </a:fld>
            <a:endParaRPr lang="en-US" altLang="zh-CN"/>
          </a:p>
        </p:txBody>
      </p:sp>
      <p:sp>
        <p:nvSpPr>
          <p:cNvPr id="7069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800" smtClean="0"/>
              <a:t>二、简单</a:t>
            </a:r>
            <a:r>
              <a:rPr lang="zh-CN" altLang="en-US" sz="4800" dirty="0"/>
              <a:t>数据的</a:t>
            </a:r>
            <a:r>
              <a:rPr lang="zh-CN" altLang="en-US" sz="4800" dirty="0" smtClean="0"/>
              <a:t>描述</a:t>
            </a:r>
            <a:br>
              <a:rPr lang="en-US" altLang="zh-CN" sz="4800" dirty="0" smtClean="0"/>
            </a:br>
            <a:r>
              <a:rPr lang="zh-CN" altLang="en-US" sz="4000" dirty="0" smtClean="0"/>
              <a:t>−−</a:t>
            </a:r>
            <a:r>
              <a:rPr lang="zh-CN" altLang="en-US" sz="4000" dirty="0"/>
              <a:t>基本数据类型和表达式</a:t>
            </a:r>
            <a:endParaRPr lang="zh-CN" altLang="en-US" sz="4000" dirty="0" smtClean="0">
              <a:solidFill>
                <a:srgbClr val="FFC000"/>
              </a:solidFill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3886200"/>
            <a:ext cx="6728792" cy="1752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（</a:t>
            </a:r>
            <a:r>
              <a:rPr lang="zh-CN" altLang="en-US"/>
              <a:t>基础部分</a:t>
            </a:r>
            <a:r>
              <a:rPr lang="zh-CN" altLang="en-US" smtClean="0"/>
              <a:t>）</a:t>
            </a:r>
            <a:endParaRPr lang="en-US" altLang="zh-CN" dirty="0" smtClean="0"/>
          </a:p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数据类型的概念</a:t>
            </a:r>
            <a:endParaRPr lang="zh-CN" altLang="en-US" dirty="0" smtClean="0"/>
          </a:p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基本数据类型</a:t>
            </a: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常量与变量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/>
              <a:t>变量</a:t>
            </a:r>
            <a:r>
              <a:rPr lang="zh-CN" altLang="en-US" dirty="0" smtClean="0"/>
              <a:t>值的输入</a:t>
            </a: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操作符</a:t>
            </a: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表达式</a:t>
            </a: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表达式值的输出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635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mtClean="0"/>
              <a:t>数据类型</a:t>
            </a:r>
            <a:endParaRPr lang="zh-CN" altLang="en-US" sz="400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932" y="1340768"/>
            <a:ext cx="8172524" cy="5328592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从本质上讲，用计算机解决各种实际</a:t>
            </a:r>
            <a:r>
              <a:rPr lang="zh-CN" altLang="en-US" dirty="0" smtClean="0"/>
              <a:t>问题是</a:t>
            </a:r>
            <a:r>
              <a:rPr lang="zh-CN" altLang="en-US" dirty="0"/>
              <a:t>通过用计算机程序对反映实际问题的一些</a:t>
            </a:r>
            <a:r>
              <a:rPr lang="zh-CN" altLang="en-US" dirty="0">
                <a:solidFill>
                  <a:srgbClr val="FFC000"/>
                </a:solidFill>
              </a:rPr>
              <a:t>数据</a:t>
            </a:r>
            <a:r>
              <a:rPr lang="zh-CN" altLang="en-US" dirty="0"/>
              <a:t>进行处理来实现的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sz="4600" dirty="0" smtClean="0"/>
              <a:t>	</a:t>
            </a:r>
            <a:r>
              <a:rPr lang="zh-CN" altLang="en-US" sz="4600" dirty="0" smtClean="0"/>
              <a:t>程序 </a:t>
            </a:r>
            <a:r>
              <a:rPr lang="en-US" altLang="zh-CN" sz="4600" dirty="0"/>
              <a:t>= </a:t>
            </a:r>
            <a:r>
              <a:rPr lang="zh-CN" altLang="en-US" sz="4600" dirty="0"/>
              <a:t>算法 </a:t>
            </a:r>
            <a:r>
              <a:rPr lang="en-US" altLang="zh-CN" sz="4600" dirty="0"/>
              <a:t>+ </a:t>
            </a:r>
            <a:r>
              <a:rPr lang="zh-CN" altLang="en-US" sz="4600" dirty="0">
                <a:solidFill>
                  <a:srgbClr val="FFC000"/>
                </a:solidFill>
              </a:rPr>
              <a:t>数据结构</a:t>
            </a:r>
            <a:endParaRPr lang="en-US" altLang="zh-CN" sz="46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因此，程序中首先要对数据进行描述。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为了实现</a:t>
            </a:r>
            <a:r>
              <a:rPr lang="zh-CN" altLang="en-US" dirty="0"/>
              <a:t>对数据的可靠、有效</a:t>
            </a:r>
            <a:r>
              <a:rPr lang="zh-CN" altLang="en-US" dirty="0" smtClean="0"/>
              <a:t>处理，常常把数据进行分类，从而形成</a:t>
            </a:r>
            <a:r>
              <a:rPr lang="zh-CN" altLang="en-US" dirty="0" smtClean="0">
                <a:solidFill>
                  <a:schemeClr val="folHlink"/>
                </a:solidFill>
              </a:rPr>
              <a:t>数据类型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一</a:t>
            </a:r>
            <a:r>
              <a:rPr lang="zh-CN" altLang="en-US" dirty="0"/>
              <a:t>种数据类型由两个集合构成</a:t>
            </a:r>
            <a:r>
              <a:rPr lang="zh-CN" altLang="en-US" dirty="0" smtClean="0"/>
              <a:t>： 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folHlink"/>
                </a:solidFill>
              </a:rPr>
              <a:t>值集</a:t>
            </a:r>
            <a:r>
              <a:rPr lang="zh-CN" altLang="en-US" dirty="0"/>
              <a:t>：规定了该数据类型能包含哪些值（包括这些值的结构）。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folHlink"/>
                </a:solidFill>
              </a:rPr>
              <a:t>操作（运算）集</a:t>
            </a:r>
            <a:r>
              <a:rPr lang="zh-CN" altLang="en-US" dirty="0"/>
              <a:t>：规定了对值集中的值能实施哪些运算。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例如：</a:t>
            </a:r>
            <a:r>
              <a:rPr lang="zh-CN" altLang="en-US" dirty="0">
                <a:solidFill>
                  <a:schemeClr val="folHlink"/>
                </a:solidFill>
              </a:rPr>
              <a:t>整数类型</a:t>
            </a:r>
            <a:r>
              <a:rPr lang="zh-CN" altLang="en-US" dirty="0"/>
              <a:t>就是一种数据类型，它的值集：由整数构成，它的操作集：加、减、乘、除等运算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数据类型的分类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数据类型一般可以分为：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>
                <a:solidFill>
                  <a:schemeClr val="folHlink"/>
                </a:solidFill>
              </a:rPr>
              <a:t>简单</a:t>
            </a:r>
            <a:r>
              <a:rPr lang="zh-CN" altLang="en-US" dirty="0" smtClean="0">
                <a:solidFill>
                  <a:schemeClr val="folHlink"/>
                </a:solidFill>
              </a:rPr>
              <a:t>数据类型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值</a:t>
            </a:r>
            <a:r>
              <a:rPr lang="zh-CN" altLang="en-US" dirty="0"/>
              <a:t>集中的数据是不可再分解的简单</a:t>
            </a:r>
            <a:r>
              <a:rPr lang="zh-CN" altLang="en-US" dirty="0" smtClean="0"/>
              <a:t>数据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如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FFC000"/>
                </a:solidFill>
              </a:rPr>
              <a:t>整数</a:t>
            </a:r>
            <a:r>
              <a:rPr lang="zh-CN" altLang="en-US" dirty="0"/>
              <a:t>类型、</a:t>
            </a:r>
            <a:r>
              <a:rPr lang="zh-CN" altLang="en-US" dirty="0">
                <a:solidFill>
                  <a:srgbClr val="FFC000"/>
                </a:solidFill>
              </a:rPr>
              <a:t>实数</a:t>
            </a:r>
            <a:r>
              <a:rPr lang="zh-CN" altLang="en-US" dirty="0"/>
              <a:t>类型</a:t>
            </a:r>
            <a:r>
              <a:rPr lang="zh-CN" altLang="en-US" dirty="0" smtClean="0"/>
              <a:t>等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>
                <a:solidFill>
                  <a:schemeClr val="folHlink"/>
                </a:solidFill>
              </a:rPr>
              <a:t>复合</a:t>
            </a:r>
            <a:r>
              <a:rPr lang="zh-CN" altLang="en-US" dirty="0" smtClean="0">
                <a:solidFill>
                  <a:schemeClr val="folHlink"/>
                </a:solidFill>
              </a:rPr>
              <a:t>数据类型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值</a:t>
            </a:r>
            <a:r>
              <a:rPr lang="zh-CN" altLang="en-US" dirty="0"/>
              <a:t>集中的数据是由其它类型的数据按照一定的方式组织而</a:t>
            </a:r>
            <a:r>
              <a:rPr lang="zh-CN" altLang="en-US" dirty="0" smtClean="0"/>
              <a:t>成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如：</a:t>
            </a:r>
            <a:r>
              <a:rPr lang="zh-CN" altLang="en-US" dirty="0" smtClean="0">
                <a:solidFill>
                  <a:srgbClr val="FFC000"/>
                </a:solidFill>
              </a:rPr>
              <a:t>向量</a:t>
            </a:r>
            <a:r>
              <a:rPr lang="zh-CN" altLang="en-US" dirty="0" smtClean="0"/>
              <a:t>（由分量组成）、</a:t>
            </a:r>
            <a:r>
              <a:rPr lang="zh-CN" altLang="en-US" dirty="0" smtClean="0">
                <a:solidFill>
                  <a:srgbClr val="FFC000"/>
                </a:solidFill>
              </a:rPr>
              <a:t>矩阵</a:t>
            </a:r>
            <a:r>
              <a:rPr lang="zh-CN" altLang="en-US" dirty="0" smtClean="0"/>
              <a:t>（由具有行、列关系的元素组成）、</a:t>
            </a:r>
            <a:r>
              <a:rPr lang="zh-CN" altLang="en-US" dirty="0">
                <a:solidFill>
                  <a:srgbClr val="FFC000"/>
                </a:solidFill>
              </a:rPr>
              <a:t>学生</a:t>
            </a:r>
            <a:r>
              <a:rPr lang="zh-CN" altLang="en-US" dirty="0" smtClean="0">
                <a:solidFill>
                  <a:srgbClr val="FFC000"/>
                </a:solidFill>
              </a:rPr>
              <a:t>信息</a:t>
            </a:r>
            <a:r>
              <a:rPr lang="zh-CN" altLang="en-US" dirty="0" smtClean="0"/>
              <a:t>（由学号、姓名、出生日期等属性组成）、</a:t>
            </a:r>
            <a:r>
              <a:rPr lang="en-US" altLang="zh-CN" dirty="0" smtClean="0"/>
              <a:t>...</a:t>
            </a:r>
            <a:r>
              <a:rPr lang="zh-CN" altLang="en-US" dirty="0" smtClean="0"/>
              <a:t>。 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C++</a:t>
            </a:r>
            <a:r>
              <a:rPr lang="zh-CN" altLang="en-US" smtClean="0"/>
              <a:t>数据类型</a:t>
            </a:r>
            <a:endParaRPr lang="zh-CN" altLang="en-US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8925" y="1270000"/>
            <a:ext cx="8675688" cy="5327352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基本数据类型</a:t>
            </a:r>
            <a:endParaRPr lang="zh-CN" altLang="en-US" dirty="0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语言预先定义好的数据类型，常常又称为</a:t>
            </a:r>
            <a:r>
              <a:rPr lang="zh-CN" altLang="en-US" dirty="0" smtClean="0">
                <a:solidFill>
                  <a:schemeClr val="folHlink"/>
                </a:solidFill>
              </a:rPr>
              <a:t>标准数据类型</a:t>
            </a:r>
            <a:r>
              <a:rPr lang="zh-CN" altLang="en-US" dirty="0" smtClean="0"/>
              <a:t>或</a:t>
            </a:r>
            <a:r>
              <a:rPr lang="zh-CN" altLang="en-US" dirty="0" smtClean="0">
                <a:solidFill>
                  <a:schemeClr val="folHlink"/>
                </a:solidFill>
              </a:rPr>
              <a:t>内置数据类型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built-in types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它们都是简单类型。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构造数据类型</a:t>
            </a:r>
            <a:endParaRPr lang="zh-CN" altLang="en-US" dirty="0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利用语言提供的</a:t>
            </a:r>
            <a:r>
              <a:rPr lang="zh-CN" altLang="en-US" dirty="0" smtClean="0">
                <a:solidFill>
                  <a:schemeClr val="folHlink"/>
                </a:solidFill>
              </a:rPr>
              <a:t>类型构造机制</a:t>
            </a:r>
            <a:r>
              <a:rPr lang="zh-CN" altLang="en-US" dirty="0" smtClean="0"/>
              <a:t>从其它类型构造出来的数据类型。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它们大多为复合数据类型。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抽象数据类型</a:t>
            </a:r>
            <a:endParaRPr lang="zh-CN" altLang="en-US" dirty="0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利用</a:t>
            </a:r>
            <a:r>
              <a:rPr lang="zh-CN" altLang="en-US" dirty="0" smtClean="0">
                <a:solidFill>
                  <a:schemeClr val="folHlink"/>
                </a:solidFill>
              </a:rPr>
              <a:t>数据抽象</a:t>
            </a:r>
            <a:r>
              <a:rPr lang="zh-CN" altLang="en-US" dirty="0" smtClean="0"/>
              <a:t>机制把数据的表示对使用者隐藏起来的数据类型。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它们一般为复合数据类型，在面向对象程序设计中用于描述对象。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/>
          <p:cNvSpPr>
            <a:spLocks noChangeArrowheads="1"/>
          </p:cNvSpPr>
          <p:nvPr/>
        </p:nvSpPr>
        <p:spPr bwMode="auto">
          <a:xfrm>
            <a:off x="0" y="2157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8248" name="Picture 5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468" y="332740"/>
            <a:ext cx="5248275" cy="607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163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C++</a:t>
            </a:r>
            <a:r>
              <a:rPr lang="zh-CN" altLang="en-US" smtClean="0"/>
              <a:t>基本数据类型</a:t>
            </a:r>
            <a:endParaRPr lang="zh-CN" altLang="en-US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12875"/>
            <a:ext cx="8460556" cy="4392389"/>
          </a:xfrm>
        </p:spPr>
        <p:txBody>
          <a:bodyPr/>
          <a:lstStyle/>
          <a:p>
            <a:pPr marL="354330" indent="-354330"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基本数据类型包括：</a:t>
            </a:r>
            <a:endParaRPr lang="en-US" altLang="zh-CN" dirty="0" smtClean="0"/>
          </a:p>
          <a:p>
            <a:pPr marL="906780" lvl="1" eaLnBrk="1" hangingPunct="1">
              <a:defRPr/>
            </a:pPr>
            <a:r>
              <a:rPr lang="zh-CN" altLang="en-US" dirty="0"/>
              <a:t>	 整数类型</a:t>
            </a:r>
            <a:endParaRPr lang="zh-CN" altLang="en-US" dirty="0"/>
          </a:p>
          <a:p>
            <a:pPr marL="906780" lvl="1" eaLnBrk="1" hangingPunct="1">
              <a:defRPr/>
            </a:pPr>
            <a:r>
              <a:rPr lang="zh-CN" altLang="en-US" dirty="0"/>
              <a:t> 实数类型</a:t>
            </a:r>
            <a:endParaRPr lang="zh-CN" altLang="en-US" dirty="0"/>
          </a:p>
          <a:p>
            <a:pPr marL="906780" lvl="1" eaLnBrk="1" hangingPunct="1">
              <a:defRPr/>
            </a:pPr>
            <a:r>
              <a:rPr lang="zh-CN" altLang="en-US" dirty="0"/>
              <a:t> 字符类型</a:t>
            </a:r>
            <a:endParaRPr lang="zh-CN" altLang="en-US" dirty="0"/>
          </a:p>
          <a:p>
            <a:pPr marL="906780" lvl="1" eaLnBrk="1" hangingPunct="1">
              <a:defRPr/>
            </a:pPr>
            <a:r>
              <a:rPr lang="zh-CN" altLang="en-US" dirty="0"/>
              <a:t> 逻辑类型</a:t>
            </a:r>
            <a:endParaRPr lang="zh-CN" altLang="en-US" dirty="0"/>
          </a:p>
          <a:p>
            <a:pPr marL="906780" lvl="1" eaLnBrk="1" hangingPunct="1">
              <a:defRPr/>
            </a:pPr>
            <a:r>
              <a:rPr lang="zh-CN" altLang="en-US" dirty="0"/>
              <a:t> 空值类型 </a:t>
            </a:r>
            <a:endParaRPr lang="zh-CN" altLang="en-US" dirty="0"/>
          </a:p>
          <a:p>
            <a:pPr marL="354330" indent="-354330" eaLnBrk="1" hangingPunct="1">
              <a:defRPr/>
            </a:pPr>
            <a:r>
              <a:rPr lang="zh-CN" altLang="en-US" dirty="0"/>
              <a:t>基本数据类型</a:t>
            </a:r>
            <a:r>
              <a:rPr lang="zh-CN" altLang="en-US" dirty="0" smtClean="0"/>
              <a:t>的</a:t>
            </a:r>
            <a:r>
              <a:rPr lang="zh-CN" altLang="en-US" dirty="0"/>
              <a:t>数据能被</a:t>
            </a:r>
            <a:r>
              <a:rPr lang="zh-CN" altLang="en-US" dirty="0">
                <a:solidFill>
                  <a:srgbClr val="FFC000"/>
                </a:solidFill>
              </a:rPr>
              <a:t>机器指令直接进行</a:t>
            </a:r>
            <a:r>
              <a:rPr lang="zh-CN" altLang="en-US" dirty="0" smtClean="0">
                <a:solidFill>
                  <a:srgbClr val="FFC000"/>
                </a:solidFill>
              </a:rPr>
              <a:t>操作</a:t>
            </a:r>
            <a:r>
              <a:rPr lang="zh-CN" altLang="en-US" dirty="0">
                <a:solidFill>
                  <a:srgbClr val="FFC000"/>
                </a:solidFill>
              </a:rPr>
              <a:t>。</a:t>
            </a:r>
            <a:endParaRPr lang="zh-CN" altLang="en-US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整数类型</a:t>
            </a:r>
            <a:endParaRPr lang="zh-CN" altLang="en-US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70000"/>
            <a:ext cx="8641208" cy="5399088"/>
          </a:xfrm>
        </p:spPr>
        <p:txBody>
          <a:bodyPr>
            <a:normAutofit fontScale="85000" lnSpcReduction="10000"/>
          </a:bodyPr>
          <a:lstStyle/>
          <a:p>
            <a:pPr marL="354330" indent="-354330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整数</a:t>
            </a:r>
            <a:r>
              <a:rPr lang="zh-CN" altLang="en-US" dirty="0"/>
              <a:t>类型通常用于</a:t>
            </a:r>
            <a:r>
              <a:rPr lang="zh-CN" altLang="en-US" dirty="0" smtClean="0"/>
              <a:t>描述</a:t>
            </a:r>
            <a:r>
              <a:rPr lang="zh-CN" altLang="en-US" dirty="0" smtClean="0">
                <a:solidFill>
                  <a:schemeClr val="folHlink"/>
                </a:solidFill>
              </a:rPr>
              <a:t>整数</a:t>
            </a:r>
            <a:r>
              <a:rPr lang="zh-CN" altLang="en-US" dirty="0" smtClean="0"/>
              <a:t>。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按精度提供以下整数类型： </a:t>
            </a:r>
            <a:endParaRPr lang="zh-CN" altLang="en-US" dirty="0" smtClean="0"/>
          </a:p>
          <a:p>
            <a:pPr marL="805180" lvl="1" indent="-269875" eaLnBrk="1" hangingPunct="1">
              <a:lnSpc>
                <a:spcPct val="110000"/>
              </a:lnSpc>
              <a:defRPr/>
            </a:pPr>
            <a:r>
              <a:rPr lang="en-US" altLang="zh-CN" dirty="0" err="1" smtClean="0"/>
              <a:t>int</a:t>
            </a:r>
            <a:endParaRPr lang="en-US" altLang="zh-CN" dirty="0" smtClean="0"/>
          </a:p>
          <a:p>
            <a:pPr marL="805180" lvl="1" indent="-269875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short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short</a:t>
            </a:r>
            <a:endParaRPr lang="en-US" altLang="zh-CN" dirty="0" smtClean="0"/>
          </a:p>
          <a:p>
            <a:pPr marL="805180" lvl="1" indent="-269875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long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long</a:t>
            </a:r>
            <a:endParaRPr lang="en-US" altLang="zh-CN" dirty="0" smtClean="0"/>
          </a:p>
          <a:p>
            <a:pPr marL="354330" indent="-35433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solidFill>
                  <a:schemeClr val="tx2"/>
                </a:solidFill>
              </a:rPr>
              <a:t>	</a:t>
            </a:r>
            <a:r>
              <a:rPr lang="zh-CN" altLang="en-US" sz="2400" dirty="0" smtClean="0">
                <a:solidFill>
                  <a:schemeClr val="folHlink"/>
                </a:solidFill>
                <a:latin typeface="Arial" panose="020B0604020202020204"/>
              </a:rPr>
              <a:t>“</a:t>
            </a:r>
            <a:r>
              <a:rPr lang="en-US" altLang="zh-CN" sz="2400" dirty="0" smtClean="0">
                <a:solidFill>
                  <a:schemeClr val="folHlink"/>
                </a:solidFill>
              </a:rPr>
              <a:t>short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int</a:t>
            </a:r>
            <a:r>
              <a:rPr lang="zh-CN" altLang="en-US" sz="2400" dirty="0" smtClean="0">
                <a:solidFill>
                  <a:schemeClr val="folHlink"/>
                </a:solidFill>
              </a:rPr>
              <a:t>”的范围 ≤ </a:t>
            </a:r>
            <a:r>
              <a:rPr lang="zh-CN" altLang="en-US" sz="2400" dirty="0" smtClean="0">
                <a:solidFill>
                  <a:schemeClr val="folHlink"/>
                </a:solidFill>
                <a:latin typeface="Arial" panose="020B0604020202020204"/>
              </a:rPr>
              <a:t>“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int</a:t>
            </a:r>
            <a:r>
              <a:rPr lang="zh-CN" altLang="en-US" sz="2400" dirty="0" smtClean="0">
                <a:solidFill>
                  <a:schemeClr val="folHlink"/>
                </a:solidFill>
                <a:latin typeface="Arial" panose="020B0604020202020204"/>
              </a:rPr>
              <a:t>”</a:t>
            </a:r>
            <a:r>
              <a:rPr lang="zh-CN" altLang="en-US" sz="2400" dirty="0" smtClean="0">
                <a:solidFill>
                  <a:schemeClr val="folHlink"/>
                </a:solidFill>
              </a:rPr>
              <a:t>的范围 ≤ </a:t>
            </a:r>
            <a:r>
              <a:rPr lang="zh-CN" altLang="en-US" sz="2400" dirty="0" smtClean="0">
                <a:solidFill>
                  <a:schemeClr val="folHlink"/>
                </a:solidFill>
                <a:latin typeface="Arial" panose="020B0604020202020204"/>
              </a:rPr>
              <a:t>“</a:t>
            </a:r>
            <a:r>
              <a:rPr lang="en-US" altLang="zh-CN" sz="2400" dirty="0" smtClean="0">
                <a:solidFill>
                  <a:schemeClr val="folHlink"/>
                </a:solidFill>
              </a:rPr>
              <a:t>long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int</a:t>
            </a:r>
            <a:r>
              <a:rPr lang="zh-CN" altLang="en-US" sz="2400" dirty="0" smtClean="0">
                <a:solidFill>
                  <a:schemeClr val="folHlink"/>
                </a:solidFill>
              </a:rPr>
              <a:t>”的范围</a:t>
            </a:r>
            <a:endParaRPr lang="zh-CN" altLang="en-US" sz="2400" dirty="0" smtClean="0">
              <a:solidFill>
                <a:schemeClr val="folHlink"/>
              </a:solidFill>
            </a:endParaRPr>
          </a:p>
          <a:p>
            <a:pPr marL="405130" indent="-26987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计算机内部</a:t>
            </a:r>
            <a:r>
              <a:rPr lang="zh-CN" altLang="en-US" dirty="0" smtClean="0"/>
              <a:t>，</a:t>
            </a:r>
            <a:r>
              <a:rPr lang="zh-CN" altLang="en-US" dirty="0"/>
              <a:t>上述</a:t>
            </a:r>
            <a:r>
              <a:rPr lang="zh-CN" altLang="en-US" dirty="0" smtClean="0"/>
              <a:t>整数类型的值采用固定长度的</a:t>
            </a:r>
            <a:r>
              <a:rPr lang="en-US" altLang="zh-CN" dirty="0" smtClean="0"/>
              <a:t>2</a:t>
            </a:r>
            <a:r>
              <a:rPr lang="zh-CN" altLang="en-US" dirty="0" smtClean="0"/>
              <a:t>的补码表示。通常情况下：</a:t>
            </a:r>
            <a:endParaRPr lang="en-US" altLang="zh-CN" dirty="0" smtClean="0"/>
          </a:p>
          <a:p>
            <a:pPr marL="805180" lvl="1" indent="-269875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short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占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个字节（</a:t>
            </a:r>
            <a:r>
              <a:rPr lang="en-US" altLang="zh-CN" dirty="0" smtClean="0"/>
              <a:t>-32768</a:t>
            </a:r>
            <a:r>
              <a:rPr lang="zh-CN" altLang="en-US" dirty="0" smtClean="0"/>
              <a:t>～</a:t>
            </a:r>
            <a:r>
              <a:rPr lang="en-US" altLang="zh-CN" dirty="0" smtClean="0"/>
              <a:t>32767 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marL="805180" lvl="1" indent="-269875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long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占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个字节 （</a:t>
            </a:r>
            <a:r>
              <a:rPr lang="en-US" altLang="zh-CN" dirty="0" smtClean="0"/>
              <a:t>-2147483648</a:t>
            </a:r>
            <a:r>
              <a:rPr lang="zh-CN" altLang="en-US" dirty="0" smtClean="0"/>
              <a:t>～</a:t>
            </a:r>
            <a:r>
              <a:rPr lang="en-US" altLang="zh-CN" dirty="0" smtClean="0"/>
              <a:t>2147483647 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marL="805180" lvl="1" indent="-269875" eaLnBrk="1" hangingPunct="1">
              <a:lnSpc>
                <a:spcPct val="110000"/>
              </a:lnSpc>
              <a:defRPr/>
            </a:pPr>
            <a:r>
              <a:rPr lang="en-US" altLang="zh-CN" dirty="0" err="1" smtClean="0"/>
              <a:t>int</a:t>
            </a:r>
            <a:r>
              <a:rPr lang="zh-CN" altLang="en-US" dirty="0" smtClean="0"/>
              <a:t>占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个或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个字节，</a:t>
            </a:r>
            <a:r>
              <a:rPr lang="zh-CN" altLang="en-US" dirty="0"/>
              <a:t>一般</a:t>
            </a:r>
            <a:r>
              <a:rPr lang="zh-CN" altLang="en-US" dirty="0" smtClean="0"/>
              <a:t>由计算机的</a:t>
            </a:r>
            <a:r>
              <a:rPr lang="zh-CN" altLang="en-US" dirty="0" smtClean="0">
                <a:solidFill>
                  <a:schemeClr val="folHlink"/>
                </a:solidFill>
              </a:rPr>
              <a:t>字长</a:t>
            </a:r>
            <a:r>
              <a:rPr lang="zh-CN" altLang="en-US" dirty="0" smtClean="0"/>
              <a:t>决定。</a:t>
            </a:r>
            <a:endParaRPr lang="en-US" altLang="zh-CN" dirty="0" smtClean="0"/>
          </a:p>
          <a:p>
            <a:pPr marL="405130" indent="-269875" eaLnBrk="1" hangingPunct="1">
              <a:lnSpc>
                <a:spcPct val="110000"/>
              </a:lnSpc>
              <a:defRPr/>
            </a:pPr>
            <a:r>
              <a:rPr lang="en-US" altLang="zh-CN" dirty="0"/>
              <a:t>C</a:t>
            </a:r>
            <a:r>
              <a:rPr lang="en-US" altLang="zh-CN" dirty="0" smtClean="0"/>
              <a:t>++</a:t>
            </a:r>
            <a:r>
              <a:rPr lang="zh-CN" altLang="en-US" dirty="0" smtClean="0"/>
              <a:t>新标准还提供了</a:t>
            </a:r>
            <a:r>
              <a:rPr lang="en-US" altLang="zh-CN" dirty="0" smtClean="0"/>
              <a:t>long </a:t>
            </a:r>
            <a:r>
              <a:rPr lang="en-US" altLang="zh-CN" dirty="0" err="1" smtClean="0"/>
              <a:t>long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（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个字节）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无符号整数类型</a:t>
            </a:r>
            <a:endParaRPr lang="zh-CN" altLang="en-US" dirty="0" smtClean="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还提供了</a:t>
            </a:r>
            <a:r>
              <a:rPr lang="zh-CN" altLang="en-US" dirty="0" smtClean="0">
                <a:solidFill>
                  <a:srgbClr val="FFC000"/>
                </a:solidFill>
              </a:rPr>
              <a:t>无符号</a:t>
            </a:r>
            <a:r>
              <a:rPr lang="zh-CN" altLang="en-US" dirty="0" smtClean="0"/>
              <a:t>整数类型用以表示非负整数：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unsigned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unsigned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unsigned short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unsigned short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unsigned long 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或</a:t>
            </a:r>
            <a:r>
              <a:rPr lang="en-US" altLang="zh-CN" dirty="0" smtClean="0"/>
              <a:t>unsigned long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它们所占的内存大小与相应的有符号整数类型相同，但没有表示符号的二进制位，所有二进制位都用于表示绝对值。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dirty="0" smtClean="0"/>
              <a:t>无符号整数类型的用途：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/>
              <a:t>表示</a:t>
            </a:r>
            <a:r>
              <a:rPr lang="zh-CN" altLang="en-US" dirty="0">
                <a:solidFill>
                  <a:srgbClr val="FFC000"/>
                </a:solidFill>
              </a:rPr>
              <a:t>更大的</a:t>
            </a:r>
            <a:r>
              <a:rPr lang="zh-CN" altLang="en-US" dirty="0" smtClean="0"/>
              <a:t>正整数（可</a:t>
            </a:r>
            <a:r>
              <a:rPr lang="zh-CN" altLang="en-US" dirty="0"/>
              <a:t>表示的最大正整数比相应的有符号整数</a:t>
            </a:r>
            <a:r>
              <a:rPr lang="zh-CN" altLang="en-US" dirty="0" smtClean="0"/>
              <a:t>类型大约大一倍</a:t>
            </a:r>
            <a:r>
              <a:rPr lang="zh-CN" altLang="en-US" dirty="0"/>
              <a:t>） 。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能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chemeClr val="folHlink"/>
                </a:solidFill>
              </a:rPr>
              <a:t>非负</a:t>
            </a:r>
            <a:r>
              <a:rPr lang="zh-CN" altLang="en-US" dirty="0"/>
              <a:t>整数专门进行描述，在一些情况</a:t>
            </a:r>
            <a:r>
              <a:rPr lang="zh-CN" altLang="en-US" dirty="0" smtClean="0"/>
              <a:t>下可以</a:t>
            </a:r>
            <a:r>
              <a:rPr lang="zh-CN" altLang="en-US" dirty="0"/>
              <a:t>提高程序的可靠性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/>
              <a:t>表示</a:t>
            </a:r>
            <a:r>
              <a:rPr lang="zh-CN" altLang="en-US" dirty="0" smtClean="0"/>
              <a:t>一些</a:t>
            </a:r>
            <a:r>
              <a:rPr lang="zh-CN" altLang="en-US" dirty="0" smtClean="0">
                <a:solidFill>
                  <a:srgbClr val="FFC000"/>
                </a:solidFill>
              </a:rPr>
              <a:t>非</a:t>
            </a:r>
            <a:r>
              <a:rPr lang="zh-CN" altLang="en-US" dirty="0">
                <a:solidFill>
                  <a:srgbClr val="FFC000"/>
                </a:solidFill>
              </a:rPr>
              <a:t>数值</a:t>
            </a:r>
            <a:r>
              <a:rPr lang="zh-CN" altLang="en-US" dirty="0"/>
              <a:t>数据（如由二进制位构成的设备的状态数据以及图像的位图数据等）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缺陷：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对减法操作不是封闭的！（两个无符号整数相减，结果可能不是无符号整数）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实数类型</a:t>
            </a:r>
            <a:endParaRPr lang="zh-CN" altLang="en-US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900" y="1196752"/>
            <a:ext cx="8748713" cy="5544616"/>
          </a:xfrm>
        </p:spPr>
        <p:txBody>
          <a:bodyPr>
            <a:normAutofit fontScale="85000" lnSpcReduction="20000"/>
          </a:bodyPr>
          <a:lstStyle/>
          <a:p>
            <a:pPr marL="354330" indent="-35433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实数类型（又称浮点型</a:t>
            </a:r>
            <a:r>
              <a:rPr lang="zh-CN" altLang="en-US" dirty="0"/>
              <a:t>），通常用于</a:t>
            </a:r>
            <a:r>
              <a:rPr lang="zh-CN" altLang="en-US" dirty="0" smtClean="0"/>
              <a:t>描述</a:t>
            </a:r>
            <a:r>
              <a:rPr lang="zh-CN" altLang="en-US" dirty="0" smtClean="0">
                <a:solidFill>
                  <a:schemeClr val="folHlink"/>
                </a:solidFill>
              </a:rPr>
              <a:t>实数</a:t>
            </a:r>
            <a:r>
              <a:rPr lang="zh-CN" altLang="en-US" dirty="0" smtClean="0"/>
              <a:t>。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根据精度把实数类型分为：</a:t>
            </a:r>
            <a:endParaRPr lang="zh-CN" altLang="en-US" dirty="0" smtClean="0"/>
          </a:p>
          <a:p>
            <a:pPr marL="1076325" lvl="1" indent="-276225" eaLnBrk="1" hangingPunct="1">
              <a:defRPr/>
            </a:pPr>
            <a:r>
              <a:rPr lang="zh-CN" altLang="en-US" dirty="0" smtClean="0"/>
              <a:t> </a:t>
            </a:r>
            <a:r>
              <a:rPr lang="en-US" altLang="zh-CN" dirty="0" smtClean="0"/>
              <a:t>float </a:t>
            </a:r>
            <a:r>
              <a:rPr lang="zh-CN" altLang="en-US" dirty="0" smtClean="0"/>
              <a:t>（单精度型）</a:t>
            </a:r>
            <a:endParaRPr lang="zh-CN" altLang="en-US" dirty="0" smtClean="0"/>
          </a:p>
          <a:p>
            <a:pPr marL="1076325" lvl="1" indent="-276225" eaLnBrk="1" hangingPunct="1">
              <a:defRPr/>
            </a:pPr>
            <a:r>
              <a:rPr lang="zh-CN" altLang="en-US" dirty="0" smtClean="0"/>
              <a:t> </a:t>
            </a:r>
            <a:r>
              <a:rPr lang="en-US" altLang="zh-CN" dirty="0" smtClean="0"/>
              <a:t>double </a:t>
            </a:r>
            <a:r>
              <a:rPr lang="zh-CN" altLang="en-US" dirty="0" smtClean="0"/>
              <a:t>（双精度型）</a:t>
            </a:r>
            <a:endParaRPr lang="zh-CN" altLang="en-US" dirty="0" smtClean="0"/>
          </a:p>
          <a:p>
            <a:pPr marL="1076325" lvl="1" indent="-276225" eaLnBrk="1" hangingPunct="1">
              <a:defRPr/>
            </a:pPr>
            <a:r>
              <a:rPr lang="zh-CN" altLang="en-US" dirty="0" smtClean="0"/>
              <a:t> </a:t>
            </a:r>
            <a:r>
              <a:rPr lang="en-US" altLang="zh-CN" dirty="0" smtClean="0"/>
              <a:t>long double</a:t>
            </a:r>
            <a:r>
              <a:rPr lang="zh-CN" altLang="en-US" dirty="0" smtClean="0"/>
              <a:t>（长双精度型）</a:t>
            </a:r>
            <a:endParaRPr lang="zh-CN" altLang="en-US" dirty="0" smtClean="0"/>
          </a:p>
          <a:p>
            <a:pPr marL="354330" indent="-35433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>
                <a:solidFill>
                  <a:schemeClr val="tx2"/>
                </a:solidFill>
              </a:rPr>
              <a:t>	</a:t>
            </a:r>
            <a:r>
              <a:rPr lang="zh-CN" altLang="en-US" sz="2400" dirty="0" smtClean="0">
                <a:latin typeface="Arial" panose="020B0604020202020204"/>
              </a:rPr>
              <a:t>“</a:t>
            </a:r>
            <a:r>
              <a:rPr lang="en-US" altLang="zh-CN" sz="2400" dirty="0" smtClean="0"/>
              <a:t>float</a:t>
            </a:r>
            <a:r>
              <a:rPr lang="en-US" altLang="zh-CN" sz="2400" dirty="0" smtClean="0">
                <a:latin typeface="Arial" panose="020B0604020202020204"/>
              </a:rPr>
              <a:t>”</a:t>
            </a:r>
            <a:r>
              <a:rPr lang="zh-CN" altLang="en-US" sz="2400" dirty="0" smtClean="0"/>
              <a:t>的范围 ＜ </a:t>
            </a:r>
            <a:r>
              <a:rPr lang="zh-CN" altLang="en-US" sz="2400" dirty="0" smtClean="0">
                <a:latin typeface="Arial" panose="020B0604020202020204"/>
              </a:rPr>
              <a:t>“</a:t>
            </a:r>
            <a:r>
              <a:rPr lang="en-US" altLang="zh-CN" sz="2400" dirty="0" smtClean="0"/>
              <a:t>double</a:t>
            </a:r>
            <a:r>
              <a:rPr lang="en-US" altLang="zh-CN" sz="2400" dirty="0" smtClean="0">
                <a:latin typeface="Arial" panose="020B0604020202020204"/>
              </a:rPr>
              <a:t>”</a:t>
            </a:r>
            <a:r>
              <a:rPr lang="zh-CN" altLang="en-US" sz="2400" dirty="0" smtClean="0"/>
              <a:t>的范围 </a:t>
            </a:r>
            <a:r>
              <a:rPr lang="zh-CN" altLang="en-US" sz="2400" dirty="0" smtClean="0">
                <a:solidFill>
                  <a:srgbClr val="FFC000"/>
                </a:solidFill>
              </a:rPr>
              <a:t>≤</a:t>
            </a:r>
            <a:r>
              <a:rPr lang="zh-CN" altLang="en-US" sz="2400" dirty="0" smtClean="0"/>
              <a:t> </a:t>
            </a:r>
            <a:r>
              <a:rPr lang="zh-CN" altLang="en-US" sz="2400" dirty="0" smtClean="0">
                <a:latin typeface="Arial" panose="020B0604020202020204"/>
              </a:rPr>
              <a:t>“</a:t>
            </a:r>
            <a:r>
              <a:rPr lang="en-US" altLang="zh-CN" sz="2400" dirty="0" smtClean="0"/>
              <a:t>long double</a:t>
            </a:r>
            <a:r>
              <a:rPr lang="en-US" altLang="zh-CN" sz="2400" dirty="0" smtClean="0">
                <a:latin typeface="Arial" panose="020B0604020202020204"/>
              </a:rPr>
              <a:t>”</a:t>
            </a:r>
            <a:r>
              <a:rPr lang="zh-CN" altLang="en-US" sz="2400" dirty="0" smtClean="0"/>
              <a:t>的范围</a:t>
            </a:r>
            <a:endParaRPr lang="zh-CN" altLang="en-US" sz="2400" dirty="0" smtClean="0"/>
          </a:p>
          <a:p>
            <a:pPr marL="276225" indent="-276225" eaLnBrk="1" hangingPunct="1">
              <a:defRPr/>
            </a:pPr>
            <a:r>
              <a:rPr lang="zh-CN" altLang="en-US" dirty="0"/>
              <a:t>在计算机内部，上述实数类型的值采用固定长度的浮点表示：</a:t>
            </a:r>
            <a:endParaRPr lang="zh-CN" altLang="en-US" dirty="0"/>
          </a:p>
          <a:p>
            <a:pPr marL="1076325" lvl="1" indent="-276225" eaLnBrk="1" hangingPunct="1">
              <a:defRPr/>
            </a:pPr>
            <a:r>
              <a:rPr lang="en-US" altLang="zh-CN" dirty="0"/>
              <a:t>float</a:t>
            </a:r>
            <a:r>
              <a:rPr lang="zh-CN" altLang="en-US" dirty="0"/>
              <a:t>占</a:t>
            </a:r>
            <a:r>
              <a:rPr lang="en-US" altLang="zh-CN" dirty="0"/>
              <a:t>4</a:t>
            </a:r>
            <a:r>
              <a:rPr lang="zh-CN" altLang="en-US" dirty="0"/>
              <a:t>个字节（</a:t>
            </a:r>
            <a:r>
              <a:rPr lang="en-US" altLang="zh-CN" sz="2200" dirty="0"/>
              <a:t>-3.402823466×10</a:t>
            </a:r>
            <a:r>
              <a:rPr lang="en-US" altLang="zh-CN" sz="2200" baseline="30000" dirty="0"/>
              <a:t>38</a:t>
            </a:r>
            <a:r>
              <a:rPr lang="zh-CN" altLang="en-US" sz="2200" dirty="0"/>
              <a:t>～</a:t>
            </a:r>
            <a:r>
              <a:rPr lang="en-US" altLang="zh-CN" sz="2200" dirty="0"/>
              <a:t>3.402823466×10</a:t>
            </a:r>
            <a:r>
              <a:rPr lang="en-US" altLang="zh-CN" sz="2200" baseline="30000" dirty="0"/>
              <a:t>38</a:t>
            </a:r>
            <a:r>
              <a:rPr lang="zh-CN" altLang="en-US" dirty="0"/>
              <a:t>）</a:t>
            </a:r>
            <a:endParaRPr lang="zh-CN" altLang="en-US" dirty="0"/>
          </a:p>
          <a:p>
            <a:pPr marL="1076325" lvl="1" indent="-276225" eaLnBrk="1" hangingPunct="1">
              <a:defRPr/>
            </a:pPr>
            <a:r>
              <a:rPr lang="en-US" altLang="zh-CN" dirty="0"/>
              <a:t>double</a:t>
            </a:r>
            <a:r>
              <a:rPr lang="zh-CN" altLang="en-US" dirty="0"/>
              <a:t>占</a:t>
            </a:r>
            <a:r>
              <a:rPr lang="en-US" altLang="zh-CN" dirty="0"/>
              <a:t>8</a:t>
            </a:r>
            <a:r>
              <a:rPr lang="zh-CN" altLang="en-US" dirty="0"/>
              <a:t>个字节（</a:t>
            </a:r>
            <a:r>
              <a:rPr lang="en-US" altLang="zh-CN" sz="2200" dirty="0"/>
              <a:t>-1.7976931348623158×10</a:t>
            </a:r>
            <a:r>
              <a:rPr lang="en-US" altLang="zh-CN" sz="2200" baseline="30000" dirty="0"/>
              <a:t>308</a:t>
            </a:r>
            <a:r>
              <a:rPr lang="zh-CN" altLang="en-US" sz="2200" dirty="0"/>
              <a:t>～</a:t>
            </a:r>
            <a:r>
              <a:rPr lang="en-US" altLang="zh-CN" sz="2200" dirty="0"/>
              <a:t>1.7976931348623158×10</a:t>
            </a:r>
            <a:r>
              <a:rPr lang="en-US" altLang="zh-CN" sz="2200" baseline="30000" dirty="0"/>
              <a:t>308</a:t>
            </a:r>
            <a:r>
              <a:rPr lang="zh-CN" altLang="en-US" dirty="0"/>
              <a:t>）</a:t>
            </a:r>
            <a:endParaRPr lang="zh-CN" altLang="en-US" dirty="0"/>
          </a:p>
          <a:p>
            <a:pPr marL="1076325" lvl="1" indent="-276225" eaLnBrk="1" hangingPunct="1">
              <a:defRPr/>
            </a:pPr>
            <a:r>
              <a:rPr lang="en-US" altLang="zh-CN" dirty="0"/>
              <a:t>long double</a:t>
            </a:r>
            <a:r>
              <a:rPr lang="zh-CN" altLang="en-US" dirty="0"/>
              <a:t>占</a:t>
            </a:r>
            <a:r>
              <a:rPr lang="en-US" altLang="zh-CN" dirty="0"/>
              <a:t>8</a:t>
            </a:r>
            <a:r>
              <a:rPr lang="zh-CN" altLang="en-US" dirty="0"/>
              <a:t>个或</a:t>
            </a:r>
            <a:r>
              <a:rPr lang="en-US" altLang="zh-CN" dirty="0"/>
              <a:t>10</a:t>
            </a:r>
            <a:r>
              <a:rPr lang="zh-CN" altLang="en-US" dirty="0"/>
              <a:t>个字节（由具体的实现决定）</a:t>
            </a:r>
            <a:endParaRPr lang="en-US" altLang="zh-CN" dirty="0"/>
          </a:p>
          <a:p>
            <a:pPr marL="276225" indent="-276225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注意：</a:t>
            </a:r>
            <a:r>
              <a:rPr lang="zh-CN" altLang="en-US" dirty="0" smtClean="0"/>
              <a:t>有些实数无法用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实数类型精确表示（如</a:t>
            </a:r>
            <a:r>
              <a:rPr lang="en-US" altLang="zh-CN" dirty="0" smtClean="0"/>
              <a:t>0.1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字符类型</a:t>
            </a:r>
            <a:endParaRPr lang="zh-CN" altLang="en-US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655" y="1299845"/>
            <a:ext cx="8604885" cy="4276090"/>
          </a:xfrm>
        </p:spPr>
        <p:txBody>
          <a:bodyPr>
            <a:normAutofit fontScale="72500"/>
          </a:bodyPr>
          <a:lstStyle/>
          <a:p>
            <a:pPr marL="533400" indent="-533400" eaLnBrk="1" hangingPunct="1">
              <a:defRPr/>
            </a:pPr>
            <a:r>
              <a:rPr lang="zh-CN" altLang="en-US" dirty="0" smtClean="0"/>
              <a:t>字符类型通常用于描述</a:t>
            </a:r>
            <a:r>
              <a:rPr lang="zh-CN" altLang="en-US" dirty="0" smtClean="0">
                <a:solidFill>
                  <a:srgbClr val="FFC000"/>
                </a:solidFill>
              </a:rPr>
              <a:t>文字</a:t>
            </a:r>
            <a:r>
              <a:rPr lang="zh-CN" altLang="en-US" dirty="0" smtClean="0"/>
              <a:t>类型数据中的一个</a:t>
            </a:r>
            <a:r>
              <a:rPr lang="zh-CN" altLang="en-US" dirty="0" smtClean="0">
                <a:solidFill>
                  <a:schemeClr val="folHlink"/>
                </a:solidFill>
              </a:rPr>
              <a:t>字符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marL="533400" indent="-533400" eaLnBrk="1" hangingPunct="1">
              <a:defRPr/>
            </a:pPr>
            <a:r>
              <a:rPr lang="zh-CN" altLang="en-US" dirty="0" smtClean="0"/>
              <a:t>字符在计算机中存储的是它的</a:t>
            </a:r>
            <a:r>
              <a:rPr lang="zh-CN" altLang="en-US" dirty="0" smtClean="0">
                <a:solidFill>
                  <a:schemeClr val="folHlink"/>
                </a:solidFill>
              </a:rPr>
              <a:t>编码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marL="1076325" lvl="1" indent="-276225" eaLnBrk="1" hangingPunct="1">
              <a:defRPr/>
            </a:pPr>
            <a:r>
              <a:rPr lang="en-US" altLang="zh-CN" dirty="0" smtClean="0"/>
              <a:t>char</a:t>
            </a:r>
            <a:r>
              <a:rPr lang="zh-CN" altLang="en-US" dirty="0" smtClean="0"/>
              <a:t>：用于表示单子节编码的字符。</a:t>
            </a:r>
            <a:endParaRPr lang="zh-CN" altLang="en-US" dirty="0" smtClean="0"/>
          </a:p>
          <a:p>
            <a:pPr marL="1076325" lvl="1" indent="-276225" eaLnBrk="1" hangingPunct="1">
              <a:defRPr/>
            </a:pPr>
            <a:r>
              <a:rPr lang="en-US" altLang="zh-CN" dirty="0" err="1" smtClean="0"/>
              <a:t>wchar_t</a:t>
            </a:r>
            <a:r>
              <a:rPr lang="zh-CN" altLang="en-US" dirty="0" smtClean="0"/>
              <a:t>：用于表示多字节编码的字符。</a:t>
            </a:r>
            <a:endParaRPr lang="zh-CN" altLang="en-US" dirty="0" smtClean="0"/>
          </a:p>
          <a:p>
            <a:pPr marL="1076325" lvl="1" indent="-276225" eaLnBrk="1" hangingPunct="1">
              <a:defRPr/>
            </a:pPr>
            <a:r>
              <a:rPr lang="zh-CN" altLang="en-US" dirty="0" smtClean="0"/>
              <a:t>定义wchar_t时,需要以L开头,如果没有L,程序将会将wchar_t转换为char</a:t>
            </a:r>
            <a:endParaRPr lang="zh-CN" altLang="en-US" dirty="0" smtClean="0"/>
          </a:p>
          <a:p>
            <a:pPr marL="1076325" lvl="1" indent="-276225" eaLnBrk="1" hangingPunct="1">
              <a:defRPr/>
            </a:pPr>
            <a:r>
              <a:rPr lang="zh-CN" altLang="en-US" dirty="0" smtClean="0"/>
              <a:t>对于ASCII码能够存放的数据类型,其高位存放的数据为0x00</a:t>
            </a:r>
            <a:endParaRPr lang="zh-CN" altLang="en-US" dirty="0" smtClean="0"/>
          </a:p>
          <a:p>
            <a:pPr marL="1076325" lvl="1" indent="-276225" eaLnBrk="1" hangingPunct="1">
              <a:defRPr/>
            </a:pPr>
            <a:r>
              <a:rPr lang="zh-CN" altLang="en-US" dirty="0" smtClean="0"/>
              <a:t>char类型的字符串以’\0’结尾,wchar_t类型的字符串以’\0\0’结尾</a:t>
            </a:r>
            <a:endParaRPr lang="zh-CN" altLang="en-US" dirty="0" smtClean="0"/>
          </a:p>
          <a:p>
            <a:pPr marL="1076325" lvl="1" indent="-276225" eaLnBrk="1" hangingPunct="1">
              <a:defRPr/>
            </a:pPr>
            <a:r>
              <a:rPr lang="zh-CN" altLang="en-US" dirty="0" smtClean="0"/>
              <a:t>要想输出wchar_t类型的字符,必须使用wcout,其在iostream中声明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常</a:t>
            </a:r>
            <a:r>
              <a:rPr lang="zh-CN" altLang="en-US" sz="4000" dirty="0"/>
              <a:t>见</a:t>
            </a:r>
            <a:r>
              <a:rPr lang="zh-CN" altLang="en-US" sz="4000" dirty="0" smtClean="0"/>
              <a:t>的字符集及其编码</a:t>
            </a:r>
            <a:endParaRPr lang="zh-CN" altLang="en-US" sz="4000" dirty="0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68760"/>
            <a:ext cx="8675688" cy="5113337"/>
          </a:xfrm>
        </p:spPr>
        <p:txBody>
          <a:bodyPr/>
          <a:lstStyle/>
          <a:p>
            <a:pPr marL="354330" indent="-354330" eaLnBrk="1" hangingPunct="1">
              <a:defRPr/>
            </a:pPr>
            <a:r>
              <a:rPr lang="en-US" altLang="zh-CN" dirty="0" smtClean="0"/>
              <a:t> ASCII</a:t>
            </a:r>
            <a:r>
              <a:rPr lang="zh-CN" altLang="en-US" dirty="0" smtClean="0"/>
              <a:t>字符集</a:t>
            </a:r>
            <a:endParaRPr lang="zh-CN" altLang="en-US" dirty="0" smtClean="0"/>
          </a:p>
          <a:p>
            <a:pPr marL="1333500" lvl="1" indent="-533400" eaLnBrk="1" hangingPunct="1">
              <a:defRPr/>
            </a:pPr>
            <a:r>
              <a:rPr lang="en-US" altLang="zh-CN" dirty="0" smtClean="0"/>
              <a:t>10</a:t>
            </a:r>
            <a:r>
              <a:rPr lang="zh-CN" altLang="en-US" dirty="0" smtClean="0"/>
              <a:t>个数字</a:t>
            </a:r>
            <a:endParaRPr lang="zh-CN" altLang="en-US" dirty="0" smtClean="0"/>
          </a:p>
          <a:p>
            <a:pPr marL="1333500" lvl="1" indent="-533400" eaLnBrk="1" hangingPunct="1">
              <a:defRPr/>
            </a:pPr>
            <a:r>
              <a:rPr lang="en-US" altLang="zh-CN" dirty="0" smtClean="0"/>
              <a:t>52</a:t>
            </a:r>
            <a:r>
              <a:rPr lang="zh-CN" altLang="en-US" dirty="0" smtClean="0"/>
              <a:t>个英文字母（包括大、小写）</a:t>
            </a:r>
            <a:endParaRPr lang="zh-CN" altLang="en-US" dirty="0" smtClean="0"/>
          </a:p>
          <a:p>
            <a:pPr marL="1333500" lvl="1" indent="-533400" eaLnBrk="1" hangingPunct="1">
              <a:defRPr/>
            </a:pPr>
            <a:r>
              <a:rPr lang="zh-CN" altLang="en-US" dirty="0" smtClean="0"/>
              <a:t>其它一些常用符号（如标点符号、数学运算符等） </a:t>
            </a:r>
            <a:endParaRPr lang="zh-CN" altLang="en-US" dirty="0" smtClean="0"/>
          </a:p>
          <a:p>
            <a:pPr marL="1333500" lvl="1" indent="-533400" eaLnBrk="1" hangingPunct="1">
              <a:defRPr/>
            </a:pPr>
            <a:r>
              <a:rPr lang="zh-CN" altLang="en-US" dirty="0" smtClean="0"/>
              <a:t>采用</a:t>
            </a:r>
            <a:r>
              <a:rPr lang="en-US" altLang="zh-CN" dirty="0" smtClean="0"/>
              <a:t>7</a:t>
            </a:r>
            <a:r>
              <a:rPr lang="zh-CN" altLang="en-US" dirty="0" smtClean="0"/>
              <a:t>位二进制编码表示（占用一个字节），可扩充成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位，最多表示</a:t>
            </a:r>
            <a:r>
              <a:rPr lang="en-US" altLang="zh-CN" dirty="0" smtClean="0"/>
              <a:t>256</a:t>
            </a:r>
            <a:r>
              <a:rPr lang="zh-CN" altLang="en-US" dirty="0" smtClean="0"/>
              <a:t>个字符。</a:t>
            </a:r>
            <a:endParaRPr lang="zh-CN" altLang="en-US" dirty="0" smtClean="0"/>
          </a:p>
          <a:p>
            <a:pPr marL="1333500" lvl="1" indent="-533400" eaLnBrk="1" hangingPunct="1">
              <a:defRPr/>
            </a:pPr>
            <a:r>
              <a:rPr lang="en-US" altLang="zh-CN" dirty="0" smtClean="0"/>
              <a:t>0~9</a:t>
            </a:r>
            <a:r>
              <a:rPr lang="zh-CN" altLang="en-US" dirty="0" smtClean="0"/>
              <a:t>十个数字、</a:t>
            </a:r>
            <a:r>
              <a:rPr lang="en-US" altLang="zh-CN" dirty="0" smtClean="0"/>
              <a:t>26</a:t>
            </a:r>
            <a:r>
              <a:rPr lang="zh-CN" altLang="en-US" dirty="0" smtClean="0"/>
              <a:t>个大写英文字母以及</a:t>
            </a:r>
            <a:r>
              <a:rPr lang="en-US" altLang="zh-CN" dirty="0" smtClean="0"/>
              <a:t>26</a:t>
            </a:r>
            <a:r>
              <a:rPr lang="zh-CN" altLang="en-US" dirty="0" smtClean="0"/>
              <a:t>个小写英文字母的编码各自是连续的。</a:t>
            </a:r>
            <a:endParaRPr lang="zh-CN" altLang="en-US" dirty="0" smtClean="0"/>
          </a:p>
          <a:p>
            <a:pPr marL="447675" indent="-444500" eaLnBrk="1" hangingPunct="1"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中用</a:t>
            </a:r>
            <a:r>
              <a:rPr lang="en-US" altLang="zh-CN" dirty="0" smtClean="0">
                <a:solidFill>
                  <a:srgbClr val="FFC000"/>
                </a:solidFill>
              </a:rPr>
              <a:t>char</a:t>
            </a:r>
            <a:r>
              <a:rPr lang="zh-CN" altLang="en-US" dirty="0" smtClean="0"/>
              <a:t>类型描述</a:t>
            </a:r>
            <a:r>
              <a:rPr lang="en-US" altLang="zh-CN" dirty="0"/>
              <a:t>ASCII</a:t>
            </a:r>
            <a:r>
              <a:rPr lang="zh-CN" altLang="en-US" dirty="0" smtClean="0"/>
              <a:t>字符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 marL="1333500" lvl="1" indent="-533400" eaLnBrk="1" hangingPunct="1">
              <a:defRPr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常见的字符集及其编码（续）</a:t>
            </a:r>
            <a:endParaRPr lang="zh-CN" altLang="en-US" sz="4000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48713" cy="5732462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zh-CN" sz="2800" dirty="0" smtClean="0"/>
              <a:t> Unicode</a:t>
            </a:r>
            <a:r>
              <a:rPr lang="zh-CN" altLang="en-US" sz="2800" dirty="0" smtClean="0"/>
              <a:t>（国际通用字符集）</a:t>
            </a:r>
            <a:endParaRPr lang="zh-CN" altLang="en-US" sz="2800" dirty="0" smtClean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包含大部分语言中的字符</a:t>
            </a:r>
            <a:endParaRPr lang="zh-CN" altLang="en-US" sz="2400" dirty="0" smtClean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/>
              <a:t>2</a:t>
            </a:r>
            <a:r>
              <a:rPr lang="zh-CN" altLang="en-US" sz="2400" dirty="0"/>
              <a:t>～</a:t>
            </a:r>
            <a:r>
              <a:rPr lang="en-US" altLang="zh-CN" sz="2400" dirty="0"/>
              <a:t>4</a:t>
            </a:r>
            <a:r>
              <a:rPr lang="zh-CN" altLang="en-US" sz="2400" dirty="0"/>
              <a:t>个</a:t>
            </a:r>
            <a:r>
              <a:rPr lang="zh-CN" altLang="en-US" sz="2400" dirty="0" smtClean="0"/>
              <a:t>字节编码</a:t>
            </a:r>
            <a:endParaRPr lang="zh-CN" altLang="en-US" sz="2400" dirty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C++</a:t>
            </a:r>
            <a:r>
              <a:rPr lang="zh-CN" altLang="en-US" sz="2400" dirty="0" smtClean="0"/>
              <a:t>用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wchar_t</a:t>
            </a:r>
            <a:r>
              <a:rPr lang="zh-CN" altLang="en-US" sz="2400" dirty="0" smtClean="0"/>
              <a:t>描述</a:t>
            </a:r>
            <a:endParaRPr lang="zh-CN" altLang="en-US" sz="2400" dirty="0" smtClean="0"/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 </a:t>
            </a:r>
            <a:r>
              <a:rPr lang="en-US" altLang="zh-CN" sz="2800" dirty="0" smtClean="0"/>
              <a:t>GB2312</a:t>
            </a:r>
            <a:r>
              <a:rPr lang="zh-CN" altLang="en-US" sz="2800" dirty="0" smtClean="0"/>
              <a:t>（简体中文字符集）</a:t>
            </a:r>
            <a:endParaRPr lang="zh-CN" altLang="en-US" sz="2800" dirty="0" smtClean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包含</a:t>
            </a:r>
            <a:r>
              <a:rPr lang="zh-CN" altLang="en-US" sz="2400" dirty="0"/>
              <a:t>中文</a:t>
            </a:r>
            <a:r>
              <a:rPr lang="zh-CN" altLang="en-US" sz="2400" dirty="0" smtClean="0"/>
              <a:t>简体和部分繁体汉字字符</a:t>
            </a:r>
            <a:endParaRPr lang="en-US" altLang="zh-CN" sz="2400" dirty="0" smtClean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个字节编码</a:t>
            </a:r>
            <a:endParaRPr lang="zh-CN" altLang="en-US" sz="2400" dirty="0" smtClean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C++</a:t>
            </a:r>
            <a:r>
              <a:rPr lang="zh-CN" altLang="en-US" sz="2400" dirty="0" smtClean="0"/>
              <a:t>用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char</a:t>
            </a:r>
            <a:r>
              <a:rPr lang="zh-CN" altLang="en-US" sz="2400" dirty="0" smtClean="0"/>
              <a:t>描述</a:t>
            </a:r>
            <a:endParaRPr lang="zh-CN" altLang="en-US" sz="2400" dirty="0" smtClean="0"/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 </a:t>
            </a:r>
            <a:r>
              <a:rPr lang="en-US" altLang="zh-CN" sz="2800" dirty="0" smtClean="0"/>
              <a:t>Big5</a:t>
            </a:r>
            <a:r>
              <a:rPr lang="zh-CN" altLang="en-US" sz="2800" dirty="0" smtClean="0"/>
              <a:t>（繁体中文字符集）</a:t>
            </a:r>
            <a:endParaRPr lang="zh-CN" altLang="en-US" sz="2800" dirty="0" smtClean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包含台湾</a:t>
            </a:r>
            <a:r>
              <a:rPr lang="zh-CN" altLang="en-US" sz="2400" dirty="0"/>
              <a:t>、</a:t>
            </a:r>
            <a:r>
              <a:rPr lang="zh-CN" altLang="en-US" sz="2400" dirty="0" smtClean="0"/>
              <a:t>香港繁体</a:t>
            </a:r>
            <a:r>
              <a:rPr lang="zh-CN" altLang="en-US" sz="2400" dirty="0"/>
              <a:t>汉字字符</a:t>
            </a:r>
            <a:endParaRPr lang="en-US" altLang="zh-CN" sz="2400" dirty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个字节编码</a:t>
            </a:r>
            <a:endParaRPr lang="zh-CN" altLang="en-US" sz="2400" dirty="0" smtClean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C++</a:t>
            </a:r>
            <a:r>
              <a:rPr lang="zh-CN" altLang="en-US" sz="2400" dirty="0" smtClean="0"/>
              <a:t>用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char</a:t>
            </a:r>
            <a:r>
              <a:rPr lang="zh-CN" altLang="en-US" sz="2400" dirty="0" smtClean="0"/>
              <a:t>描述</a:t>
            </a:r>
            <a:endParaRPr lang="zh-CN" altLang="en-US" sz="2400" dirty="0" smtClean="0"/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 </a:t>
            </a:r>
            <a:r>
              <a:rPr lang="en-US" altLang="zh-CN" sz="2800" dirty="0" smtClean="0"/>
              <a:t>Shift-JIS</a:t>
            </a:r>
            <a:r>
              <a:rPr lang="zh-CN" altLang="en-US" sz="2800" dirty="0" smtClean="0"/>
              <a:t>（日文字符集）</a:t>
            </a:r>
            <a:endParaRPr lang="zh-CN" altLang="en-US" sz="2800" dirty="0" smtClean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包含日语汉字、假名字符</a:t>
            </a:r>
            <a:endParaRPr lang="en-US" altLang="zh-CN" sz="2400" dirty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个字节编码</a:t>
            </a:r>
            <a:endParaRPr lang="zh-CN" altLang="en-US" sz="2400" dirty="0" smtClean="0"/>
          </a:p>
          <a:p>
            <a:pPr marL="1333500" lvl="1" indent="-533400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C++</a:t>
            </a:r>
            <a:r>
              <a:rPr lang="zh-CN" altLang="en-US" sz="2400" dirty="0" smtClean="0"/>
              <a:t>用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个</a:t>
            </a:r>
            <a:r>
              <a:rPr lang="en-US" altLang="zh-CN" sz="2400" dirty="0" smtClean="0"/>
              <a:t>char</a:t>
            </a:r>
            <a:r>
              <a:rPr lang="zh-CN" altLang="en-US" sz="2400" dirty="0" smtClean="0"/>
              <a:t>描述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sz="3800" dirty="0" smtClean="0"/>
              <a:t>用</a:t>
            </a:r>
            <a:r>
              <a:rPr lang="en-US" altLang="zh-CN" sz="3800" dirty="0" smtClean="0"/>
              <a:t>char</a:t>
            </a:r>
            <a:r>
              <a:rPr lang="zh-CN" altLang="en-US" sz="3800" dirty="0" smtClean="0"/>
              <a:t>描述比</a:t>
            </a:r>
            <a:r>
              <a:rPr lang="en-US" altLang="zh-CN" sz="3800" dirty="0" smtClean="0"/>
              <a:t>short </a:t>
            </a:r>
            <a:r>
              <a:rPr lang="en-US" altLang="zh-CN" sz="3800" dirty="0" err="1" smtClean="0"/>
              <a:t>int</a:t>
            </a:r>
            <a:r>
              <a:rPr lang="zh-CN" altLang="en-US" sz="3800" dirty="0" smtClean="0"/>
              <a:t>范围更小的整数</a:t>
            </a:r>
            <a:endParaRPr lang="zh-CN" altLang="en-US" sz="3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5658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由于字符编码</a:t>
            </a:r>
            <a:r>
              <a:rPr lang="zh-CN" altLang="en-US" dirty="0"/>
              <a:t>是个整数，因此，在</a:t>
            </a:r>
            <a:r>
              <a:rPr lang="en-US" altLang="zh-CN" dirty="0"/>
              <a:t>C++</a:t>
            </a:r>
            <a:r>
              <a:rPr lang="zh-CN" altLang="en-US" dirty="0" smtClean="0"/>
              <a:t>中可把</a:t>
            </a:r>
            <a:r>
              <a:rPr lang="en-US" altLang="zh-CN" dirty="0"/>
              <a:t>char</a:t>
            </a:r>
            <a:r>
              <a:rPr lang="zh-CN" altLang="en-US" dirty="0"/>
              <a:t>类型的数据当作比</a:t>
            </a:r>
            <a:r>
              <a:rPr lang="en-US" altLang="zh-CN" dirty="0"/>
              <a:t>short </a:t>
            </a:r>
            <a:r>
              <a:rPr lang="en-US" altLang="zh-CN" dirty="0" err="1"/>
              <a:t>int</a:t>
            </a:r>
            <a:r>
              <a:rPr lang="zh-CN" altLang="en-US" dirty="0"/>
              <a:t>所表示的数值范围更小的整数类型来</a:t>
            </a:r>
            <a:r>
              <a:rPr lang="zh-CN" altLang="en-US" dirty="0" smtClean="0"/>
              <a:t>看待。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为了</a:t>
            </a:r>
            <a:r>
              <a:rPr lang="zh-CN" altLang="en-US" dirty="0"/>
              <a:t>保证</a:t>
            </a:r>
            <a:r>
              <a:rPr lang="en-US" altLang="zh-CN" dirty="0"/>
              <a:t>char</a:t>
            </a:r>
            <a:r>
              <a:rPr lang="zh-CN" altLang="en-US" dirty="0"/>
              <a:t>类型数据能参加算术运算，</a:t>
            </a:r>
            <a:r>
              <a:rPr lang="en-US" altLang="zh-CN" dirty="0"/>
              <a:t>C++</a:t>
            </a:r>
            <a:r>
              <a:rPr lang="zh-CN" altLang="en-US" dirty="0"/>
              <a:t>提供</a:t>
            </a:r>
            <a:r>
              <a:rPr lang="zh-CN" altLang="en-US" dirty="0" smtClean="0"/>
              <a:t>了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signed char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unsigned char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它们</a:t>
            </a:r>
            <a:r>
              <a:rPr lang="zh-CN" altLang="en-US" dirty="0"/>
              <a:t>的区别在于：在参加算术运算时，把字符的编码当作</a:t>
            </a:r>
            <a:r>
              <a:rPr lang="zh-CN" altLang="en-US" dirty="0">
                <a:solidFill>
                  <a:srgbClr val="FFC000"/>
                </a:solidFill>
              </a:rPr>
              <a:t>有符号整数</a:t>
            </a:r>
            <a:r>
              <a:rPr lang="zh-CN" altLang="en-US" dirty="0"/>
              <a:t>还是</a:t>
            </a:r>
            <a:r>
              <a:rPr lang="zh-CN" altLang="en-US" dirty="0">
                <a:solidFill>
                  <a:srgbClr val="FFC000"/>
                </a:solidFill>
              </a:rPr>
              <a:t>无符号整数</a:t>
            </a:r>
            <a:r>
              <a:rPr lang="zh-CN" altLang="en-US" dirty="0"/>
              <a:t>来看待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char</a:t>
            </a:r>
            <a:r>
              <a:rPr lang="zh-CN" altLang="en-US" dirty="0"/>
              <a:t>是作为</a:t>
            </a:r>
            <a:r>
              <a:rPr lang="en-US" altLang="zh-CN" dirty="0"/>
              <a:t>signed char</a:t>
            </a:r>
            <a:r>
              <a:rPr lang="zh-CN" altLang="en-US" dirty="0"/>
              <a:t>还是</a:t>
            </a:r>
            <a:r>
              <a:rPr lang="en-US" altLang="zh-CN" dirty="0"/>
              <a:t>unsigned char</a:t>
            </a:r>
            <a:r>
              <a:rPr lang="zh-CN" altLang="en-US" dirty="0"/>
              <a:t>，不同的</a:t>
            </a:r>
            <a:r>
              <a:rPr lang="en-US" altLang="zh-CN" dirty="0"/>
              <a:t>C++</a:t>
            </a:r>
            <a:r>
              <a:rPr lang="zh-CN" altLang="en-US" dirty="0"/>
              <a:t>实现有不同的规定。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逻辑类型</a:t>
            </a:r>
            <a:endParaRPr lang="zh-CN" altLang="en-US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857" y="1557338"/>
            <a:ext cx="8137599" cy="4895998"/>
          </a:xfrm>
        </p:spPr>
        <p:txBody>
          <a:bodyPr>
            <a:normAutofit lnSpcReduction="10000"/>
          </a:bodyPr>
          <a:lstStyle/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逻辑类型用于描述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zh-CN" altLang="en-US" dirty="0" smtClean="0">
                <a:solidFill>
                  <a:schemeClr val="folHlink"/>
                </a:solidFill>
              </a:rPr>
              <a:t>真</a:t>
            </a:r>
            <a:r>
              <a:rPr lang="zh-CN" altLang="en-US" dirty="0" smtClean="0">
                <a:latin typeface="Arial" panose="020B0604020202020204"/>
              </a:rPr>
              <a:t>”</a:t>
            </a:r>
            <a:r>
              <a:rPr lang="zh-CN" altLang="en-US" dirty="0" smtClean="0"/>
              <a:t>和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zh-CN" altLang="en-US" dirty="0" smtClean="0">
                <a:solidFill>
                  <a:schemeClr val="folHlink"/>
                </a:solidFill>
              </a:rPr>
              <a:t>假</a:t>
            </a:r>
            <a:r>
              <a:rPr lang="zh-CN" altLang="en-US" dirty="0" smtClean="0">
                <a:latin typeface="Arial" panose="020B0604020202020204"/>
              </a:rPr>
              <a:t>”</a:t>
            </a:r>
            <a:r>
              <a:rPr lang="zh-CN" altLang="en-US" dirty="0" smtClean="0"/>
              <a:t>这样的</a:t>
            </a:r>
            <a:r>
              <a:rPr lang="zh-CN" altLang="en-US" dirty="0" smtClean="0">
                <a:solidFill>
                  <a:schemeClr val="folHlink"/>
                </a:solidFill>
              </a:rPr>
              <a:t>逻辑值</a:t>
            </a:r>
            <a:r>
              <a:rPr lang="zh-CN" altLang="en-US" dirty="0" smtClean="0"/>
              <a:t>，分别表示一个条件的满足和不满足。</a:t>
            </a:r>
            <a:endParaRPr lang="zh-CN" altLang="en-US" dirty="0" smtClean="0"/>
          </a:p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中，逻辑类型用</a:t>
            </a:r>
            <a:r>
              <a:rPr lang="en-US" altLang="zh-CN" dirty="0" err="1" smtClean="0">
                <a:solidFill>
                  <a:schemeClr val="folHlink"/>
                </a:solidFill>
              </a:rPr>
              <a:t>bool</a:t>
            </a:r>
            <a:r>
              <a:rPr lang="zh-CN" altLang="en-US" dirty="0" smtClean="0"/>
              <a:t>表示，它的值只有两个：</a:t>
            </a:r>
            <a:endParaRPr lang="en-US" altLang="zh-CN" dirty="0" smtClean="0"/>
          </a:p>
          <a:p>
            <a:pPr marL="757555" lvl="1" indent="-357505" eaLnBrk="1" hangingPunct="1">
              <a:lnSpc>
                <a:spcPct val="110000"/>
              </a:lnSpc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true</a:t>
            </a:r>
            <a:r>
              <a:rPr lang="zh-CN" altLang="en-US" dirty="0" smtClean="0"/>
              <a:t>和</a:t>
            </a:r>
            <a:r>
              <a:rPr lang="en-US" altLang="zh-CN" dirty="0" smtClean="0">
                <a:solidFill>
                  <a:schemeClr val="folHlink"/>
                </a:solidFill>
              </a:rPr>
              <a:t>false</a:t>
            </a:r>
            <a:r>
              <a:rPr lang="zh-CN" altLang="en-US" dirty="0" smtClean="0"/>
              <a:t>，分别对应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zh-CN" altLang="en-US" dirty="0" smtClean="0"/>
              <a:t>真</a:t>
            </a:r>
            <a:r>
              <a:rPr lang="zh-CN" altLang="en-US" dirty="0" smtClean="0">
                <a:latin typeface="Arial" panose="020B0604020202020204"/>
              </a:rPr>
              <a:t>”</a:t>
            </a:r>
            <a:r>
              <a:rPr lang="zh-CN" altLang="en-US" dirty="0" smtClean="0"/>
              <a:t>和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zh-CN" altLang="en-US" dirty="0" smtClean="0"/>
              <a:t>假</a:t>
            </a:r>
            <a:r>
              <a:rPr lang="zh-CN" altLang="en-US" dirty="0" smtClean="0">
                <a:latin typeface="Arial" panose="020B0604020202020204"/>
              </a:rPr>
              <a:t>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dirty="0"/>
              <a:t>在大多数的</a:t>
            </a:r>
            <a:r>
              <a:rPr lang="en-US" altLang="zh-CN" dirty="0"/>
              <a:t>C++</a:t>
            </a:r>
            <a:r>
              <a:rPr lang="zh-CN" altLang="en-US" dirty="0"/>
              <a:t>实现中，</a:t>
            </a:r>
            <a:r>
              <a:rPr lang="en-US" altLang="zh-CN" dirty="0" err="1"/>
              <a:t>bool</a:t>
            </a:r>
            <a:r>
              <a:rPr lang="zh-CN" altLang="en-US" dirty="0"/>
              <a:t>类型的值一般占用一个字节的空间，</a:t>
            </a:r>
            <a:r>
              <a:rPr lang="en-US" altLang="zh-CN" dirty="0"/>
              <a:t>true</a:t>
            </a:r>
            <a:r>
              <a:rPr lang="zh-CN" altLang="en-US" dirty="0"/>
              <a:t>存储的是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false</a:t>
            </a:r>
            <a:r>
              <a:rPr lang="zh-CN" altLang="en-US" dirty="0"/>
              <a:t>存储的是</a:t>
            </a:r>
            <a:r>
              <a:rPr lang="en-US" altLang="zh-CN" dirty="0"/>
              <a:t>0</a:t>
            </a:r>
            <a:r>
              <a:rPr lang="zh-CN" altLang="en-US" dirty="0" smtClean="0"/>
              <a:t>。（空间浪费？）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空值类型</a:t>
            </a:r>
            <a:endParaRPr lang="zh-CN" altLang="en-US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700213"/>
            <a:ext cx="8532813" cy="4941887"/>
          </a:xfrm>
        </p:spPr>
        <p:txBody>
          <a:bodyPr/>
          <a:lstStyle/>
          <a:p>
            <a:pPr marL="357505" indent="-357505" eaLnBrk="1" hangingPunct="1"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中提供了一种值集为空的类型：</a:t>
            </a:r>
            <a:r>
              <a:rPr lang="zh-CN" altLang="en-US" dirty="0" smtClean="0">
                <a:solidFill>
                  <a:srgbClr val="FFC000"/>
                </a:solidFill>
              </a:rPr>
              <a:t>空值型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void</a:t>
            </a:r>
            <a:r>
              <a:rPr lang="zh-CN" altLang="en-US" dirty="0" smtClean="0"/>
              <a:t>），用以表示：</a:t>
            </a:r>
            <a:endParaRPr lang="zh-CN" altLang="en-US" dirty="0" smtClean="0"/>
          </a:p>
          <a:p>
            <a:pPr marL="1333500" lvl="1" indent="-533400" eaLnBrk="1" hangingPunct="1">
              <a:defRPr/>
            </a:pPr>
            <a:r>
              <a:rPr lang="zh-CN" altLang="en-US" dirty="0" smtClean="0"/>
              <a:t>没有返回值的函数的返回值类型</a:t>
            </a:r>
            <a:endParaRPr lang="zh-CN" altLang="en-US" dirty="0" smtClean="0"/>
          </a:p>
          <a:p>
            <a:pPr marL="1333500" lvl="1" indent="-533400" eaLnBrk="1" hangingPunct="1">
              <a:defRPr/>
            </a:pPr>
            <a:r>
              <a:rPr lang="zh-CN" altLang="en-US" dirty="0" smtClean="0"/>
              <a:t>通用指针类型（</a:t>
            </a:r>
            <a:r>
              <a:rPr lang="en-US" altLang="zh-CN" dirty="0" smtClean="0"/>
              <a:t>void *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488" y="1556792"/>
            <a:ext cx="8675687" cy="4968254"/>
          </a:xfrm>
        </p:spPr>
        <p:txBody>
          <a:bodyPr>
            <a:normAutofit/>
          </a:bodyPr>
          <a:lstStyle/>
          <a:p>
            <a:pPr marL="443230" indent="-443230" eaLnBrk="1" hangingPunct="1"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中，常常</a:t>
            </a:r>
            <a:endParaRPr lang="zh-CN" altLang="en-US" dirty="0" smtClean="0"/>
          </a:p>
          <a:p>
            <a:pPr marL="1333500" lvl="1" indent="-533400" eaLnBrk="1" hangingPunct="1">
              <a:defRPr/>
            </a:pPr>
            <a:r>
              <a:rPr lang="zh-CN" altLang="en-US" dirty="0" smtClean="0"/>
              <a:t>把各种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类型、各种</a:t>
            </a:r>
            <a:r>
              <a:rPr lang="en-US" altLang="zh-CN" dirty="0" smtClean="0"/>
              <a:t>char</a:t>
            </a:r>
            <a:r>
              <a:rPr lang="zh-CN" altLang="en-US" dirty="0" smtClean="0"/>
              <a:t>类型以及</a:t>
            </a:r>
            <a:r>
              <a:rPr lang="en-US" altLang="zh-CN" dirty="0" smtClean="0"/>
              <a:t>bool</a:t>
            </a:r>
            <a:r>
              <a:rPr lang="zh-CN" altLang="en-US" dirty="0" smtClean="0"/>
              <a:t>类型统称为</a:t>
            </a:r>
            <a:r>
              <a:rPr lang="zh-CN" altLang="en-US" b="1" dirty="0" smtClean="0">
                <a:solidFill>
                  <a:schemeClr val="folHlink"/>
                </a:solidFill>
              </a:rPr>
              <a:t>整型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integral types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marL="1333500" lvl="1" indent="-533400" eaLnBrk="1" hangingPunct="1">
              <a:defRPr/>
            </a:pPr>
            <a:r>
              <a:rPr lang="zh-CN" altLang="en-US" dirty="0" smtClean="0"/>
              <a:t>把整型和实数类型统称为</a:t>
            </a:r>
            <a:r>
              <a:rPr lang="zh-CN" altLang="en-US" b="1" dirty="0" smtClean="0">
                <a:solidFill>
                  <a:schemeClr val="folHlink"/>
                </a:solidFill>
              </a:rPr>
              <a:t>算术型</a:t>
            </a:r>
            <a:r>
              <a:rPr lang="zh-CN" altLang="en-US" dirty="0" smtClean="0"/>
              <a:t>（</a:t>
            </a:r>
            <a:r>
              <a:rPr lang="en-US" altLang="zh-CN" dirty="0" smtClean="0"/>
              <a:t>arithmetic types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xfrm>
            <a:off x="251520" y="116632"/>
            <a:ext cx="8676456" cy="1224136"/>
          </a:xfrm>
        </p:spPr>
        <p:txBody>
          <a:bodyPr anchorCtr="0"/>
          <a:lstStyle/>
          <a:p>
            <a:pPr eaLnBrk="1" hangingPunct="1">
              <a:defRPr/>
            </a:pPr>
            <a:r>
              <a:rPr lang="zh-CN" altLang="en-US" dirty="0" smtClean="0"/>
              <a:t>整型和算术类型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163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typedef </a:t>
            </a:r>
            <a:endParaRPr lang="en-US" altLang="zh-CN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8893175" cy="5256212"/>
          </a:xfrm>
        </p:spPr>
        <p:txBody>
          <a:bodyPr>
            <a:normAutofit fontScale="92500"/>
          </a:bodyPr>
          <a:lstStyle/>
          <a:p>
            <a:pPr marL="354330" indent="-354330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允许在程序中给已有数据类型取一些</a:t>
            </a:r>
            <a:r>
              <a:rPr lang="zh-CN" altLang="en-US" dirty="0" smtClean="0">
                <a:solidFill>
                  <a:srgbClr val="FFC000"/>
                </a:solidFill>
              </a:rPr>
              <a:t>别名</a:t>
            </a:r>
            <a:r>
              <a:rPr lang="zh-CN" altLang="en-US" dirty="0" smtClean="0"/>
              <a:t>，格式为：</a:t>
            </a:r>
            <a:endParaRPr lang="zh-CN" altLang="en-US" dirty="0" smtClean="0"/>
          </a:p>
          <a:p>
            <a:pPr marL="354330" indent="-35433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      </a:t>
            </a:r>
            <a:r>
              <a:rPr lang="en-US" altLang="zh-CN" dirty="0" err="1" smtClean="0"/>
              <a:t>typedef</a:t>
            </a:r>
            <a:r>
              <a:rPr lang="en-US" altLang="zh-CN" dirty="0" smtClean="0"/>
              <a:t> &lt;</a:t>
            </a:r>
            <a:r>
              <a:rPr lang="zh-CN" altLang="en-US" dirty="0" smtClean="0"/>
              <a:t>已有类型</a:t>
            </a:r>
            <a:r>
              <a:rPr lang="en-US" altLang="zh-CN" dirty="0" smtClean="0"/>
              <a:t>&gt; &lt;</a:t>
            </a:r>
            <a:r>
              <a:rPr lang="zh-CN" altLang="en-US" dirty="0" smtClean="0"/>
              <a:t>别名</a:t>
            </a:r>
            <a:r>
              <a:rPr lang="en-US" altLang="zh-CN" dirty="0" smtClean="0"/>
              <a:t>&gt;; </a:t>
            </a:r>
            <a:endParaRPr lang="en-US" altLang="zh-CN" dirty="0" smtClean="0"/>
          </a:p>
          <a:p>
            <a:pPr marL="354330" indent="-354330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例如，下面就是给</a:t>
            </a:r>
            <a:r>
              <a:rPr lang="en-US" altLang="zh-CN" dirty="0"/>
              <a:t>unsigned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zh-CN" altLang="en-US" dirty="0" smtClean="0"/>
              <a:t>取一个别名</a:t>
            </a:r>
            <a:r>
              <a:rPr lang="en-US" altLang="zh-CN" dirty="0" err="1" smtClean="0"/>
              <a:t>Uint</a:t>
            </a:r>
            <a:r>
              <a:rPr lang="zh-CN" altLang="en-US" dirty="0" smtClean="0"/>
              <a:t>：</a:t>
            </a:r>
            <a:endParaRPr lang="zh-CN" altLang="en-US" dirty="0" smtClean="0"/>
          </a:p>
          <a:p>
            <a:pPr marL="133350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err="1" smtClean="0"/>
              <a:t>typedef</a:t>
            </a:r>
            <a:r>
              <a:rPr lang="en-US" altLang="zh-CN" dirty="0" smtClean="0"/>
              <a:t> unsigned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>
                <a:solidFill>
                  <a:srgbClr val="FFC000"/>
                </a:solidFill>
              </a:rPr>
              <a:t>Uint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354330" indent="-354330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再例如</a:t>
            </a:r>
            <a:r>
              <a:rPr lang="zh-CN" altLang="en-US" dirty="0"/>
              <a:t>，下面就是</a:t>
            </a:r>
            <a:r>
              <a:rPr lang="zh-CN" altLang="en-US" dirty="0" smtClean="0"/>
              <a:t>给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zh-CN" altLang="en-US" dirty="0"/>
              <a:t>取一个</a:t>
            </a:r>
            <a:r>
              <a:rPr lang="zh-CN" altLang="en-US" dirty="0" smtClean="0"/>
              <a:t>别名</a:t>
            </a:r>
            <a:r>
              <a:rPr lang="en-US" altLang="zh-CN" dirty="0" smtClean="0"/>
              <a:t>Word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pPr marL="133350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err="1"/>
              <a:t>typedef</a:t>
            </a:r>
            <a:r>
              <a:rPr lang="en-US" altLang="zh-CN" dirty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Word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354330" indent="-354330" eaLnBrk="1" hangingPunct="1">
              <a:lnSpc>
                <a:spcPct val="110000"/>
              </a:lnSpc>
              <a:defRPr/>
            </a:pPr>
            <a:r>
              <a:rPr lang="en-US" altLang="zh-CN" dirty="0" err="1" smtClean="0"/>
              <a:t>typedef</a:t>
            </a:r>
            <a:r>
              <a:rPr lang="zh-CN" altLang="en-US" dirty="0" smtClean="0"/>
              <a:t>并没有定义新类型。其作用是便于程序</a:t>
            </a:r>
            <a:r>
              <a:rPr lang="zh-CN" altLang="en-US" dirty="0"/>
              <a:t>的</a:t>
            </a:r>
            <a:r>
              <a:rPr lang="zh-CN" altLang="en-US" dirty="0" smtClean="0"/>
              <a:t>编写和理解，并使程序简明、清晰和易于维护。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数据在程序中的表现形式</a:t>
            </a:r>
            <a:endParaRPr lang="zh-CN" altLang="en-US" dirty="0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558479"/>
            <a:ext cx="8532813" cy="5038873"/>
          </a:xfrm>
        </p:spPr>
        <p:txBody>
          <a:bodyPr>
            <a:normAutofit/>
          </a:bodyPr>
          <a:lstStyle/>
          <a:p>
            <a:pPr marL="354330" indent="-354330" eaLnBrk="1" hangingPunct="1">
              <a:defRPr/>
            </a:pPr>
            <a:r>
              <a:rPr lang="zh-CN" altLang="en-US" dirty="0" smtClean="0"/>
              <a:t>在程序中，数据一般以两种形式出现：</a:t>
            </a:r>
            <a:endParaRPr lang="zh-CN" altLang="en-US" dirty="0" smtClean="0"/>
          </a:p>
          <a:p>
            <a:pPr marL="979805" lvl="1" indent="-365125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常量</a:t>
            </a:r>
            <a:r>
              <a:rPr lang="zh-CN" altLang="en-US" dirty="0" smtClean="0"/>
              <a:t>：在程序执行过程中不变（或不能被改变）的数据。</a:t>
            </a:r>
            <a:endParaRPr lang="zh-CN" altLang="en-US" dirty="0" smtClean="0"/>
          </a:p>
          <a:p>
            <a:pPr marL="979805" lvl="1" indent="-365125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变量</a:t>
            </a:r>
            <a:r>
              <a:rPr lang="zh-CN" altLang="en-US" dirty="0" smtClean="0"/>
              <a:t>：在程序执行过程中可变的数据。</a:t>
            </a:r>
            <a:endParaRPr lang="zh-CN" altLang="en-US" dirty="0" smtClean="0"/>
          </a:p>
          <a:p>
            <a:pPr marL="365125" indent="-365125" eaLnBrk="1" hangingPunct="1">
              <a:defRPr/>
            </a:pPr>
            <a:r>
              <a:rPr lang="zh-CN" altLang="en-US" dirty="0" smtClean="0"/>
              <a:t>例如，在计算圆周</a:t>
            </a:r>
            <a:r>
              <a:rPr lang="zh-CN" altLang="en-US" dirty="0"/>
              <a:t>长</a:t>
            </a:r>
            <a:r>
              <a:rPr lang="zh-CN" altLang="en-US" dirty="0" smtClean="0"/>
              <a:t>的</a:t>
            </a:r>
            <a:r>
              <a:rPr lang="zh-CN" altLang="en-US" dirty="0"/>
              <a:t>式子</a:t>
            </a:r>
            <a:r>
              <a:rPr lang="en-US" altLang="zh-CN" dirty="0" smtClean="0">
                <a:solidFill>
                  <a:srgbClr val="FFC000"/>
                </a:solidFill>
              </a:rPr>
              <a:t>2*PI*r</a:t>
            </a:r>
            <a:r>
              <a:rPr lang="zh-CN" altLang="en-US" dirty="0" smtClean="0"/>
              <a:t>中，</a:t>
            </a:r>
            <a:endParaRPr lang="zh-CN" altLang="en-US" dirty="0" smtClean="0"/>
          </a:p>
          <a:p>
            <a:pPr marL="1073150" lvl="1" indent="-457200" eaLnBrk="1" hangingPunct="1"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2</a:t>
            </a:r>
            <a:r>
              <a:rPr lang="zh-CN" altLang="en-US" dirty="0" smtClean="0"/>
              <a:t>和圆周率</a:t>
            </a:r>
            <a:r>
              <a:rPr lang="en-US" altLang="zh-CN" dirty="0" smtClean="0">
                <a:solidFill>
                  <a:srgbClr val="FFC000"/>
                </a:solidFill>
              </a:rPr>
              <a:t>PI</a:t>
            </a:r>
            <a:r>
              <a:rPr lang="zh-CN" altLang="en-US" dirty="0" smtClean="0"/>
              <a:t>是常量。</a:t>
            </a:r>
            <a:endParaRPr lang="zh-CN" altLang="en-US" dirty="0" smtClean="0"/>
          </a:p>
          <a:p>
            <a:pPr marL="1073150" lvl="1" indent="-457200" eaLnBrk="1" hangingPunct="1">
              <a:defRPr/>
            </a:pPr>
            <a:r>
              <a:rPr lang="zh-CN" altLang="en-US" dirty="0" smtClean="0"/>
              <a:t>半径</a:t>
            </a:r>
            <a:r>
              <a:rPr lang="en-US" altLang="zh-CN" dirty="0" smtClean="0">
                <a:solidFill>
                  <a:srgbClr val="FFC000"/>
                </a:solidFill>
              </a:rPr>
              <a:t>r</a:t>
            </a:r>
            <a:r>
              <a:rPr lang="zh-CN" altLang="en-US" dirty="0" smtClean="0"/>
              <a:t>是变量，它的值可能在程序运行时从用户输入得到，或由程序的其它部分计算得到。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386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常量</a:t>
            </a:r>
            <a:endParaRPr lang="zh-CN" altLang="en-US" dirty="0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488" y="1484785"/>
            <a:ext cx="8675687" cy="5112866"/>
          </a:xfrm>
        </p:spPr>
        <p:txBody>
          <a:bodyPr>
            <a:normAutofit fontScale="92500" lnSpcReduction="10000"/>
          </a:bodyPr>
          <a:lstStyle/>
          <a:p>
            <a:pPr marL="357505" indent="-357505" eaLnBrk="1" hangingPunct="1"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程序执行过程中不变（或不能被改变）的</a:t>
            </a:r>
            <a:r>
              <a:rPr lang="zh-CN" altLang="en-US" dirty="0" smtClean="0"/>
              <a:t>数据称为</a:t>
            </a:r>
            <a:r>
              <a:rPr lang="zh-CN" altLang="en-US" dirty="0" smtClean="0">
                <a:solidFill>
                  <a:srgbClr val="FFC000"/>
                </a:solidFill>
              </a:rPr>
              <a:t>常量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357505" indent="-357505" eaLnBrk="1" hangingPunct="1"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程序中，常量可以用两种形式表示：</a:t>
            </a:r>
            <a:endParaRPr lang="zh-CN" altLang="en-US" dirty="0" smtClean="0"/>
          </a:p>
          <a:p>
            <a:pPr marL="908050" lvl="1" indent="-371475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字面常量</a:t>
            </a:r>
            <a:r>
              <a:rPr lang="zh-CN" altLang="en-US" dirty="0" smtClean="0"/>
              <a:t>：在程序中通过直接写出常量值来使用的常量，通常又称为</a:t>
            </a:r>
            <a:r>
              <a:rPr lang="zh-CN" altLang="en-US" dirty="0" smtClean="0">
                <a:solidFill>
                  <a:schemeClr val="folHlink"/>
                </a:solidFill>
              </a:rPr>
              <a:t>直接量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literal</a:t>
            </a:r>
            <a:r>
              <a:rPr lang="zh-CN" altLang="en-US" dirty="0" smtClean="0"/>
              <a:t>），其所属的类型由常量值本身决定。</a:t>
            </a:r>
            <a:endParaRPr lang="zh-CN" altLang="en-US" dirty="0" smtClean="0"/>
          </a:p>
          <a:p>
            <a:pPr marL="908050" lvl="1" indent="-371475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符号常量</a:t>
            </a: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FFC000"/>
                </a:solidFill>
              </a:rPr>
              <a:t>命名常量</a:t>
            </a:r>
            <a:r>
              <a:rPr lang="zh-CN" altLang="en-US" dirty="0" smtClean="0"/>
              <a:t>）：通过常量定义给一个常量取一个名字并指定一个类型，在程序中通过常量名来使用这些常量。 </a:t>
            </a:r>
            <a:endParaRPr lang="en-US" altLang="zh-CN" dirty="0" smtClean="0"/>
          </a:p>
          <a:p>
            <a:pPr marL="579755" indent="-365125" eaLnBrk="1" hangingPunct="1">
              <a:defRPr/>
            </a:pPr>
            <a:r>
              <a:rPr lang="zh-CN" altLang="en-US" dirty="0"/>
              <a:t>例如，在计算</a:t>
            </a:r>
            <a:r>
              <a:rPr lang="zh-CN" altLang="en-US" dirty="0" smtClean="0"/>
              <a:t>圆周</a:t>
            </a:r>
            <a:r>
              <a:rPr lang="zh-CN" altLang="en-US" dirty="0"/>
              <a:t>长</a:t>
            </a:r>
            <a:r>
              <a:rPr lang="zh-CN" altLang="en-US" dirty="0" smtClean="0"/>
              <a:t>的式子</a:t>
            </a:r>
            <a:r>
              <a:rPr lang="en-US" altLang="zh-CN" dirty="0" smtClean="0">
                <a:solidFill>
                  <a:srgbClr val="FFC000"/>
                </a:solidFill>
              </a:rPr>
              <a:t>2</a:t>
            </a:r>
            <a:r>
              <a:rPr lang="en-US" altLang="zh-CN" dirty="0" smtClean="0"/>
              <a:t>*</a:t>
            </a:r>
            <a:r>
              <a:rPr lang="en-US" altLang="zh-CN" dirty="0" smtClean="0">
                <a:solidFill>
                  <a:srgbClr val="FFC000"/>
                </a:solidFill>
              </a:rPr>
              <a:t>PI</a:t>
            </a:r>
            <a:r>
              <a:rPr lang="en-US" altLang="zh-CN" dirty="0" smtClean="0"/>
              <a:t>*r</a:t>
            </a:r>
            <a:r>
              <a:rPr lang="zh-CN" altLang="en-US" dirty="0"/>
              <a:t>中，</a:t>
            </a:r>
            <a:endParaRPr lang="zh-CN" altLang="en-US" dirty="0"/>
          </a:p>
          <a:p>
            <a:pPr marL="1406525" lvl="1" indent="-457200" eaLnBrk="1" hangingPunct="1"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2</a:t>
            </a:r>
            <a:r>
              <a:rPr lang="zh-CN" altLang="en-US" dirty="0" smtClean="0"/>
              <a:t>是字面常量</a:t>
            </a:r>
            <a:endParaRPr lang="en-US" altLang="zh-CN" dirty="0" smtClean="0"/>
          </a:p>
          <a:p>
            <a:pPr marL="1406525" lvl="1" indent="-457200" eaLnBrk="1" hangingPunct="1"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PI</a:t>
            </a:r>
            <a:r>
              <a:rPr lang="zh-CN" altLang="en-US" dirty="0" smtClean="0"/>
              <a:t>是符号常量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386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字面常量（直接量）</a:t>
            </a:r>
            <a:endParaRPr lang="zh-CN" altLang="en-US" dirty="0" smtClean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532813" cy="4968875"/>
          </a:xfrm>
        </p:spPr>
        <p:txBody>
          <a:bodyPr/>
          <a:lstStyle/>
          <a:p>
            <a:pPr marL="357505" indent="-357505"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的字面常量按类型可分为：</a:t>
            </a:r>
            <a:endParaRPr lang="zh-CN" altLang="en-US" dirty="0" smtClean="0"/>
          </a:p>
          <a:p>
            <a:pPr marL="900430" lvl="1" indent="-363855" eaLnBrk="1" hangingPunct="1">
              <a:defRPr/>
            </a:pPr>
            <a:r>
              <a:rPr lang="zh-CN" altLang="en-US" dirty="0" smtClean="0"/>
              <a:t>整数类型字面常量</a:t>
            </a:r>
            <a:endParaRPr lang="zh-CN" altLang="en-US" dirty="0" smtClean="0"/>
          </a:p>
          <a:p>
            <a:pPr marL="900430" lvl="1" indent="-363855" eaLnBrk="1" hangingPunct="1">
              <a:defRPr/>
            </a:pPr>
            <a:r>
              <a:rPr lang="zh-CN" altLang="en-US" dirty="0" smtClean="0"/>
              <a:t>实数</a:t>
            </a:r>
            <a:r>
              <a:rPr lang="zh-CN" altLang="en-US" dirty="0"/>
              <a:t>类型字面常量</a:t>
            </a:r>
            <a:endParaRPr lang="zh-CN" altLang="en-US" dirty="0" smtClean="0"/>
          </a:p>
          <a:p>
            <a:pPr marL="900430" lvl="1" indent="-363855" eaLnBrk="1" hangingPunct="1">
              <a:defRPr/>
            </a:pPr>
            <a:r>
              <a:rPr lang="zh-CN" altLang="en-US" dirty="0" smtClean="0"/>
              <a:t>字符</a:t>
            </a:r>
            <a:r>
              <a:rPr lang="zh-CN" altLang="en-US" dirty="0"/>
              <a:t>类型字面常量</a:t>
            </a:r>
            <a:endParaRPr lang="zh-CN" altLang="en-US" dirty="0" smtClean="0"/>
          </a:p>
          <a:p>
            <a:pPr marL="900430" lvl="1" indent="-363855" eaLnBrk="1" hangingPunct="1">
              <a:defRPr/>
            </a:pPr>
            <a:r>
              <a:rPr lang="zh-CN" altLang="en-US" dirty="0" smtClean="0"/>
              <a:t>字符串类型字面常量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整数类型字面常量</a:t>
            </a:r>
            <a:endParaRPr lang="zh-CN" altLang="en-US" smtClean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70000"/>
            <a:ext cx="8675687" cy="5543550"/>
          </a:xfrm>
        </p:spPr>
        <p:txBody>
          <a:bodyPr>
            <a:normAutofit fontScale="77500" lnSpcReduction="20000"/>
          </a:bodyPr>
          <a:lstStyle/>
          <a:p>
            <a:pPr marL="354330" indent="-35433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程序中，</a:t>
            </a:r>
            <a:r>
              <a:rPr lang="zh-CN" altLang="en-US" dirty="0" smtClean="0">
                <a:solidFill>
                  <a:srgbClr val="FFC000"/>
                </a:solidFill>
              </a:rPr>
              <a:t>整数类型字面常量</a:t>
            </a:r>
            <a:r>
              <a:rPr lang="zh-CN" altLang="en-US" dirty="0" smtClean="0"/>
              <a:t>可以用下面形式来书写：</a:t>
            </a:r>
            <a:endParaRPr lang="zh-CN" altLang="en-US" dirty="0" smtClean="0"/>
          </a:p>
          <a:p>
            <a:pPr marL="900430" lvl="1" indent="-367030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十进制</a:t>
            </a:r>
            <a:r>
              <a:rPr lang="zh-CN" altLang="en-US" dirty="0" smtClean="0"/>
              <a:t>：由</a:t>
            </a:r>
            <a:r>
              <a:rPr lang="en-US" altLang="zh-CN" dirty="0" smtClean="0"/>
              <a:t>0~9</a:t>
            </a:r>
            <a:r>
              <a:rPr lang="zh-CN" altLang="en-US" dirty="0" smtClean="0"/>
              <a:t>数字组成，第一个数字不能是</a:t>
            </a:r>
            <a:r>
              <a:rPr lang="en-US" altLang="zh-CN" dirty="0" smtClean="0"/>
              <a:t>0</a:t>
            </a:r>
            <a:r>
              <a:rPr lang="zh-CN" altLang="en-US" dirty="0" smtClean="0"/>
              <a:t>（整数</a:t>
            </a:r>
            <a:r>
              <a:rPr lang="en-US" altLang="zh-CN" dirty="0" smtClean="0"/>
              <a:t>0</a:t>
            </a:r>
            <a:r>
              <a:rPr lang="zh-CN" altLang="en-US" dirty="0" smtClean="0"/>
              <a:t>除外），如：</a:t>
            </a:r>
            <a:r>
              <a:rPr lang="en-US" altLang="zh-CN" dirty="0" smtClean="0"/>
              <a:t>59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128</a:t>
            </a:r>
            <a:r>
              <a:rPr lang="zh-CN" altLang="en-US" dirty="0" smtClean="0"/>
              <a:t>，</a:t>
            </a:r>
            <a:r>
              <a:rPr lang="en-US" altLang="zh-CN" dirty="0" smtClean="0"/>
              <a:t>-72</a:t>
            </a:r>
            <a:endParaRPr lang="en-US" altLang="zh-CN" dirty="0" smtClean="0"/>
          </a:p>
          <a:p>
            <a:pPr marL="900430" lvl="1" indent="-367030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八进制</a:t>
            </a:r>
            <a:r>
              <a:rPr lang="zh-CN" altLang="en-US" dirty="0" smtClean="0"/>
              <a:t>：由数字</a:t>
            </a:r>
            <a:r>
              <a:rPr lang="en-US" altLang="zh-CN" dirty="0" smtClean="0"/>
              <a:t>0</a:t>
            </a:r>
            <a:r>
              <a:rPr lang="zh-CN" altLang="en-US" dirty="0" smtClean="0"/>
              <a:t>打头，</a:t>
            </a:r>
            <a:r>
              <a:rPr lang="en-US" altLang="zh-CN" dirty="0" smtClean="0"/>
              <a:t>0~7</a:t>
            </a:r>
            <a:r>
              <a:rPr lang="zh-CN" altLang="en-US" dirty="0" smtClean="0"/>
              <a:t>数字组成，如：</a:t>
            </a:r>
            <a:r>
              <a:rPr lang="en-US" altLang="zh-CN" dirty="0" smtClean="0"/>
              <a:t>073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0200</a:t>
            </a:r>
            <a:r>
              <a:rPr lang="zh-CN" altLang="en-US" dirty="0" smtClean="0"/>
              <a:t>，  </a:t>
            </a:r>
            <a:r>
              <a:rPr lang="en-US" altLang="zh-CN" dirty="0" smtClean="0"/>
              <a:t>-0110</a:t>
            </a:r>
            <a:endParaRPr lang="en-US" altLang="zh-CN" dirty="0" smtClean="0"/>
          </a:p>
          <a:p>
            <a:pPr marL="900430" lvl="1" indent="-367030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十六进制</a:t>
            </a:r>
            <a:r>
              <a:rPr lang="zh-CN" altLang="en-US" dirty="0" smtClean="0"/>
              <a:t>：由</a:t>
            </a:r>
            <a:r>
              <a:rPr lang="en-US" altLang="zh-CN" dirty="0" smtClean="0"/>
              <a:t>0x</a:t>
            </a:r>
            <a:r>
              <a:rPr lang="zh-CN" altLang="en-US" dirty="0" smtClean="0"/>
              <a:t>或</a:t>
            </a:r>
            <a:r>
              <a:rPr lang="en-US" altLang="zh-CN" dirty="0" smtClean="0"/>
              <a:t>0X</a:t>
            </a:r>
            <a:r>
              <a:rPr lang="zh-CN" altLang="en-US" dirty="0" smtClean="0"/>
              <a:t>打头，</a:t>
            </a:r>
            <a:r>
              <a:rPr lang="en-US" altLang="zh-CN" dirty="0" smtClean="0"/>
              <a:t>0~9</a:t>
            </a:r>
            <a:r>
              <a:rPr lang="zh-CN" altLang="en-US" dirty="0" smtClean="0"/>
              <a:t>数字和</a:t>
            </a:r>
            <a:r>
              <a:rPr lang="en-US" altLang="zh-CN" dirty="0" smtClean="0"/>
              <a:t>A~F</a:t>
            </a:r>
            <a:r>
              <a:rPr lang="zh-CN" altLang="en-US" dirty="0" smtClean="0"/>
              <a:t>（或</a:t>
            </a:r>
            <a:r>
              <a:rPr lang="en-US" altLang="zh-CN" dirty="0" err="1" smtClean="0"/>
              <a:t>a~f</a:t>
            </a:r>
            <a:r>
              <a:rPr lang="zh-CN" altLang="en-US" dirty="0" smtClean="0"/>
              <a:t>）字母组成，如：</a:t>
            </a:r>
            <a:r>
              <a:rPr lang="en-US" altLang="zh-CN" dirty="0" smtClean="0"/>
              <a:t>0x3B, 0x80, -0x48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整数类型字面常量的默认类型为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，可</a:t>
            </a:r>
            <a:r>
              <a:rPr lang="zh-CN" altLang="en-US" dirty="0"/>
              <a:t>在整数</a:t>
            </a:r>
            <a:r>
              <a:rPr lang="zh-CN" altLang="en-US" dirty="0" smtClean="0"/>
              <a:t>类型字面常量</a:t>
            </a:r>
            <a:r>
              <a:rPr lang="zh-CN" altLang="en-US" dirty="0"/>
              <a:t>的后面：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加上</a:t>
            </a:r>
            <a:r>
              <a:rPr lang="en-US" altLang="zh-CN" dirty="0"/>
              <a:t>l</a:t>
            </a:r>
            <a:r>
              <a:rPr lang="zh-CN" altLang="en-US" dirty="0"/>
              <a:t>或</a:t>
            </a:r>
            <a:r>
              <a:rPr lang="en-US" altLang="zh-CN" dirty="0"/>
              <a:t>L</a:t>
            </a:r>
            <a:r>
              <a:rPr lang="zh-CN" altLang="en-US" dirty="0"/>
              <a:t>，表示</a:t>
            </a:r>
            <a:r>
              <a:rPr lang="en-US" altLang="zh-CN" dirty="0"/>
              <a:t>long </a:t>
            </a:r>
            <a:r>
              <a:rPr lang="en-US" altLang="zh-CN" dirty="0" err="1"/>
              <a:t>int</a:t>
            </a:r>
            <a:r>
              <a:rPr lang="zh-CN" altLang="en-US" dirty="0"/>
              <a:t>类型的常量，如：</a:t>
            </a:r>
            <a:r>
              <a:rPr lang="en-US" altLang="zh-CN" dirty="0"/>
              <a:t>32765</a:t>
            </a:r>
            <a:r>
              <a:rPr lang="en-US" altLang="zh-CN" dirty="0">
                <a:solidFill>
                  <a:srgbClr val="FFC000"/>
                </a:solidFill>
              </a:rPr>
              <a:t>L</a:t>
            </a:r>
            <a:r>
              <a:rPr lang="en-US" altLang="zh-CN" dirty="0"/>
              <a:t> 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加上</a:t>
            </a:r>
            <a:r>
              <a:rPr lang="en-US" altLang="zh-CN" dirty="0"/>
              <a:t>u</a:t>
            </a:r>
            <a:r>
              <a:rPr lang="zh-CN" altLang="en-US" dirty="0"/>
              <a:t>或</a:t>
            </a:r>
            <a:r>
              <a:rPr lang="en-US" altLang="zh-CN" dirty="0"/>
              <a:t>U</a:t>
            </a:r>
            <a:r>
              <a:rPr lang="zh-CN" altLang="en-US" dirty="0"/>
              <a:t>，表示</a:t>
            </a:r>
            <a:r>
              <a:rPr lang="en-US" altLang="zh-CN" dirty="0"/>
              <a:t>unsigned </a:t>
            </a:r>
            <a:r>
              <a:rPr lang="en-US" altLang="zh-CN" dirty="0" err="1"/>
              <a:t>int</a:t>
            </a:r>
            <a:r>
              <a:rPr lang="zh-CN" altLang="en-US" dirty="0"/>
              <a:t>类型的常量，如： </a:t>
            </a:r>
            <a:r>
              <a:rPr lang="en-US" altLang="zh-CN" dirty="0"/>
              <a:t>4352</a:t>
            </a:r>
            <a:r>
              <a:rPr lang="en-US" altLang="zh-CN" dirty="0">
                <a:solidFill>
                  <a:srgbClr val="FFC000"/>
                </a:solidFill>
              </a:rPr>
              <a:t>U</a:t>
            </a:r>
            <a:r>
              <a:rPr lang="en-US" altLang="zh-CN" dirty="0"/>
              <a:t> 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同时</a:t>
            </a:r>
            <a:r>
              <a:rPr lang="zh-CN" altLang="en-US" dirty="0"/>
              <a:t>加上</a:t>
            </a:r>
            <a:r>
              <a:rPr lang="en-US" altLang="zh-CN" dirty="0"/>
              <a:t>u</a:t>
            </a:r>
            <a:r>
              <a:rPr lang="zh-CN" altLang="en-US" dirty="0"/>
              <a:t>（</a:t>
            </a:r>
            <a:r>
              <a:rPr lang="en-US" altLang="zh-CN" dirty="0"/>
              <a:t>U</a:t>
            </a:r>
            <a:r>
              <a:rPr lang="zh-CN" altLang="en-US" dirty="0"/>
              <a:t>）和</a:t>
            </a:r>
            <a:r>
              <a:rPr lang="en-US" altLang="zh-CN" dirty="0"/>
              <a:t>l</a:t>
            </a:r>
            <a:r>
              <a:rPr lang="zh-CN" altLang="en-US" dirty="0"/>
              <a:t>（</a:t>
            </a:r>
            <a:r>
              <a:rPr lang="en-US" altLang="zh-CN" dirty="0"/>
              <a:t>L</a:t>
            </a:r>
            <a:r>
              <a:rPr lang="zh-CN" altLang="en-US" dirty="0"/>
              <a:t>）表示</a:t>
            </a:r>
            <a:r>
              <a:rPr lang="en-US" altLang="zh-CN" dirty="0"/>
              <a:t>unsigned long</a:t>
            </a:r>
            <a:r>
              <a:rPr lang="zh-CN" altLang="en-US" dirty="0"/>
              <a:t>类型的常量，如：</a:t>
            </a:r>
            <a:r>
              <a:rPr lang="en-US" altLang="zh-CN" dirty="0" smtClean="0"/>
              <a:t>41152</a:t>
            </a:r>
            <a:r>
              <a:rPr lang="en-US" altLang="zh-CN" dirty="0" smtClean="0">
                <a:solidFill>
                  <a:srgbClr val="FFC000"/>
                </a:solidFill>
              </a:rPr>
              <a:t>UL</a:t>
            </a:r>
            <a:r>
              <a:rPr lang="zh-CN" altLang="en-US" dirty="0" smtClean="0"/>
              <a:t>，或，</a:t>
            </a:r>
            <a:r>
              <a:rPr lang="en-US" altLang="zh-CN" dirty="0" smtClean="0"/>
              <a:t>41152</a:t>
            </a:r>
            <a:r>
              <a:rPr lang="en-US" altLang="zh-CN" dirty="0" smtClean="0">
                <a:solidFill>
                  <a:srgbClr val="FFC000"/>
                </a:solidFill>
              </a:rPr>
              <a:t>LU</a:t>
            </a:r>
            <a:r>
              <a:rPr lang="en-US" altLang="zh-CN" dirty="0" smtClean="0"/>
              <a:t> 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实数类型字面常量</a:t>
            </a:r>
            <a:endParaRPr lang="zh-CN" altLang="en-US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752"/>
            <a:ext cx="8748712" cy="5228927"/>
          </a:xfrm>
        </p:spPr>
        <p:txBody>
          <a:bodyPr>
            <a:normAutofit lnSpcReduction="10000"/>
          </a:bodyPr>
          <a:lstStyle/>
          <a:p>
            <a:pPr marL="354330" indent="-354330" eaLnBrk="1" hangingPunct="1">
              <a:lnSpc>
                <a:spcPct val="120000"/>
              </a:lnSpc>
              <a:defRPr/>
            </a:pPr>
            <a:r>
              <a:rPr lang="zh-CN" altLang="en-US" sz="2800" dirty="0" smtClean="0"/>
              <a:t>在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程序中，</a:t>
            </a:r>
            <a:r>
              <a:rPr lang="zh-CN" altLang="en-US" sz="2800" dirty="0" smtClean="0">
                <a:solidFill>
                  <a:srgbClr val="FFC000"/>
                </a:solidFill>
              </a:rPr>
              <a:t>实数类型字面常量</a:t>
            </a:r>
            <a:r>
              <a:rPr lang="zh-CN" altLang="en-US" sz="2800" dirty="0" smtClean="0"/>
              <a:t>采用十进制形式书写。有两种表示法：</a:t>
            </a:r>
            <a:endParaRPr lang="zh-CN" altLang="en-US" sz="2800" dirty="0" smtClean="0"/>
          </a:p>
          <a:p>
            <a:pPr marL="892175" lvl="1" indent="-358775"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小数表示法</a:t>
            </a:r>
            <a:r>
              <a:rPr lang="zh-CN" altLang="en-US" sz="2400" dirty="0" smtClean="0"/>
              <a:t>：由整数部分、小数点和小数部分构成，如：</a:t>
            </a:r>
            <a:r>
              <a:rPr lang="en-US" altLang="zh-CN" sz="2400" dirty="0" smtClean="0"/>
              <a:t>456.78, -0.0057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5.</a:t>
            </a:r>
            <a:r>
              <a:rPr lang="zh-CN" altLang="en-US" sz="2400" dirty="0" smtClean="0"/>
              <a:t>（</a:t>
            </a:r>
            <a:r>
              <a:rPr lang="en-US" altLang="zh-CN" sz="2400" dirty="0" smtClean="0">
                <a:solidFill>
                  <a:srgbClr val="FFC000"/>
                </a:solidFill>
              </a:rPr>
              <a:t>5.0</a:t>
            </a:r>
            <a:r>
              <a:rPr lang="zh-CN" altLang="en-US" sz="2400" dirty="0" smtClean="0"/>
              <a:t>），</a:t>
            </a:r>
            <a:r>
              <a:rPr lang="en-US" altLang="zh-CN" sz="2400" dirty="0" smtClean="0"/>
              <a:t>.5</a:t>
            </a:r>
            <a:r>
              <a:rPr lang="zh-CN" altLang="en-US" sz="2400" dirty="0" smtClean="0"/>
              <a:t>（</a:t>
            </a:r>
            <a:r>
              <a:rPr lang="en-US" altLang="zh-CN" sz="2400" dirty="0" smtClean="0">
                <a:solidFill>
                  <a:srgbClr val="FFC000"/>
                </a:solidFill>
              </a:rPr>
              <a:t>0.5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marL="892175" lvl="1" indent="-358775" eaLnBrk="1" hangingPunct="1">
              <a:lnSpc>
                <a:spcPct val="120000"/>
              </a:lnSpc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科学表示法</a:t>
            </a:r>
            <a:r>
              <a:rPr lang="zh-CN" altLang="en-US" sz="2400" dirty="0" smtClean="0"/>
              <a:t>：在小数表示法或整数后加上一个指数部分，指数部分由</a:t>
            </a:r>
            <a:r>
              <a:rPr lang="en-US" altLang="zh-CN" sz="2400" dirty="0" smtClean="0"/>
              <a:t>E(</a:t>
            </a:r>
            <a:r>
              <a:rPr lang="zh-CN" altLang="en-US" sz="2400" dirty="0" smtClean="0"/>
              <a:t>或</a:t>
            </a:r>
            <a:r>
              <a:rPr lang="en-US" altLang="zh-CN" sz="2400" dirty="0" smtClean="0"/>
              <a:t>e)</a:t>
            </a:r>
            <a:r>
              <a:rPr lang="zh-CN" altLang="en-US" sz="2400" dirty="0" smtClean="0"/>
              <a:t>和一个整数类型数构成，表示基数为</a:t>
            </a:r>
            <a:r>
              <a:rPr lang="en-US" altLang="zh-CN" sz="2400" dirty="0" smtClean="0"/>
              <a:t>10</a:t>
            </a:r>
            <a:r>
              <a:rPr lang="zh-CN" altLang="en-US" sz="2400" dirty="0" smtClean="0"/>
              <a:t>的指数，如：</a:t>
            </a:r>
            <a:r>
              <a:rPr lang="en-US" altLang="zh-CN" sz="2400" dirty="0" smtClean="0"/>
              <a:t>4.5678</a:t>
            </a:r>
            <a:r>
              <a:rPr lang="en-US" altLang="zh-CN" sz="2400" dirty="0" smtClean="0">
                <a:solidFill>
                  <a:srgbClr val="FFC000"/>
                </a:solidFill>
              </a:rPr>
              <a:t>E2</a:t>
            </a:r>
            <a:r>
              <a:rPr lang="en-US" altLang="zh-CN" sz="2400" dirty="0" smtClean="0"/>
              <a:t>, -5.7</a:t>
            </a:r>
            <a:r>
              <a:rPr lang="en-US" altLang="zh-CN" sz="2400" dirty="0" smtClean="0">
                <a:solidFill>
                  <a:srgbClr val="FFC000"/>
                </a:solidFill>
              </a:rPr>
              <a:t>e-3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/>
              <a:t>实数类型字面常量</a:t>
            </a:r>
            <a:r>
              <a:rPr lang="zh-CN" altLang="en-US" sz="2800" dirty="0" smtClean="0"/>
              <a:t>默认类型为</a:t>
            </a:r>
            <a:r>
              <a:rPr lang="en-US" altLang="zh-CN" sz="2800" dirty="0" smtClean="0"/>
              <a:t>double</a:t>
            </a:r>
            <a:r>
              <a:rPr lang="zh-CN" altLang="en-US" sz="2800" dirty="0" smtClean="0"/>
              <a:t>，</a:t>
            </a:r>
            <a:r>
              <a:rPr lang="zh-CN" altLang="en-US" sz="2800" dirty="0"/>
              <a:t>可以在实数类型字面常量后面：</a:t>
            </a:r>
            <a:endParaRPr lang="zh-CN" altLang="en-US" sz="28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/>
              <a:t>加上</a:t>
            </a:r>
            <a:r>
              <a:rPr lang="en-US" altLang="zh-CN" sz="2400" dirty="0"/>
              <a:t>F(f)</a:t>
            </a:r>
            <a:r>
              <a:rPr lang="zh-CN" altLang="en-US" sz="2400" dirty="0"/>
              <a:t>以表示</a:t>
            </a:r>
            <a:r>
              <a:rPr lang="en-US" altLang="zh-CN" sz="2400" dirty="0"/>
              <a:t>float</a:t>
            </a:r>
            <a:r>
              <a:rPr lang="zh-CN" altLang="en-US" sz="2400" dirty="0"/>
              <a:t>型，如：</a:t>
            </a:r>
            <a:r>
              <a:rPr lang="en-US" altLang="zh-CN" sz="2400" dirty="0" smtClean="0"/>
              <a:t>5.6</a:t>
            </a:r>
            <a:r>
              <a:rPr lang="en-US" altLang="zh-CN" sz="2400" dirty="0" smtClean="0">
                <a:solidFill>
                  <a:srgbClr val="FF9900"/>
                </a:solidFill>
              </a:rPr>
              <a:t>F</a:t>
            </a:r>
            <a:endParaRPr lang="zh-CN" altLang="en-US" sz="2400" dirty="0">
              <a:solidFill>
                <a:srgbClr val="FF9900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/>
              <a:t>加上</a:t>
            </a:r>
            <a:r>
              <a:rPr lang="en-US" altLang="zh-CN" sz="2400" dirty="0"/>
              <a:t>L(l)</a:t>
            </a:r>
            <a:r>
              <a:rPr lang="zh-CN" altLang="en-US" sz="2400" dirty="0"/>
              <a:t>表示</a:t>
            </a:r>
            <a:r>
              <a:rPr lang="en-US" altLang="zh-CN" sz="2400" dirty="0"/>
              <a:t>long double</a:t>
            </a:r>
            <a:r>
              <a:rPr lang="zh-CN" altLang="en-US" sz="2400" dirty="0"/>
              <a:t>型，如</a:t>
            </a:r>
            <a:r>
              <a:rPr lang="en-US" altLang="zh-CN" sz="2400" dirty="0" smtClean="0"/>
              <a:t>5.6</a:t>
            </a:r>
            <a:r>
              <a:rPr lang="en-US" altLang="zh-CN" sz="2400" dirty="0" smtClean="0">
                <a:solidFill>
                  <a:srgbClr val="FF9900"/>
                </a:solidFill>
              </a:rPr>
              <a:t>L</a:t>
            </a:r>
            <a:endParaRPr lang="zh-CN" altLang="en-US" sz="24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163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字符类型字面常量</a:t>
            </a:r>
            <a:endParaRPr lang="zh-CN" altLang="en-US" dirty="0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820150" cy="5445125"/>
          </a:xfrm>
        </p:spPr>
        <p:txBody>
          <a:bodyPr>
            <a:normAutofit fontScale="77500" lnSpcReduction="20000"/>
          </a:bodyPr>
          <a:lstStyle/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zh-CN" altLang="en-US" sz="3600" dirty="0" smtClean="0"/>
              <a:t>在</a:t>
            </a:r>
            <a:r>
              <a:rPr lang="en-US" altLang="zh-CN" sz="3600" dirty="0" smtClean="0"/>
              <a:t>C++</a:t>
            </a:r>
            <a:r>
              <a:rPr lang="zh-CN" altLang="en-US" sz="3600" dirty="0" smtClean="0"/>
              <a:t>程序中，</a:t>
            </a:r>
            <a:r>
              <a:rPr lang="zh-CN" altLang="en-US" sz="3600" dirty="0" smtClean="0">
                <a:solidFill>
                  <a:schemeClr val="folHlink"/>
                </a:solidFill>
              </a:rPr>
              <a:t>字符类型字面常量</a:t>
            </a:r>
            <a:r>
              <a:rPr lang="zh-CN" altLang="en-US" sz="3600" dirty="0" smtClean="0"/>
              <a:t>是由两个</a:t>
            </a:r>
            <a:r>
              <a:rPr lang="zh-CN" altLang="en-US" sz="3600" dirty="0" smtClean="0">
                <a:solidFill>
                  <a:srgbClr val="FFC000"/>
                </a:solidFill>
              </a:rPr>
              <a:t>单引号</a:t>
            </a:r>
            <a:r>
              <a:rPr lang="zh-CN" altLang="en-US" sz="3600" dirty="0" smtClean="0"/>
              <a:t>（</a:t>
            </a:r>
            <a:r>
              <a:rPr lang="en-US" altLang="zh-CN" sz="3600" dirty="0" smtClean="0">
                <a:solidFill>
                  <a:srgbClr val="FFC000"/>
                </a:solidFill>
              </a:rPr>
              <a:t>'</a:t>
            </a:r>
            <a:r>
              <a:rPr lang="zh-CN" altLang="en-US" sz="3600" dirty="0" smtClean="0"/>
              <a:t>）括起来的</a:t>
            </a:r>
            <a:r>
              <a:rPr lang="zh-CN" altLang="en-US" sz="3600" dirty="0" smtClean="0">
                <a:solidFill>
                  <a:srgbClr val="FFC000"/>
                </a:solidFill>
              </a:rPr>
              <a:t>一个字符</a:t>
            </a:r>
            <a:r>
              <a:rPr lang="zh-CN" altLang="en-US" sz="3600" dirty="0" smtClean="0"/>
              <a:t>构成，其中的字符写法可以是：</a:t>
            </a:r>
            <a:endParaRPr lang="zh-CN" altLang="en-US" sz="3600" dirty="0" smtClean="0"/>
          </a:p>
          <a:p>
            <a:pPr marL="894080" lvl="1" indent="-357505" eaLnBrk="1" hangingPunct="1">
              <a:lnSpc>
                <a:spcPct val="110000"/>
              </a:lnSpc>
              <a:defRPr/>
            </a:pPr>
            <a:r>
              <a:rPr lang="zh-CN" altLang="en-US" sz="3200" dirty="0" smtClean="0">
                <a:solidFill>
                  <a:schemeClr val="folHlink"/>
                </a:solidFill>
              </a:rPr>
              <a:t>字符本身</a:t>
            </a:r>
            <a:r>
              <a:rPr lang="zh-CN" altLang="en-US" sz="3200" dirty="0" smtClean="0"/>
              <a:t>，如：</a:t>
            </a:r>
            <a:r>
              <a:rPr lang="en-US" altLang="zh-CN" sz="3200" dirty="0" smtClean="0"/>
              <a:t>'A'</a:t>
            </a:r>
            <a:endParaRPr lang="en-US" altLang="zh-CN" sz="3200" dirty="0" smtClean="0"/>
          </a:p>
          <a:p>
            <a:pPr marL="894080" lvl="1" indent="-357505" eaLnBrk="1" hangingPunct="1">
              <a:lnSpc>
                <a:spcPct val="110000"/>
              </a:lnSpc>
              <a:defRPr/>
            </a:pPr>
            <a:r>
              <a:rPr lang="zh-CN" altLang="en-US" sz="3200" dirty="0" smtClean="0">
                <a:solidFill>
                  <a:schemeClr val="folHlink"/>
                </a:solidFill>
              </a:rPr>
              <a:t>转义序列</a:t>
            </a:r>
            <a:r>
              <a:rPr lang="zh-CN" altLang="en-US" sz="3200" dirty="0" smtClean="0"/>
              <a:t>，由</a:t>
            </a:r>
            <a:r>
              <a:rPr lang="en-US" altLang="zh-CN" sz="3200" dirty="0" smtClean="0"/>
              <a:t>\</a:t>
            </a:r>
            <a:r>
              <a:rPr lang="zh-CN" altLang="en-US" sz="3200" dirty="0" smtClean="0"/>
              <a:t>打头的一串符号</a:t>
            </a:r>
            <a:endParaRPr lang="zh-CN" altLang="en-US" sz="3200" dirty="0" smtClean="0"/>
          </a:p>
          <a:p>
            <a:pPr marL="1444625" lvl="2" indent="-371475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字符的编码</a:t>
            </a:r>
            <a:endParaRPr lang="zh-CN" altLang="en-US" sz="2800" dirty="0" smtClean="0"/>
          </a:p>
          <a:p>
            <a:pPr marL="1983105" lvl="3" indent="-358775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八进制：</a:t>
            </a:r>
            <a:r>
              <a:rPr lang="en-US" altLang="zh-CN" sz="2400" dirty="0" smtClean="0"/>
              <a:t>'</a:t>
            </a:r>
            <a:r>
              <a:rPr lang="en-US" altLang="zh-CN" sz="2400" dirty="0" smtClean="0">
                <a:solidFill>
                  <a:srgbClr val="FFC000"/>
                </a:solidFill>
              </a:rPr>
              <a:t>\</a:t>
            </a:r>
            <a:r>
              <a:rPr lang="en-US" altLang="zh-CN" sz="2400" dirty="0" err="1" smtClean="0"/>
              <a:t>ddd</a:t>
            </a:r>
            <a:r>
              <a:rPr lang="en-US" altLang="zh-CN" sz="2400" dirty="0" smtClean="0"/>
              <a:t>'</a:t>
            </a:r>
            <a:r>
              <a:rPr lang="zh-CN" altLang="en-US" sz="2400" dirty="0" smtClean="0"/>
              <a:t>，如：</a:t>
            </a:r>
            <a:r>
              <a:rPr lang="en-US" altLang="zh-CN" sz="2400" dirty="0" smtClean="0"/>
              <a:t>'</a:t>
            </a:r>
            <a:r>
              <a:rPr lang="en-US" altLang="zh-CN" sz="2400" dirty="0" smtClean="0">
                <a:solidFill>
                  <a:srgbClr val="FFC000"/>
                </a:solidFill>
              </a:rPr>
              <a:t>\</a:t>
            </a:r>
            <a:r>
              <a:rPr lang="en-US" altLang="zh-CN" sz="2400" dirty="0" smtClean="0"/>
              <a:t>101'</a:t>
            </a:r>
            <a:endParaRPr lang="en-US" altLang="zh-CN" sz="2400" dirty="0" smtClean="0"/>
          </a:p>
          <a:p>
            <a:pPr marL="1983105" lvl="3" indent="-358775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十六进制：</a:t>
            </a:r>
            <a:r>
              <a:rPr lang="en-US" altLang="zh-CN" sz="2400" dirty="0" smtClean="0"/>
              <a:t>'</a:t>
            </a:r>
            <a:r>
              <a:rPr lang="en-US" altLang="zh-CN" sz="2400" dirty="0" smtClean="0">
                <a:solidFill>
                  <a:srgbClr val="FFC000"/>
                </a:solidFill>
              </a:rPr>
              <a:t>\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err="1" smtClean="0"/>
              <a:t>hh</a:t>
            </a:r>
            <a:r>
              <a:rPr lang="en-US" altLang="zh-CN" sz="2400" dirty="0" smtClean="0"/>
              <a:t>'</a:t>
            </a:r>
            <a:r>
              <a:rPr lang="zh-CN" altLang="en-US" sz="2400" dirty="0" smtClean="0"/>
              <a:t>，如：</a:t>
            </a:r>
            <a:r>
              <a:rPr lang="en-US" altLang="zh-CN" sz="2400" dirty="0" smtClean="0"/>
              <a:t>'</a:t>
            </a:r>
            <a:r>
              <a:rPr lang="en-US" altLang="zh-CN" sz="2400" dirty="0" smtClean="0">
                <a:solidFill>
                  <a:srgbClr val="FFC000"/>
                </a:solidFill>
              </a:rPr>
              <a:t>\x</a:t>
            </a:r>
            <a:r>
              <a:rPr lang="en-US" altLang="zh-CN" sz="2400" dirty="0" smtClean="0"/>
              <a:t>41'</a:t>
            </a:r>
            <a:endParaRPr lang="en-US" altLang="zh-CN" sz="2400" dirty="0" smtClean="0"/>
          </a:p>
          <a:p>
            <a:pPr marL="1444625" lvl="2" indent="-371475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特殊表示，如：</a:t>
            </a:r>
            <a:r>
              <a:rPr lang="en-US" altLang="zh-CN" sz="2800" dirty="0" smtClean="0"/>
              <a:t>'\n'</a:t>
            </a:r>
            <a:r>
              <a:rPr lang="zh-CN" altLang="en-US" sz="2800" dirty="0" smtClean="0"/>
              <a:t>（换行符）、</a:t>
            </a:r>
            <a:r>
              <a:rPr lang="en-US" altLang="zh-CN" sz="2800" dirty="0" smtClean="0"/>
              <a:t>'\r'</a:t>
            </a:r>
            <a:r>
              <a:rPr lang="zh-CN" altLang="en-US" sz="2800" dirty="0" smtClean="0"/>
              <a:t>（回车符）、</a:t>
            </a:r>
            <a:r>
              <a:rPr lang="en-US" altLang="zh-CN" sz="2800" dirty="0" smtClean="0"/>
              <a:t>'\t'</a:t>
            </a:r>
            <a:r>
              <a:rPr lang="zh-CN" altLang="en-US" sz="2800" dirty="0" smtClean="0"/>
              <a:t>（横向制表符）、</a:t>
            </a:r>
            <a:r>
              <a:rPr lang="en-US" altLang="zh-CN" sz="2800" dirty="0" smtClean="0"/>
              <a:t>'\b'</a:t>
            </a:r>
            <a:r>
              <a:rPr lang="zh-CN" altLang="en-US" sz="2800" dirty="0" smtClean="0"/>
              <a:t>（退格符）等</a:t>
            </a:r>
            <a:endParaRPr lang="en-US" altLang="zh-CN" sz="2800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3200" dirty="0"/>
              <a:t>注意下列字符的表示：</a:t>
            </a:r>
            <a:endParaRPr lang="zh-CN" altLang="en-US" sz="3200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sz="2800" dirty="0"/>
              <a:t>反斜杠（</a:t>
            </a:r>
            <a:r>
              <a:rPr lang="en-US" altLang="zh-CN" sz="2800" dirty="0">
                <a:solidFill>
                  <a:srgbClr val="FFC000"/>
                </a:solidFill>
              </a:rPr>
              <a:t>\</a:t>
            </a:r>
            <a:r>
              <a:rPr lang="zh-CN" altLang="en-US" sz="2800" dirty="0"/>
              <a:t>）</a:t>
            </a:r>
            <a:r>
              <a:rPr lang="zh-CN" altLang="en-GB" sz="2800" dirty="0"/>
              <a:t>应写成：</a:t>
            </a:r>
            <a:r>
              <a:rPr lang="en-US" altLang="zh-CN" sz="2800" dirty="0"/>
              <a:t>'</a:t>
            </a:r>
            <a:r>
              <a:rPr lang="en-US" altLang="zh-CN" sz="2800" dirty="0">
                <a:solidFill>
                  <a:srgbClr val="FFC000"/>
                </a:solidFill>
              </a:rPr>
              <a:t>\\</a:t>
            </a:r>
            <a:r>
              <a:rPr lang="en-US" altLang="zh-CN" sz="2800" dirty="0"/>
              <a:t>'</a:t>
            </a:r>
            <a:endParaRPr lang="en-US" altLang="zh-CN" sz="2800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sz="2800" dirty="0"/>
              <a:t>单引号（</a:t>
            </a:r>
            <a:r>
              <a:rPr lang="en-US" altLang="zh-CN" sz="2800" dirty="0">
                <a:solidFill>
                  <a:srgbClr val="FFC000"/>
                </a:solidFill>
              </a:rPr>
              <a:t>'</a:t>
            </a:r>
            <a:r>
              <a:rPr lang="zh-CN" altLang="en-US" sz="2800" dirty="0"/>
              <a:t>）应写成：</a:t>
            </a:r>
            <a:r>
              <a:rPr lang="en-US" altLang="zh-CN" sz="2800" dirty="0"/>
              <a:t>'</a:t>
            </a:r>
            <a:r>
              <a:rPr lang="en-US" altLang="zh-CN" sz="2800" dirty="0">
                <a:solidFill>
                  <a:srgbClr val="FFC000"/>
                </a:solidFill>
              </a:rPr>
              <a:t>\'</a:t>
            </a:r>
            <a:r>
              <a:rPr lang="en-US" altLang="zh-CN" sz="2800" dirty="0"/>
              <a:t>'</a:t>
            </a:r>
            <a:endParaRPr lang="en-US" altLang="zh-CN" sz="2800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sz="2800" dirty="0"/>
              <a:t>双引号（</a:t>
            </a:r>
            <a:r>
              <a:rPr lang="en-US" altLang="zh-CN" sz="2800" dirty="0">
                <a:solidFill>
                  <a:srgbClr val="FFC000"/>
                </a:solidFill>
              </a:rPr>
              <a:t>"</a:t>
            </a:r>
            <a:r>
              <a:rPr lang="zh-CN" altLang="en-US" sz="2800" dirty="0"/>
              <a:t>）可写成</a:t>
            </a:r>
            <a:r>
              <a:rPr lang="zh-CN" altLang="en-US" sz="2800" dirty="0" smtClean="0"/>
              <a:t>：</a:t>
            </a:r>
            <a:r>
              <a:rPr lang="en-US" altLang="zh-CN" sz="2800" dirty="0" smtClean="0"/>
              <a:t>'</a:t>
            </a:r>
            <a:r>
              <a:rPr lang="en-US" altLang="zh-CN" sz="2800" dirty="0" smtClean="0">
                <a:solidFill>
                  <a:srgbClr val="FFC000"/>
                </a:solidFill>
              </a:rPr>
              <a:t>\"</a:t>
            </a:r>
            <a:r>
              <a:rPr lang="en-US" altLang="zh-CN" sz="2800" dirty="0" smtClean="0"/>
              <a:t>'</a:t>
            </a:r>
            <a:r>
              <a:rPr lang="zh-CN" altLang="en-US" sz="2800" dirty="0" smtClean="0"/>
              <a:t>，或 </a:t>
            </a:r>
            <a:r>
              <a:rPr lang="en-US" altLang="zh-CN" sz="2800" dirty="0" smtClean="0"/>
              <a:t>'</a:t>
            </a:r>
            <a:r>
              <a:rPr lang="en-US" altLang="zh-CN" sz="2800" dirty="0" smtClean="0">
                <a:solidFill>
                  <a:srgbClr val="FFC000"/>
                </a:solidFill>
              </a:rPr>
              <a:t>"</a:t>
            </a:r>
            <a:r>
              <a:rPr lang="en-US" altLang="zh-CN" sz="2800" dirty="0" smtClean="0"/>
              <a:t>'</a:t>
            </a:r>
            <a:endParaRPr lang="en-US" altLang="zh-CN" sz="28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字符类型字符常量的类型为</a:t>
            </a:r>
            <a:r>
              <a:rPr lang="en-US" altLang="zh-CN" dirty="0" smtClean="0"/>
              <a:t>char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 marL="644525" indent="-371475" eaLnBrk="1" hangingPunct="1">
              <a:defRPr/>
            </a:pPr>
            <a:endParaRPr lang="zh-CN" alt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字符串类型字面常量</a:t>
            </a:r>
            <a:endParaRPr lang="zh-CN" altLang="en-US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532813" cy="5400675"/>
          </a:xfrm>
        </p:spPr>
        <p:txBody>
          <a:bodyPr>
            <a:normAutofit fontScale="92500" lnSpcReduction="20000"/>
          </a:bodyPr>
          <a:lstStyle/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程序中，</a:t>
            </a:r>
            <a:r>
              <a:rPr lang="zh-CN" altLang="en-US" dirty="0" smtClean="0">
                <a:solidFill>
                  <a:schemeClr val="folHlink"/>
                </a:solidFill>
              </a:rPr>
              <a:t>字符串类型字面常量</a:t>
            </a:r>
            <a:r>
              <a:rPr lang="zh-CN" altLang="en-US" dirty="0" smtClean="0"/>
              <a:t>是由两个</a:t>
            </a:r>
            <a:r>
              <a:rPr lang="zh-CN" altLang="en-US" dirty="0" smtClean="0">
                <a:solidFill>
                  <a:srgbClr val="FFC000"/>
                </a:solidFill>
              </a:rPr>
              <a:t>双引号</a:t>
            </a:r>
            <a:r>
              <a:rPr lang="zh-CN" altLang="en-US" dirty="0" smtClean="0"/>
              <a:t>（</a:t>
            </a:r>
            <a:r>
              <a:rPr lang="en-US" altLang="zh-CN" dirty="0" smtClean="0">
                <a:solidFill>
                  <a:srgbClr val="FFC000"/>
                </a:solidFill>
              </a:rPr>
              <a:t>"</a:t>
            </a:r>
            <a:r>
              <a:rPr lang="zh-CN" altLang="en-US" dirty="0" smtClean="0"/>
              <a:t>）括起来的</a:t>
            </a:r>
            <a:r>
              <a:rPr lang="zh-CN" altLang="en-US" dirty="0" smtClean="0">
                <a:solidFill>
                  <a:srgbClr val="FFC000"/>
                </a:solidFill>
              </a:rPr>
              <a:t>字符序列</a:t>
            </a:r>
            <a:r>
              <a:rPr lang="zh-CN" altLang="en-US" dirty="0" smtClean="0"/>
              <a:t>构成，其中的字符的写法与字符类型字面常量基本相同。如</a:t>
            </a:r>
            <a:r>
              <a:rPr lang="zh-CN" altLang="en-GB" dirty="0" smtClean="0"/>
              <a:t>：</a:t>
            </a:r>
            <a:endParaRPr lang="zh-CN" altLang="en-GB" dirty="0" smtClean="0"/>
          </a:p>
          <a:p>
            <a:pPr marL="1339850" lvl="1" indent="-533400" eaLnBrk="1" hangingPunct="1">
              <a:defRPr/>
            </a:pPr>
            <a:r>
              <a:rPr lang="en-US" altLang="zh-CN" dirty="0" smtClean="0"/>
              <a:t>"This is a string."</a:t>
            </a:r>
            <a:endParaRPr lang="en-GB" altLang="zh-CN" dirty="0" smtClean="0"/>
          </a:p>
          <a:p>
            <a:pPr marL="1339850" lvl="1" indent="-533400" eaLnBrk="1" hangingPunct="1">
              <a:defRPr/>
            </a:pPr>
            <a:r>
              <a:rPr lang="en-GB" altLang="zh-CN" dirty="0" smtClean="0"/>
              <a:t>"</a:t>
            </a:r>
            <a:r>
              <a:rPr lang="en-US" altLang="zh-CN" dirty="0" smtClean="0"/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\'</a:t>
            </a:r>
            <a:r>
              <a:rPr lang="en-US" altLang="zh-CN" dirty="0" smtClean="0"/>
              <a:t>m a student."</a:t>
            </a:r>
            <a:r>
              <a:rPr lang="zh-CN" altLang="en-US" dirty="0" smtClean="0"/>
              <a:t>，或者，</a:t>
            </a:r>
            <a:r>
              <a:rPr lang="en-GB" altLang="zh-CN" dirty="0"/>
              <a:t>"</a:t>
            </a:r>
            <a:r>
              <a:rPr lang="en-US" altLang="zh-CN" dirty="0" smtClean="0"/>
              <a:t>I</a:t>
            </a:r>
            <a:r>
              <a:rPr lang="en-US" altLang="zh-CN" dirty="0" smtClean="0">
                <a:solidFill>
                  <a:srgbClr val="FFC000"/>
                </a:solidFill>
              </a:rPr>
              <a:t>'</a:t>
            </a:r>
            <a:r>
              <a:rPr lang="en-US" altLang="zh-CN" dirty="0" smtClean="0"/>
              <a:t>m </a:t>
            </a:r>
            <a:r>
              <a:rPr lang="en-US" altLang="zh-CN" dirty="0"/>
              <a:t>a student."</a:t>
            </a:r>
            <a:endParaRPr lang="en-GB" altLang="zh-CN" dirty="0" smtClean="0"/>
          </a:p>
          <a:p>
            <a:pPr marL="1339850" lvl="1" indent="-533400" eaLnBrk="1" hangingPunct="1">
              <a:defRPr/>
            </a:pPr>
            <a:r>
              <a:rPr lang="en-GB" altLang="zh-CN" dirty="0" smtClean="0"/>
              <a:t>"</a:t>
            </a:r>
            <a:r>
              <a:rPr lang="en-US" altLang="zh-CN" dirty="0" smtClean="0"/>
              <a:t>Please enter </a:t>
            </a:r>
            <a:r>
              <a:rPr lang="en-US" altLang="zh-CN" dirty="0" smtClean="0">
                <a:solidFill>
                  <a:srgbClr val="FFC000"/>
                </a:solidFill>
              </a:rPr>
              <a:t>\"</a:t>
            </a:r>
            <a:r>
              <a:rPr lang="en-US" altLang="zh-CN" dirty="0" smtClean="0"/>
              <a:t>Y</a:t>
            </a:r>
            <a:r>
              <a:rPr lang="en-US" altLang="zh-CN" dirty="0" smtClean="0">
                <a:solidFill>
                  <a:srgbClr val="FFC000"/>
                </a:solidFill>
              </a:rPr>
              <a:t>\"</a:t>
            </a:r>
            <a:r>
              <a:rPr lang="en-US" altLang="zh-CN" dirty="0" smtClean="0"/>
              <a:t> or </a:t>
            </a:r>
            <a:r>
              <a:rPr lang="en-US" altLang="zh-CN" dirty="0" smtClean="0">
                <a:solidFill>
                  <a:srgbClr val="FFC000"/>
                </a:solidFill>
              </a:rPr>
              <a:t>\"</a:t>
            </a:r>
            <a:r>
              <a:rPr lang="en-US" altLang="zh-CN" dirty="0" smtClean="0"/>
              <a:t>N</a:t>
            </a:r>
            <a:r>
              <a:rPr lang="en-US" altLang="zh-CN" dirty="0" smtClean="0">
                <a:solidFill>
                  <a:srgbClr val="FFC000"/>
                </a:solidFill>
              </a:rPr>
              <a:t>\"</a:t>
            </a:r>
            <a:r>
              <a:rPr lang="en-US" altLang="zh-CN" dirty="0" smtClean="0"/>
              <a:t>:"</a:t>
            </a:r>
            <a:endParaRPr lang="en-US" altLang="zh-CN" dirty="0" smtClean="0"/>
          </a:p>
          <a:p>
            <a:pPr marL="1339850" lvl="1" indent="-533400" eaLnBrk="1" hangingPunct="1">
              <a:defRPr/>
            </a:pPr>
            <a:r>
              <a:rPr lang="en-US" altLang="zh-CN" dirty="0" smtClean="0"/>
              <a:t>"This is two-line </a:t>
            </a:r>
            <a:r>
              <a:rPr lang="en-US" altLang="zh-CN" dirty="0" smtClean="0">
                <a:solidFill>
                  <a:srgbClr val="FFC000"/>
                </a:solidFill>
              </a:rPr>
              <a:t>\</a:t>
            </a:r>
            <a:r>
              <a:rPr lang="en-US" altLang="zh-CN" dirty="0" err="1" smtClean="0">
                <a:solidFill>
                  <a:srgbClr val="FFC000"/>
                </a:solidFill>
              </a:rPr>
              <a:t>n</a:t>
            </a:r>
            <a:r>
              <a:rPr lang="en-US" altLang="zh-CN" dirty="0" err="1" smtClean="0"/>
              <a:t>message</a:t>
            </a:r>
            <a:r>
              <a:rPr lang="en-US" altLang="zh-CN" dirty="0" smtClean="0"/>
              <a:t>! "</a:t>
            </a:r>
            <a:endParaRPr lang="en-US" altLang="zh-CN" dirty="0" smtClean="0"/>
          </a:p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存储字符串时，往往</a:t>
            </a:r>
            <a:r>
              <a:rPr lang="zh-CN" altLang="en-US" dirty="0"/>
              <a:t>会</a:t>
            </a:r>
            <a:r>
              <a:rPr lang="zh-CN" altLang="en-US" dirty="0" smtClean="0"/>
              <a:t>在最后一个字符的后面存储一个字符</a:t>
            </a:r>
            <a:r>
              <a:rPr lang="en-US" altLang="zh-CN" dirty="0" smtClean="0">
                <a:solidFill>
                  <a:srgbClr val="FFC000"/>
                </a:solidFill>
              </a:rPr>
              <a:t>'\0</a:t>
            </a:r>
            <a:r>
              <a:rPr lang="en-US" altLang="zh-CN" dirty="0" smtClean="0">
                <a:solidFill>
                  <a:srgbClr val="FFC000"/>
                </a:solidFill>
                <a:latin typeface="Arial" panose="020B0604020202020204"/>
              </a:rPr>
              <a:t>'</a:t>
            </a:r>
            <a:r>
              <a:rPr lang="zh-CN" altLang="en-US" dirty="0" smtClean="0"/>
              <a:t>，表示字符串结束。</a:t>
            </a:r>
            <a:endParaRPr lang="en-US" altLang="zh-CN" dirty="0" smtClean="0"/>
          </a:p>
          <a:p>
            <a:pPr marL="357505" indent="-357505" eaLnBrk="1" hangingPunct="1">
              <a:lnSpc>
                <a:spcPct val="110000"/>
              </a:lnSpc>
              <a:defRPr/>
            </a:pPr>
            <a:r>
              <a:rPr lang="zh-CN" altLang="en-US" dirty="0"/>
              <a:t>字符串</a:t>
            </a:r>
            <a:r>
              <a:rPr lang="zh-CN" altLang="en-US" dirty="0" smtClean="0"/>
              <a:t>类型</a:t>
            </a:r>
            <a:r>
              <a:rPr lang="zh-CN" altLang="en-US" dirty="0"/>
              <a:t>的</a:t>
            </a:r>
            <a:r>
              <a:rPr lang="zh-CN" altLang="en-US" dirty="0" smtClean="0"/>
              <a:t>字面常量为</a:t>
            </a:r>
            <a:r>
              <a:rPr lang="zh-CN" altLang="en-US" dirty="0">
                <a:solidFill>
                  <a:schemeClr val="folHlink"/>
                </a:solidFill>
              </a:rPr>
              <a:t>一</a:t>
            </a:r>
            <a:r>
              <a:rPr lang="zh-CN" altLang="en-US" dirty="0" smtClean="0">
                <a:solidFill>
                  <a:schemeClr val="folHlink"/>
                </a:solidFill>
              </a:rPr>
              <a:t>维字符数组</a:t>
            </a:r>
            <a:r>
              <a:rPr lang="zh-CN" altLang="en-US" dirty="0"/>
              <a:t>类型（构造数据类型）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符号</a:t>
            </a:r>
            <a:r>
              <a:rPr lang="zh-CN" altLang="en-US" sz="3600" dirty="0"/>
              <a:t>常量（命名常量）</a:t>
            </a:r>
            <a:endParaRPr lang="zh-CN" altLang="en-US" sz="3600" dirty="0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605" y="980470"/>
            <a:ext cx="8604250" cy="5445125"/>
          </a:xfrm>
        </p:spPr>
        <p:txBody>
          <a:bodyPr>
            <a:normAutofit fontScale="92500" lnSpcReduction="20000"/>
          </a:bodyPr>
          <a:lstStyle/>
          <a:p>
            <a:pPr marL="354330" indent="-354330" eaLnBrk="1" hangingPunct="1">
              <a:lnSpc>
                <a:spcPct val="12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符号常量</a:t>
            </a:r>
            <a:r>
              <a:rPr lang="zh-CN" altLang="en-US" sz="2800" dirty="0" smtClean="0"/>
              <a:t>是指先通过</a:t>
            </a:r>
            <a:r>
              <a:rPr lang="zh-CN" altLang="en-US" sz="2800" dirty="0" smtClean="0">
                <a:solidFill>
                  <a:srgbClr val="FFC000"/>
                </a:solidFill>
              </a:rPr>
              <a:t>常量定义</a:t>
            </a:r>
            <a:r>
              <a:rPr lang="zh-CN" altLang="en-US" sz="2800" dirty="0" smtClean="0"/>
              <a:t>给</a:t>
            </a:r>
            <a:r>
              <a:rPr lang="zh-CN" altLang="en-US" sz="2800" dirty="0"/>
              <a:t>字面</a:t>
            </a:r>
            <a:r>
              <a:rPr lang="zh-CN" altLang="en-US" sz="2800" dirty="0" smtClean="0"/>
              <a:t>常量取一个名字（用标识符表示），并可指定一个类型；然后，在程序中通过</a:t>
            </a:r>
            <a:r>
              <a:rPr lang="zh-CN" altLang="en-US" sz="2800" dirty="0" smtClean="0">
                <a:solidFill>
                  <a:srgbClr val="FFC000"/>
                </a:solidFill>
              </a:rPr>
              <a:t>常量名</a:t>
            </a:r>
            <a:r>
              <a:rPr lang="zh-CN" altLang="en-US" sz="2800" dirty="0" smtClean="0"/>
              <a:t>来使用这些常量。</a:t>
            </a:r>
            <a:endParaRPr lang="zh-CN" altLang="en-US" sz="2800" dirty="0" smtClean="0"/>
          </a:p>
          <a:p>
            <a:pPr marL="354330" indent="-354330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符号常量的定义格式为：</a:t>
            </a:r>
            <a:endParaRPr lang="zh-CN" altLang="en-US" sz="2800" dirty="0" smtClean="0"/>
          </a:p>
          <a:p>
            <a:pPr marL="133985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#define</a:t>
            </a:r>
            <a:r>
              <a:rPr lang="en-US" altLang="zh-CN" sz="2400" dirty="0" smtClean="0">
                <a:solidFill>
                  <a:srgbClr val="FFC000"/>
                </a:solidFill>
              </a:rPr>
              <a:t> 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常量名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值</a:t>
            </a:r>
            <a:r>
              <a:rPr lang="en-US" altLang="zh-CN" sz="2400" dirty="0" smtClean="0"/>
              <a:t>&gt;</a:t>
            </a:r>
            <a:endParaRPr lang="en-US" altLang="zh-CN" sz="2400" dirty="0" smtClean="0"/>
          </a:p>
          <a:p>
            <a:pPr marL="133985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或</a:t>
            </a:r>
            <a:endParaRPr lang="zh-CN" altLang="en-US" sz="2400" dirty="0" smtClean="0"/>
          </a:p>
          <a:p>
            <a:pPr marL="133985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b="1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sz="2400" dirty="0" smtClean="0">
                <a:solidFill>
                  <a:srgbClr val="FFC000"/>
                </a:solidFill>
              </a:rPr>
              <a:t> &lt;</a:t>
            </a:r>
            <a:r>
              <a:rPr lang="zh-CN" altLang="en-US" sz="2400" dirty="0" smtClean="0">
                <a:solidFill>
                  <a:srgbClr val="FFC000"/>
                </a:solidFill>
              </a:rPr>
              <a:t>类型名</a:t>
            </a:r>
            <a:r>
              <a:rPr lang="en-US" altLang="zh-CN" sz="2400" dirty="0" smtClean="0">
                <a:solidFill>
                  <a:srgbClr val="FFC000"/>
                </a:solidFill>
              </a:rPr>
              <a:t>&gt; &lt;</a:t>
            </a:r>
            <a:r>
              <a:rPr lang="zh-CN" altLang="en-US" sz="2400" dirty="0" smtClean="0">
                <a:solidFill>
                  <a:srgbClr val="FFC000"/>
                </a:solidFill>
              </a:rPr>
              <a:t>常量名</a:t>
            </a:r>
            <a:r>
              <a:rPr lang="en-US" altLang="zh-CN" sz="2400" dirty="0" smtClean="0">
                <a:solidFill>
                  <a:srgbClr val="FFC000"/>
                </a:solidFill>
              </a:rPr>
              <a:t>&gt;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=</a:t>
            </a:r>
            <a:r>
              <a:rPr lang="en-US" altLang="zh-CN" sz="2400" dirty="0" smtClean="0">
                <a:solidFill>
                  <a:srgbClr val="FFC000"/>
                </a:solidFill>
              </a:rPr>
              <a:t>&lt;</a:t>
            </a:r>
            <a:r>
              <a:rPr lang="zh-CN" altLang="en-US" sz="2400" dirty="0" smtClean="0">
                <a:solidFill>
                  <a:srgbClr val="FFC000"/>
                </a:solidFill>
              </a:rPr>
              <a:t>值</a:t>
            </a:r>
            <a:r>
              <a:rPr lang="en-US" altLang="zh-CN" sz="2400" dirty="0" smtClean="0">
                <a:solidFill>
                  <a:srgbClr val="FFC000"/>
                </a:solidFill>
              </a:rPr>
              <a:t>&gt;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;</a:t>
            </a:r>
            <a:endParaRPr lang="zh-CN" altLang="en-US" sz="2400" b="1" dirty="0" smtClean="0">
              <a:solidFill>
                <a:srgbClr val="FFC000"/>
              </a:solidFill>
            </a:endParaRPr>
          </a:p>
          <a:p>
            <a:pPr marL="133985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例如：</a:t>
            </a:r>
            <a:endParaRPr lang="zh-CN" altLang="en-US" sz="2400" dirty="0" smtClean="0"/>
          </a:p>
          <a:p>
            <a:pPr marL="133985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#define </a:t>
            </a:r>
            <a:r>
              <a:rPr lang="en-US" altLang="zh-CN" sz="2400" dirty="0" smtClean="0">
                <a:solidFill>
                  <a:srgbClr val="FF9900"/>
                </a:solidFill>
              </a:rPr>
              <a:t>PI</a:t>
            </a:r>
            <a:r>
              <a:rPr lang="en-US" altLang="zh-CN" sz="2400" dirty="0" smtClean="0"/>
              <a:t> 3.1415926</a:t>
            </a:r>
            <a:endParaRPr lang="en-US" altLang="zh-CN" sz="2400" dirty="0" smtClean="0"/>
          </a:p>
          <a:p>
            <a:pPr marL="133985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或，</a:t>
            </a:r>
            <a:endParaRPr lang="zh-CN" altLang="en-US" sz="2400" dirty="0" smtClean="0"/>
          </a:p>
          <a:p>
            <a:pPr marL="133985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err="1" smtClean="0"/>
              <a:t>const</a:t>
            </a:r>
            <a:r>
              <a:rPr lang="en-US" altLang="zh-CN" sz="2400" dirty="0" smtClean="0"/>
              <a:t> double </a:t>
            </a:r>
            <a:r>
              <a:rPr lang="en-US" altLang="zh-CN" sz="2400" dirty="0" smtClean="0">
                <a:solidFill>
                  <a:srgbClr val="FF9900"/>
                </a:solidFill>
              </a:rPr>
              <a:t>PI</a:t>
            </a:r>
            <a:r>
              <a:rPr lang="en-US" altLang="zh-CN" sz="2400" dirty="0" smtClean="0"/>
              <a:t>=3.1415926; </a:t>
            </a:r>
            <a:endParaRPr lang="en-US" altLang="zh-CN" sz="2400" dirty="0" smtClean="0"/>
          </a:p>
          <a:p>
            <a:pPr marL="354330" indent="-354330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符号常量的使用：</a:t>
            </a:r>
            <a:endParaRPr lang="zh-CN" altLang="en-US" sz="2800" dirty="0" smtClean="0"/>
          </a:p>
          <a:p>
            <a:pPr marL="1339850" lvl="1" indent="-53340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2*</a:t>
            </a:r>
            <a:r>
              <a:rPr lang="en-US" altLang="zh-CN" sz="2400" dirty="0" smtClean="0">
                <a:solidFill>
                  <a:srgbClr val="FF9900"/>
                </a:solidFill>
              </a:rPr>
              <a:t>PI</a:t>
            </a:r>
            <a:r>
              <a:rPr lang="en-US" altLang="zh-CN" sz="2400" dirty="0" smtClean="0"/>
              <a:t>*r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bool</a:t>
            </a:r>
            <a:r>
              <a:rPr lang="zh-CN" altLang="en-US" dirty="0"/>
              <a:t>类型</a:t>
            </a:r>
            <a:r>
              <a:rPr lang="zh-CN" altLang="en-US" dirty="0" smtClean="0"/>
              <a:t>的常量</a:t>
            </a:r>
            <a:r>
              <a:rPr lang="en-US" altLang="zh-CN" dirty="0" smtClean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可以看成是</a:t>
            </a:r>
            <a:r>
              <a:rPr lang="en-US" altLang="zh-CN" dirty="0"/>
              <a:t>C++</a:t>
            </a:r>
            <a:r>
              <a:rPr lang="zh-CN" altLang="en-US" dirty="0"/>
              <a:t>语言</a:t>
            </a:r>
            <a:r>
              <a:rPr lang="zh-CN" altLang="en-US" dirty="0">
                <a:solidFill>
                  <a:srgbClr val="FFC000"/>
                </a:solidFill>
              </a:rPr>
              <a:t>预定义</a:t>
            </a:r>
            <a:r>
              <a:rPr lang="zh-CN" altLang="en-US" dirty="0"/>
              <a:t>的两个符号常量，它们的值分别为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163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smtClean="0"/>
              <a:t>使用符号常量的好处</a:t>
            </a:r>
            <a:endParaRPr lang="zh-CN" altLang="en-US" sz="3600" smtClean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8925" y="1484313"/>
            <a:ext cx="8604250" cy="5157787"/>
          </a:xfrm>
        </p:spPr>
        <p:txBody>
          <a:bodyPr>
            <a:normAutofit/>
          </a:bodyPr>
          <a:lstStyle/>
          <a:p>
            <a:pPr marL="609600" indent="-609600" eaLnBrk="1" hangingPunct="1">
              <a:defRPr/>
            </a:pPr>
            <a:r>
              <a:rPr lang="zh-CN" altLang="en-US" dirty="0" smtClean="0"/>
              <a:t>增加程序的易读性</a:t>
            </a:r>
            <a:endParaRPr lang="en-US" altLang="zh-CN" dirty="0" smtClean="0"/>
          </a:p>
          <a:p>
            <a:pPr marL="1009650" lvl="1" indent="-609600" eaLnBrk="1" hangingPunct="1">
              <a:defRPr/>
            </a:pPr>
            <a:r>
              <a:rPr lang="en-US" altLang="zh-CN" dirty="0" err="1" smtClean="0"/>
              <a:t>const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PASS_SCORE=60;</a:t>
            </a:r>
            <a:endParaRPr lang="en-US" altLang="zh-CN" dirty="0" smtClean="0"/>
          </a:p>
          <a:p>
            <a:pPr marL="1009650" lvl="1" indent="-609600" eaLnBrk="1" hangingPunct="1">
              <a:defRPr/>
            </a:pPr>
            <a:r>
              <a:rPr lang="en-US" altLang="zh-CN" dirty="0" err="1" smtClean="0"/>
              <a:t>const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MINUTES_PER_HOUR=60;</a:t>
            </a:r>
            <a:endParaRPr lang="zh-CN" altLang="en-US" dirty="0" smtClean="0"/>
          </a:p>
          <a:p>
            <a:pPr marL="609600" indent="-609600" eaLnBrk="1" hangingPunct="1">
              <a:defRPr/>
            </a:pPr>
            <a:r>
              <a:rPr lang="zh-CN" altLang="en-US" dirty="0" smtClean="0"/>
              <a:t>提高程序对常量使用的</a:t>
            </a:r>
            <a:r>
              <a:rPr lang="zh-CN" altLang="en-US" dirty="0"/>
              <a:t>一致性与易维护性</a:t>
            </a:r>
            <a:endParaRPr lang="en-US" altLang="zh-CN" dirty="0" smtClean="0"/>
          </a:p>
          <a:p>
            <a:pPr marL="1009650" lvl="1" indent="-609600" eaLnBrk="1" hangingPunct="1">
              <a:defRPr/>
            </a:pPr>
            <a:r>
              <a:rPr lang="en-US" altLang="zh-CN" dirty="0" smtClean="0"/>
              <a:t>3.14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3.1416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3.1415926</a:t>
            </a:r>
            <a:endParaRPr lang="zh-CN" altLang="en-US" dirty="0" smtClean="0"/>
          </a:p>
          <a:p>
            <a:pPr marL="1009650" lvl="1" indent="-609600" eaLnBrk="1" hangingPunct="1">
              <a:defRPr/>
            </a:pPr>
            <a:r>
              <a:rPr lang="en-US" altLang="zh-CN" dirty="0" err="1" smtClean="0"/>
              <a:t>const</a:t>
            </a:r>
            <a:r>
              <a:rPr lang="en-US" altLang="zh-CN" dirty="0" smtClean="0"/>
              <a:t> double PI=3.14;</a:t>
            </a:r>
            <a:endParaRPr lang="en-US" altLang="zh-CN" dirty="0" smtClean="0"/>
          </a:p>
          <a:p>
            <a:pPr marL="1009650" lvl="1" indent="-609600" eaLnBrk="1" hangingPunct="1">
              <a:defRPr/>
            </a:pPr>
            <a:r>
              <a:rPr lang="en-US" altLang="zh-CN" dirty="0" smtClean="0"/>
              <a:t>...2*PI*r...</a:t>
            </a:r>
            <a:endParaRPr lang="en-US" altLang="zh-CN" dirty="0" smtClean="0"/>
          </a:p>
          <a:p>
            <a:pPr marL="1009650" lvl="1" indent="-609600" eaLnBrk="1" hangingPunct="1">
              <a:defRPr/>
            </a:pPr>
            <a:r>
              <a:rPr lang="en-US" altLang="zh-CN" dirty="0" smtClean="0"/>
              <a:t>...PI*r*r...</a:t>
            </a:r>
            <a:r>
              <a:rPr lang="zh-CN" altLang="en-US" dirty="0" smtClean="0"/>
              <a:t> </a:t>
            </a:r>
            <a:endParaRPr lang="zh-CN" altLang="en-US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331913" y="4221088"/>
            <a:ext cx="4697412" cy="52228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const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 double </a:t>
            </a:r>
            <a:r>
              <a:rPr lang="en-US" altLang="zh-C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PI=3.1416;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变量</a:t>
            </a:r>
            <a:endParaRPr lang="zh-CN" altLang="en-US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12875"/>
            <a:ext cx="8353623" cy="5040313"/>
          </a:xfrm>
        </p:spPr>
        <p:txBody>
          <a:bodyPr/>
          <a:lstStyle/>
          <a:p>
            <a:pPr marL="357505" indent="-357505" eaLnBrk="1" hangingPunct="1"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程序执行过程中可变的</a:t>
            </a:r>
            <a:r>
              <a:rPr lang="zh-CN" altLang="en-US" dirty="0" smtClean="0"/>
              <a:t>数据称为变量。</a:t>
            </a:r>
            <a:endParaRPr lang="zh-CN" altLang="en-US" dirty="0" smtClean="0"/>
          </a:p>
          <a:p>
            <a:pPr marL="357505" indent="-357505" eaLnBrk="1" hangingPunct="1">
              <a:buFont typeface="Wingdings" panose="05000000000000000000" pitchFamily="2" charset="2"/>
              <a:buNone/>
              <a:defRPr/>
            </a:pP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例如：在计算圆周长的式子“</a:t>
            </a:r>
            <a:r>
              <a:rPr lang="en-US" altLang="zh-CN" dirty="0" smtClean="0"/>
              <a:t>2*PI*</a:t>
            </a:r>
            <a:r>
              <a:rPr lang="en-US" altLang="zh-CN" dirty="0" smtClean="0">
                <a:solidFill>
                  <a:schemeClr val="folHlink"/>
                </a:solidFill>
              </a:rPr>
              <a:t>r</a:t>
            </a:r>
            <a:r>
              <a:rPr lang="zh-CN" altLang="en-US" dirty="0"/>
              <a:t>”</a:t>
            </a:r>
            <a:r>
              <a:rPr lang="zh-CN" altLang="en-US" dirty="0" smtClean="0"/>
              <a:t>中，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半径</a:t>
            </a:r>
            <a:r>
              <a:rPr lang="en-US" altLang="zh-CN" dirty="0" smtClean="0">
                <a:solidFill>
                  <a:srgbClr val="FFC000"/>
                </a:solidFill>
              </a:rPr>
              <a:t>r</a:t>
            </a:r>
            <a:r>
              <a:rPr lang="zh-CN" altLang="en-US" dirty="0" smtClean="0"/>
              <a:t>就是一个可变的数据，它可能是通过用户输入得到，也可能由程序的其它部分计算得到。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变量的基本属性</a:t>
            </a:r>
            <a:endParaRPr lang="zh-CN" altLang="en-US" dirty="0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557338"/>
            <a:ext cx="8713788" cy="5040312"/>
          </a:xfrm>
        </p:spPr>
        <p:txBody>
          <a:bodyPr/>
          <a:lstStyle/>
          <a:p>
            <a:pPr marL="354330" indent="-354330" eaLnBrk="1" hangingPunct="1">
              <a:defRPr/>
            </a:pPr>
            <a:r>
              <a:rPr lang="zh-CN" altLang="en-US" dirty="0" smtClean="0"/>
              <a:t>名字</a:t>
            </a:r>
            <a:endParaRPr lang="en-US" altLang="zh-CN" dirty="0" smtClean="0"/>
          </a:p>
          <a:p>
            <a:pPr marL="754380" lvl="1" indent="-354330" eaLnBrk="1" hangingPunct="1">
              <a:defRPr/>
            </a:pPr>
            <a:r>
              <a:rPr lang="zh-CN" altLang="en-US" dirty="0" smtClean="0"/>
              <a:t>用于区别不同的变量，用标识符表示。</a:t>
            </a:r>
            <a:endParaRPr lang="zh-CN" altLang="en-US" dirty="0" smtClean="0"/>
          </a:p>
          <a:p>
            <a:pPr marL="354330" indent="-354330" eaLnBrk="1" hangingPunct="1">
              <a:defRPr/>
            </a:pPr>
            <a:r>
              <a:rPr lang="zh-CN" altLang="en-US" dirty="0" smtClean="0"/>
              <a:t>类型</a:t>
            </a:r>
            <a:endParaRPr lang="en-US" altLang="zh-CN" dirty="0" smtClean="0"/>
          </a:p>
          <a:p>
            <a:pPr marL="754380" lvl="1" indent="-354330" eaLnBrk="1" hangingPunct="1">
              <a:defRPr/>
            </a:pPr>
            <a:r>
              <a:rPr lang="zh-CN" altLang="en-US" dirty="0" smtClean="0"/>
              <a:t>规定了变量能取何种值以及对其能进行何种运算（操作）。 </a:t>
            </a:r>
            <a:endParaRPr lang="zh-CN" altLang="en-US" dirty="0" smtClean="0"/>
          </a:p>
          <a:p>
            <a:pPr marL="354330" indent="-354330" eaLnBrk="1" hangingPunct="1">
              <a:defRPr/>
            </a:pPr>
            <a:r>
              <a:rPr lang="zh-CN" altLang="en-US" dirty="0" smtClean="0"/>
              <a:t>值</a:t>
            </a:r>
            <a:endParaRPr lang="en-US" altLang="zh-CN" dirty="0" smtClean="0"/>
          </a:p>
          <a:p>
            <a:pPr marL="754380" lvl="1" indent="-354330" eaLnBrk="1" hangingPunct="1">
              <a:defRPr/>
            </a:pPr>
            <a:r>
              <a:rPr lang="zh-CN" altLang="en-US" dirty="0" smtClean="0"/>
              <a:t>可取所属类型的值集中的任何一个值。</a:t>
            </a:r>
            <a:endParaRPr lang="zh-CN" altLang="en-US" dirty="0" smtClean="0"/>
          </a:p>
          <a:p>
            <a:pPr marL="354330" indent="-354330"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内存空间和地址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754380" lvl="1" indent="-354330" eaLnBrk="1" hangingPunct="1">
              <a:defRPr/>
            </a:pPr>
            <a:r>
              <a:rPr lang="zh-CN" altLang="en-US" dirty="0" smtClean="0"/>
              <a:t>每个变量都拥有相应的内存空间以及内存地址。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600200"/>
            <a:ext cx="8856984" cy="453072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实际上，程序中的变量是内存空间的抽象！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例如，在程序中交换两个变量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的值，可以写成：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/>
              <a:t>t = a; //</a:t>
            </a:r>
            <a:r>
              <a:rPr lang="zh-CN" altLang="en-US" dirty="0" smtClean="0"/>
              <a:t>引进一个临时变量</a:t>
            </a:r>
            <a:r>
              <a:rPr lang="en-US" altLang="zh-CN" dirty="0" smtClean="0"/>
              <a:t>t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/>
              <a:t>a = b; //a</a:t>
            </a:r>
            <a:r>
              <a:rPr lang="zh-CN" altLang="en-US" dirty="0" smtClean="0"/>
              <a:t>的值变成了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的原始值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/>
              <a:t>b = t; //b</a:t>
            </a:r>
            <a:r>
              <a:rPr lang="zh-CN" altLang="en-US" dirty="0" smtClean="0"/>
              <a:t>的值变成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的原始值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或者</a:t>
            </a:r>
            <a:endParaRPr lang="en-US" altLang="zh-CN" dirty="0" smtClean="0"/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>
                <a:solidFill>
                  <a:srgbClr val="FFC000"/>
                </a:solidFill>
              </a:rPr>
              <a:t>a = </a:t>
            </a:r>
            <a:r>
              <a:rPr lang="en-US" altLang="zh-CN" dirty="0" err="1" smtClean="0">
                <a:solidFill>
                  <a:srgbClr val="FFC000"/>
                </a:solidFill>
              </a:rPr>
              <a:t>a+b</a:t>
            </a:r>
            <a:r>
              <a:rPr lang="en-US" altLang="zh-CN" dirty="0" smtClean="0">
                <a:solidFill>
                  <a:srgbClr val="FFC000"/>
                </a:solidFill>
              </a:rPr>
              <a:t>; //a</a:t>
            </a:r>
            <a:r>
              <a:rPr lang="zh-CN" altLang="en-US" dirty="0" smtClean="0">
                <a:solidFill>
                  <a:srgbClr val="FFC000"/>
                </a:solidFill>
              </a:rPr>
              <a:t>的值变成：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zh-CN" altLang="en-US" dirty="0" smtClean="0">
                <a:solidFill>
                  <a:srgbClr val="FFC000"/>
                </a:solidFill>
              </a:rPr>
              <a:t>和</a:t>
            </a:r>
            <a:r>
              <a:rPr lang="en-US" altLang="zh-CN" dirty="0" smtClean="0">
                <a:solidFill>
                  <a:srgbClr val="FFC000"/>
                </a:solidFill>
              </a:rPr>
              <a:t>b</a:t>
            </a:r>
            <a:r>
              <a:rPr lang="zh-CN" altLang="en-US" dirty="0" smtClean="0">
                <a:solidFill>
                  <a:srgbClr val="FFC000"/>
                </a:solidFill>
              </a:rPr>
              <a:t>原始值的和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>
                <a:solidFill>
                  <a:srgbClr val="FFC000"/>
                </a:solidFill>
              </a:rPr>
              <a:t>b = a-b;  //b</a:t>
            </a:r>
            <a:r>
              <a:rPr lang="zh-CN" altLang="en-US" dirty="0" smtClean="0">
                <a:solidFill>
                  <a:srgbClr val="FFC000"/>
                </a:solidFill>
              </a:rPr>
              <a:t>的值变成：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zh-CN" altLang="en-US" dirty="0" smtClean="0">
                <a:solidFill>
                  <a:srgbClr val="FFC000"/>
                </a:solidFill>
              </a:rPr>
              <a:t>和</a:t>
            </a:r>
            <a:r>
              <a:rPr lang="en-US" altLang="zh-CN" dirty="0" smtClean="0">
                <a:solidFill>
                  <a:srgbClr val="FFC000"/>
                </a:solidFill>
              </a:rPr>
              <a:t>b</a:t>
            </a:r>
            <a:r>
              <a:rPr lang="zh-CN" altLang="en-US" dirty="0" smtClean="0">
                <a:solidFill>
                  <a:srgbClr val="FFC000"/>
                </a:solidFill>
              </a:rPr>
              <a:t>原始值的和减去</a:t>
            </a:r>
            <a:r>
              <a:rPr lang="en-US" altLang="zh-CN" dirty="0" smtClean="0">
                <a:solidFill>
                  <a:srgbClr val="FFC000"/>
                </a:solidFill>
              </a:rPr>
              <a:t>b</a:t>
            </a:r>
            <a:r>
              <a:rPr lang="zh-CN" altLang="en-US" dirty="0" smtClean="0">
                <a:solidFill>
                  <a:srgbClr val="FFC000"/>
                </a:solidFill>
              </a:rPr>
              <a:t>的原始值，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C000"/>
                </a:solidFill>
              </a:rPr>
              <a:t>	 </a:t>
            </a:r>
            <a:r>
              <a:rPr lang="en-US" altLang="zh-CN" dirty="0" smtClean="0">
                <a:solidFill>
                  <a:srgbClr val="FFC000"/>
                </a:solidFill>
              </a:rPr>
              <a:t>  //</a:t>
            </a:r>
            <a:r>
              <a:rPr lang="zh-CN" altLang="en-US" dirty="0" smtClean="0">
                <a:solidFill>
                  <a:srgbClr val="FFC000"/>
                </a:solidFill>
              </a:rPr>
              <a:t>结果就是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zh-CN" altLang="en-US" dirty="0" smtClean="0">
                <a:solidFill>
                  <a:srgbClr val="FFC000"/>
                </a:solidFill>
              </a:rPr>
              <a:t>的原始值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 smtClean="0">
                <a:solidFill>
                  <a:srgbClr val="FFC000"/>
                </a:solidFill>
              </a:rPr>
              <a:t>a = a-b;  //a</a:t>
            </a:r>
            <a:r>
              <a:rPr lang="zh-CN" altLang="en-US" dirty="0" smtClean="0">
                <a:solidFill>
                  <a:srgbClr val="FFC000"/>
                </a:solidFill>
              </a:rPr>
              <a:t>的值变成：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zh-CN" altLang="en-US" dirty="0" smtClean="0">
                <a:solidFill>
                  <a:srgbClr val="FFC000"/>
                </a:solidFill>
              </a:rPr>
              <a:t>和</a:t>
            </a:r>
            <a:r>
              <a:rPr lang="en-US" altLang="zh-CN" dirty="0" smtClean="0">
                <a:solidFill>
                  <a:srgbClr val="FFC000"/>
                </a:solidFill>
              </a:rPr>
              <a:t>b</a:t>
            </a:r>
            <a:r>
              <a:rPr lang="zh-CN" altLang="en-US" dirty="0" smtClean="0">
                <a:solidFill>
                  <a:srgbClr val="FFC000"/>
                </a:solidFill>
              </a:rPr>
              <a:t>原始</a:t>
            </a:r>
            <a:r>
              <a:rPr lang="zh-CN" altLang="en-US" dirty="0">
                <a:solidFill>
                  <a:srgbClr val="FFC000"/>
                </a:solidFill>
              </a:rPr>
              <a:t>值的和减去</a:t>
            </a:r>
            <a:r>
              <a:rPr lang="en-US" altLang="zh-CN" dirty="0" smtClean="0">
                <a:solidFill>
                  <a:srgbClr val="FFC000"/>
                </a:solidFill>
              </a:rPr>
              <a:t>b</a:t>
            </a:r>
            <a:r>
              <a:rPr lang="zh-CN" altLang="en-US" dirty="0" smtClean="0">
                <a:solidFill>
                  <a:srgbClr val="FFC000"/>
                </a:solidFill>
              </a:rPr>
              <a:t>的新值（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zh-CN" altLang="en-US" dirty="0" smtClean="0">
                <a:solidFill>
                  <a:srgbClr val="FFC000"/>
                </a:solidFill>
              </a:rPr>
              <a:t>的原始值），</a:t>
            </a:r>
            <a:endParaRPr lang="en-US" altLang="zh-CN" dirty="0">
              <a:solidFill>
                <a:srgbClr val="FFC000"/>
              </a:solidFill>
            </a:endParaRP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C000"/>
                </a:solidFill>
              </a:rPr>
              <a:t>	   </a:t>
            </a:r>
            <a:r>
              <a:rPr lang="en-US" altLang="zh-CN" dirty="0" smtClean="0">
                <a:solidFill>
                  <a:srgbClr val="FFC000"/>
                </a:solidFill>
              </a:rPr>
              <a:t>//</a:t>
            </a:r>
            <a:r>
              <a:rPr lang="zh-CN" altLang="en-US" dirty="0">
                <a:solidFill>
                  <a:srgbClr val="FFC000"/>
                </a:solidFill>
              </a:rPr>
              <a:t>结果</a:t>
            </a:r>
            <a:r>
              <a:rPr lang="zh-CN" altLang="en-US" dirty="0" smtClean="0">
                <a:solidFill>
                  <a:srgbClr val="FFC000"/>
                </a:solidFill>
              </a:rPr>
              <a:t>就是</a:t>
            </a:r>
            <a:r>
              <a:rPr lang="en-US" altLang="zh-CN" dirty="0" smtClean="0">
                <a:solidFill>
                  <a:srgbClr val="FFC000"/>
                </a:solidFill>
              </a:rPr>
              <a:t>b</a:t>
            </a:r>
            <a:r>
              <a:rPr lang="zh-CN" altLang="en-US" dirty="0" smtClean="0">
                <a:solidFill>
                  <a:srgbClr val="FFC000"/>
                </a:solidFill>
              </a:rPr>
              <a:t>的原始值</a:t>
            </a:r>
            <a:endParaRPr lang="zh-CN" altLang="en-US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变量的定义</a:t>
            </a:r>
            <a:endParaRPr lang="zh-CN" altLang="en-US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268761"/>
            <a:ext cx="8893175" cy="5400600"/>
          </a:xfrm>
        </p:spPr>
        <p:txBody>
          <a:bodyPr>
            <a:normAutofit fontScale="92500" lnSpcReduction="20000"/>
          </a:bodyPr>
          <a:lstStyle/>
          <a:p>
            <a:pPr marL="354330" indent="-354330" eaLnBrk="1" hangingPunct="1">
              <a:lnSpc>
                <a:spcPct val="110000"/>
              </a:lnSpc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语言规定：程序中使用到的每个变量都要有定义（有的语言不需要）。</a:t>
            </a:r>
            <a:endParaRPr lang="en-US" altLang="zh-CN" sz="2800" dirty="0" smtClean="0"/>
          </a:p>
          <a:p>
            <a:pPr marL="354330" indent="-354330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变量定义格式为：</a:t>
            </a:r>
            <a:endParaRPr lang="zh-CN" altLang="en-US" sz="2800" dirty="0" smtClean="0"/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	   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类型名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变量名</a:t>
            </a:r>
            <a:r>
              <a:rPr lang="en-US" altLang="zh-CN" sz="2400" dirty="0" smtClean="0"/>
              <a:t>&gt;</a:t>
            </a:r>
            <a:r>
              <a:rPr lang="en-US" altLang="zh-CN" sz="2400" b="1" dirty="0">
                <a:solidFill>
                  <a:srgbClr val="FFC000"/>
                </a:solidFill>
              </a:rPr>
              <a:t>;</a:t>
            </a:r>
            <a:endParaRPr lang="zh-CN" altLang="en-US" sz="2400" b="1" dirty="0" smtClean="0">
              <a:solidFill>
                <a:srgbClr val="FFC000"/>
              </a:solidFill>
            </a:endParaRPr>
          </a:p>
          <a:p>
            <a:pPr marL="722630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/>
              <a:t>或者    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类型名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变量名</a:t>
            </a:r>
            <a:r>
              <a:rPr lang="en-US" altLang="zh-CN" sz="2400" dirty="0" smtClean="0"/>
              <a:t>&gt;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=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初值</a:t>
            </a:r>
            <a:r>
              <a:rPr lang="en-US" altLang="zh-CN" sz="2400" dirty="0" smtClean="0"/>
              <a:t>&gt;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;</a:t>
            </a:r>
            <a:endParaRPr lang="en-US" altLang="zh-CN" sz="2400" b="1" dirty="0" smtClean="0">
              <a:solidFill>
                <a:srgbClr val="FFC000"/>
              </a:solidFill>
            </a:endParaRPr>
          </a:p>
          <a:p>
            <a:pPr marL="720725" lvl="1" indent="-276225" eaLnBrk="1" hangingPunct="1">
              <a:lnSpc>
                <a:spcPct val="110000"/>
              </a:lnSpc>
              <a:buNone/>
              <a:defRPr/>
            </a:pPr>
            <a:r>
              <a:rPr lang="zh-CN" altLang="en-US" sz="2400" dirty="0" smtClean="0"/>
              <a:t>或者    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类型名</a:t>
            </a:r>
            <a:r>
              <a:rPr lang="en-US" altLang="zh-CN" sz="2400" dirty="0" smtClean="0"/>
              <a:t>&gt; &lt;</a:t>
            </a:r>
            <a:r>
              <a:rPr lang="zh-CN" altLang="en-US" sz="2400" dirty="0" smtClean="0"/>
              <a:t>变量名</a:t>
            </a:r>
            <a:r>
              <a:rPr lang="en-US" altLang="zh-CN" sz="2400" dirty="0" smtClean="0"/>
              <a:t>&gt;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(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初值</a:t>
            </a:r>
            <a:r>
              <a:rPr lang="en-US" altLang="zh-CN" sz="2400" dirty="0" smtClean="0"/>
              <a:t>&gt;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);</a:t>
            </a:r>
            <a:endParaRPr lang="zh-CN" altLang="en-US" sz="2400" b="1" dirty="0" smtClean="0">
              <a:solidFill>
                <a:srgbClr val="FFC000"/>
              </a:solidFill>
            </a:endParaRPr>
          </a:p>
          <a:p>
            <a:pPr marL="354330" indent="-35433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例如：</a:t>
            </a:r>
            <a:endParaRPr lang="zh-CN" altLang="en-US" sz="2800" dirty="0" smtClean="0"/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a=0</a:t>
            </a:r>
            <a:r>
              <a:rPr lang="en-US" altLang="zh-CN" sz="2400" dirty="0"/>
              <a:t>; //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a(0);</a:t>
            </a:r>
            <a:endParaRPr lang="en-US" altLang="zh-CN" sz="2400" dirty="0" smtClean="0"/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b=a+1</a:t>
            </a:r>
            <a:r>
              <a:rPr lang="en-US" altLang="zh-CN" sz="2400" dirty="0"/>
              <a:t>; //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b(a+1);</a:t>
            </a:r>
            <a:endParaRPr lang="en-US" altLang="zh-CN" sz="2400" dirty="0" smtClean="0"/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double x; </a:t>
            </a:r>
            <a:endParaRPr lang="en-US" altLang="zh-CN" sz="2400" dirty="0" smtClean="0"/>
          </a:p>
          <a:p>
            <a:pPr marL="354330" indent="-35433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或：</a:t>
            </a:r>
            <a:endParaRPr lang="zh-CN" altLang="en-US" sz="2800" dirty="0" smtClean="0"/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a=0,b=a+1; //</a:t>
            </a:r>
            <a:r>
              <a:rPr lang="zh-CN" altLang="en-US" sz="2400" dirty="0" smtClean="0"/>
              <a:t>同类型变量可以写在一起，用</a:t>
            </a:r>
            <a:r>
              <a:rPr lang="zh-CN" altLang="en-US" sz="2400" dirty="0" smtClean="0">
                <a:latin typeface="Arial" panose="020B0604020202020204"/>
              </a:rPr>
              <a:t>“</a:t>
            </a:r>
            <a:r>
              <a:rPr lang="en-US" altLang="zh-CN" sz="2400" dirty="0"/>
              <a:t>,</a:t>
            </a:r>
            <a:r>
              <a:rPr lang="zh-CN" altLang="en-US" sz="2400" dirty="0" smtClean="0">
                <a:latin typeface="Arial" panose="020B0604020202020204"/>
              </a:rPr>
              <a:t>”</a:t>
            </a:r>
            <a:r>
              <a:rPr lang="zh-CN" altLang="en-US" sz="2400" dirty="0" smtClean="0"/>
              <a:t>分开</a:t>
            </a:r>
            <a:endParaRPr lang="zh-CN" altLang="en-US" sz="2400" dirty="0" smtClean="0"/>
          </a:p>
          <a:p>
            <a:pPr marL="1076325" lvl="1" indent="-2762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double x;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静态类型语言和动态类型语言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一个数据，不管是常量还是变量，它都属于某种类型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静态</a:t>
            </a:r>
            <a:r>
              <a:rPr lang="zh-CN" altLang="en-US" dirty="0"/>
              <a:t>类型语言（</a:t>
            </a:r>
            <a:r>
              <a:rPr lang="en-US" altLang="zh-CN" sz="2800" dirty="0"/>
              <a:t>statically typed languages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在程序中</a:t>
            </a:r>
            <a:r>
              <a:rPr lang="zh-CN" altLang="en-US" dirty="0"/>
              <a:t>必须为每个</a:t>
            </a:r>
            <a:r>
              <a:rPr lang="zh-CN" altLang="en-US" dirty="0" smtClean="0"/>
              <a:t>数据明确指定</a:t>
            </a:r>
            <a:r>
              <a:rPr lang="zh-CN" altLang="en-US" dirty="0"/>
              <a:t>一种</a:t>
            </a:r>
            <a:r>
              <a:rPr lang="zh-CN" altLang="en-US" dirty="0" smtClean="0"/>
              <a:t>类型。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程序通常</a:t>
            </a:r>
            <a:r>
              <a:rPr lang="zh-CN" altLang="en-US" dirty="0"/>
              <a:t>采用</a:t>
            </a:r>
            <a:r>
              <a:rPr lang="zh-CN" altLang="en-US" dirty="0" smtClean="0"/>
              <a:t>编译方式执行。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动态类型语言（</a:t>
            </a:r>
            <a:r>
              <a:rPr lang="en-US" altLang="zh-CN" sz="2600" dirty="0"/>
              <a:t>dynamically typed languages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在程序中不必为数据指定类型，在程序运行</a:t>
            </a:r>
            <a:r>
              <a:rPr lang="zh-CN" altLang="en-US" dirty="0"/>
              <a:t>中数据被用到时才确定它们的类型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程序通常采用解释方式执行。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</a:pPr>
            <a:r>
              <a:rPr lang="en-US" altLang="zh-CN" dirty="0" smtClean="0">
                <a:solidFill>
                  <a:srgbClr val="FFC000"/>
                </a:solidFill>
              </a:rPr>
              <a:t>C</a:t>
            </a:r>
            <a:r>
              <a:rPr lang="en-US" altLang="zh-CN" dirty="0">
                <a:solidFill>
                  <a:srgbClr val="FFC000"/>
                </a:solidFill>
              </a:rPr>
              <a:t>++</a:t>
            </a:r>
            <a:r>
              <a:rPr lang="zh-CN" altLang="en-US" dirty="0">
                <a:solidFill>
                  <a:srgbClr val="FFC000"/>
                </a:solidFill>
              </a:rPr>
              <a:t>是一种静态类型语言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静态类型语言的好处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静态</a:t>
            </a:r>
            <a:r>
              <a:rPr lang="zh-CN" altLang="en-US" dirty="0"/>
              <a:t>类型语言</a:t>
            </a:r>
            <a:r>
              <a:rPr lang="zh-CN" altLang="en-US" dirty="0" smtClean="0"/>
              <a:t>的好处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提高</a:t>
            </a:r>
            <a:r>
              <a:rPr lang="zh-CN" altLang="en-US" dirty="0"/>
              <a:t>程序的可靠性，便于编译程序自动进行类型一致性检查。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便于产生高效的可执行代码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例如，对于“</a:t>
            </a:r>
            <a:r>
              <a:rPr lang="en-US" altLang="zh-CN" dirty="0" err="1" smtClean="0"/>
              <a:t>x+y</a:t>
            </a:r>
            <a:r>
              <a:rPr lang="zh-CN" altLang="en-US" dirty="0" smtClean="0"/>
              <a:t>”，</a:t>
            </a:r>
            <a:r>
              <a:rPr lang="zh-CN" altLang="en-US" dirty="0"/>
              <a:t>根据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的数据类型</a:t>
            </a:r>
            <a:r>
              <a:rPr lang="zh-CN" altLang="en-US" dirty="0" smtClean="0"/>
              <a:t>，编译程序就能在程序运行之前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知道它的</a:t>
            </a:r>
            <a:r>
              <a:rPr lang="zh-CN" altLang="en-US" dirty="0" smtClean="0"/>
              <a:t>合法性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自动进行类型转换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生成合适的</a:t>
            </a:r>
            <a:r>
              <a:rPr lang="zh-CN" altLang="en-US" dirty="0" smtClean="0"/>
              <a:t>机器指令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变量值的输入</a:t>
            </a:r>
            <a:endParaRPr lang="zh-CN" altLang="en-US" dirty="0" smtClean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785225" cy="5472113"/>
          </a:xfrm>
        </p:spPr>
        <p:txBody>
          <a:bodyPr>
            <a:normAutofit fontScale="85000" lnSpcReduction="20000"/>
          </a:bodyPr>
          <a:lstStyle/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提供了多种把键盘输入数据保存到变量中的途径，最典型的途径是利用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标准库中定义的对象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cin</a:t>
            </a:r>
            <a:r>
              <a:rPr lang="zh-CN" altLang="en-US" sz="2800" dirty="0" smtClean="0"/>
              <a:t>和抽取操作符</a:t>
            </a:r>
            <a:r>
              <a:rPr lang="zh-CN" altLang="en-US" sz="2800" dirty="0" smtClean="0">
                <a:latin typeface="Arial" panose="020B0604020202020204"/>
              </a:rPr>
              <a:t>“</a:t>
            </a:r>
            <a:r>
              <a:rPr lang="en-US" altLang="zh-CN" sz="2800" dirty="0" smtClean="0">
                <a:solidFill>
                  <a:srgbClr val="FFC000"/>
                </a:solidFill>
              </a:rPr>
              <a:t>&gt;&gt;</a:t>
            </a:r>
            <a:r>
              <a:rPr lang="zh-CN" altLang="en-US" sz="2800" dirty="0" smtClean="0">
                <a:latin typeface="Arial" panose="020B0604020202020204"/>
              </a:rPr>
              <a:t>”</a:t>
            </a:r>
            <a:r>
              <a:rPr lang="zh-CN" altLang="en-US" sz="2800" dirty="0" smtClean="0"/>
              <a:t>来实现，例如：</a:t>
            </a:r>
            <a:endParaRPr lang="zh-CN" altLang="en-US" sz="28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iostream</a:t>
            </a:r>
            <a:r>
              <a:rPr lang="en-US" altLang="zh-CN" sz="2400" dirty="0"/>
              <a:t>&gt; //</a:t>
            </a:r>
            <a:r>
              <a:rPr lang="zh-CN" altLang="en-US" sz="2400" dirty="0"/>
              <a:t>插入一些在标准库中定义的输入</a:t>
            </a:r>
            <a:r>
              <a:rPr lang="en-US" altLang="zh-CN" sz="2400" dirty="0"/>
              <a:t>/</a:t>
            </a:r>
            <a:r>
              <a:rPr lang="zh-CN" altLang="en-US" sz="2400" dirty="0"/>
              <a:t>输出</a:t>
            </a:r>
            <a:r>
              <a:rPr lang="zh-CN" altLang="en-US" sz="2400" dirty="0" smtClean="0"/>
              <a:t>操作</a:t>
            </a:r>
            <a:endParaRPr lang="en-US" altLang="zh-CN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		        //</a:t>
            </a:r>
            <a:r>
              <a:rPr lang="zh-CN" altLang="en-US" sz="2400" dirty="0" smtClean="0"/>
              <a:t>所</a:t>
            </a:r>
            <a:r>
              <a:rPr lang="zh-CN" altLang="en-US" sz="2400" dirty="0"/>
              <a:t>需要的声明</a:t>
            </a:r>
            <a:endParaRPr lang="zh-CN" altLang="en-US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using namespace 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; //C++</a:t>
            </a:r>
            <a:r>
              <a:rPr lang="zh-CN" altLang="en-US" sz="2400" dirty="0"/>
              <a:t>标准库中的程序实体是在名空间</a:t>
            </a:r>
            <a:r>
              <a:rPr lang="en-US" altLang="zh-CN" sz="2400" dirty="0" err="1"/>
              <a:t>std</a:t>
            </a:r>
            <a:r>
              <a:rPr lang="zh-CN" altLang="en-US" sz="2400" dirty="0" smtClean="0"/>
              <a:t>中</a:t>
            </a:r>
            <a:endParaRPr lang="en-US" altLang="zh-CN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		         //</a:t>
            </a:r>
            <a:r>
              <a:rPr lang="zh-CN" altLang="en-US" sz="2400" dirty="0" smtClean="0"/>
              <a:t>定义</a:t>
            </a:r>
            <a:r>
              <a:rPr lang="zh-CN" altLang="en-US" sz="2400" dirty="0"/>
              <a:t>的。</a:t>
            </a:r>
            <a:endParaRPr lang="zh-CN" altLang="en-US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......</a:t>
            </a:r>
            <a:endParaRPr lang="en-US" altLang="zh-CN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double d;</a:t>
            </a:r>
            <a:endParaRPr lang="en-US" altLang="zh-CN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......</a:t>
            </a:r>
            <a:endParaRPr lang="en-US" altLang="zh-CN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/>
              <a:t>cin</a:t>
            </a:r>
            <a:r>
              <a:rPr lang="en-US" altLang="zh-CN" sz="2400" dirty="0"/>
              <a:t> &gt;&gt;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 //</a:t>
            </a:r>
            <a:r>
              <a:rPr lang="zh-CN" altLang="en-US" sz="2400" dirty="0"/>
              <a:t>从键盘输入一个整数类型数给变量</a:t>
            </a:r>
            <a:r>
              <a:rPr lang="en-US" altLang="zh-CN" sz="2400" dirty="0" err="1"/>
              <a:t>i</a:t>
            </a:r>
            <a:endParaRPr lang="en-US" altLang="zh-CN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/>
              <a:t>cin</a:t>
            </a:r>
            <a:r>
              <a:rPr lang="en-US" altLang="zh-CN" sz="2400" dirty="0"/>
              <a:t> &gt;&gt; d; //</a:t>
            </a:r>
            <a:r>
              <a:rPr lang="zh-CN" altLang="en-US" sz="2400" dirty="0"/>
              <a:t>从键盘输入一个双精度浮点数给变量</a:t>
            </a:r>
            <a:r>
              <a:rPr lang="en-US" altLang="zh-CN" sz="2400" dirty="0"/>
              <a:t>d</a:t>
            </a:r>
            <a:endParaRPr lang="en-US" altLang="zh-CN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	</a:t>
            </a:r>
            <a:endParaRPr lang="en-US" altLang="zh-CN" sz="2400" dirty="0"/>
          </a:p>
          <a:p>
            <a:pPr marL="622300" lvl="1" indent="0" eaLnBrk="1" hangingPunct="1">
              <a:buNone/>
              <a:defRPr/>
            </a:pPr>
            <a:r>
              <a:rPr lang="zh-CN" altLang="en-US" dirty="0" smtClean="0">
                <a:cs typeface="+mn-cs"/>
              </a:rPr>
              <a:t>上述</a:t>
            </a:r>
            <a:r>
              <a:rPr lang="zh-CN" altLang="en-US" dirty="0">
                <a:cs typeface="+mn-cs"/>
              </a:rPr>
              <a:t>的键盘输入也可以写在一条语句中：</a:t>
            </a:r>
            <a:endParaRPr lang="zh-CN" altLang="en-US" dirty="0">
              <a:cs typeface="+mn-cs"/>
            </a:endParaRPr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/>
              <a:t>cin</a:t>
            </a:r>
            <a:r>
              <a:rPr lang="en-US" altLang="zh-CN" sz="2400" dirty="0"/>
              <a:t> &gt;&gt;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&gt;&gt; d;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125538"/>
            <a:ext cx="8460432" cy="4679726"/>
          </a:xfrm>
        </p:spPr>
        <p:txBody>
          <a:bodyPr>
            <a:normAutofit lnSpcReduction="10000"/>
          </a:bodyPr>
          <a:lstStyle/>
          <a:p>
            <a:pPr defTabSz="627380" eaLnBrk="1" hangingPunct="1">
              <a:defRPr/>
            </a:pPr>
            <a:r>
              <a:rPr lang="zh-CN" altLang="en-US" sz="2400" dirty="0" smtClean="0"/>
              <a:t>在输入时，一般用</a:t>
            </a:r>
            <a:r>
              <a:rPr lang="zh-CN" altLang="en-US" sz="2400" dirty="0" smtClean="0">
                <a:solidFill>
                  <a:schemeClr val="folHlink"/>
                </a:solidFill>
              </a:rPr>
              <a:t>空白符</a:t>
            </a:r>
            <a:r>
              <a:rPr lang="zh-CN" altLang="en-US" sz="2400" dirty="0" smtClean="0"/>
              <a:t>（空格符、制表符或回车符）作为输入数据之间的分隔符，每一个输入数据的格式应与相应变量的类型相符。例如：</a:t>
            </a:r>
            <a:endParaRPr lang="en-US" altLang="zh-CN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double d;</a:t>
            </a:r>
            <a:endParaRPr lang="en-US" altLang="zh-CN" sz="2400" dirty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/>
              <a:t>......</a:t>
            </a:r>
            <a:endParaRPr lang="en-US" altLang="zh-CN" sz="2400" dirty="0"/>
          </a:p>
          <a:p>
            <a:pPr marL="0" indent="0" defTabSz="627380" eaLnBrk="1" hangingPunct="1">
              <a:buNone/>
              <a:defRPr/>
            </a:pP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cin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&gt;&gt;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&gt;&gt; d;</a:t>
            </a:r>
            <a:endParaRPr lang="en-US" altLang="zh-CN" sz="2400" dirty="0"/>
          </a:p>
          <a:p>
            <a:pPr marL="0" indent="0" defTabSz="627380" eaLnBrk="1" hangingPunct="1">
              <a:buFont typeface="Wingdings" panose="05000000000000000000" pitchFamily="2" charset="2"/>
              <a:buNone/>
              <a:defRPr/>
            </a:pPr>
            <a:endParaRPr lang="zh-CN" altLang="en-US" sz="2400" dirty="0" smtClean="0"/>
          </a:p>
          <a:p>
            <a:pPr marL="0" indent="0" defTabSz="62738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/>
              <a:t>输入</a:t>
            </a:r>
            <a:r>
              <a:rPr lang="zh-CN" altLang="en-US" sz="2000" dirty="0"/>
              <a:t>的</a:t>
            </a:r>
            <a:r>
              <a:rPr lang="zh-CN" altLang="en-US" sz="2000" dirty="0" smtClean="0"/>
              <a:t>数据为：</a:t>
            </a:r>
            <a:r>
              <a:rPr lang="en-US" altLang="zh-CN" sz="2000" u="sng" dirty="0" smtClean="0"/>
              <a:t>12</a:t>
            </a:r>
            <a:r>
              <a:rPr lang="zh-CN" altLang="en-US" sz="2000" u="sng" dirty="0" smtClean="0"/>
              <a:t>凵</a:t>
            </a:r>
            <a:r>
              <a:rPr lang="en-US" altLang="zh-CN" sz="2000" u="sng" dirty="0" smtClean="0"/>
              <a:t>3.4↙</a:t>
            </a:r>
            <a:r>
              <a:rPr lang="en-US" altLang="zh-CN" sz="2000" dirty="0" smtClean="0"/>
              <a:t>    </a:t>
            </a:r>
            <a:r>
              <a:rPr lang="zh-CN" altLang="en-US" sz="2000" dirty="0" smtClean="0"/>
              <a:t>则</a:t>
            </a:r>
            <a:r>
              <a:rPr lang="en-US" altLang="zh-CN" sz="2000" dirty="0" err="1" smtClean="0"/>
              <a:t>i</a:t>
            </a:r>
            <a:r>
              <a:rPr lang="zh-CN" altLang="en-US" sz="2000" dirty="0" smtClean="0"/>
              <a:t>的值为：</a:t>
            </a:r>
            <a:r>
              <a:rPr lang="en-US" altLang="zh-CN" sz="2000" dirty="0" smtClean="0"/>
              <a:t>12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d</a:t>
            </a:r>
            <a:r>
              <a:rPr lang="zh-CN" altLang="en-US" sz="2000" dirty="0" smtClean="0"/>
              <a:t>的值为：</a:t>
            </a:r>
            <a:r>
              <a:rPr lang="en-US" altLang="zh-CN" sz="2000" dirty="0" smtClean="0"/>
              <a:t>3.4</a:t>
            </a:r>
            <a:r>
              <a:rPr lang="zh-CN" altLang="en-US" sz="2000" dirty="0" smtClean="0"/>
              <a:t>。</a:t>
            </a:r>
            <a:endParaRPr lang="zh-CN" altLang="en-US" sz="2000" dirty="0" smtClean="0"/>
          </a:p>
          <a:p>
            <a:pPr marL="0" indent="0" defTabSz="627380" eaLnBrk="1" hangingPunct="1">
              <a:buNone/>
              <a:defRPr/>
            </a:pPr>
            <a:r>
              <a:rPr lang="zh-CN" altLang="en-US" sz="2000" dirty="0" smtClean="0"/>
              <a:t>输入的数据为：</a:t>
            </a:r>
            <a:r>
              <a:rPr lang="en-US" altLang="zh-CN" sz="2000" u="sng" dirty="0" smtClean="0"/>
              <a:t>12↙</a:t>
            </a:r>
            <a:endParaRPr lang="en-US" altLang="zh-CN" sz="2000" u="sng" dirty="0" smtClean="0"/>
          </a:p>
          <a:p>
            <a:pPr marL="0" indent="0" defTabSz="627380" eaLnBrk="1" hangingPunct="1">
              <a:buNone/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         </a:t>
            </a:r>
            <a:r>
              <a:rPr lang="en-US" altLang="zh-CN" sz="2000" u="sng" dirty="0" smtClean="0"/>
              <a:t>3.4↙</a:t>
            </a:r>
            <a:r>
              <a:rPr lang="en-US" altLang="zh-CN" sz="2000" dirty="0" smtClean="0"/>
              <a:t>    	   </a:t>
            </a:r>
            <a:r>
              <a:rPr lang="zh-CN" altLang="en-US" sz="2000" dirty="0" smtClean="0"/>
              <a:t>则</a:t>
            </a:r>
            <a:r>
              <a:rPr lang="en-US" altLang="zh-CN" sz="2000" dirty="0" err="1" smtClean="0"/>
              <a:t>i</a:t>
            </a:r>
            <a:r>
              <a:rPr lang="zh-CN" altLang="en-US" sz="2000" dirty="0" smtClean="0"/>
              <a:t>的值为：</a:t>
            </a:r>
            <a:r>
              <a:rPr lang="en-US" altLang="zh-CN" sz="2000" dirty="0" smtClean="0"/>
              <a:t>12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d</a:t>
            </a:r>
            <a:r>
              <a:rPr lang="zh-CN" altLang="en-US" sz="2000" dirty="0" smtClean="0"/>
              <a:t>的值为：</a:t>
            </a:r>
            <a:r>
              <a:rPr lang="en-US" altLang="zh-CN" sz="2000" dirty="0" smtClean="0"/>
              <a:t>3.4</a:t>
            </a:r>
            <a:r>
              <a:rPr lang="zh-CN" altLang="en-US" sz="2000" dirty="0" smtClean="0"/>
              <a:t>。</a:t>
            </a:r>
            <a:endParaRPr lang="zh-CN" altLang="en-US" sz="2000" dirty="0" smtClean="0"/>
          </a:p>
          <a:p>
            <a:pPr marL="0" indent="0" defTabSz="62738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/>
              <a:t>输入的数据为：</a:t>
            </a:r>
            <a:r>
              <a:rPr lang="en-US" altLang="zh-CN" sz="2000" u="sng" dirty="0" smtClean="0"/>
              <a:t>12</a:t>
            </a:r>
            <a:r>
              <a:rPr lang="en-US" altLang="zh-CN" sz="2000" u="sng" dirty="0" smtClean="0">
                <a:solidFill>
                  <a:srgbClr val="FFC000"/>
                </a:solidFill>
              </a:rPr>
              <a:t>,</a:t>
            </a:r>
            <a:r>
              <a:rPr lang="en-US" altLang="zh-CN" sz="2000" u="sng" dirty="0" smtClean="0"/>
              <a:t>3.4↙</a:t>
            </a:r>
            <a:r>
              <a:rPr lang="en-US" altLang="zh-CN" sz="2000" dirty="0" smtClean="0"/>
              <a:t>      </a:t>
            </a:r>
            <a:r>
              <a:rPr lang="zh-CN" altLang="en-US" sz="2000" dirty="0" smtClean="0"/>
              <a:t>则</a:t>
            </a:r>
            <a:r>
              <a:rPr lang="en-US" altLang="zh-CN" sz="2000" dirty="0" err="1" smtClean="0"/>
              <a:t>i</a:t>
            </a:r>
            <a:r>
              <a:rPr lang="zh-CN" altLang="en-US" sz="2000" dirty="0" smtClean="0"/>
              <a:t>的值为：</a:t>
            </a:r>
            <a:r>
              <a:rPr lang="en-US" altLang="zh-CN" sz="2000" dirty="0" smtClean="0"/>
              <a:t>12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d</a:t>
            </a:r>
            <a:r>
              <a:rPr lang="zh-CN" altLang="en-US" sz="2000" dirty="0" smtClean="0"/>
              <a:t>的值没有意义。 </a:t>
            </a:r>
            <a:endParaRPr lang="zh-CN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操作符（运算符）</a:t>
            </a:r>
            <a:endParaRPr lang="zh-CN" altLang="en-US" smtClean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641655" cy="5615830"/>
          </a:xfrm>
        </p:spPr>
        <p:txBody>
          <a:bodyPr>
            <a:normAutofit fontScale="92500"/>
          </a:bodyPr>
          <a:lstStyle/>
          <a:p>
            <a:pPr marL="354330" indent="-354330" defTabSz="627380" eaLnBrk="1" hangingPunct="1"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操作符</a:t>
            </a:r>
            <a:r>
              <a:rPr lang="zh-CN" altLang="en-US" sz="2800" dirty="0"/>
              <a:t>主要用于</a:t>
            </a:r>
            <a:r>
              <a:rPr lang="zh-CN" altLang="en-US" sz="2800" dirty="0" smtClean="0"/>
              <a:t>对数据进行运算（因此也称</a:t>
            </a:r>
            <a:r>
              <a:rPr lang="zh-CN" altLang="en-US" sz="2800" dirty="0" smtClean="0">
                <a:solidFill>
                  <a:srgbClr val="FFC000"/>
                </a:solidFill>
              </a:rPr>
              <a:t>运算符</a:t>
            </a:r>
            <a:r>
              <a:rPr lang="zh-CN" altLang="en-US" sz="2800" dirty="0" smtClean="0"/>
              <a:t>），这里的数据称为</a:t>
            </a:r>
            <a:r>
              <a:rPr lang="zh-CN" altLang="en-US" sz="2800" dirty="0" smtClean="0">
                <a:solidFill>
                  <a:schemeClr val="folHlink"/>
                </a:solidFill>
              </a:rPr>
              <a:t>操作数</a:t>
            </a:r>
            <a:r>
              <a:rPr lang="zh-CN" altLang="en-US" sz="2800" dirty="0" smtClean="0"/>
              <a:t>，它们可以是：</a:t>
            </a:r>
            <a:endParaRPr lang="zh-CN" altLang="en-US" sz="2800" dirty="0" smtClean="0"/>
          </a:p>
          <a:p>
            <a:pPr marL="900430" lvl="1" indent="-365125" defTabSz="627380" eaLnBrk="1" hangingPunct="1">
              <a:defRPr/>
            </a:pPr>
            <a:r>
              <a:rPr lang="zh-CN" altLang="en-US" sz="2400" dirty="0" smtClean="0"/>
              <a:t>常量</a:t>
            </a:r>
            <a:endParaRPr lang="zh-CN" altLang="en-US" sz="2400" dirty="0" smtClean="0"/>
          </a:p>
          <a:p>
            <a:pPr marL="900430" lvl="1" indent="-365125" defTabSz="627380" eaLnBrk="1" hangingPunct="1">
              <a:defRPr/>
            </a:pPr>
            <a:r>
              <a:rPr lang="zh-CN" altLang="en-US" sz="2400" dirty="0" smtClean="0"/>
              <a:t>变量</a:t>
            </a:r>
            <a:endParaRPr lang="zh-CN" altLang="en-US" sz="2400" dirty="0" smtClean="0"/>
          </a:p>
          <a:p>
            <a:pPr marL="900430" lvl="1" indent="-365125" defTabSz="627380" eaLnBrk="1" hangingPunct="1">
              <a:defRPr/>
            </a:pPr>
            <a:r>
              <a:rPr lang="zh-CN" altLang="en-US" sz="2400" dirty="0" smtClean="0"/>
              <a:t>函数调用的结果</a:t>
            </a:r>
            <a:endParaRPr lang="zh-CN" altLang="en-US" sz="2400" dirty="0" smtClean="0"/>
          </a:p>
          <a:p>
            <a:pPr marL="900430" lvl="1" indent="-365125" defTabSz="627380" eaLnBrk="1" hangingPunct="1">
              <a:defRPr/>
            </a:pPr>
            <a:r>
              <a:rPr lang="zh-CN" altLang="en-US" sz="2400" dirty="0" smtClean="0"/>
              <a:t>其它操作符的运算结果</a:t>
            </a:r>
            <a:endParaRPr lang="zh-CN" altLang="en-US" sz="2400" dirty="0" smtClean="0"/>
          </a:p>
          <a:p>
            <a:pPr marL="354330" indent="-354330" defTabSz="627380" eaLnBrk="1" hangingPunct="1">
              <a:defRPr/>
            </a:pPr>
            <a:r>
              <a:rPr lang="zh-CN" altLang="en-US" sz="2800" dirty="0" smtClean="0"/>
              <a:t>例如，在下面的计算式子中</a:t>
            </a:r>
            <a:r>
              <a:rPr lang="zh-CN" altLang="en-US" sz="2800" dirty="0"/>
              <a:t>：</a:t>
            </a:r>
            <a:endParaRPr lang="zh-CN" altLang="en-US" sz="2800" dirty="0" smtClean="0"/>
          </a:p>
          <a:p>
            <a:pPr marL="900430" lvl="1" indent="-365125" defTabSz="627380" eaLnBrk="1" hangingPunct="1">
              <a:buFontTx/>
              <a:buNone/>
              <a:defRPr/>
            </a:pPr>
            <a:r>
              <a:rPr lang="en-US" altLang="zh-CN" sz="2400" dirty="0" smtClean="0"/>
              <a:t>a</a:t>
            </a:r>
            <a:r>
              <a:rPr lang="en-US" altLang="zh-CN" sz="2400" dirty="0" smtClean="0">
                <a:solidFill>
                  <a:schemeClr val="folHlink"/>
                </a:solidFill>
              </a:rPr>
              <a:t>+</a:t>
            </a:r>
            <a:r>
              <a:rPr lang="en-US" altLang="zh-CN" sz="2400" dirty="0" smtClean="0"/>
              <a:t>4</a:t>
            </a:r>
            <a:endParaRPr lang="en-US" altLang="zh-CN" sz="2400" dirty="0" smtClean="0"/>
          </a:p>
          <a:p>
            <a:pPr marL="900430" lvl="1" indent="-365125" defTabSz="627380" eaLnBrk="1" hangingPunct="1">
              <a:buNone/>
              <a:defRPr/>
            </a:pPr>
            <a:r>
              <a:rPr lang="en-US" altLang="zh-CN" sz="2400" dirty="0" smtClean="0"/>
              <a:t>x</a:t>
            </a:r>
            <a:r>
              <a:rPr lang="en-US" altLang="zh-CN" sz="2400" dirty="0" smtClean="0">
                <a:solidFill>
                  <a:srgbClr val="FFC000"/>
                </a:solidFill>
              </a:rPr>
              <a:t>=</a:t>
            </a:r>
            <a:r>
              <a:rPr lang="en-US" altLang="zh-CN" sz="2400" dirty="0" smtClean="0"/>
              <a:t>b </a:t>
            </a:r>
            <a:endParaRPr lang="en-US" altLang="zh-CN" sz="2400" dirty="0"/>
          </a:p>
          <a:p>
            <a:pPr marL="900430" lvl="1" indent="-365125" defTabSz="627380" eaLnBrk="1" hangingPunct="1">
              <a:buNone/>
              <a:defRPr/>
            </a:pPr>
            <a:r>
              <a:rPr lang="en-US" altLang="zh-CN" sz="2400" dirty="0"/>
              <a:t>a</a:t>
            </a:r>
            <a:r>
              <a:rPr lang="en-US" altLang="zh-CN" sz="2400" dirty="0">
                <a:solidFill>
                  <a:schemeClr val="folHlink"/>
                </a:solidFill>
              </a:rPr>
              <a:t>/</a:t>
            </a:r>
            <a:r>
              <a:rPr lang="en-US" altLang="zh-CN" sz="2400" dirty="0"/>
              <a:t>f(10)</a:t>
            </a:r>
            <a:endParaRPr lang="en-US" altLang="zh-CN" sz="2400" dirty="0"/>
          </a:p>
          <a:p>
            <a:pPr marL="900430" lvl="1" indent="-365125" defTabSz="627380" eaLnBrk="1" hangingPunct="1">
              <a:buFontTx/>
              <a:buNone/>
              <a:defRPr/>
            </a:pPr>
            <a:r>
              <a:rPr lang="en-US" altLang="zh-CN" sz="2400" dirty="0" smtClean="0"/>
              <a:t>(</a:t>
            </a:r>
            <a:r>
              <a:rPr lang="en-US" altLang="zh-CN" sz="2400" dirty="0" smtClean="0">
                <a:solidFill>
                  <a:schemeClr val="folHlink"/>
                </a:solidFill>
              </a:rPr>
              <a:t>-</a:t>
            </a:r>
            <a:r>
              <a:rPr lang="en-US" altLang="zh-CN" sz="2400" dirty="0" smtClean="0"/>
              <a:t>a)</a:t>
            </a:r>
            <a:r>
              <a:rPr lang="en-US" altLang="zh-CN" sz="2400" dirty="0" smtClean="0">
                <a:solidFill>
                  <a:schemeClr val="folHlink"/>
                </a:solidFill>
              </a:rPr>
              <a:t>*</a:t>
            </a:r>
            <a:r>
              <a:rPr lang="en-US" altLang="zh-CN" sz="2400" dirty="0" smtClean="0"/>
              <a:t>(b</a:t>
            </a:r>
            <a:r>
              <a:rPr lang="en-US" altLang="zh-CN" sz="2400" dirty="0" smtClean="0">
                <a:solidFill>
                  <a:schemeClr val="folHlink"/>
                </a:solidFill>
              </a:rPr>
              <a:t>-</a:t>
            </a:r>
            <a:r>
              <a:rPr lang="en-US" altLang="zh-CN" sz="2400" dirty="0" smtClean="0"/>
              <a:t>c)</a:t>
            </a:r>
            <a:endParaRPr lang="en-US" altLang="zh-CN" sz="2400" dirty="0" smtClean="0"/>
          </a:p>
          <a:p>
            <a:pPr marL="900430" lvl="1" indent="-365125" defTabSz="627380" eaLnBrk="1" hangingPunct="1">
              <a:defRPr/>
            </a:pPr>
            <a:r>
              <a:rPr lang="en-US" altLang="zh-CN" sz="2400" dirty="0" smtClean="0"/>
              <a:t>+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-</a:t>
            </a:r>
            <a:r>
              <a:rPr lang="zh-CN" altLang="en-US" sz="2400" dirty="0" smtClean="0"/>
              <a:t>（减法）、</a:t>
            </a:r>
            <a:r>
              <a:rPr lang="en-US" altLang="zh-CN" sz="2400" dirty="0" smtClean="0"/>
              <a:t>-</a:t>
            </a:r>
            <a:r>
              <a:rPr lang="zh-CN" altLang="en-US" sz="2400" dirty="0" smtClean="0"/>
              <a:t>（取负）、*、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以及 </a:t>
            </a:r>
            <a:r>
              <a:rPr lang="en-US" altLang="zh-CN" sz="2400" dirty="0" smtClean="0"/>
              <a:t>=</a:t>
            </a:r>
            <a:r>
              <a:rPr lang="zh-CN" altLang="en-US" sz="2400" dirty="0" smtClean="0"/>
              <a:t>（赋值）都是操作符</a:t>
            </a:r>
            <a:endParaRPr lang="zh-CN" altLang="en-US" sz="2400" dirty="0" smtClean="0"/>
          </a:p>
          <a:p>
            <a:pPr marL="900430" lvl="1" indent="-365125" defTabSz="627380" eaLnBrk="1" hangingPunct="1">
              <a:defRPr/>
            </a:pPr>
            <a:r>
              <a:rPr lang="en-US" altLang="zh-CN" sz="2400" dirty="0" smtClean="0"/>
              <a:t>a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以及</a:t>
            </a:r>
            <a:r>
              <a:rPr lang="en-US" altLang="zh-CN" sz="2400" dirty="0" smtClean="0"/>
              <a:t>(-a)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b+c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f(10)</a:t>
            </a:r>
            <a:r>
              <a:rPr lang="zh-CN" altLang="en-US" sz="2400" dirty="0" smtClean="0"/>
              <a:t>都是操作数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57163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C++</a:t>
            </a:r>
            <a:r>
              <a:rPr lang="zh-CN" altLang="en-US" smtClean="0"/>
              <a:t>操作符的种类</a:t>
            </a:r>
            <a:endParaRPr lang="zh-CN" altLang="en-US" smtClean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73238"/>
            <a:ext cx="8496300" cy="4608512"/>
          </a:xfrm>
        </p:spPr>
        <p:txBody>
          <a:bodyPr/>
          <a:lstStyle/>
          <a:p>
            <a:pPr marL="0" indent="0" defTabSz="627380" eaLnBrk="1" hangingPunct="1">
              <a:defRPr/>
            </a:pPr>
            <a:r>
              <a:rPr lang="en-US" altLang="zh-CN" dirty="0" smtClean="0"/>
              <a:t> </a:t>
            </a:r>
            <a:r>
              <a:rPr lang="zh-CN" altLang="en-US" dirty="0" smtClean="0"/>
              <a:t>算术操作符</a:t>
            </a:r>
            <a:endParaRPr lang="zh-CN" altLang="en-US" dirty="0" smtClean="0"/>
          </a:p>
          <a:p>
            <a:pPr marL="0" indent="0" defTabSz="627380" eaLnBrk="1" hangingPunct="1">
              <a:defRPr/>
            </a:pPr>
            <a:r>
              <a:rPr lang="zh-CN" altLang="en-US" dirty="0" smtClean="0"/>
              <a:t> 关系与逻辑操作符 </a:t>
            </a:r>
            <a:endParaRPr lang="zh-CN" altLang="en-US" dirty="0" smtClean="0"/>
          </a:p>
          <a:p>
            <a:pPr marL="0" indent="0" defTabSz="627380" eaLnBrk="1" hangingPunct="1">
              <a:defRPr/>
            </a:pPr>
            <a:r>
              <a:rPr lang="zh-CN" altLang="en-US" dirty="0" smtClean="0"/>
              <a:t> 赋值操作符</a:t>
            </a:r>
            <a:endParaRPr lang="zh-CN" altLang="en-US" dirty="0" smtClean="0"/>
          </a:p>
          <a:p>
            <a:pPr marL="0" indent="0" defTabSz="627380" eaLnBrk="1" hangingPunct="1">
              <a:defRPr/>
            </a:pPr>
            <a:r>
              <a:rPr lang="zh-CN" altLang="en-US" dirty="0"/>
              <a:t> 位操作符  </a:t>
            </a:r>
            <a:endParaRPr lang="zh-CN" altLang="en-US" dirty="0"/>
          </a:p>
          <a:p>
            <a:pPr marL="0" indent="0" defTabSz="627380" eaLnBrk="1" hangingPunct="1">
              <a:defRPr/>
            </a:pPr>
            <a:r>
              <a:rPr lang="zh-CN" altLang="en-US" dirty="0" smtClean="0"/>
              <a:t> 其它操作符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85725"/>
            <a:ext cx="7772400" cy="8953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算术操作符</a:t>
            </a:r>
            <a:endParaRPr lang="zh-CN" altLang="en-US" dirty="0" smtClean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016" y="1268983"/>
            <a:ext cx="8892480" cy="5112345"/>
          </a:xfrm>
        </p:spPr>
        <p:txBody>
          <a:bodyPr>
            <a:normAutofit fontScale="85000" lnSpcReduction="10000"/>
          </a:bodyPr>
          <a:lstStyle/>
          <a:p>
            <a:pPr marL="354330" indent="-354330" defTabSz="62738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算术操作符用于实现通常意义下的数值运算（操作数</a:t>
            </a:r>
            <a:r>
              <a:rPr lang="zh-CN" altLang="en-US" dirty="0"/>
              <a:t>类型一般为算术</a:t>
            </a:r>
            <a:r>
              <a:rPr lang="zh-CN" altLang="en-US" dirty="0" smtClean="0"/>
              <a:t>型），包括：  </a:t>
            </a:r>
            <a:endParaRPr lang="zh-CN" altLang="en-US" dirty="0" smtClean="0"/>
          </a:p>
          <a:p>
            <a:pPr marL="803275" lvl="1" indent="-274955" defTabSz="62738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 取负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-</a:t>
            </a:r>
            <a:r>
              <a:rPr lang="zh-CN" altLang="en-US" dirty="0" smtClean="0"/>
              <a:t>”</a:t>
            </a:r>
            <a:r>
              <a:rPr lang="zh-CN" altLang="en-US" dirty="0"/>
              <a:t>与</a:t>
            </a:r>
            <a:r>
              <a:rPr lang="zh-CN" altLang="en-US" dirty="0" smtClean="0"/>
              <a:t>取正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zh-CN" altLang="en-US" dirty="0" smtClean="0"/>
              <a:t>”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，例如：</a:t>
            </a:r>
            <a:r>
              <a:rPr lang="en-US" altLang="zh-CN" dirty="0" smtClean="0"/>
              <a:t>-x</a:t>
            </a:r>
            <a:endParaRPr lang="en-US" altLang="zh-CN" dirty="0" smtClean="0"/>
          </a:p>
          <a:p>
            <a:pPr marL="803275" lvl="1" indent="-274955" defTabSz="62738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 </a:t>
            </a:r>
            <a:r>
              <a:rPr lang="zh-CN" altLang="en-US" dirty="0" smtClean="0"/>
              <a:t>加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zh-CN" altLang="en-US" dirty="0" smtClean="0"/>
              <a:t>” </a:t>
            </a:r>
            <a:r>
              <a:rPr lang="zh-CN" altLang="en-US" dirty="0"/>
              <a:t>、</a:t>
            </a:r>
            <a:r>
              <a:rPr lang="zh-CN" altLang="en-US" dirty="0" smtClean="0"/>
              <a:t>减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-</a:t>
            </a:r>
            <a:r>
              <a:rPr lang="zh-CN" altLang="en-US" dirty="0" smtClean="0"/>
              <a:t>” </a:t>
            </a:r>
            <a:r>
              <a:rPr lang="zh-CN" altLang="en-US" dirty="0"/>
              <a:t>、</a:t>
            </a:r>
            <a:r>
              <a:rPr lang="zh-CN" altLang="en-US" dirty="0" smtClean="0"/>
              <a:t>乘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zh-CN" altLang="en-US" dirty="0" smtClean="0">
                <a:solidFill>
                  <a:srgbClr val="FFC000"/>
                </a:solidFill>
              </a:rPr>
              <a:t>*</a:t>
            </a:r>
            <a:r>
              <a:rPr lang="zh-CN" altLang="en-US" dirty="0" smtClean="0">
                <a:latin typeface="Arial" panose="020B0604020202020204"/>
              </a:rPr>
              <a:t>”</a:t>
            </a:r>
            <a:r>
              <a:rPr lang="zh-CN" altLang="en-US" dirty="0" smtClean="0"/>
              <a:t>、除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/</a:t>
            </a:r>
            <a:r>
              <a:rPr lang="zh-CN" altLang="en-US" dirty="0" smtClean="0"/>
              <a:t>”</a:t>
            </a:r>
            <a:r>
              <a:rPr lang="zh-CN" altLang="en-US" dirty="0"/>
              <a:t>和</a:t>
            </a:r>
            <a:r>
              <a:rPr lang="zh-CN" altLang="en-US" dirty="0" smtClean="0"/>
              <a:t>取余数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%</a:t>
            </a:r>
            <a:r>
              <a:rPr lang="zh-CN" altLang="en-US" dirty="0" smtClean="0"/>
              <a:t>”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803275" lvl="1" indent="-274955" defTabSz="627380" eaLnBrk="1" hangingPunct="1">
              <a:lnSpc>
                <a:spcPct val="120000"/>
              </a:lnSpc>
              <a:defRPr/>
            </a:pPr>
            <a:r>
              <a:rPr lang="zh-CN" altLang="en-US" dirty="0"/>
              <a:t>“</a:t>
            </a:r>
            <a:r>
              <a:rPr lang="en-US" altLang="zh-CN" dirty="0"/>
              <a:t>/</a:t>
            </a:r>
            <a:r>
              <a:rPr lang="zh-CN" altLang="en-US" dirty="0"/>
              <a:t>”用于整型操作数时表示</a:t>
            </a:r>
            <a:r>
              <a:rPr lang="zh-CN" altLang="en-US" dirty="0">
                <a:solidFill>
                  <a:srgbClr val="FFC000"/>
                </a:solidFill>
              </a:rPr>
              <a:t>整除</a:t>
            </a:r>
            <a:r>
              <a:rPr lang="zh-CN" altLang="en-US" dirty="0"/>
              <a:t>，小数点后面的数将舍去，并且一般不进行四舍五入。例如：</a:t>
            </a:r>
            <a:endParaRPr lang="zh-CN" altLang="en-US" dirty="0"/>
          </a:p>
          <a:p>
            <a:pPr marL="1259205" lvl="2" indent="-363855" defTabSz="62738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	</a:t>
            </a:r>
            <a:r>
              <a:rPr lang="en-US" altLang="zh-CN" dirty="0" smtClean="0"/>
              <a:t>3/2</a:t>
            </a:r>
            <a:r>
              <a:rPr lang="zh-CN" altLang="en-US" dirty="0" smtClean="0"/>
              <a:t>的结果为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；</a:t>
            </a:r>
            <a:r>
              <a:rPr lang="en-US" altLang="zh-CN" dirty="0" smtClean="0"/>
              <a:t>-10/3</a:t>
            </a:r>
            <a:r>
              <a:rPr lang="zh-CN" altLang="en-US" dirty="0" smtClean="0"/>
              <a:t>的结果为</a:t>
            </a:r>
            <a:r>
              <a:rPr lang="en-US" altLang="zh-CN" dirty="0" smtClean="0"/>
              <a:t>-3 </a:t>
            </a:r>
            <a:endParaRPr lang="en-US" altLang="zh-CN" dirty="0" smtClean="0"/>
          </a:p>
          <a:p>
            <a:pPr marL="803275" lvl="1" indent="-274955" defTabSz="627380" eaLnBrk="1" hangingPunct="1">
              <a:lnSpc>
                <a:spcPct val="120000"/>
              </a:lnSpc>
              <a:defRPr/>
            </a:pPr>
            <a:r>
              <a:rPr lang="zh-CN" altLang="en-US" dirty="0"/>
              <a:t>“</a:t>
            </a:r>
            <a:r>
              <a:rPr lang="en-US" altLang="zh-CN" dirty="0"/>
              <a:t>%</a:t>
            </a:r>
            <a:r>
              <a:rPr lang="zh-CN" altLang="en-US" dirty="0"/>
              <a:t>”用于计算两个整型数相除的</a:t>
            </a:r>
            <a:r>
              <a:rPr lang="zh-CN" altLang="en-US" dirty="0">
                <a:solidFill>
                  <a:srgbClr val="FFC000"/>
                </a:solidFill>
              </a:rPr>
              <a:t>余数</a:t>
            </a:r>
            <a:r>
              <a:rPr lang="zh-CN" altLang="en-US" dirty="0"/>
              <a:t>。例如：</a:t>
            </a:r>
            <a:endParaRPr lang="zh-CN" altLang="en-US" dirty="0"/>
          </a:p>
          <a:p>
            <a:pPr marL="528320" lvl="1" indent="0" defTabSz="627380" eaLnBrk="1" hangingPunct="1">
              <a:lnSpc>
                <a:spcPct val="120000"/>
              </a:lnSpc>
              <a:buNone/>
              <a:defRPr/>
            </a:pPr>
            <a:r>
              <a:rPr lang="zh-CN" altLang="en-US" dirty="0"/>
              <a:t>		</a:t>
            </a:r>
            <a:r>
              <a:rPr lang="en-US" altLang="zh-CN" sz="2400" dirty="0"/>
              <a:t>10%3</a:t>
            </a:r>
            <a:r>
              <a:rPr lang="zh-CN" altLang="en-US" sz="2400" dirty="0"/>
              <a:t>的结果为</a:t>
            </a:r>
            <a:r>
              <a:rPr lang="en-US" altLang="zh-CN" sz="2400" dirty="0"/>
              <a:t>1</a:t>
            </a:r>
            <a:r>
              <a:rPr lang="zh-CN" altLang="en-US" sz="2400" dirty="0"/>
              <a:t>；</a:t>
            </a:r>
            <a:r>
              <a:rPr lang="en-US" altLang="zh-CN" sz="2400" dirty="0"/>
              <a:t>8%2</a:t>
            </a:r>
            <a:r>
              <a:rPr lang="zh-CN" altLang="en-US" sz="2400" dirty="0"/>
              <a:t>的结果为</a:t>
            </a:r>
            <a:r>
              <a:rPr lang="en-US" altLang="zh-CN" sz="2400" dirty="0"/>
              <a:t>0 </a:t>
            </a:r>
            <a:endParaRPr lang="en-US" altLang="zh-CN" sz="2400" dirty="0"/>
          </a:p>
          <a:p>
            <a:pPr marL="1341755" lvl="2" indent="-363855" defTabSz="627380" eaLnBrk="1" hangingPunct="1">
              <a:lnSpc>
                <a:spcPct val="120000"/>
              </a:lnSpc>
              <a:defRPr/>
            </a:pPr>
            <a:r>
              <a:rPr lang="zh-CN" altLang="en-US" sz="2500" dirty="0"/>
              <a:t>“</a:t>
            </a:r>
            <a:r>
              <a:rPr lang="en-US" altLang="zh-CN" sz="2500" dirty="0" smtClean="0"/>
              <a:t>%</a:t>
            </a:r>
            <a:r>
              <a:rPr lang="zh-CN" altLang="en-US" sz="2500" dirty="0" smtClean="0"/>
              <a:t>”的</a:t>
            </a:r>
            <a:r>
              <a:rPr lang="zh-CN" altLang="en-US" sz="2500" dirty="0"/>
              <a:t>操作数一般不为</a:t>
            </a:r>
            <a:r>
              <a:rPr lang="zh-CN" altLang="en-US" sz="2500" dirty="0" smtClean="0"/>
              <a:t>负数</a:t>
            </a:r>
            <a:endParaRPr lang="en-US" altLang="zh-CN" sz="2500" dirty="0"/>
          </a:p>
          <a:p>
            <a:pPr marL="1341755" lvl="2" indent="-363855" defTabSz="627380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如果操作数有负数，</a:t>
            </a:r>
            <a:r>
              <a:rPr lang="en-US" altLang="zh-CN" dirty="0" err="1" smtClean="0"/>
              <a:t>a%b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的结果一般按</a:t>
            </a:r>
            <a:r>
              <a:rPr lang="en-US" altLang="zh-CN" dirty="0" smtClean="0"/>
              <a:t> a - (</a:t>
            </a:r>
            <a:r>
              <a:rPr lang="en-US" altLang="zh-CN" dirty="0"/>
              <a:t>a/b</a:t>
            </a:r>
            <a:r>
              <a:rPr lang="en-US" altLang="zh-CN" dirty="0" smtClean="0"/>
              <a:t>)*b </a:t>
            </a:r>
            <a:r>
              <a:rPr lang="zh-CN" altLang="en-US" dirty="0" smtClean="0"/>
              <a:t>确定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算术操作符（续）</a:t>
            </a:r>
            <a:endParaRPr lang="zh-CN" altLang="en-US" dirty="0" smtClean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900" y="1340768"/>
            <a:ext cx="8748713" cy="5257800"/>
          </a:xfrm>
        </p:spPr>
        <p:txBody>
          <a:bodyPr>
            <a:normAutofit fontScale="92500" lnSpcReduction="10000"/>
          </a:bodyPr>
          <a:lstStyle/>
          <a:p>
            <a:pPr marL="627380" lvl="1" eaLnBrk="1" hangingPunct="1">
              <a:defRPr/>
            </a:pPr>
            <a:r>
              <a:rPr lang="zh-CN" altLang="en-US" dirty="0" smtClean="0"/>
              <a:t>自减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--</a:t>
            </a:r>
            <a:r>
              <a:rPr lang="zh-CN" altLang="en-US" dirty="0" smtClean="0"/>
              <a:t>”</a:t>
            </a:r>
            <a:r>
              <a:rPr lang="zh-CN" altLang="en-US" dirty="0"/>
              <a:t>和</a:t>
            </a:r>
            <a:r>
              <a:rPr lang="zh-CN" altLang="en-US" dirty="0" smtClean="0"/>
              <a:t>自增</a:t>
            </a:r>
            <a:r>
              <a:rPr lang="zh-CN" altLang="en-US" dirty="0" smtClean="0">
                <a:latin typeface="Arial" panose="020B0604020202020204"/>
              </a:rPr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++</a:t>
            </a:r>
            <a:r>
              <a:rPr lang="zh-CN" altLang="en-US" dirty="0" smtClean="0"/>
              <a:t>”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marL="901700" lvl="2" eaLnBrk="1" hangingPunct="1">
              <a:defRPr/>
            </a:pPr>
            <a:r>
              <a:rPr lang="zh-CN" altLang="en-US" dirty="0" smtClean="0"/>
              <a:t>单目操作符，把操作数（只能是变量）减（或加）</a:t>
            </a:r>
            <a:r>
              <a:rPr lang="en-US" altLang="zh-CN" dirty="0" smtClean="0"/>
              <a:t>1</a:t>
            </a:r>
            <a:endParaRPr lang="en-US" altLang="zh-CN" dirty="0" smtClean="0"/>
          </a:p>
          <a:p>
            <a:pPr marL="901700" lvl="2" eaLnBrk="1" hangingPunct="1">
              <a:defRPr/>
            </a:pPr>
            <a:r>
              <a:rPr lang="zh-CN" altLang="en-US" dirty="0"/>
              <a:t>可</a:t>
            </a:r>
            <a:r>
              <a:rPr lang="zh-CN" altLang="en-US" dirty="0" smtClean="0"/>
              <a:t>以前置，也可以后置。例如，</a:t>
            </a:r>
            <a:r>
              <a:rPr lang="en-US" altLang="zh-CN" dirty="0" smtClean="0"/>
              <a:t>++x</a:t>
            </a:r>
            <a:r>
              <a:rPr lang="zh-CN" altLang="en-US" dirty="0" smtClean="0"/>
              <a:t>和</a:t>
            </a:r>
            <a:r>
              <a:rPr lang="en-US" altLang="zh-CN" dirty="0" smtClean="0"/>
              <a:t>x++</a:t>
            </a:r>
            <a:endParaRPr lang="en-US" altLang="zh-CN" dirty="0" smtClean="0"/>
          </a:p>
          <a:p>
            <a:pPr marL="901700" lvl="2" eaLnBrk="1" hangingPunct="1">
              <a:defRPr/>
            </a:pPr>
            <a:r>
              <a:rPr lang="zh-CN" altLang="en-US" dirty="0" smtClean="0"/>
              <a:t>前置与后置的</a:t>
            </a:r>
            <a:r>
              <a:rPr lang="zh-CN" altLang="en-US" smtClean="0"/>
              <a:t>区别</a:t>
            </a:r>
            <a:r>
              <a:rPr lang="zh-CN" altLang="en-US" smtClean="0"/>
              <a:t>是它们的操作结果：</a:t>
            </a:r>
            <a:endParaRPr lang="en-US" altLang="zh-CN" dirty="0" smtClean="0"/>
          </a:p>
          <a:p>
            <a:pPr marL="1371600" lvl="3" indent="0" eaLnBrk="1" hangingPunct="1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; </a:t>
            </a:r>
            <a:endParaRPr lang="en-US" altLang="zh-CN" dirty="0" smtClean="0"/>
          </a:p>
          <a:p>
            <a:pPr marL="1371600" lvl="3" indent="0" eaLnBrk="1" hangingPunct="1">
              <a:buFontTx/>
              <a:buNone/>
              <a:defRPr/>
            </a:pPr>
            <a:r>
              <a:rPr lang="en-US" altLang="zh-CN" dirty="0" smtClean="0"/>
              <a:t>x = 1; y = (++x)  //x</a:t>
            </a:r>
            <a:r>
              <a:rPr lang="zh-CN" altLang="en-US" dirty="0" smtClean="0"/>
              <a:t>的值是</a:t>
            </a:r>
            <a:r>
              <a:rPr lang="en-US" altLang="zh-CN" dirty="0" smtClean="0"/>
              <a:t>2</a:t>
            </a:r>
            <a:r>
              <a:rPr lang="zh-CN" altLang="en-US" dirty="0"/>
              <a:t>，</a:t>
            </a:r>
            <a:r>
              <a:rPr lang="en-US" altLang="zh-CN" dirty="0" smtClean="0"/>
              <a:t>y</a:t>
            </a:r>
            <a:r>
              <a:rPr lang="zh-CN" altLang="en-US" dirty="0"/>
              <a:t>的值为</a:t>
            </a:r>
            <a:r>
              <a:rPr lang="en-US" altLang="zh-CN" dirty="0" smtClean="0"/>
              <a:t>2</a:t>
            </a:r>
            <a:r>
              <a:rPr lang="zh-CN" altLang="en-US" dirty="0" smtClean="0"/>
              <a:t>（先加后用）</a:t>
            </a:r>
            <a:endParaRPr lang="zh-CN" altLang="en-US" dirty="0" smtClean="0"/>
          </a:p>
          <a:p>
            <a:pPr marL="1371600" lvl="3" indent="0" eaLnBrk="1" hangingPunct="1">
              <a:buFontTx/>
              <a:buNone/>
              <a:defRPr/>
            </a:pPr>
            <a:r>
              <a:rPr lang="en-US" altLang="zh-CN" dirty="0" smtClean="0"/>
              <a:t>x = 1; y = (x++)  //x</a:t>
            </a:r>
            <a:r>
              <a:rPr lang="zh-CN" altLang="en-US" dirty="0" smtClean="0"/>
              <a:t>的值是</a:t>
            </a:r>
            <a:r>
              <a:rPr lang="en-US" altLang="zh-CN" dirty="0" smtClean="0"/>
              <a:t>2</a:t>
            </a:r>
            <a:r>
              <a:rPr lang="zh-CN" altLang="en-US" dirty="0"/>
              <a:t>，</a:t>
            </a:r>
            <a:r>
              <a:rPr lang="en-US" altLang="zh-CN" dirty="0" smtClean="0"/>
              <a:t>y</a:t>
            </a:r>
            <a:r>
              <a:rPr lang="zh-CN" altLang="en-US" dirty="0"/>
              <a:t>的值为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 （先用后加）</a:t>
            </a:r>
            <a:endParaRPr lang="zh-CN" altLang="en-US" dirty="0" smtClean="0"/>
          </a:p>
          <a:p>
            <a:pPr eaLnBrk="1" hangingPunct="1">
              <a:defRPr/>
            </a:pPr>
            <a:r>
              <a:rPr lang="zh-CN" altLang="en-US" dirty="0" smtClean="0"/>
              <a:t>算术操作的结果类型</a:t>
            </a:r>
            <a:r>
              <a:rPr lang="zh-CN" altLang="en-US" dirty="0"/>
              <a:t>一般与操作数类型</a:t>
            </a:r>
            <a:r>
              <a:rPr lang="zh-CN" altLang="en-US" dirty="0" smtClean="0"/>
              <a:t>相同，因此，可能会产生“</a:t>
            </a:r>
            <a:r>
              <a:rPr lang="zh-CN" altLang="en-US" dirty="0" smtClean="0">
                <a:solidFill>
                  <a:srgbClr val="FFC000"/>
                </a:solidFill>
              </a:rPr>
              <a:t>溢出</a:t>
            </a:r>
            <a:r>
              <a:rPr lang="zh-CN" altLang="en-US" dirty="0" smtClean="0"/>
              <a:t>”等问题。例如，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......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... </a:t>
            </a:r>
            <a:r>
              <a:rPr lang="en-US" altLang="zh-CN" dirty="0" err="1" smtClean="0"/>
              <a:t>x+y</a:t>
            </a:r>
            <a:r>
              <a:rPr lang="en-US" altLang="zh-CN" dirty="0" smtClean="0"/>
              <a:t> ... //</a:t>
            </a:r>
            <a:r>
              <a:rPr lang="zh-CN" altLang="en-US" dirty="0" smtClean="0"/>
              <a:t>结果为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类型，如果结果的绝对值很大，</a:t>
            </a:r>
            <a:endParaRPr lang="en-US" altLang="zh-CN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	      //</a:t>
            </a:r>
            <a:r>
              <a:rPr lang="zh-CN" altLang="en-US" dirty="0" smtClean="0"/>
              <a:t>超出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型的表示范围，就会出问题！</a:t>
            </a:r>
            <a:endParaRPr lang="en-US" altLang="zh-CN" dirty="0" smtClean="0"/>
          </a:p>
          <a:p>
            <a:pPr eaLnBrk="1" hangingPunct="1">
              <a:defRPr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5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关系操作符 </a:t>
            </a:r>
            <a:endParaRPr lang="zh-CN" altLang="en-US" dirty="0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900" y="1340768"/>
            <a:ext cx="8748713" cy="5300663"/>
          </a:xfrm>
        </p:spPr>
        <p:txBody>
          <a:bodyPr/>
          <a:lstStyle/>
          <a:p>
            <a:pPr marL="357505" indent="-357505" eaLnBrk="1" hangingPunct="1">
              <a:tabLst>
                <a:tab pos="534670" algn="l"/>
              </a:tabLst>
              <a:defRPr/>
            </a:pPr>
            <a:r>
              <a:rPr lang="zh-CN" altLang="en-US" sz="2800" dirty="0" smtClean="0"/>
              <a:t>程序中经常要根据某个</a:t>
            </a:r>
            <a:r>
              <a:rPr lang="zh-CN" altLang="en-US" sz="2800" dirty="0" smtClean="0">
                <a:solidFill>
                  <a:srgbClr val="FFC000"/>
                </a:solidFill>
              </a:rPr>
              <a:t>条件</a:t>
            </a:r>
            <a:r>
              <a:rPr lang="zh-CN" altLang="en-US" sz="2800" dirty="0"/>
              <a:t>是否满足来决定</a:t>
            </a:r>
            <a:r>
              <a:rPr lang="zh-CN" altLang="en-US" sz="2800" dirty="0" smtClean="0"/>
              <a:t>其后续的动作，这里的条件往往体现为对数据的比较操作。 </a:t>
            </a:r>
            <a:endParaRPr lang="zh-CN" altLang="en-US" sz="2800" dirty="0" smtClean="0"/>
          </a:p>
          <a:p>
            <a:pPr marL="357505" indent="-357505" eaLnBrk="1" hangingPunct="1">
              <a:tabLst>
                <a:tab pos="534670" algn="l"/>
              </a:tabLst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关系操作符</a:t>
            </a:r>
            <a:r>
              <a:rPr lang="zh-CN" altLang="en-US" sz="2800" dirty="0" smtClean="0"/>
              <a:t>用于对数据进行大小比较，包括：</a:t>
            </a:r>
            <a:endParaRPr lang="zh-CN" altLang="en-US" sz="2400" dirty="0" smtClean="0"/>
          </a:p>
          <a:p>
            <a:pPr marL="900430" lvl="1" indent="-363855" eaLnBrk="1" hangingPunct="1">
              <a:buFontTx/>
              <a:buNone/>
              <a:tabLst>
                <a:tab pos="534670" algn="l"/>
              </a:tabLst>
              <a:defRPr/>
            </a:pPr>
            <a:endParaRPr lang="zh-CN" altLang="en-US" sz="2000" dirty="0" smtClean="0"/>
          </a:p>
          <a:p>
            <a:pPr marL="363855" lvl="1" indent="-363855" eaLnBrk="1" hangingPunct="1">
              <a:buFont typeface="Wingdings" panose="05000000000000000000" pitchFamily="2" charset="2"/>
              <a:buNone/>
              <a:tabLst>
                <a:tab pos="534670" algn="l"/>
              </a:tabLst>
              <a:defRPr/>
            </a:pPr>
            <a:r>
              <a:rPr lang="en-US" altLang="zh-CN" sz="2000" dirty="0" smtClean="0">
                <a:solidFill>
                  <a:srgbClr val="FFC000"/>
                </a:solidFill>
              </a:rPr>
              <a:t>&gt;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大于</a:t>
            </a:r>
            <a:r>
              <a:rPr lang="en-US" altLang="zh-CN" sz="2000" dirty="0" smtClean="0"/>
              <a:t>), </a:t>
            </a:r>
            <a:r>
              <a:rPr lang="en-US" altLang="zh-CN" sz="2000" dirty="0" smtClean="0">
                <a:solidFill>
                  <a:srgbClr val="FFC000"/>
                </a:solidFill>
              </a:rPr>
              <a:t>&lt;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小于</a:t>
            </a:r>
            <a:r>
              <a:rPr lang="en-US" altLang="zh-CN" sz="2000" dirty="0" smtClean="0"/>
              <a:t>), </a:t>
            </a:r>
            <a:r>
              <a:rPr lang="en-US" altLang="zh-CN" sz="2000" dirty="0" smtClean="0">
                <a:solidFill>
                  <a:srgbClr val="FFC000"/>
                </a:solidFill>
              </a:rPr>
              <a:t>&gt;=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不小于</a:t>
            </a:r>
            <a:r>
              <a:rPr lang="en-US" altLang="zh-CN" sz="2000" dirty="0" smtClean="0"/>
              <a:t>), </a:t>
            </a:r>
            <a:r>
              <a:rPr lang="en-US" altLang="zh-CN" sz="2000" dirty="0" smtClean="0">
                <a:solidFill>
                  <a:srgbClr val="FFC000"/>
                </a:solidFill>
              </a:rPr>
              <a:t>&lt;=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不大于</a:t>
            </a:r>
            <a:r>
              <a:rPr lang="en-US" altLang="zh-CN" sz="2000" dirty="0" smtClean="0"/>
              <a:t>), </a:t>
            </a:r>
            <a:r>
              <a:rPr lang="en-US" altLang="zh-CN" sz="2000" dirty="0" smtClean="0">
                <a:solidFill>
                  <a:srgbClr val="FFC000"/>
                </a:solidFill>
              </a:rPr>
              <a:t>==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相等</a:t>
            </a:r>
            <a:r>
              <a:rPr lang="en-US" altLang="zh-CN" sz="2000" dirty="0" smtClean="0"/>
              <a:t>), </a:t>
            </a:r>
            <a:r>
              <a:rPr lang="en-US" altLang="zh-CN" sz="2000" dirty="0" smtClean="0">
                <a:solidFill>
                  <a:srgbClr val="FFC000"/>
                </a:solidFill>
              </a:rPr>
              <a:t>!=</a:t>
            </a:r>
            <a:r>
              <a:rPr lang="en-US" altLang="zh-CN" sz="2000" dirty="0" smtClean="0"/>
              <a:t> (</a:t>
            </a:r>
            <a:r>
              <a:rPr lang="zh-CN" altLang="en-US" sz="2000" dirty="0" smtClean="0"/>
              <a:t>不等</a:t>
            </a:r>
            <a:r>
              <a:rPr lang="en-US" altLang="zh-CN" sz="2000" dirty="0" smtClean="0"/>
              <a:t>)</a:t>
            </a:r>
            <a:endParaRPr lang="en-US" altLang="zh-CN" sz="2000" dirty="0" smtClean="0"/>
          </a:p>
          <a:p>
            <a:pPr marL="900430" lvl="1" indent="-363855" eaLnBrk="1" hangingPunct="1">
              <a:buFont typeface="Wingdings" panose="05000000000000000000" pitchFamily="2" charset="2"/>
              <a:buNone/>
              <a:tabLst>
                <a:tab pos="534670" algn="l"/>
              </a:tabLst>
              <a:defRPr/>
            </a:pPr>
            <a:endParaRPr lang="en-US" altLang="zh-CN" sz="2000" dirty="0" smtClean="0"/>
          </a:p>
          <a:p>
            <a:pPr marL="757555" lvl="1" indent="-357505" eaLnBrk="1" hangingPunct="1">
              <a:tabLst>
                <a:tab pos="534670" algn="l"/>
              </a:tabLst>
              <a:defRPr/>
            </a:pPr>
            <a:r>
              <a:rPr lang="zh-CN" altLang="en-US" sz="2400" dirty="0" smtClean="0"/>
              <a:t>操作数通常为算术类型。</a:t>
            </a:r>
            <a:endParaRPr lang="en-US" altLang="zh-CN" sz="2400" dirty="0" smtClean="0"/>
          </a:p>
          <a:p>
            <a:pPr marL="757555" lvl="1" indent="-357505" eaLnBrk="1" hangingPunct="1">
              <a:tabLst>
                <a:tab pos="534670" algn="l"/>
              </a:tabLst>
              <a:defRPr/>
            </a:pPr>
            <a:r>
              <a:rPr lang="zh-CN" altLang="en-US" sz="2400" dirty="0" smtClean="0"/>
              <a:t>关系操作的结果为</a:t>
            </a:r>
            <a:r>
              <a:rPr lang="en-US" altLang="zh-CN" sz="2400" dirty="0" err="1" smtClean="0"/>
              <a:t>bool</a:t>
            </a:r>
            <a:r>
              <a:rPr lang="zh-CN" altLang="en-US" sz="2400" dirty="0" smtClean="0"/>
              <a:t>类型的值：</a:t>
            </a:r>
            <a:r>
              <a:rPr lang="en-US" altLang="zh-CN" sz="2400" dirty="0" smtClean="0"/>
              <a:t>true</a:t>
            </a:r>
            <a:r>
              <a:rPr lang="zh-CN" altLang="en-US" sz="2400" dirty="0" smtClean="0"/>
              <a:t>或</a:t>
            </a:r>
            <a:r>
              <a:rPr lang="en-US" altLang="zh-CN" sz="2400" dirty="0" smtClean="0"/>
              <a:t>false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757555" lvl="1" indent="-357505" eaLnBrk="1" hangingPunct="1">
              <a:tabLst>
                <a:tab pos="534670" algn="l"/>
              </a:tabLst>
              <a:defRPr/>
            </a:pPr>
            <a:r>
              <a:rPr lang="zh-CN" altLang="en-US" sz="2400" dirty="0" smtClean="0"/>
              <a:t>例如：</a:t>
            </a:r>
            <a:endParaRPr lang="zh-CN" altLang="en-US" sz="2400" dirty="0" smtClean="0"/>
          </a:p>
          <a:p>
            <a:pPr marL="900430" lvl="1" indent="-363855" eaLnBrk="1" hangingPunct="1">
              <a:buFontTx/>
              <a:buNone/>
              <a:tabLst>
                <a:tab pos="534670" algn="l"/>
              </a:tabLst>
              <a:defRPr/>
            </a:pPr>
            <a:r>
              <a:rPr lang="zh-CN" altLang="en-US" sz="2000" dirty="0" smtClean="0"/>
              <a:t>		</a:t>
            </a:r>
            <a:r>
              <a:rPr lang="en-US" altLang="zh-CN" sz="2000" dirty="0" smtClean="0"/>
              <a:t>3 &gt; 2</a:t>
            </a:r>
            <a:r>
              <a:rPr lang="zh-CN" altLang="en-US" sz="2000" dirty="0" smtClean="0"/>
              <a:t>的结果为</a:t>
            </a:r>
            <a:r>
              <a:rPr lang="en-US" altLang="zh-CN" sz="2000" dirty="0" smtClean="0"/>
              <a:t>true</a:t>
            </a:r>
            <a:endParaRPr lang="en-US" altLang="zh-CN" sz="2000" dirty="0" smtClean="0"/>
          </a:p>
          <a:p>
            <a:pPr marL="900430" lvl="1" indent="-363855" eaLnBrk="1" hangingPunct="1">
              <a:buFontTx/>
              <a:buNone/>
              <a:tabLst>
                <a:tab pos="534670" algn="l"/>
              </a:tabLst>
              <a:defRPr/>
            </a:pPr>
            <a:r>
              <a:rPr lang="en-US" altLang="zh-CN" sz="2000" dirty="0" smtClean="0"/>
              <a:t>		4.3 &lt; 1.2</a:t>
            </a:r>
            <a:r>
              <a:rPr lang="zh-CN" altLang="en-US" sz="2000" dirty="0" smtClean="0"/>
              <a:t>的结果为</a:t>
            </a:r>
            <a:r>
              <a:rPr lang="en-US" altLang="zh-CN" sz="2000" dirty="0" smtClean="0"/>
              <a:t>false</a:t>
            </a:r>
            <a:endParaRPr lang="en-US" altLang="zh-CN" sz="2000" dirty="0" smtClean="0"/>
          </a:p>
          <a:p>
            <a:pPr marL="900430" lvl="1" indent="-363855" eaLnBrk="1" hangingPunct="1">
              <a:buFontTx/>
              <a:buNone/>
              <a:tabLst>
                <a:tab pos="534670" algn="l"/>
              </a:tabLst>
              <a:defRPr/>
            </a:pPr>
            <a:r>
              <a:rPr lang="en-US" altLang="zh-CN" sz="2000" dirty="0" smtClean="0"/>
              <a:t>		'A' &lt; 'B'</a:t>
            </a:r>
            <a:r>
              <a:rPr lang="zh-CN" altLang="en-US" sz="2000" dirty="0" smtClean="0"/>
              <a:t>的结果为</a:t>
            </a:r>
            <a:r>
              <a:rPr lang="en-US" altLang="zh-CN" sz="2000" dirty="0" smtClean="0"/>
              <a:t>true</a:t>
            </a:r>
            <a:endParaRPr lang="en-US" altLang="zh-CN" sz="2000" dirty="0" smtClean="0"/>
          </a:p>
          <a:p>
            <a:pPr marL="900430" lvl="1" indent="-363855" eaLnBrk="1" hangingPunct="1">
              <a:buFontTx/>
              <a:buNone/>
              <a:tabLst>
                <a:tab pos="534670" algn="l"/>
              </a:tabLst>
              <a:defRPr/>
            </a:pPr>
            <a:r>
              <a:rPr lang="en-US" altLang="zh-CN" sz="2000" dirty="0" smtClean="0"/>
              <a:t>		false &lt; true</a:t>
            </a:r>
            <a:r>
              <a:rPr lang="zh-CN" altLang="en-US" sz="2000" dirty="0" smtClean="0"/>
              <a:t>的结果为</a:t>
            </a:r>
            <a:r>
              <a:rPr lang="en-US" altLang="zh-CN" sz="2000" dirty="0" smtClean="0"/>
              <a:t>true</a:t>
            </a:r>
            <a:endParaRPr lang="en-US" altLang="zh-C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5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逻辑操作符 </a:t>
            </a:r>
            <a:endParaRPr lang="zh-CN" altLang="en-US" smtClean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8713787" cy="3817938"/>
          </a:xfrm>
        </p:spPr>
        <p:txBody>
          <a:bodyPr>
            <a:normAutofit fontScale="70000" lnSpcReduction="20000"/>
          </a:bodyPr>
          <a:lstStyle/>
          <a:p>
            <a:pPr marL="390525" indent="-39052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可以用</a:t>
            </a:r>
            <a:r>
              <a:rPr lang="zh-CN" altLang="zh-CN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逻辑运算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（并且、或者等）把</a:t>
            </a:r>
            <a:r>
              <a:rPr lang="zh-CN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个比较的</a:t>
            </a:r>
            <a:r>
              <a:rPr lang="zh-CN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结果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组合成复杂的条件。逻辑运算操作符包括： </a:t>
            </a:r>
            <a:endParaRPr lang="zh-CN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36955" lvl="2" indent="-45720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!</a:t>
            </a:r>
            <a:r>
              <a:rPr lang="zh-CN" altLang="en-US" dirty="0" smtClean="0"/>
              <a:t>（逻辑非）</a:t>
            </a:r>
            <a:endParaRPr lang="en-US" altLang="zh-CN" dirty="0" smtClean="0"/>
          </a:p>
          <a:p>
            <a:pPr marL="1036955" lvl="2" indent="-45720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&amp;&amp;</a:t>
            </a:r>
            <a:r>
              <a:rPr lang="zh-CN" altLang="en-US" dirty="0" smtClean="0"/>
              <a:t>（逻辑与）</a:t>
            </a:r>
            <a:endParaRPr lang="en-US" altLang="zh-CN" dirty="0" smtClean="0"/>
          </a:p>
          <a:p>
            <a:pPr marL="1036955" lvl="2" indent="-45720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||</a:t>
            </a:r>
            <a:r>
              <a:rPr lang="zh-CN" altLang="en-US" dirty="0" smtClean="0"/>
              <a:t>（逻辑或） </a:t>
            </a:r>
            <a:endParaRPr lang="zh-CN" altLang="en-US" dirty="0" smtClean="0"/>
          </a:p>
          <a:p>
            <a:pPr marL="0" indent="-209550" eaLnBrk="1" hangingPunct="1">
              <a:lnSpc>
                <a:spcPct val="120000"/>
              </a:lnSpc>
              <a:defRPr/>
            </a:pPr>
            <a:r>
              <a:rPr lang="zh-CN" altLang="en-US" dirty="0"/>
              <a:t>逻辑操作的操作数为</a:t>
            </a:r>
            <a:r>
              <a:rPr lang="en-US" altLang="zh-CN" dirty="0"/>
              <a:t>bool</a:t>
            </a:r>
            <a:r>
              <a:rPr lang="zh-CN" altLang="en-US" dirty="0" smtClean="0"/>
              <a:t>类型，通常为关系操作</a:t>
            </a:r>
            <a:r>
              <a:rPr lang="zh-CN" altLang="en-US" dirty="0"/>
              <a:t>的</a:t>
            </a:r>
            <a:r>
              <a:rPr lang="zh-CN" altLang="en-US" dirty="0" smtClean="0"/>
              <a:t>结果。例如：</a:t>
            </a:r>
            <a:endParaRPr lang="en-US" altLang="zh-CN" dirty="0" smtClean="0"/>
          </a:p>
          <a:p>
            <a:pPr marL="579755" lvl="2" indent="1143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   !(</a:t>
            </a:r>
            <a:r>
              <a:rPr lang="en-US" altLang="zh-CN" dirty="0"/>
              <a:t>a &gt; b</a:t>
            </a:r>
            <a:r>
              <a:rPr lang="en-US" altLang="zh-CN" dirty="0" smtClean="0"/>
              <a:t>) //</a:t>
            </a:r>
            <a:r>
              <a:rPr lang="zh-CN" altLang="en-US" dirty="0" smtClean="0"/>
              <a:t>或者，</a:t>
            </a:r>
            <a:r>
              <a:rPr lang="en-US" altLang="zh-CN" dirty="0" smtClean="0"/>
              <a:t>a &lt;= b</a:t>
            </a:r>
            <a:endParaRPr lang="en-US" altLang="zh-CN" dirty="0"/>
          </a:p>
          <a:p>
            <a:pPr marL="579755" lvl="2" indent="1143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   (</a:t>
            </a:r>
            <a:r>
              <a:rPr lang="en-US" altLang="zh-CN" dirty="0"/>
              <a:t>age </a:t>
            </a:r>
            <a:r>
              <a:rPr lang="en-US" altLang="zh-CN" dirty="0" smtClean="0"/>
              <a:t>&gt; </a:t>
            </a:r>
            <a:r>
              <a:rPr lang="en-US" altLang="zh-CN" dirty="0"/>
              <a:t>10) &amp;&amp; </a:t>
            </a:r>
            <a:r>
              <a:rPr lang="en-US" altLang="zh-CN" dirty="0" smtClean="0"/>
              <a:t>(age &lt; </a:t>
            </a:r>
            <a:r>
              <a:rPr lang="en-US" altLang="zh-CN" dirty="0"/>
              <a:t>30) </a:t>
            </a:r>
            <a:r>
              <a:rPr lang="en-US" altLang="zh-CN" dirty="0" smtClean="0"/>
              <a:t> //</a:t>
            </a:r>
            <a:r>
              <a:rPr lang="zh-CN" altLang="en-US" dirty="0" smtClean="0">
                <a:solidFill>
                  <a:srgbClr val="FFC000"/>
                </a:solidFill>
              </a:rPr>
              <a:t>错误</a:t>
            </a:r>
            <a:r>
              <a:rPr lang="zh-CN" altLang="en-US" dirty="0">
                <a:solidFill>
                  <a:srgbClr val="FFC000"/>
                </a:solidFill>
              </a:rPr>
              <a:t>写法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10 &lt; age &lt; 30</a:t>
            </a:r>
            <a:endParaRPr lang="en-US" altLang="zh-CN" dirty="0"/>
          </a:p>
          <a:p>
            <a:pPr marL="579755" lvl="2" indent="1143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   (</a:t>
            </a:r>
            <a:r>
              <a:rPr lang="en-US" altLang="zh-CN" dirty="0" err="1"/>
              <a:t>ch</a:t>
            </a:r>
            <a:r>
              <a:rPr lang="en-US" altLang="zh-CN" dirty="0"/>
              <a:t> &lt; '0') || (</a:t>
            </a:r>
            <a:r>
              <a:rPr lang="en-US" altLang="zh-CN" dirty="0" err="1"/>
              <a:t>ch</a:t>
            </a:r>
            <a:r>
              <a:rPr lang="en-US" altLang="zh-CN" dirty="0"/>
              <a:t> &gt; '9') </a:t>
            </a:r>
            <a:endParaRPr lang="en-US" altLang="zh-CN" dirty="0" smtClean="0"/>
          </a:p>
          <a:p>
            <a:pPr marL="0" indent="-209550" eaLnBrk="1" hangingPunct="1">
              <a:lnSpc>
                <a:spcPct val="120000"/>
              </a:lnSpc>
              <a:defRPr/>
            </a:pPr>
            <a:r>
              <a:rPr lang="zh-CN" altLang="en-US" dirty="0"/>
              <a:t> </a:t>
            </a:r>
            <a:r>
              <a:rPr lang="zh-CN" altLang="en-US" dirty="0" smtClean="0"/>
              <a:t>逻辑操作的结果为</a:t>
            </a:r>
            <a:r>
              <a:rPr lang="en-US" altLang="zh-CN" dirty="0" smtClean="0"/>
              <a:t>bool</a:t>
            </a:r>
            <a:r>
              <a:rPr lang="zh-CN" altLang="en-US" dirty="0" smtClean="0"/>
              <a:t>类型。</a:t>
            </a:r>
            <a:endParaRPr lang="zh-CN" altLang="en-US" dirty="0" smtClean="0"/>
          </a:p>
        </p:txBody>
      </p:sp>
      <p:sp>
        <p:nvSpPr>
          <p:cNvPr id="82944" name="Text Box 0"/>
          <p:cNvSpPr txBox="1">
            <a:spLocks noChangeArrowheads="1"/>
          </p:cNvSpPr>
          <p:nvPr/>
        </p:nvSpPr>
        <p:spPr bwMode="auto">
          <a:xfrm>
            <a:off x="263525" y="5230813"/>
            <a:ext cx="19875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358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53848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!true  -&gt; false</a:t>
            </a:r>
            <a:endParaRPr lang="en-US" altLang="zh-CN" sz="2000" dirty="0" smtClean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!false -&gt; true</a:t>
            </a:r>
            <a:endParaRPr lang="en-US" altLang="zh-CN" sz="2000" dirty="0" smtClean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2945" name="Text Box 1"/>
          <p:cNvSpPr txBox="1">
            <a:spLocks noChangeArrowheads="1"/>
          </p:cNvSpPr>
          <p:nvPr/>
        </p:nvSpPr>
        <p:spPr bwMode="auto">
          <a:xfrm>
            <a:off x="6088063" y="5227638"/>
            <a:ext cx="2876550" cy="158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358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53848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false || false -&gt; false</a:t>
            </a:r>
            <a:endParaRPr lang="en-US" altLang="zh-CN" sz="2000" smtClean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200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false || true  -&gt; true</a:t>
            </a:r>
            <a:endParaRPr lang="en-US" altLang="zh-CN" sz="2000" smtClean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200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true  || false -&gt; true</a:t>
            </a:r>
            <a:endParaRPr lang="en-US" altLang="zh-CN" sz="2000" smtClean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200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true  || true  -&gt; true</a:t>
            </a:r>
            <a:endParaRPr lang="en-US" altLang="zh-CN" sz="2000" smtClean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  <a:p>
            <a:pPr>
              <a:buFontTx/>
              <a:buChar char="•"/>
              <a:defRPr/>
            </a:pPr>
            <a:endParaRPr lang="en-US" altLang="zh-CN" smtClean="0">
              <a:latin typeface="Verdana" panose="020B0604030504040204" pitchFamily="34" charset="0"/>
            </a:endParaRPr>
          </a:p>
        </p:txBody>
      </p:sp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2624138" y="5214938"/>
            <a:ext cx="3027362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358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53848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false &amp;&amp; false -&gt; false</a:t>
            </a:r>
            <a:endParaRPr lang="en-US" altLang="zh-CN" sz="2000" dirty="0" smtClean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false &amp;&amp; true  -&gt; false</a:t>
            </a:r>
            <a:endParaRPr lang="en-US" altLang="zh-CN" sz="2000" dirty="0" smtClean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true  &amp;&amp; false -&gt; false</a:t>
            </a:r>
            <a:endParaRPr lang="en-US" altLang="zh-CN" sz="2000" dirty="0" smtClean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20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true  &amp;&amp; true  -&gt; true</a:t>
            </a:r>
            <a:endParaRPr lang="en-US" altLang="zh-CN" sz="2000" dirty="0" smtClean="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5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赋值操作</a:t>
            </a:r>
            <a:endParaRPr lang="zh-CN" altLang="en-US" smtClean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96752"/>
            <a:ext cx="8748713" cy="5516562"/>
          </a:xfrm>
        </p:spPr>
        <p:txBody>
          <a:bodyPr>
            <a:normAutofit fontScale="92500" lnSpcReduction="10000"/>
          </a:bodyPr>
          <a:lstStyle/>
          <a:p>
            <a:pPr marL="357505" indent="-357505" eaLnBrk="1" hangingPunct="1">
              <a:defRPr/>
            </a:pPr>
            <a:r>
              <a:rPr lang="zh-CN" altLang="en-US" sz="2800" dirty="0" smtClean="0"/>
              <a:t>除了通过输入操作来改变变量的值以外，通常，变量值的改变是通过</a:t>
            </a:r>
            <a:r>
              <a:rPr lang="zh-CN" altLang="en-US" sz="2800" dirty="0" smtClean="0">
                <a:solidFill>
                  <a:srgbClr val="FFC000"/>
                </a:solidFill>
              </a:rPr>
              <a:t>赋值</a:t>
            </a:r>
            <a:r>
              <a:rPr lang="zh-CN" altLang="en-US" sz="2800" dirty="0" smtClean="0"/>
              <a:t>操作来实现。例如，下面的赋值操作把变量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的值改为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  <a:p>
            <a:pPr marL="757555" lvl="1" indent="-357505" eaLnBrk="1" hangingPunct="1">
              <a:defRPr/>
            </a:pPr>
            <a:r>
              <a:rPr lang="en-US" altLang="zh-CN" sz="2400" dirty="0" smtClean="0"/>
              <a:t>a </a:t>
            </a:r>
            <a:r>
              <a:rPr lang="en-US" altLang="zh-CN" sz="2400" dirty="0" smtClean="0">
                <a:solidFill>
                  <a:srgbClr val="FFC000"/>
                </a:solidFill>
              </a:rPr>
              <a:t>=</a:t>
            </a:r>
            <a:r>
              <a:rPr lang="en-US" altLang="zh-CN" sz="2400" dirty="0" smtClean="0"/>
              <a:t> 4</a:t>
            </a:r>
            <a:endParaRPr lang="zh-CN" altLang="en-US" sz="2400" dirty="0" smtClean="0"/>
          </a:p>
          <a:p>
            <a:pPr marL="357505" indent="-357505" eaLnBrk="1" hangingPunct="1">
              <a:defRPr/>
            </a:pPr>
            <a:r>
              <a:rPr lang="zh-CN" altLang="en-US" sz="2800" dirty="0" smtClean="0"/>
              <a:t>简单赋值操作符</a:t>
            </a:r>
            <a:r>
              <a:rPr lang="en-US" altLang="zh-CN" sz="2800" dirty="0" smtClean="0"/>
              <a:t>=</a:t>
            </a:r>
            <a:endParaRPr lang="zh-CN" altLang="en-US" sz="2800" dirty="0" smtClean="0"/>
          </a:p>
          <a:p>
            <a:pPr marL="901700" lvl="1" indent="-358775" eaLnBrk="1" hangingPunct="1">
              <a:buFontTx/>
              <a:buNone/>
              <a:defRPr/>
            </a:pPr>
            <a:r>
              <a:rPr lang="en-US" altLang="zh-CN" sz="2400" dirty="0" smtClean="0"/>
              <a:t>a = b </a:t>
            </a:r>
            <a:endParaRPr lang="en-US" altLang="zh-CN" sz="2400" dirty="0" smtClean="0"/>
          </a:p>
          <a:p>
            <a:pPr marL="357505" indent="-357505" eaLnBrk="1" hangingPunct="1">
              <a:defRPr/>
            </a:pPr>
            <a:r>
              <a:rPr lang="zh-CN" altLang="en-US" sz="2800" dirty="0" smtClean="0"/>
              <a:t>复合赋值操作符 </a:t>
            </a:r>
            <a:endParaRPr lang="zh-CN" altLang="en-US" sz="2800" dirty="0" smtClean="0"/>
          </a:p>
          <a:p>
            <a:pPr marL="901700" lvl="1" indent="-358775" eaLnBrk="1" hangingPunct="1">
              <a:buFontTx/>
              <a:buNone/>
              <a:defRPr/>
            </a:pPr>
            <a:r>
              <a:rPr lang="en-US" altLang="zh-CN" sz="2400" dirty="0" smtClean="0"/>
              <a:t>+=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-=</a:t>
            </a:r>
            <a:r>
              <a:rPr lang="zh-CN" altLang="en-US" sz="2400" dirty="0" smtClean="0"/>
              <a:t>，*</a:t>
            </a:r>
            <a:r>
              <a:rPr lang="en-US" altLang="zh-CN" sz="2400" dirty="0" smtClean="0"/>
              <a:t>=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/=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%=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&amp;=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|=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^=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&lt;&lt;=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&gt;&gt;= </a:t>
            </a:r>
            <a:endParaRPr lang="en-US" altLang="zh-CN" sz="2400" dirty="0" smtClean="0"/>
          </a:p>
          <a:p>
            <a:pPr marL="901700" lvl="1" indent="-358775" eaLnBrk="1" hangingPunct="1">
              <a:defRPr/>
            </a:pPr>
            <a:r>
              <a:rPr lang="en-US" altLang="zh-CN" sz="2400" dirty="0" smtClean="0"/>
              <a:t>a #= b  </a:t>
            </a:r>
            <a:r>
              <a:rPr lang="zh-CN" altLang="en-US" sz="2400" dirty="0" smtClean="0"/>
              <a:t>功能上等价于：</a:t>
            </a:r>
            <a:r>
              <a:rPr lang="en-US" altLang="zh-CN" sz="2400" dirty="0" smtClean="0"/>
              <a:t>a = a # (b)</a:t>
            </a:r>
            <a:endParaRPr lang="en-US" altLang="zh-CN" sz="2400" dirty="0" smtClean="0"/>
          </a:p>
          <a:p>
            <a:pPr marL="901700" lvl="1" indent="-358775" eaLnBrk="1" hangingPunct="1">
              <a:defRPr/>
            </a:pPr>
            <a:r>
              <a:rPr lang="zh-CN" altLang="en-US" sz="2400" dirty="0" smtClean="0"/>
              <a:t>有时能提高效率</a:t>
            </a:r>
            <a:endParaRPr lang="zh-CN" altLang="en-US" sz="2400" dirty="0" smtClean="0"/>
          </a:p>
          <a:p>
            <a:pPr marL="357505" indent="-357505" eaLnBrk="1" hangingPunct="1">
              <a:defRPr/>
            </a:pPr>
            <a:r>
              <a:rPr lang="zh-CN" altLang="en-US" sz="2800" dirty="0" smtClean="0"/>
              <a:t>赋值操作的第一个操作数通常为变量，第二个操作数为表达式。</a:t>
            </a:r>
            <a:endParaRPr lang="en-US" altLang="zh-CN" sz="2800" dirty="0" smtClean="0"/>
          </a:p>
          <a:p>
            <a:pPr marL="357505" indent="-357505" eaLnBrk="1" hangingPunct="1">
              <a:defRPr/>
            </a:pPr>
            <a:r>
              <a:rPr lang="zh-CN" altLang="en-US" sz="2800" dirty="0" smtClean="0"/>
              <a:t>赋值操作构成了冯</a:t>
            </a:r>
            <a:r>
              <a:rPr lang="en-US" altLang="zh-CN" sz="2800" dirty="0" smtClean="0"/>
              <a:t>•</a:t>
            </a:r>
            <a:r>
              <a:rPr lang="zh-CN" altLang="en-US" sz="2800" dirty="0" smtClean="0"/>
              <a:t>诺依曼计算模型的一个重要特征（</a:t>
            </a:r>
            <a:r>
              <a:rPr lang="zh-CN" altLang="en-US" sz="2800" dirty="0" smtClean="0">
                <a:solidFill>
                  <a:schemeClr val="folHlink"/>
                </a:solidFill>
              </a:rPr>
              <a:t>状态转换</a:t>
            </a:r>
            <a:r>
              <a:rPr lang="zh-CN" altLang="en-US" sz="2800" dirty="0" smtClean="0"/>
              <a:t>），同时，也构成了冯</a:t>
            </a:r>
            <a:r>
              <a:rPr lang="en-US" altLang="zh-CN" sz="2800" dirty="0" smtClean="0"/>
              <a:t>•</a:t>
            </a:r>
            <a:r>
              <a:rPr lang="zh-CN" altLang="en-US" sz="2800" dirty="0" smtClean="0"/>
              <a:t>诺依曼计算的一个瓶颈。</a:t>
            </a:r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55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其它操作符</a:t>
            </a:r>
            <a:endParaRPr lang="zh-CN" altLang="en-US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820150" cy="5589587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zh-CN" sz="2800" dirty="0" smtClean="0"/>
              <a:t> </a:t>
            </a:r>
            <a:r>
              <a:rPr lang="zh-CN" altLang="en-US" sz="2800" dirty="0" smtClean="0"/>
              <a:t>条件操作符（</a:t>
            </a:r>
            <a:r>
              <a:rPr lang="en-US" altLang="zh-CN" sz="2800" dirty="0" smtClean="0"/>
              <a:t>?:</a:t>
            </a:r>
            <a:r>
              <a:rPr lang="zh-CN" altLang="en-US" sz="2800" dirty="0" smtClean="0"/>
              <a:t>） </a:t>
            </a:r>
            <a:endParaRPr lang="zh-CN" altLang="en-US" sz="2800" dirty="0" smtClean="0"/>
          </a:p>
          <a:p>
            <a:pPr marL="901700" lvl="1" indent="-358775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smtClean="0"/>
              <a:t>d1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?</a:t>
            </a:r>
            <a:r>
              <a:rPr lang="en-US" altLang="zh-CN" sz="2400" dirty="0" smtClean="0"/>
              <a:t>d2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:</a:t>
            </a:r>
            <a:r>
              <a:rPr lang="en-US" altLang="zh-CN" sz="2400" dirty="0" smtClean="0"/>
              <a:t>d3  </a:t>
            </a:r>
            <a:endParaRPr lang="en-US" altLang="zh-CN" sz="2400" dirty="0" smtClean="0"/>
          </a:p>
          <a:p>
            <a:pPr marL="901700" lvl="1" indent="-358775" eaLnBrk="1" hangingPunct="1">
              <a:lnSpc>
                <a:spcPct val="90000"/>
              </a:lnSpc>
              <a:defRPr/>
            </a:pPr>
            <a:r>
              <a:rPr lang="en-US" altLang="zh-CN" sz="2400" dirty="0" smtClean="0"/>
              <a:t>d1</a:t>
            </a:r>
            <a:r>
              <a:rPr lang="zh-CN" altLang="en-US" sz="2400" dirty="0" smtClean="0"/>
              <a:t>表示条件，如果</a:t>
            </a:r>
            <a:r>
              <a:rPr lang="en-US" altLang="zh-CN" sz="2400" dirty="0" smtClean="0"/>
              <a:t>d1</a:t>
            </a:r>
            <a:r>
              <a:rPr lang="zh-CN" altLang="en-US" sz="2400" dirty="0" smtClean="0"/>
              <a:t>的值为</a:t>
            </a:r>
            <a:r>
              <a:rPr lang="en-US" altLang="zh-CN" sz="2400" dirty="0" smtClean="0"/>
              <a:t>true</a:t>
            </a:r>
            <a:r>
              <a:rPr lang="zh-CN" altLang="en-US" sz="2400" dirty="0" smtClean="0"/>
              <a:t>或非零，则运算结果为</a:t>
            </a:r>
            <a:r>
              <a:rPr lang="en-US" altLang="zh-CN" sz="2400" dirty="0" smtClean="0"/>
              <a:t>d2</a:t>
            </a:r>
            <a:r>
              <a:rPr lang="zh-CN" altLang="en-US" sz="2400" dirty="0" smtClean="0"/>
              <a:t>，否则为</a:t>
            </a:r>
            <a:r>
              <a:rPr lang="en-US" altLang="zh-CN" sz="2400" dirty="0" smtClean="0"/>
              <a:t>d3</a:t>
            </a:r>
            <a:r>
              <a:rPr lang="zh-CN" altLang="en-US" sz="2400" dirty="0" smtClean="0"/>
              <a:t>。例如：	</a:t>
            </a:r>
            <a:endParaRPr lang="en-US" altLang="zh-CN" sz="2400" dirty="0" smtClean="0"/>
          </a:p>
          <a:p>
            <a:pPr marL="542925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    c = (a&gt;b)?</a:t>
            </a:r>
            <a:r>
              <a:rPr lang="en-US" altLang="zh-CN" sz="2400" dirty="0" err="1" smtClean="0"/>
              <a:t>a:b</a:t>
            </a:r>
            <a:r>
              <a:rPr lang="en-US" altLang="zh-CN" sz="2400" dirty="0" smtClean="0"/>
              <a:t>  //a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中的大者赋值给</a:t>
            </a:r>
            <a:r>
              <a:rPr lang="en-US" altLang="zh-CN" sz="2400" dirty="0" smtClean="0"/>
              <a:t>c</a:t>
            </a:r>
            <a:endParaRPr lang="zh-CN" altLang="en-US" sz="2400" dirty="0" smtClean="0"/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 逗号操作符  </a:t>
            </a:r>
            <a:endParaRPr lang="zh-CN" altLang="en-US" sz="2800" dirty="0" smtClean="0"/>
          </a:p>
          <a:p>
            <a:pPr marL="901700" lvl="1" indent="-358775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smtClean="0"/>
              <a:t>d1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,</a:t>
            </a:r>
            <a:r>
              <a:rPr lang="en-US" altLang="zh-CN" sz="2400" dirty="0" smtClean="0"/>
              <a:t>d2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,</a:t>
            </a:r>
            <a:r>
              <a:rPr lang="en-US" altLang="zh-CN" sz="2400" dirty="0" smtClean="0"/>
              <a:t>d3</a:t>
            </a:r>
            <a:r>
              <a:rPr lang="en-US" altLang="zh-CN" sz="2400" b="1" dirty="0" smtClean="0">
                <a:solidFill>
                  <a:srgbClr val="FFC000"/>
                </a:solidFill>
              </a:rPr>
              <a:t>,</a:t>
            </a:r>
            <a:r>
              <a:rPr lang="en-US" altLang="zh-CN" sz="2400" dirty="0" smtClean="0"/>
              <a:t>... </a:t>
            </a:r>
            <a:endParaRPr lang="en-US" altLang="zh-CN" sz="2400" dirty="0" smtClean="0"/>
          </a:p>
          <a:p>
            <a:pPr marL="901700" lvl="1" indent="-358775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从左至右依次进行各个运算，操作结果为最后一个运算的结果。</a:t>
            </a:r>
            <a:endParaRPr lang="zh-CN" altLang="en-US" sz="2400" dirty="0" smtClean="0"/>
          </a:p>
          <a:p>
            <a:pPr marL="901700" lvl="1" indent="-358775" eaLnBrk="1" hangingPunct="1">
              <a:lnSpc>
                <a:spcPct val="90000"/>
              </a:lnSpc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逗号操作表示的计算更加清晰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例如，把</a:t>
            </a:r>
            <a:endParaRPr lang="zh-CN" altLang="en-US" sz="2400" dirty="0"/>
          </a:p>
          <a:p>
            <a:pPr marL="901700" lvl="1" indent="-358775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dirty="0"/>
              <a:t>		</a:t>
            </a:r>
            <a:r>
              <a:rPr lang="en-US" altLang="zh-CN" sz="2400" dirty="0"/>
              <a:t>z = </a:t>
            </a:r>
            <a:r>
              <a:rPr lang="en-US" altLang="zh-CN" sz="2400" dirty="0" err="1"/>
              <a:t>a+b+c+d</a:t>
            </a:r>
            <a:endParaRPr lang="en-US" altLang="zh-CN" sz="2400" dirty="0"/>
          </a:p>
          <a:p>
            <a:pPr marL="901700" lvl="1" indent="-358775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dirty="0" smtClean="0"/>
              <a:t>表示成：</a:t>
            </a:r>
            <a:endParaRPr lang="en-US" altLang="zh-CN" sz="2400" dirty="0" smtClean="0"/>
          </a:p>
          <a:p>
            <a:pPr marL="901700" lvl="1" indent="-358775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		x = </a:t>
            </a:r>
            <a:r>
              <a:rPr lang="en-US" altLang="zh-CN" sz="2400" dirty="0" err="1"/>
              <a:t>a+b</a:t>
            </a:r>
            <a:r>
              <a:rPr lang="en-US" altLang="zh-CN" sz="2400" dirty="0"/>
              <a:t>, y = </a:t>
            </a:r>
            <a:r>
              <a:rPr lang="en-US" altLang="zh-CN" sz="2400" dirty="0" err="1"/>
              <a:t>c+d</a:t>
            </a:r>
            <a:r>
              <a:rPr lang="en-US" altLang="zh-CN" sz="2400" dirty="0"/>
              <a:t>, z = </a:t>
            </a:r>
            <a:r>
              <a:rPr lang="en-US" altLang="zh-CN" sz="2400" dirty="0" err="1"/>
              <a:t>x+y</a:t>
            </a:r>
            <a:r>
              <a:rPr lang="zh-CN" altLang="en-US" sz="2400" dirty="0"/>
              <a:t>（</a:t>
            </a:r>
            <a:r>
              <a:rPr lang="en-US" altLang="zh-CN" sz="2400" dirty="0">
                <a:solidFill>
                  <a:srgbClr val="FFC000"/>
                </a:solidFill>
              </a:rPr>
              <a:t>z</a:t>
            </a:r>
            <a:r>
              <a:rPr lang="zh-CN" altLang="en-US" sz="2400" dirty="0">
                <a:solidFill>
                  <a:srgbClr val="FFC000"/>
                </a:solidFill>
              </a:rPr>
              <a:t>的值的含义更加清晰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defRPr/>
            </a:pPr>
            <a:r>
              <a:rPr lang="en-US" altLang="zh-CN" sz="2800" dirty="0"/>
              <a:t> </a:t>
            </a:r>
            <a:r>
              <a:rPr lang="en-US" altLang="zh-CN" sz="2800" dirty="0" err="1"/>
              <a:t>sizeof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marL="901700" lvl="1" indent="-358775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b="1" dirty="0" err="1">
                <a:solidFill>
                  <a:srgbClr val="FFC000"/>
                </a:solidFill>
              </a:rPr>
              <a:t>sizeof</a:t>
            </a:r>
            <a:r>
              <a:rPr lang="en-US" altLang="zh-CN" sz="2400" b="1" dirty="0">
                <a:solidFill>
                  <a:srgbClr val="FFC000"/>
                </a:solidFill>
              </a:rPr>
              <a:t>(</a:t>
            </a:r>
            <a:r>
              <a:rPr lang="en-US" altLang="zh-CN" sz="2400" dirty="0"/>
              <a:t>&lt;</a:t>
            </a:r>
            <a:r>
              <a:rPr lang="zh-CN" altLang="en-US" sz="2400" dirty="0"/>
              <a:t>类型名</a:t>
            </a:r>
            <a:r>
              <a:rPr lang="en-US" altLang="zh-CN" sz="2400" dirty="0"/>
              <a:t>&gt;</a:t>
            </a:r>
            <a:r>
              <a:rPr lang="en-US" altLang="zh-CN" sz="2400" b="1" dirty="0">
                <a:solidFill>
                  <a:srgbClr val="FFC000"/>
                </a:solidFill>
              </a:rPr>
              <a:t>)</a:t>
            </a:r>
            <a:r>
              <a:rPr lang="en-US" altLang="zh-CN" sz="2400" dirty="0">
                <a:solidFill>
                  <a:srgbClr val="FFC000"/>
                </a:solidFill>
              </a:rPr>
              <a:t>  </a:t>
            </a:r>
            <a:r>
              <a:rPr lang="zh-CN" altLang="en-US" sz="2400" dirty="0"/>
              <a:t>或</a:t>
            </a:r>
            <a:r>
              <a:rPr lang="zh-CN" altLang="en-US" sz="2400" dirty="0">
                <a:solidFill>
                  <a:srgbClr val="FFC000"/>
                </a:solidFill>
              </a:rPr>
              <a:t>  </a:t>
            </a:r>
            <a:r>
              <a:rPr lang="en-US" altLang="zh-CN" sz="2400" b="1" dirty="0" err="1">
                <a:solidFill>
                  <a:srgbClr val="FFC000"/>
                </a:solidFill>
              </a:rPr>
              <a:t>sizeof</a:t>
            </a:r>
            <a:r>
              <a:rPr lang="en-US" altLang="zh-CN" sz="2400" b="1" dirty="0">
                <a:solidFill>
                  <a:srgbClr val="FFC000"/>
                </a:solidFill>
              </a:rPr>
              <a:t>(</a:t>
            </a:r>
            <a:r>
              <a:rPr lang="en-US" altLang="zh-CN" sz="2400" dirty="0"/>
              <a:t>&lt;</a:t>
            </a:r>
            <a:r>
              <a:rPr lang="zh-CN" altLang="en-US" sz="2400" dirty="0"/>
              <a:t>表达式</a:t>
            </a:r>
            <a:r>
              <a:rPr lang="en-US" altLang="zh-CN" sz="2400" dirty="0"/>
              <a:t>&gt;</a:t>
            </a:r>
            <a:r>
              <a:rPr lang="en-US" altLang="zh-CN" sz="2400" b="1" dirty="0">
                <a:solidFill>
                  <a:srgbClr val="FFC000"/>
                </a:solidFill>
              </a:rPr>
              <a:t>) </a:t>
            </a:r>
            <a:endParaRPr lang="en-US" altLang="zh-CN" sz="2400" b="1" dirty="0">
              <a:solidFill>
                <a:srgbClr val="FFC000"/>
              </a:solidFill>
            </a:endParaRPr>
          </a:p>
          <a:p>
            <a:pPr marL="901700" lvl="1" indent="-358775" eaLnBrk="1" hangingPunct="1">
              <a:lnSpc>
                <a:spcPct val="90000"/>
              </a:lnSpc>
              <a:defRPr/>
            </a:pPr>
            <a:r>
              <a:rPr lang="zh-CN" altLang="en-US" sz="2400" dirty="0"/>
              <a:t>计算某类型的数据占用的内存大小（字节数）	</a:t>
            </a:r>
            <a:endParaRPr lang="en-US" altLang="zh-CN" dirty="0"/>
          </a:p>
          <a:p>
            <a:pPr marL="901700" lvl="1" indent="-358775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例如，</a:t>
            </a:r>
            <a:endParaRPr lang="en-US" altLang="zh-CN" sz="2400" dirty="0" smtClean="0"/>
          </a:p>
          <a:p>
            <a:pPr marL="1301750" lvl="2" indent="-358775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sizeof</a:t>
            </a:r>
            <a:r>
              <a:rPr lang="en-US" altLang="zh-CN" sz="2000" dirty="0" smtClean="0"/>
              <a:t>(char)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1</a:t>
            </a:r>
            <a:endParaRPr lang="en-US" altLang="zh-CN" sz="2000" dirty="0" smtClean="0"/>
          </a:p>
          <a:p>
            <a:pPr marL="1301750" lvl="2" indent="-358775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sizeof</a:t>
            </a:r>
            <a:r>
              <a:rPr lang="en-US" altLang="zh-CN" sz="2000" dirty="0" smtClean="0"/>
              <a:t>(short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2</a:t>
            </a:r>
            <a:endParaRPr lang="en-US" altLang="zh-CN" sz="2000" dirty="0" smtClean="0"/>
          </a:p>
          <a:p>
            <a:pPr marL="1301750" lvl="2" indent="-358775" eaLnBrk="1" hangingPunct="1">
              <a:lnSpc>
                <a:spcPct val="90000"/>
              </a:lnSpc>
              <a:defRPr/>
            </a:pPr>
            <a:r>
              <a:rPr lang="en-US" altLang="zh-CN" sz="2000" dirty="0" err="1" smtClean="0"/>
              <a:t>sizeof</a:t>
            </a:r>
            <a:r>
              <a:rPr lang="en-US" altLang="zh-CN" sz="2000" dirty="0" smtClean="0"/>
              <a:t>(long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4</a:t>
            </a:r>
            <a:endParaRPr lang="zh-CN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表达式</a:t>
            </a:r>
            <a:endParaRPr lang="zh-CN" altLang="en-US" smtClean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24744"/>
            <a:ext cx="8497639" cy="5589240"/>
          </a:xfrm>
        </p:spPr>
        <p:txBody>
          <a:bodyPr>
            <a:normAutofit fontScale="77500" lnSpcReduction="20000"/>
          </a:bodyPr>
          <a:lstStyle/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表达式</a:t>
            </a:r>
            <a:r>
              <a:rPr lang="zh-CN" altLang="en-US" dirty="0" smtClean="0"/>
              <a:t>是由操作符、操作数以及圆括号所组成的运算式。其中，操作数可以是常量、变量或函数调用，也可以是用圆括号括起来的其它表达式。例如：  </a:t>
            </a:r>
            <a:endParaRPr lang="zh-CN" altLang="en-US" dirty="0" smtClean="0"/>
          </a:p>
          <a:p>
            <a:pPr marL="993775" lvl="1" indent="-457200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(</a:t>
            </a:r>
            <a:r>
              <a:rPr lang="en-US" altLang="zh-CN" dirty="0" err="1" smtClean="0"/>
              <a:t>a+b</a:t>
            </a:r>
            <a:r>
              <a:rPr lang="en-US" altLang="zh-CN" dirty="0" smtClean="0"/>
              <a:t>)*c/12-max(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) </a:t>
            </a:r>
            <a:endParaRPr lang="en-US" altLang="zh-CN" dirty="0" smtClean="0"/>
          </a:p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 </a:t>
            </a:r>
            <a:r>
              <a:rPr lang="zh-CN" altLang="en-US" dirty="0" smtClean="0"/>
              <a:t>表达式类型</a:t>
            </a:r>
            <a:endParaRPr lang="zh-CN" altLang="en-US" dirty="0" smtClean="0"/>
          </a:p>
          <a:p>
            <a:pPr marL="793750" lvl="1" indent="-25717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算术表达式</a:t>
            </a:r>
            <a:r>
              <a:rPr lang="zh-CN" altLang="en-US" dirty="0" smtClean="0"/>
              <a:t>，例如：</a:t>
            </a:r>
            <a:endParaRPr lang="en-US" altLang="zh-CN" dirty="0" smtClean="0"/>
          </a:p>
          <a:p>
            <a:pPr marL="1193800" lvl="2" indent="-257175" eaLnBrk="1" hangingPunct="1">
              <a:lnSpc>
                <a:spcPct val="120000"/>
              </a:lnSpc>
              <a:defRPr/>
            </a:pPr>
            <a:r>
              <a:rPr lang="en-US" altLang="zh-CN" dirty="0"/>
              <a:t>(</a:t>
            </a:r>
            <a:r>
              <a:rPr lang="en-US" altLang="zh-CN" dirty="0" err="1"/>
              <a:t>a+b</a:t>
            </a:r>
            <a:r>
              <a:rPr lang="en-US" altLang="zh-CN" dirty="0"/>
              <a:t>)*c/12-max(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r>
              <a:rPr lang="en-US" altLang="zh-CN" dirty="0" smtClean="0"/>
              <a:t>  </a:t>
            </a:r>
            <a:endParaRPr lang="zh-CN" altLang="en-US" dirty="0" smtClean="0"/>
          </a:p>
          <a:p>
            <a:pPr marL="793750" lvl="1" indent="-25717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关系</a:t>
            </a:r>
            <a:r>
              <a:rPr lang="en-US" altLang="zh-CN" dirty="0" smtClean="0">
                <a:solidFill>
                  <a:srgbClr val="FFC000"/>
                </a:solidFill>
              </a:rPr>
              <a:t>/</a:t>
            </a:r>
            <a:r>
              <a:rPr lang="zh-CN" altLang="en-US" dirty="0" smtClean="0">
                <a:solidFill>
                  <a:srgbClr val="FFC000"/>
                </a:solidFill>
              </a:rPr>
              <a:t>逻辑表达式</a:t>
            </a:r>
            <a:r>
              <a:rPr lang="zh-CN" altLang="en-US" dirty="0" smtClean="0"/>
              <a:t>，例如：</a:t>
            </a:r>
            <a:endParaRPr lang="en-US" altLang="zh-CN" dirty="0" smtClean="0"/>
          </a:p>
          <a:p>
            <a:pPr marL="1193800" lvl="2" indent="-257175" eaLnBrk="1" hangingPunct="1">
              <a:lnSpc>
                <a:spcPct val="120000"/>
              </a:lnSpc>
              <a:defRPr/>
            </a:pPr>
            <a:r>
              <a:rPr lang="en-US" altLang="zh-CN" dirty="0"/>
              <a:t>(age &lt; 10) &amp;&amp; (weight &gt; 30) </a:t>
            </a:r>
            <a:endParaRPr lang="zh-CN" altLang="en-US" dirty="0" smtClean="0"/>
          </a:p>
          <a:p>
            <a:pPr marL="793750" lvl="1" indent="-257175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地址表达式</a:t>
            </a:r>
            <a:r>
              <a:rPr lang="zh-CN" altLang="en-US" dirty="0" smtClean="0"/>
              <a:t>，例如：</a:t>
            </a:r>
            <a:endParaRPr lang="en-US" altLang="zh-CN" dirty="0" smtClean="0"/>
          </a:p>
          <a:p>
            <a:pPr marL="1193800" lvl="2" indent="-257175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&amp;a[0]+2</a:t>
            </a:r>
            <a:endParaRPr lang="en-US" altLang="zh-CN" dirty="0" smtClean="0"/>
          </a:p>
          <a:p>
            <a:pPr marL="393700" indent="-257175" eaLnBrk="1" hangingPunct="1">
              <a:lnSpc>
                <a:spcPct val="120000"/>
              </a:lnSpc>
              <a:defRPr/>
            </a:pPr>
            <a:r>
              <a:rPr lang="zh-CN" altLang="en-US" dirty="0"/>
              <a:t>如果一个表达式中的操作数为常量或在编译时刻能够确定它的值（如：</a:t>
            </a:r>
            <a:r>
              <a:rPr lang="en-US" altLang="zh-CN" dirty="0" err="1"/>
              <a:t>sizeof</a:t>
            </a:r>
            <a:r>
              <a:rPr lang="zh-CN" altLang="en-US" dirty="0"/>
              <a:t>的操作结果），则该表达式又称为</a:t>
            </a:r>
            <a:r>
              <a:rPr lang="zh-CN" altLang="en-US" dirty="0">
                <a:solidFill>
                  <a:srgbClr val="FFC000"/>
                </a:solidFill>
              </a:rPr>
              <a:t>常量</a:t>
            </a:r>
            <a:r>
              <a:rPr lang="zh-CN" altLang="en-US" dirty="0" smtClean="0">
                <a:solidFill>
                  <a:srgbClr val="FFC000"/>
                </a:solidFill>
              </a:rPr>
              <a:t>表达式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操作符的优先级和结合性</a:t>
            </a:r>
            <a:endParaRPr lang="zh-CN" altLang="en-US" smtClean="0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12875"/>
            <a:ext cx="8748713" cy="5300663"/>
          </a:xfrm>
        </p:spPr>
        <p:txBody>
          <a:bodyPr>
            <a:normAutofit fontScale="85000" lnSpcReduction="20000"/>
          </a:bodyPr>
          <a:lstStyle/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一个表达式中可以包含多个操作符的运算，先执行哪一个操作符所指定的运算？</a:t>
            </a:r>
            <a:endParaRPr lang="zh-CN" altLang="en-US" dirty="0" smtClean="0"/>
          </a:p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对</a:t>
            </a:r>
            <a:r>
              <a:rPr lang="zh-CN" altLang="en-US" dirty="0" smtClean="0">
                <a:solidFill>
                  <a:schemeClr val="folHlink"/>
                </a:solidFill>
              </a:rPr>
              <a:t>相邻的</a:t>
            </a:r>
            <a:r>
              <a:rPr lang="zh-CN" altLang="en-US" dirty="0" smtClean="0"/>
              <a:t>两个操作符，按下面规则确定：</a:t>
            </a:r>
            <a:endParaRPr lang="zh-CN" altLang="en-US" dirty="0" smtClean="0"/>
          </a:p>
          <a:p>
            <a:pPr marL="981075" lvl="1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圆括号：圆括号内的先运算。</a:t>
            </a:r>
            <a:endParaRPr lang="en-US" altLang="zh-CN" dirty="0" smtClean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r>
              <a:rPr lang="en-US" altLang="zh-CN" dirty="0" smtClean="0"/>
              <a:t>a*(b</a:t>
            </a:r>
            <a:r>
              <a:rPr lang="en-US" altLang="zh-CN" dirty="0" smtClean="0">
                <a:solidFill>
                  <a:srgbClr val="FFC000"/>
                </a:solidFill>
              </a:rPr>
              <a:t>-</a:t>
            </a:r>
            <a:r>
              <a:rPr lang="en-US" altLang="zh-CN" dirty="0" smtClean="0"/>
              <a:t>c)</a:t>
            </a:r>
            <a:r>
              <a:rPr lang="zh-CN" altLang="en-US" dirty="0" smtClean="0"/>
              <a:t>，先算“</a:t>
            </a:r>
            <a:r>
              <a:rPr lang="en-US" altLang="zh-CN" dirty="0">
                <a:solidFill>
                  <a:srgbClr val="FFC000"/>
                </a:solidFill>
              </a:rPr>
              <a:t>-</a:t>
            </a:r>
            <a:r>
              <a:rPr lang="zh-CN" altLang="en-US" dirty="0" smtClean="0"/>
              <a:t>”</a:t>
            </a:r>
            <a:endParaRPr lang="zh-CN" altLang="en-US" dirty="0" smtClean="0">
              <a:solidFill>
                <a:srgbClr val="FFC000"/>
              </a:solidFill>
            </a:endParaRPr>
          </a:p>
          <a:p>
            <a:pPr marL="981075" lvl="1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优先级：优先级高的先运算。</a:t>
            </a:r>
            <a:endParaRPr lang="en-US" altLang="zh-CN" dirty="0" smtClean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r>
              <a:rPr lang="en-US" altLang="zh-CN" dirty="0" err="1" smtClean="0"/>
              <a:t>a+b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</a:t>
            </a:r>
            <a:r>
              <a:rPr lang="zh-CN" altLang="en-US" dirty="0"/>
              <a:t>先算</a:t>
            </a:r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FFC000"/>
                </a:solidFill>
              </a:rPr>
              <a:t>*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单</a:t>
            </a:r>
            <a:r>
              <a:rPr lang="zh-CN" altLang="en-US" dirty="0"/>
              <a:t>目、双目、三目、赋值依次降低。</a:t>
            </a:r>
            <a:endParaRPr lang="zh-CN" altLang="en-US" dirty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算术</a:t>
            </a:r>
            <a:r>
              <a:rPr lang="zh-CN" altLang="en-US" dirty="0"/>
              <a:t>、移位、关系、逻辑位、逻辑依次</a:t>
            </a:r>
            <a:r>
              <a:rPr lang="zh-CN" altLang="en-US" dirty="0" smtClean="0"/>
              <a:t>降低</a:t>
            </a:r>
            <a:endParaRPr lang="zh-CN" altLang="en-US" dirty="0" smtClean="0">
              <a:solidFill>
                <a:srgbClr val="FFC000"/>
              </a:solidFill>
            </a:endParaRPr>
          </a:p>
          <a:p>
            <a:pPr marL="981075" lvl="1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结合性：相同优先级按左结合或右结合。</a:t>
            </a:r>
            <a:endParaRPr lang="en-US" altLang="zh-CN" dirty="0" smtClean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r>
              <a:rPr lang="en-US" altLang="zh-CN" dirty="0" err="1" smtClean="0"/>
              <a:t>a</a:t>
            </a:r>
            <a:r>
              <a:rPr lang="en-US" altLang="zh-CN" dirty="0" err="1" smtClean="0">
                <a:solidFill>
                  <a:srgbClr val="FFC000"/>
                </a:solidFill>
              </a:rPr>
              <a:t>+</a:t>
            </a:r>
            <a:r>
              <a:rPr lang="en-US" altLang="zh-CN" dirty="0" err="1" smtClean="0"/>
              <a:t>b-c</a:t>
            </a:r>
            <a:r>
              <a:rPr lang="zh-CN" altLang="en-US" dirty="0" smtClean="0"/>
              <a:t>，先算“</a:t>
            </a:r>
            <a:r>
              <a:rPr lang="en-US" altLang="zh-CN" dirty="0" smtClean="0">
                <a:solidFill>
                  <a:srgbClr val="FFC000"/>
                </a:solidFill>
              </a:rPr>
              <a:t>+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pPr marL="1381125" lvl="2" indent="-358775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r>
              <a:rPr lang="en-US" altLang="zh-CN" dirty="0" smtClean="0"/>
              <a:t>a=b</a:t>
            </a:r>
            <a:r>
              <a:rPr lang="en-US" altLang="zh-CN" dirty="0" smtClean="0">
                <a:solidFill>
                  <a:srgbClr val="FFC000"/>
                </a:solidFill>
              </a:rPr>
              <a:t>=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，先算第二个“</a:t>
            </a:r>
            <a:r>
              <a:rPr lang="en-US" altLang="zh-CN" dirty="0" smtClean="0">
                <a:solidFill>
                  <a:srgbClr val="FFC000"/>
                </a:solidFill>
              </a:rPr>
              <a:t>=</a:t>
            </a:r>
            <a:r>
              <a:rPr lang="zh-CN" altLang="en-US" dirty="0" smtClean="0"/>
              <a:t>”</a:t>
            </a:r>
            <a:endParaRPr lang="zh-CN" altLang="en-US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505" indent="-357505" eaLnBrk="1" hangingPunct="1">
              <a:lnSpc>
                <a:spcPct val="120000"/>
              </a:lnSpc>
              <a:defRPr/>
            </a:pPr>
            <a:r>
              <a:rPr lang="zh-CN" altLang="en-US" dirty="0"/>
              <a:t>对</a:t>
            </a:r>
            <a:r>
              <a:rPr lang="zh-CN" altLang="en-US" dirty="0">
                <a:solidFill>
                  <a:schemeClr val="folHlink"/>
                </a:solidFill>
              </a:rPr>
              <a:t>不相邻</a:t>
            </a:r>
            <a:r>
              <a:rPr lang="zh-CN" altLang="en-US" dirty="0" smtClean="0">
                <a:solidFill>
                  <a:schemeClr val="folHlink"/>
                </a:solidFill>
              </a:rPr>
              <a:t>的</a:t>
            </a:r>
            <a:r>
              <a:rPr lang="zh-CN" altLang="en-US" dirty="0"/>
              <a:t>两个</a:t>
            </a:r>
            <a:r>
              <a:rPr lang="zh-CN" altLang="en-US" dirty="0" smtClean="0"/>
              <a:t>操作符</a:t>
            </a:r>
            <a:r>
              <a:rPr lang="zh-CN" altLang="en-US" dirty="0"/>
              <a:t>，</a:t>
            </a:r>
            <a:r>
              <a:rPr lang="en-US" altLang="zh-CN" dirty="0"/>
              <a:t>C++</a:t>
            </a:r>
            <a:r>
              <a:rPr lang="zh-CN" altLang="en-US" dirty="0"/>
              <a:t>一般没有规定计算次序（</a:t>
            </a:r>
            <a:r>
              <a:rPr lang="en-US" altLang="zh-CN" dirty="0"/>
              <a:t>&amp;&amp;</a:t>
            </a:r>
            <a:r>
              <a:rPr lang="zh-CN" altLang="en-US" dirty="0"/>
              <a:t>、</a:t>
            </a:r>
            <a:r>
              <a:rPr lang="en-US" altLang="zh-CN" dirty="0"/>
              <a:t>||</a:t>
            </a:r>
            <a:r>
              <a:rPr lang="zh-CN" altLang="en-US" dirty="0"/>
              <a:t>、</a:t>
            </a:r>
            <a:r>
              <a:rPr lang="en-US" altLang="zh-CN" dirty="0"/>
              <a:t>?:</a:t>
            </a:r>
            <a:r>
              <a:rPr lang="zh-CN" altLang="en-US" dirty="0"/>
              <a:t>和</a:t>
            </a:r>
            <a:r>
              <a:rPr lang="en-US" altLang="zh-CN" dirty="0"/>
              <a:t>,</a:t>
            </a:r>
            <a:r>
              <a:rPr lang="zh-CN" altLang="en-US" dirty="0"/>
              <a:t>操作符除外）</a:t>
            </a:r>
            <a:endParaRPr lang="zh-CN" altLang="en-US" dirty="0"/>
          </a:p>
          <a:p>
            <a:pPr marL="981075" lvl="1" indent="-358775" eaLnBrk="1" hangingPunct="1">
              <a:lnSpc>
                <a:spcPct val="120000"/>
              </a:lnSpc>
              <a:defRPr/>
            </a:pPr>
            <a:r>
              <a:rPr lang="zh-CN" altLang="en-US" dirty="0"/>
              <a:t>例如，对于：</a:t>
            </a:r>
            <a:r>
              <a:rPr lang="en-US" altLang="zh-CN" dirty="0"/>
              <a:t>(</a:t>
            </a:r>
            <a:r>
              <a:rPr lang="en-US" altLang="zh-CN" dirty="0" err="1"/>
              <a:t>a</a:t>
            </a:r>
            <a:r>
              <a:rPr lang="en-US" altLang="zh-CN" dirty="0" err="1">
                <a:solidFill>
                  <a:srgbClr val="FFC000"/>
                </a:solidFill>
              </a:rPr>
              <a:t>+</a:t>
            </a:r>
            <a:r>
              <a:rPr lang="en-US" altLang="zh-CN" dirty="0" err="1"/>
              <a:t>b</a:t>
            </a:r>
            <a:r>
              <a:rPr lang="en-US" altLang="zh-CN" dirty="0"/>
              <a:t>)*(c</a:t>
            </a:r>
            <a:r>
              <a:rPr lang="en-US" altLang="zh-CN" dirty="0">
                <a:solidFill>
                  <a:srgbClr val="FFC000"/>
                </a:solidFill>
              </a:rPr>
              <a:t>-</a:t>
            </a:r>
            <a:r>
              <a:rPr lang="en-US" altLang="zh-CN" dirty="0"/>
              <a:t>d)</a:t>
            </a:r>
            <a:r>
              <a:rPr lang="zh-CN" altLang="en-US" dirty="0"/>
              <a:t>，</a:t>
            </a:r>
            <a:r>
              <a:rPr lang="en-US" altLang="zh-CN" dirty="0"/>
              <a:t>C++</a:t>
            </a:r>
            <a:r>
              <a:rPr lang="zh-CN" altLang="en-US" dirty="0"/>
              <a:t>没有规定</a:t>
            </a:r>
            <a:r>
              <a:rPr lang="en-US" altLang="zh-CN" dirty="0"/>
              <a:t>+</a:t>
            </a:r>
            <a:r>
              <a:rPr lang="zh-CN" altLang="en-US" dirty="0"/>
              <a:t>和</a:t>
            </a:r>
            <a:r>
              <a:rPr lang="en-US" altLang="zh-CN" dirty="0"/>
              <a:t>-</a:t>
            </a:r>
            <a:r>
              <a:rPr lang="zh-CN" altLang="en-US" dirty="0"/>
              <a:t>的计算次序！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表达式的输出</a:t>
            </a:r>
            <a:endParaRPr lang="zh-CN" altLang="en-US" smtClean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785225" cy="5472113"/>
          </a:xfrm>
        </p:spPr>
        <p:txBody>
          <a:bodyPr/>
          <a:lstStyle/>
          <a:p>
            <a:pPr marL="357505" indent="-357505" eaLnBrk="1" hangingPunct="1"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提供了多种把计算结果输出到显示器的途径，最典型的途径是利用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标准库中定义的对象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cout</a:t>
            </a:r>
            <a:r>
              <a:rPr lang="zh-CN" altLang="en-US" sz="2800" dirty="0" smtClean="0"/>
              <a:t>和插入操作符</a:t>
            </a:r>
            <a:r>
              <a:rPr lang="zh-CN" altLang="en-US" sz="2800" dirty="0" smtClean="0">
                <a:latin typeface="Arial" panose="020B0604020202020204"/>
              </a:rPr>
              <a:t>“</a:t>
            </a:r>
            <a:r>
              <a:rPr lang="en-US" altLang="zh-CN" sz="2800" dirty="0" smtClean="0">
                <a:solidFill>
                  <a:srgbClr val="FFC000"/>
                </a:solidFill>
              </a:rPr>
              <a:t>&lt;&lt;</a:t>
            </a:r>
            <a:r>
              <a:rPr lang="en-US" altLang="zh-CN" sz="2800" dirty="0" smtClean="0">
                <a:latin typeface="Arial" panose="020B0604020202020204"/>
              </a:rPr>
              <a:t>”</a:t>
            </a:r>
            <a:r>
              <a:rPr lang="zh-CN" altLang="en-US" sz="2800" dirty="0" smtClean="0"/>
              <a:t>来实现，例如：</a:t>
            </a:r>
            <a:endParaRPr lang="zh-CN" altLang="en-US" sz="28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smtClean="0"/>
              <a:t>#include &lt;</a:t>
            </a:r>
            <a:r>
              <a:rPr lang="en-US" altLang="zh-CN" sz="2400" dirty="0" err="1" smtClean="0"/>
              <a:t>iostream</a:t>
            </a:r>
            <a:r>
              <a:rPr lang="en-US" altLang="zh-CN" sz="2400" dirty="0" smtClean="0"/>
              <a:t>&gt;</a:t>
            </a:r>
            <a:endParaRPr lang="en-US" altLang="zh-CN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smtClean="0"/>
              <a:t>using namespace </a:t>
            </a:r>
            <a:r>
              <a:rPr lang="en-US" altLang="zh-CN" sz="2400" dirty="0" err="1" smtClean="0"/>
              <a:t>std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smtClean="0"/>
              <a:t>......</a:t>
            </a:r>
            <a:endParaRPr lang="en-US" altLang="zh-CN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</a:t>
            </a:r>
            <a:r>
              <a:rPr lang="en-US" altLang="zh-CN" sz="2400" dirty="0" err="1" smtClean="0"/>
              <a:t>a+b</a:t>
            </a:r>
            <a:r>
              <a:rPr lang="en-US" altLang="zh-CN" sz="2400" dirty="0" smtClean="0"/>
              <a:t>*c</a:t>
            </a:r>
            <a:r>
              <a:rPr lang="zh-CN" altLang="en-GB" sz="2400" dirty="0" smtClean="0"/>
              <a:t>；</a:t>
            </a:r>
            <a:endParaRPr lang="zh-CN" altLang="en-US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a;</a:t>
            </a:r>
            <a:endParaRPr lang="en-US" altLang="zh-CN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b;</a:t>
            </a:r>
            <a:endParaRPr lang="en-US" altLang="zh-CN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 //</a:t>
            </a:r>
            <a:r>
              <a:rPr lang="zh-CN" altLang="en-US" sz="2400" dirty="0" smtClean="0"/>
              <a:t>输出一个换行符</a:t>
            </a:r>
            <a:endParaRPr lang="zh-CN" altLang="en-US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zh-CN" altLang="en-US" sz="2400" dirty="0" smtClean="0"/>
              <a:t>或</a:t>
            </a:r>
            <a:endParaRPr lang="zh-CN" altLang="en-US" sz="2400" dirty="0" smtClean="0"/>
          </a:p>
          <a:p>
            <a:pPr marL="981075" lvl="1" indent="-358775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</a:t>
            </a:r>
            <a:r>
              <a:rPr lang="en-US" altLang="zh-CN" sz="2400" dirty="0" err="1" smtClean="0"/>
              <a:t>a+b</a:t>
            </a:r>
            <a:r>
              <a:rPr lang="en-US" altLang="zh-CN" sz="2400" dirty="0" smtClean="0"/>
              <a:t>*c &lt;&lt; a &lt;&lt; b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GMwOGI0MDFlOGUxOGFhOGQ1Y2FmODNlN2E0MWRhYjIifQ=="/>
</p:tagLst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9022</Words>
  <Application>WPS 演示</Application>
  <PresentationFormat>全屏显示(4:3)</PresentationFormat>
  <Paragraphs>547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Arial</vt:lpstr>
      <vt:lpstr>微软雅黑</vt:lpstr>
      <vt:lpstr>Arial Unicode MS</vt:lpstr>
      <vt:lpstr>Calibri</vt:lpstr>
      <vt:lpstr>Globe</vt:lpstr>
      <vt:lpstr>二、简单数据的描述 −−基本数据类型和表达式</vt:lpstr>
      <vt:lpstr>主要内容</vt:lpstr>
      <vt:lpstr>数据类型</vt:lpstr>
      <vt:lpstr>数据类型的分类</vt:lpstr>
      <vt:lpstr>C++数据类型</vt:lpstr>
      <vt:lpstr>PowerPoint 演示文稿</vt:lpstr>
      <vt:lpstr>C++基本数据类型</vt:lpstr>
      <vt:lpstr>整数类型</vt:lpstr>
      <vt:lpstr>无符号整数类型</vt:lpstr>
      <vt:lpstr>PowerPoint 演示文稿</vt:lpstr>
      <vt:lpstr>实数类型</vt:lpstr>
      <vt:lpstr>字符类型</vt:lpstr>
      <vt:lpstr>常见的字符集及其编码</vt:lpstr>
      <vt:lpstr>常见的字符集及其编码（续）</vt:lpstr>
      <vt:lpstr>用char描述比short int范围更小的整数</vt:lpstr>
      <vt:lpstr>逻辑类型</vt:lpstr>
      <vt:lpstr>空值类型</vt:lpstr>
      <vt:lpstr>整型和算术类型</vt:lpstr>
      <vt:lpstr>typedef </vt:lpstr>
      <vt:lpstr>数据在程序中的表现形式</vt:lpstr>
      <vt:lpstr>常量</vt:lpstr>
      <vt:lpstr>字面常量（直接量）</vt:lpstr>
      <vt:lpstr>整数类型字面常量</vt:lpstr>
      <vt:lpstr>实数类型字面常量</vt:lpstr>
      <vt:lpstr>字符类型字面常量</vt:lpstr>
      <vt:lpstr>字符串类型字面常量</vt:lpstr>
      <vt:lpstr>符号常量（命名常量）</vt:lpstr>
      <vt:lpstr>PowerPoint 演示文稿</vt:lpstr>
      <vt:lpstr>使用符号常量的好处</vt:lpstr>
      <vt:lpstr>变量</vt:lpstr>
      <vt:lpstr>变量的基本属性</vt:lpstr>
      <vt:lpstr>PowerPoint 演示文稿</vt:lpstr>
      <vt:lpstr>变量的定义</vt:lpstr>
      <vt:lpstr>静态类型语言和动态类型语言</vt:lpstr>
      <vt:lpstr>静态类型语言的好处</vt:lpstr>
      <vt:lpstr>变量值的输入</vt:lpstr>
      <vt:lpstr>PowerPoint 演示文稿</vt:lpstr>
      <vt:lpstr>操作符（运算符）</vt:lpstr>
      <vt:lpstr>C++操作符的种类</vt:lpstr>
      <vt:lpstr>算术操作符</vt:lpstr>
      <vt:lpstr>算术操作符（续）</vt:lpstr>
      <vt:lpstr>关系操作符 </vt:lpstr>
      <vt:lpstr>逻辑操作符 </vt:lpstr>
      <vt:lpstr>赋值操作</vt:lpstr>
      <vt:lpstr>其它操作符</vt:lpstr>
      <vt:lpstr>PowerPoint 演示文稿</vt:lpstr>
      <vt:lpstr>表达式</vt:lpstr>
      <vt:lpstr>操作符的优先级和结合性</vt:lpstr>
      <vt:lpstr>PowerPoint 演示文稿</vt:lpstr>
      <vt:lpstr>表达式的输出</vt:lpstr>
    </vt:vector>
  </TitlesOfParts>
  <Company>Nanjing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Jiajun</dc:creator>
  <cp:lastModifiedBy>Ethereal_YC</cp:lastModifiedBy>
  <cp:revision>367</cp:revision>
  <dcterms:created xsi:type="dcterms:W3CDTF">2004-11-30T12:48:00Z</dcterms:created>
  <dcterms:modified xsi:type="dcterms:W3CDTF">2023-12-12T06:35:05Z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5B2EEEFF82C042088B0C4B13A2417ECB_12</vt:lpwstr>
  </property>
  <property fmtid="{D5CDD505-2E9C-101B-9397-08002B2CF9AE}" pid="3" name="KSOProductBuildVer">
    <vt:lpwstr>2052-12.1.0.15990</vt:lpwstr>
  </property>
</Properties>
</file>
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429" r:id="rId5"/>
    <p:sldId id="430" r:id="rId6"/>
    <p:sldId id="431" r:id="rId7"/>
    <p:sldId id="432" r:id="rId8"/>
    <p:sldId id="522" r:id="rId9"/>
    <p:sldId id="433" r:id="rId10"/>
    <p:sldId id="435" r:id="rId11"/>
    <p:sldId id="436" r:id="rId12"/>
    <p:sldId id="437" r:id="rId13"/>
    <p:sldId id="438" r:id="rId14"/>
    <p:sldId id="554" r:id="rId15"/>
    <p:sldId id="439" r:id="rId16"/>
    <p:sldId id="440" r:id="rId17"/>
    <p:sldId id="441" r:id="rId18"/>
    <p:sldId id="442" r:id="rId19"/>
    <p:sldId id="538" r:id="rId20"/>
    <p:sldId id="443" r:id="rId21"/>
    <p:sldId id="444" r:id="rId22"/>
    <p:sldId id="445" r:id="rId23"/>
  </p:sldIdLst>
  <p:sldSz cx="9144000" cy="6858000" type="screen4x3"/>
  <p:notesSz cx="6858000" cy="9144000"/>
  <p:custDataLst>
    <p:tags r:id="rId27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66C"/>
    <a:srgbClr val="004182"/>
    <a:srgbClr val="00458A"/>
    <a:srgbClr val="006BD6"/>
    <a:srgbClr val="0097E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89" autoAdjust="0"/>
    <p:restoredTop sz="94631" autoAdjust="0"/>
  </p:normalViewPr>
  <p:slideViewPr>
    <p:cSldViewPr showGuides="1">
      <p:cViewPr varScale="1">
        <p:scale>
          <a:sx n="88" d="100"/>
          <a:sy n="88" d="100"/>
        </p:scale>
        <p:origin x="72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/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/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/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/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/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/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/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/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/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/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/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/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/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/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/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/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/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/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/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6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5226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EEBD7-5845-4E60-BBD7-262F4E67B7C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93BE5-25B9-4E46-9719-636B716C80B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34684-A919-433B-A097-0069872919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C90531-C77A-4AE2-A46F-8B28207974D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AE0DBF-F0DD-433B-8161-8B7DF6F90F2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50FA3-EEFA-48A7-B1C9-DBFA2C89C01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3E317-59D3-4924-B226-9D29B63871B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4C726-A5EE-41BD-8271-8AFA102B9FF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D4DF25-4EAA-488A-8FC8-F8EB48AC41C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BCC80-A883-4A0B-A67B-6333767FF68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3C882-1FCC-4668-B769-60641EA0D41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75000"/>
              </a:schemeClr>
            </a:gs>
            <a:gs pos="80000">
              <a:schemeClr val="bg1">
                <a:gamma/>
                <a:shade val="39216"/>
                <a:invGamma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5120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/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51207" name="Freeform 7"/>
              <p:cNvSpPr/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8" name="Freeform 8"/>
              <p:cNvSpPr/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9" name="Freeform 9"/>
              <p:cNvSpPr/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0" name="Freeform 10"/>
              <p:cNvSpPr/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1" name="Freeform 11"/>
              <p:cNvSpPr/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2" name="Freeform 12"/>
              <p:cNvSpPr/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3" name="Freeform 13"/>
              <p:cNvSpPr/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4" name="Freeform 14"/>
              <p:cNvSpPr/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5" name="Freeform 15"/>
              <p:cNvSpPr/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6" name="Freeform 16"/>
              <p:cNvSpPr/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7" name="Freeform 17"/>
              <p:cNvSpPr/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8" name="Freeform 18"/>
              <p:cNvSpPr/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9" name="Freeform 19"/>
              <p:cNvSpPr/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122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/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/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/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3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5124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B8E69C5-826F-42B2-8B89-667026A6A0AC}" type="slidenum">
              <a:rPr lang="en-US" altLang="zh-CN"/>
            </a:fld>
            <a:endParaRPr lang="en-US" altLang="zh-CN"/>
          </a:p>
        </p:txBody>
      </p:sp>
      <p:sp>
        <p:nvSpPr>
          <p:cNvPr id="5124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4838"/>
            <a:ext cx="7772400" cy="13509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smtClean="0"/>
              <a:t>九、指针</a:t>
            </a:r>
            <a:r>
              <a:rPr lang="zh-CN" altLang="en-US" sz="4800" dirty="0" smtClean="0"/>
              <a:t>及其基本操作</a:t>
            </a:r>
            <a:endParaRPr lang="zh-CN" altLang="en-US" sz="4800" dirty="0" smtClean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  <a:endParaRPr lang="zh-CN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指针类型概述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指针类型的定义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指针的基本操作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指针类型概述</a:t>
            </a:r>
            <a:endParaRPr lang="zh-CN" altLang="en-US" smtClean="0"/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686800" cy="49244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需求：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如何把数据的地址传给一个函数，以提高参数传递的效率？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如何表示元素个数可变的复合数据？ </a:t>
            </a:r>
            <a:endParaRPr lang="zh-CN" altLang="en-US" sz="2400" dirty="0" smtClean="0"/>
          </a:p>
          <a:p>
            <a:pPr eaLnBrk="1" hangingPunct="1">
              <a:defRPr/>
            </a:pPr>
            <a:r>
              <a:rPr lang="zh-CN" altLang="en-US" sz="2800" dirty="0" smtClean="0">
                <a:solidFill>
                  <a:schemeClr val="folHlink"/>
                </a:solidFill>
              </a:rPr>
              <a:t>指针</a:t>
            </a:r>
            <a:r>
              <a:rPr lang="zh-CN" altLang="en-US" sz="2800" dirty="0">
                <a:solidFill>
                  <a:srgbClr val="FFC000"/>
                </a:solidFill>
              </a:rPr>
              <a:t>类型</a:t>
            </a:r>
            <a:r>
              <a:rPr lang="zh-CN" altLang="en-US" sz="2800" dirty="0" smtClean="0"/>
              <a:t>为解决上述问题提供了支持。</a:t>
            </a:r>
            <a:endParaRPr lang="zh-CN" altLang="en-US" sz="2800" dirty="0" smtClean="0"/>
          </a:p>
          <a:p>
            <a:pPr lvl="1" eaLnBrk="1" hangingPunct="1">
              <a:defRPr/>
            </a:pPr>
            <a:r>
              <a:rPr lang="zh-CN" altLang="en-US" sz="2400" dirty="0">
                <a:solidFill>
                  <a:srgbClr val="FFC000"/>
                </a:solidFill>
              </a:rPr>
              <a:t>指针</a:t>
            </a:r>
            <a:r>
              <a:rPr lang="zh-CN" altLang="en-US" sz="2400" dirty="0"/>
              <a:t>是内存地址的</a:t>
            </a:r>
            <a:r>
              <a:rPr lang="zh-CN" altLang="en-US" sz="2400" dirty="0" smtClean="0"/>
              <a:t>抽象，</a:t>
            </a:r>
            <a:r>
              <a:rPr lang="zh-CN" altLang="en-US" sz="2400" dirty="0"/>
              <a:t>一个指针代表了一个内存地址。 </a:t>
            </a:r>
            <a:endParaRPr lang="en-US" altLang="zh-CN" sz="2400" dirty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指针类型</a:t>
            </a:r>
            <a:r>
              <a:rPr lang="zh-CN" altLang="en-US" sz="2400" dirty="0" smtClean="0"/>
              <a:t>是一种用户自定义的简单类型，它的值集是由一些内存地址（指针）构成。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8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8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指针类型的定义</a:t>
            </a:r>
            <a:endParaRPr lang="zh-CN" altLang="en-US" smtClean="0"/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5257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指针类型的定义格式为：</a:t>
            </a:r>
            <a:endParaRPr lang="zh-CN" altLang="en-US" dirty="0" smtClean="0"/>
          </a:p>
          <a:p>
            <a:pPr lvl="1" eaLnBrk="1" hangingPunct="1">
              <a:buFontTx/>
              <a:buNone/>
              <a:defRPr/>
            </a:pPr>
            <a:r>
              <a:rPr lang="en-US" altLang="zh-CN" dirty="0" err="1" smtClean="0">
                <a:solidFill>
                  <a:srgbClr val="FFC000"/>
                </a:solidFill>
              </a:rPr>
              <a:t>typedef</a:t>
            </a:r>
            <a:r>
              <a:rPr lang="en-US" altLang="zh-CN" dirty="0" smtClean="0"/>
              <a:t> &lt;</a:t>
            </a:r>
            <a:r>
              <a:rPr lang="zh-CN" altLang="en-US" dirty="0" smtClean="0"/>
              <a:t>类型</a:t>
            </a:r>
            <a:r>
              <a:rPr lang="en-US" altLang="zh-CN" dirty="0" smtClean="0"/>
              <a:t>&gt; </a:t>
            </a: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en-US" altLang="zh-CN" dirty="0" smtClean="0"/>
              <a:t>&lt;</a:t>
            </a:r>
            <a:r>
              <a:rPr lang="zh-CN" altLang="en-US" dirty="0" smtClean="0"/>
              <a:t>指针类型名</a:t>
            </a:r>
            <a:r>
              <a:rPr lang="en-US" altLang="zh-CN" dirty="0" smtClean="0"/>
              <a:t>&gt;</a:t>
            </a:r>
            <a:r>
              <a:rPr lang="en-US" altLang="zh-CN" dirty="0" smtClean="0">
                <a:solidFill>
                  <a:srgbClr val="FFC000"/>
                </a:solidFill>
              </a:rPr>
              <a:t>;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 eaLnBrk="1" hangingPunct="1">
              <a:defRPr/>
            </a:pPr>
            <a:r>
              <a:rPr lang="zh-CN" altLang="en-US" dirty="0" smtClean="0"/>
              <a:t>其中，</a:t>
            </a:r>
            <a:r>
              <a:rPr lang="en-US" altLang="zh-CN" dirty="0" smtClean="0"/>
              <a:t>&lt;</a:t>
            </a:r>
            <a:r>
              <a:rPr lang="zh-CN" altLang="en-US" dirty="0" smtClean="0"/>
              <a:t>指针类型名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表示一个指针类型，其值集为所有</a:t>
            </a:r>
            <a:r>
              <a:rPr lang="en-US" altLang="zh-CN" dirty="0" smtClean="0"/>
              <a:t>&lt;</a:t>
            </a:r>
            <a:r>
              <a:rPr lang="zh-CN" altLang="en-US" dirty="0" smtClean="0"/>
              <a:t>类型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数据的</a:t>
            </a:r>
            <a:r>
              <a:rPr lang="zh-CN" altLang="en-US" dirty="0"/>
              <a:t>内存</a:t>
            </a:r>
            <a:r>
              <a:rPr lang="zh-CN" altLang="en-US" dirty="0" smtClean="0"/>
              <a:t>地址。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例如，下面</a:t>
            </a:r>
            <a:r>
              <a:rPr lang="zh-CN" altLang="en-US" dirty="0"/>
              <a:t>定义了一个指针类型</a:t>
            </a:r>
            <a:r>
              <a:rPr lang="en-US" altLang="zh-CN" dirty="0"/>
              <a:t>Pointer</a:t>
            </a:r>
            <a:r>
              <a:rPr lang="zh-CN" altLang="en-US" dirty="0"/>
              <a:t>，其值集为所有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型数据的内存地址</a:t>
            </a:r>
            <a:r>
              <a:rPr lang="zh-CN" altLang="en-US" dirty="0"/>
              <a:t>：</a:t>
            </a:r>
            <a:endParaRPr lang="zh-CN" altLang="en-US" dirty="0" smtClean="0"/>
          </a:p>
          <a:p>
            <a:pPr lvl="1" eaLnBrk="1" hangingPunct="1">
              <a:buFontTx/>
              <a:buNone/>
              <a:defRPr/>
            </a:pPr>
            <a:r>
              <a:rPr lang="en-US" altLang="zh-CN" dirty="0" err="1" smtClean="0"/>
              <a:t>typedef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*</a:t>
            </a:r>
            <a:r>
              <a:rPr lang="en-US" altLang="zh-CN" dirty="0" smtClean="0">
                <a:solidFill>
                  <a:srgbClr val="FFC000"/>
                </a:solidFill>
              </a:rPr>
              <a:t>Pointer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lvl="1" eaLnBrk="1" hangingPunct="1">
              <a:defRPr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指针类型变量的定义</a:t>
            </a:r>
            <a:endParaRPr lang="zh-CN" altLang="en-US" dirty="0" smtClean="0"/>
          </a:p>
        </p:txBody>
      </p:sp>
      <p:sp>
        <p:nvSpPr>
          <p:cNvPr id="4003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1520" y="1268412"/>
            <a:ext cx="8435280" cy="540094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指针类型变量（简称：指针变量）的定义格式：</a:t>
            </a:r>
            <a:endParaRPr lang="zh-CN" altLang="en-US" sz="28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&lt;</a:t>
            </a:r>
            <a:r>
              <a:rPr lang="zh-CN" altLang="en-US" sz="2400" dirty="0" smtClean="0"/>
              <a:t>指针类型名</a:t>
            </a:r>
            <a:r>
              <a:rPr lang="en-US" altLang="zh-CN" sz="2400" dirty="0" smtClean="0"/>
              <a:t>&gt; &lt;</a:t>
            </a:r>
            <a:r>
              <a:rPr lang="zh-CN" altLang="en-US" sz="2400" dirty="0" smtClean="0"/>
              <a:t>指针变量名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;</a:t>
            </a:r>
            <a:endParaRPr lang="zh-CN" altLang="en-US" sz="2400" dirty="0" smtClean="0">
              <a:solidFill>
                <a:srgbClr val="FFC000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dirty="0" smtClean="0"/>
              <a:t>或</a:t>
            </a:r>
            <a:endParaRPr lang="zh-CN" altLang="en-US" sz="2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&lt;</a:t>
            </a:r>
            <a:r>
              <a:rPr lang="zh-CN" altLang="en-US" sz="2400" dirty="0" smtClean="0"/>
              <a:t>类型</a:t>
            </a:r>
            <a:r>
              <a:rPr lang="en-US" altLang="zh-CN" sz="2400" dirty="0" smtClean="0"/>
              <a:t>&gt; </a:t>
            </a:r>
            <a:r>
              <a:rPr lang="en-US" altLang="zh-CN" sz="2400" dirty="0" smtClean="0">
                <a:solidFill>
                  <a:srgbClr val="FFC000"/>
                </a:solidFill>
              </a:rPr>
              <a:t>*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指针变量名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; </a:t>
            </a:r>
            <a:r>
              <a:rPr lang="en-US" altLang="zh-CN" sz="2400" dirty="0" smtClean="0"/>
              <a:t>//</a:t>
            </a:r>
            <a:r>
              <a:rPr lang="zh-CN" altLang="en-US" sz="2400" dirty="0" smtClean="0">
                <a:solidFill>
                  <a:srgbClr val="FFC000"/>
                </a:solidFill>
              </a:rPr>
              <a:t>指针类型与变量定义合一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例如，下面定义了一个指针类型变量</a:t>
            </a:r>
            <a:r>
              <a:rPr lang="en-US" altLang="zh-CN" sz="2800" dirty="0" smtClean="0"/>
              <a:t>p</a:t>
            </a:r>
            <a:r>
              <a:rPr lang="zh-CN" altLang="en-US" sz="2800" dirty="0" smtClean="0"/>
              <a:t>：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 err="1" smtClean="0"/>
              <a:t>typedef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*Pointer;</a:t>
            </a:r>
            <a:endParaRPr lang="en-US" altLang="zh-CN" sz="2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Pointer </a:t>
            </a:r>
            <a:r>
              <a:rPr lang="en-US" altLang="zh-CN" sz="2400" dirty="0" smtClean="0">
                <a:solidFill>
                  <a:srgbClr val="FFC000"/>
                </a:solidFill>
              </a:rPr>
              <a:t>p</a:t>
            </a:r>
            <a:r>
              <a:rPr lang="en-US" altLang="zh-CN" sz="2400" dirty="0" smtClean="0"/>
              <a:t>; //p</a:t>
            </a:r>
            <a:r>
              <a:rPr lang="zh-CN" altLang="en-US" sz="2400" dirty="0" smtClean="0"/>
              <a:t>为一个指向整数类型数据的</a:t>
            </a:r>
            <a:r>
              <a:rPr lang="zh-CN" altLang="en-US" sz="2400" dirty="0" smtClean="0">
                <a:solidFill>
                  <a:srgbClr val="FFC000"/>
                </a:solidFill>
              </a:rPr>
              <a:t>指针变量</a:t>
            </a:r>
            <a:endParaRPr lang="zh-CN" altLang="en-US" sz="2400" dirty="0" smtClean="0">
              <a:solidFill>
                <a:srgbClr val="FFC000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dirty="0" smtClean="0"/>
              <a:t>或</a:t>
            </a:r>
            <a:endParaRPr lang="zh-CN" altLang="en-US" sz="2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</a:t>
            </a:r>
            <a:r>
              <a:rPr lang="en-US" altLang="zh-CN" sz="2400" dirty="0" smtClean="0">
                <a:solidFill>
                  <a:srgbClr val="FFC000"/>
                </a:solidFill>
              </a:rPr>
              <a:t>p</a:t>
            </a:r>
            <a:r>
              <a:rPr lang="en-US" altLang="zh-CN" sz="2400" dirty="0" smtClean="0"/>
              <a:t>; //p</a:t>
            </a:r>
            <a:r>
              <a:rPr lang="zh-CN" altLang="en-US" sz="2400" dirty="0" smtClean="0"/>
              <a:t>为一个指向整数类型数据的</a:t>
            </a:r>
            <a:r>
              <a:rPr lang="zh-CN" altLang="en-US" sz="2400" dirty="0" smtClean="0">
                <a:solidFill>
                  <a:srgbClr val="FFC000"/>
                </a:solidFill>
              </a:rPr>
              <a:t>指针变量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>
                <a:solidFill>
                  <a:schemeClr val="folHlink"/>
                </a:solidFill>
              </a:rPr>
              <a:t>注意</a:t>
            </a:r>
            <a:r>
              <a:rPr lang="zh-CN" altLang="en-US" sz="2800" dirty="0"/>
              <a:t>：指针变量拥有自己的内存空间，在该空间中存储的是另一个变量的内存地址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96752"/>
            <a:ext cx="8229600" cy="525643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 smtClean="0"/>
              <a:t>在一个定义中定义多个指针变量：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*p,*q;  //p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q</a:t>
            </a:r>
            <a:r>
              <a:rPr lang="zh-CN" altLang="en-US" dirty="0" smtClean="0"/>
              <a:t>均为指针变量 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</a:t>
            </a:r>
            <a:r>
              <a:rPr lang="en-US" altLang="zh-CN" dirty="0" err="1" smtClean="0"/>
              <a:t>p,q</a:t>
            </a:r>
            <a:r>
              <a:rPr lang="en-US" altLang="zh-CN" dirty="0" smtClean="0"/>
              <a:t>;  //p</a:t>
            </a:r>
            <a:r>
              <a:rPr lang="zh-CN" altLang="en-US" dirty="0" smtClean="0"/>
              <a:t>为指针变量，</a:t>
            </a:r>
            <a:r>
              <a:rPr lang="en-US" altLang="zh-CN" dirty="0" smtClean="0"/>
              <a:t>q</a:t>
            </a:r>
            <a:r>
              <a:rPr lang="zh-CN" altLang="en-US" dirty="0" smtClean="0"/>
              <a:t>为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型变量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* </a:t>
            </a:r>
            <a:r>
              <a:rPr lang="en-US" altLang="zh-CN" dirty="0" err="1" smtClean="0"/>
              <a:t>p,q</a:t>
            </a:r>
            <a:r>
              <a:rPr lang="en-US" altLang="zh-CN" dirty="0" smtClean="0"/>
              <a:t>;  //p</a:t>
            </a:r>
            <a:r>
              <a:rPr lang="zh-CN" altLang="en-US" dirty="0" smtClean="0"/>
              <a:t>为指针变量，</a:t>
            </a:r>
            <a:r>
              <a:rPr lang="en-US" altLang="zh-CN" dirty="0" smtClean="0"/>
              <a:t>q</a:t>
            </a:r>
            <a:r>
              <a:rPr lang="zh-CN" altLang="en-US" dirty="0" smtClean="0"/>
              <a:t>仍然为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型变量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en-US" altLang="zh-CN" dirty="0" err="1" smtClean="0"/>
              <a:t>typedef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* Pointer; 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Pointer </a:t>
            </a:r>
            <a:r>
              <a:rPr lang="en-US" altLang="zh-CN" dirty="0" err="1" smtClean="0"/>
              <a:t>p,q</a:t>
            </a:r>
            <a:r>
              <a:rPr lang="en-US" altLang="zh-CN" dirty="0" smtClean="0"/>
              <a:t>;  //p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q</a:t>
            </a:r>
            <a:r>
              <a:rPr lang="zh-CN" altLang="en-US" dirty="0" smtClean="0"/>
              <a:t>均为指针类型的变量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28736"/>
            <a:ext cx="8229600" cy="382845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可以通过操作符“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”来获取一个变量的内存地址</a:t>
            </a:r>
            <a:r>
              <a:rPr lang="zh-CN" altLang="en-US" dirty="0"/>
              <a:t>：</a:t>
            </a:r>
            <a:endParaRPr lang="zh-CN" altLang="en-US" dirty="0"/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en-US" altLang="zh-CN" dirty="0">
                <a:solidFill>
                  <a:schemeClr val="folHlink"/>
                </a:solidFill>
              </a:rPr>
              <a:t>&amp;</a:t>
            </a:r>
            <a:r>
              <a:rPr lang="en-US" altLang="zh-CN" dirty="0"/>
              <a:t>&lt;</a:t>
            </a:r>
            <a:r>
              <a:rPr lang="zh-CN" altLang="en-US" dirty="0"/>
              <a:t>变量名</a:t>
            </a:r>
            <a:r>
              <a:rPr lang="en-US" altLang="zh-CN" dirty="0" smtClean="0"/>
              <a:t>&gt;</a:t>
            </a:r>
            <a:endParaRPr lang="en-US" altLang="zh-CN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endParaRPr lang="zh-CN" altLang="en-US" dirty="0"/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x=1;</a:t>
            </a:r>
            <a:endParaRPr lang="en-US" altLang="zh-CN" dirty="0" smtClean="0"/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</a:t>
            </a:r>
            <a:r>
              <a:rPr lang="en-US" altLang="zh-CN" dirty="0" smtClean="0">
                <a:solidFill>
                  <a:srgbClr val="FFC000"/>
                </a:solidFill>
              </a:rPr>
              <a:t>p</a:t>
            </a:r>
            <a:r>
              <a:rPr lang="en-US" altLang="zh-CN" dirty="0" smtClean="0"/>
              <a:t>=</a:t>
            </a:r>
            <a:r>
              <a:rPr lang="en-US" altLang="zh-CN" dirty="0" smtClean="0">
                <a:solidFill>
                  <a:srgbClr val="FFC000"/>
                </a:solidFill>
              </a:rPr>
              <a:t>&amp;</a:t>
            </a:r>
            <a:r>
              <a:rPr lang="en-US" altLang="zh-CN" dirty="0"/>
              <a:t>x</a:t>
            </a:r>
            <a:r>
              <a:rPr lang="en-US" altLang="zh-CN" dirty="0" smtClean="0"/>
              <a:t>; //p</a:t>
            </a:r>
            <a:r>
              <a:rPr lang="zh-CN" altLang="en-US" dirty="0" smtClean="0"/>
              <a:t>是个指针变量，它的值是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的地址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图示为：</a:t>
            </a:r>
            <a:endParaRPr lang="en-US" altLang="zh-CN" dirty="0" smtClean="0"/>
          </a:p>
        </p:txBody>
      </p:sp>
      <p:sp>
        <p:nvSpPr>
          <p:cNvPr id="88068" name="Rectangle 2"/>
          <p:cNvSpPr>
            <a:spLocks noChangeArrowheads="1"/>
          </p:cNvSpPr>
          <p:nvPr/>
        </p:nvSpPr>
        <p:spPr bwMode="auto">
          <a:xfrm>
            <a:off x="1044576" y="5822975"/>
            <a:ext cx="1151160" cy="3603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2886076" y="5803894"/>
            <a:ext cx="1284288" cy="40011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/>
              <a:t>1</a:t>
            </a:r>
            <a:endParaRPr lang="en-US" altLang="zh-CN" sz="2000" dirty="0"/>
          </a:p>
        </p:txBody>
      </p:sp>
      <p:sp>
        <p:nvSpPr>
          <p:cNvPr id="88070" name="Line 6"/>
          <p:cNvSpPr>
            <a:spLocks noChangeShapeType="1"/>
          </p:cNvSpPr>
          <p:nvPr/>
        </p:nvSpPr>
        <p:spPr bwMode="auto">
          <a:xfrm>
            <a:off x="1662113" y="5967437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88071" name="Text Box 7"/>
          <p:cNvSpPr txBox="1">
            <a:spLocks noChangeArrowheads="1"/>
          </p:cNvSpPr>
          <p:nvPr/>
        </p:nvSpPr>
        <p:spPr bwMode="auto">
          <a:xfrm>
            <a:off x="900113" y="5292750"/>
            <a:ext cx="1554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C000"/>
                </a:solidFill>
              </a:rPr>
              <a:t>p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  <p:sp>
        <p:nvSpPr>
          <p:cNvPr id="88072" name="Text Box 8"/>
          <p:cNvSpPr txBox="1">
            <a:spLocks noChangeArrowheads="1"/>
          </p:cNvSpPr>
          <p:nvPr/>
        </p:nvSpPr>
        <p:spPr bwMode="auto">
          <a:xfrm>
            <a:off x="3203848" y="5292750"/>
            <a:ext cx="6358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88073" name="Rectangle 5"/>
          <p:cNvSpPr>
            <a:spLocks noChangeArrowheads="1"/>
          </p:cNvSpPr>
          <p:nvPr/>
        </p:nvSpPr>
        <p:spPr bwMode="auto">
          <a:xfrm>
            <a:off x="6959601" y="5803894"/>
            <a:ext cx="1284808" cy="40011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/>
              <a:t>1</a:t>
            </a:r>
            <a:endParaRPr lang="en-US" altLang="zh-CN" sz="2000" dirty="0"/>
          </a:p>
        </p:txBody>
      </p:sp>
      <p:sp>
        <p:nvSpPr>
          <p:cNvPr id="88074" name="Line 6"/>
          <p:cNvSpPr>
            <a:spLocks noChangeShapeType="1"/>
          </p:cNvSpPr>
          <p:nvPr/>
        </p:nvSpPr>
        <p:spPr bwMode="auto">
          <a:xfrm>
            <a:off x="5735638" y="5967437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88075" name="Text Box 7"/>
          <p:cNvSpPr txBox="1">
            <a:spLocks noChangeArrowheads="1"/>
          </p:cNvSpPr>
          <p:nvPr/>
        </p:nvSpPr>
        <p:spPr bwMode="auto">
          <a:xfrm>
            <a:off x="4787900" y="5726137"/>
            <a:ext cx="155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C000"/>
                </a:solidFill>
              </a:rPr>
              <a:t>p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  <p:sp>
        <p:nvSpPr>
          <p:cNvPr id="88076" name="Text Box 8"/>
          <p:cNvSpPr txBox="1">
            <a:spLocks noChangeArrowheads="1"/>
          </p:cNvSpPr>
          <p:nvPr/>
        </p:nvSpPr>
        <p:spPr bwMode="auto">
          <a:xfrm>
            <a:off x="7248524" y="5292750"/>
            <a:ext cx="6358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x</a:t>
            </a:r>
            <a:endParaRPr lang="zh-CN" altLang="en-US" sz="2400" dirty="0"/>
          </a:p>
        </p:txBody>
      </p:sp>
      <p:sp>
        <p:nvSpPr>
          <p:cNvPr id="88077" name="TextBox 13"/>
          <p:cNvSpPr txBox="1">
            <a:spLocks noChangeArrowheads="1"/>
          </p:cNvSpPr>
          <p:nvPr/>
        </p:nvSpPr>
        <p:spPr bwMode="auto">
          <a:xfrm>
            <a:off x="4446588" y="5751537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/>
              <a:t>或</a:t>
            </a:r>
            <a:endParaRPr lang="zh-CN" altLang="en-US" sz="2400"/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获取一个变量的内存地址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指针类型的基本操作</a:t>
            </a:r>
            <a:endParaRPr lang="zh-CN" altLang="en-US" smtClean="0"/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赋值</a:t>
            </a:r>
            <a:endParaRPr lang="zh-CN" altLang="en-US" dirty="0" smtClean="0"/>
          </a:p>
          <a:p>
            <a:pPr eaLnBrk="1" hangingPunct="1">
              <a:defRPr/>
            </a:pPr>
            <a:r>
              <a:rPr lang="zh-CN" altLang="en-US" dirty="0" smtClean="0"/>
              <a:t>间接访问</a:t>
            </a:r>
            <a:endParaRPr lang="zh-CN" altLang="en-US" dirty="0" smtClean="0"/>
          </a:p>
          <a:p>
            <a:pPr eaLnBrk="1" hangingPunct="1">
              <a:defRPr/>
            </a:pPr>
            <a:r>
              <a:rPr lang="zh-CN" altLang="en-US" dirty="0" smtClean="0"/>
              <a:t>指针运算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196752"/>
            <a:ext cx="8305800" cy="5589811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x,*p,*p1;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double y,*q;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p = &amp;x;  //OK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</a:t>
            </a:r>
            <a:r>
              <a:rPr lang="zh-CN" altLang="en-US" dirty="0" smtClean="0"/>
              <a:t>指向</a:t>
            </a:r>
            <a:r>
              <a:rPr lang="en-US" altLang="zh-CN" dirty="0" smtClean="0"/>
              <a:t>x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q = &amp;y;  //OK</a:t>
            </a:r>
            <a:r>
              <a:rPr lang="zh-CN" altLang="en-US" dirty="0" smtClean="0"/>
              <a:t>，</a:t>
            </a:r>
            <a:r>
              <a:rPr lang="en-US" altLang="zh-CN" dirty="0" smtClean="0"/>
              <a:t>q</a:t>
            </a:r>
            <a:r>
              <a:rPr lang="zh-CN" altLang="en-US" dirty="0" smtClean="0"/>
              <a:t>指向</a:t>
            </a:r>
            <a:r>
              <a:rPr lang="en-US" altLang="zh-CN" dirty="0" smtClean="0"/>
              <a:t>y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p = &amp;y; 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  <a:r>
              <a:rPr lang="zh-CN" altLang="en-US" dirty="0" smtClean="0"/>
              <a:t>，类型不一致。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q = &amp;x; 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  <a:r>
              <a:rPr lang="zh-CN" altLang="en-US" dirty="0" smtClean="0"/>
              <a:t>，类型不一致。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p1 = p;  //OK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p1</a:t>
            </a:r>
            <a:r>
              <a:rPr lang="zh-CN" altLang="en-US" dirty="0" smtClean="0"/>
              <a:t>指向</a:t>
            </a:r>
            <a:r>
              <a:rPr lang="en-US" altLang="zh-CN" dirty="0" smtClean="0"/>
              <a:t>p</a:t>
            </a:r>
            <a:r>
              <a:rPr lang="zh-CN" altLang="en-US" dirty="0" smtClean="0"/>
              <a:t>所指向的变量。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p1 = q; 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  <a:r>
              <a:rPr lang="zh-CN" altLang="en-US" dirty="0" smtClean="0"/>
              <a:t>，类型不一致。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p = 0;   //OK</a:t>
            </a:r>
            <a:r>
              <a:rPr lang="zh-CN" altLang="en-US" dirty="0" smtClean="0"/>
              <a:t>，使得</a:t>
            </a:r>
            <a:r>
              <a:rPr lang="en-US" altLang="zh-CN" dirty="0" smtClean="0"/>
              <a:t>p</a:t>
            </a:r>
            <a:r>
              <a:rPr lang="zh-CN" altLang="en-US" dirty="0" smtClean="0"/>
              <a:t>不指向任何变量。或者，写成：</a:t>
            </a:r>
            <a:r>
              <a:rPr lang="en-US" altLang="zh-CN" dirty="0" smtClean="0"/>
              <a:t>p = NULL; 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p = 120; 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120</a:t>
            </a:r>
            <a:r>
              <a:rPr lang="zh-CN" altLang="en-US" dirty="0" smtClean="0"/>
              <a:t>为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型。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p =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*)120;  //OK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rgbClr val="FFC000"/>
                </a:solidFill>
              </a:rPr>
              <a:t>不建议使用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void </a:t>
            </a:r>
            <a:r>
              <a:rPr lang="en-US" altLang="zh-CN" dirty="0"/>
              <a:t>*</a:t>
            </a:r>
            <a:r>
              <a:rPr lang="en-US" altLang="zh-CN" dirty="0" err="1"/>
              <a:t>any_pointer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通用指针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any_pointer</a:t>
            </a:r>
            <a:r>
              <a:rPr lang="en-US" altLang="zh-CN" dirty="0"/>
              <a:t> = &amp;x;  //OK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any_pointer</a:t>
            </a:r>
            <a:r>
              <a:rPr lang="en-US" altLang="zh-CN" dirty="0"/>
              <a:t> = &amp;y;  //OK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zh-CN" altLang="en-US" sz="2800" dirty="0" smtClean="0"/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800" smtClean="0"/>
              <a:t>指针赋值操作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smtClean="0"/>
              <a:t>间接访问操作</a:t>
            </a:r>
            <a:r>
              <a:rPr lang="en-US" altLang="zh-CN" sz="4000" smtClean="0">
                <a:cs typeface="Times New Roman" panose="02020603050405020304" pitchFamily="18" charset="0"/>
              </a:rPr>
              <a:t>(*</a:t>
            </a:r>
            <a:r>
              <a:rPr lang="zh-CN" altLang="en-US" sz="4000" smtClean="0"/>
              <a:t>和</a:t>
            </a:r>
            <a:r>
              <a:rPr lang="en-US" altLang="zh-CN" sz="4000" smtClean="0">
                <a:cs typeface="Times New Roman" panose="02020603050405020304" pitchFamily="18" charset="0"/>
              </a:rPr>
              <a:t>-&gt;)</a:t>
            </a:r>
            <a:endParaRPr lang="en-US" altLang="zh-CN" sz="4000" smtClean="0">
              <a:cs typeface="Times New Roman" panose="02020603050405020304" pitchFamily="18" charset="0"/>
            </a:endParaRP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zh-CN" altLang="en-US" dirty="0" smtClean="0"/>
              <a:t>可以通过操作符</a:t>
            </a:r>
            <a:r>
              <a:rPr lang="zh-CN" altLang="en-US" dirty="0" smtClean="0">
                <a:latin typeface="Arial" panose="020B0604020202020204" pitchFamily="34" charset="0"/>
              </a:rPr>
              <a:t>“</a:t>
            </a:r>
            <a:r>
              <a:rPr lang="zh-CN" altLang="en-US" dirty="0" smtClean="0">
                <a:solidFill>
                  <a:schemeClr val="folHlink"/>
                </a:solidFill>
              </a:rPr>
              <a:t>*</a:t>
            </a:r>
            <a:r>
              <a:rPr lang="zh-CN" altLang="en-US" dirty="0" smtClean="0">
                <a:latin typeface="Arial" panose="020B0604020202020204" pitchFamily="34" charset="0"/>
              </a:rPr>
              <a:t>”</a:t>
            </a:r>
            <a:r>
              <a:rPr lang="zh-CN" altLang="en-US" dirty="0" smtClean="0"/>
              <a:t>来访问一个指针变量指向的变量，其格式为：</a:t>
            </a:r>
            <a:endParaRPr lang="en-US" altLang="zh-CN" dirty="0" smtClean="0"/>
          </a:p>
          <a:p>
            <a:pPr marL="457200" lvl="1" indent="0" algn="just" eaLnBrk="1" hangingPunct="1"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i="1" dirty="0" smtClean="0"/>
              <a:t> </a:t>
            </a:r>
            <a:r>
              <a:rPr lang="en-US" altLang="zh-CN" i="1" dirty="0" smtClean="0">
                <a:solidFill>
                  <a:srgbClr val="FFC000"/>
                </a:solidFill>
              </a:rPr>
              <a:t>*</a:t>
            </a:r>
            <a:r>
              <a:rPr lang="en-US" altLang="zh-CN" i="1" dirty="0" smtClean="0"/>
              <a:t>&lt;</a:t>
            </a:r>
            <a:r>
              <a:rPr lang="zh-CN" altLang="en-US" i="1" dirty="0" smtClean="0"/>
              <a:t>指针变量</a:t>
            </a:r>
            <a:r>
              <a:rPr lang="en-US" altLang="zh-CN" i="1" dirty="0" smtClean="0"/>
              <a:t>&gt; </a:t>
            </a:r>
            <a:endParaRPr lang="en-US" altLang="zh-CN" i="1" dirty="0" smtClean="0"/>
          </a:p>
          <a:p>
            <a:pPr algn="just" eaLnBrk="1" hangingPunct="1">
              <a:defRPr/>
            </a:pPr>
            <a:r>
              <a:rPr lang="zh-CN" altLang="en-US" dirty="0" smtClean="0"/>
              <a:t>例如：</a:t>
            </a:r>
            <a:endParaRPr lang="zh-CN" altLang="en-US" dirty="0" smtClean="0"/>
          </a:p>
          <a:p>
            <a:pPr lvl="1" eaLnBrk="1" hangingPunct="1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x;</a:t>
            </a:r>
            <a:endParaRPr lang="en-US" altLang="zh-CN" dirty="0" smtClean="0"/>
          </a:p>
          <a:p>
            <a:pPr lvl="1" eaLnBrk="1" hangingPunct="1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*p;</a:t>
            </a:r>
            <a:endParaRPr lang="en-US" altLang="zh-CN" dirty="0" smtClean="0"/>
          </a:p>
          <a:p>
            <a:pPr lvl="1" eaLnBrk="1" hangingPunct="1">
              <a:buNone/>
              <a:defRPr/>
            </a:pPr>
            <a:r>
              <a:rPr lang="en-US" altLang="zh-CN" dirty="0"/>
              <a:t>x = 1;</a:t>
            </a:r>
            <a:endParaRPr lang="en-US" altLang="zh-CN" dirty="0"/>
          </a:p>
          <a:p>
            <a:pPr lvl="1" eaLnBrk="1" hangingPunct="1">
              <a:buFontTx/>
              <a:buNone/>
              <a:defRPr/>
            </a:pPr>
            <a:r>
              <a:rPr lang="en-US" altLang="zh-CN" dirty="0" smtClean="0"/>
              <a:t>p = &amp;x;</a:t>
            </a:r>
            <a:endParaRPr lang="en-US" altLang="zh-CN" dirty="0" smtClean="0"/>
          </a:p>
          <a:p>
            <a:pPr lvl="1" eaLnBrk="1" hangingPunct="1">
              <a:buFontTx/>
              <a:buNone/>
              <a:defRPr/>
            </a:pPr>
            <a:r>
              <a:rPr lang="en-US" altLang="zh-CN" dirty="0" smtClean="0">
                <a:solidFill>
                  <a:schemeClr val="folHlink"/>
                </a:solidFill>
              </a:rPr>
              <a:t>*</a:t>
            </a:r>
            <a:r>
              <a:rPr lang="en-US" altLang="zh-CN" dirty="0" smtClean="0"/>
              <a:t>p = 2; //</a:t>
            </a:r>
            <a:r>
              <a:rPr lang="zh-CN" altLang="en-US" dirty="0" smtClean="0"/>
              <a:t>访问</a:t>
            </a:r>
            <a:r>
              <a:rPr lang="en-US" altLang="zh-CN" dirty="0" smtClean="0"/>
              <a:t>p</a:t>
            </a:r>
            <a:r>
              <a:rPr lang="zh-CN" altLang="en-US" dirty="0" smtClean="0"/>
              <a:t>指向的变量，等价于：</a:t>
            </a:r>
            <a:r>
              <a:rPr lang="en-US" altLang="zh-CN" dirty="0" smtClean="0"/>
              <a:t>x = 2;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032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mtClean="0"/>
              <a:t>指针间接访问操作的例子</a:t>
            </a:r>
            <a:endParaRPr lang="zh-CN" altLang="en-US" sz="4000" smtClean="0"/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55875" y="1196975"/>
            <a:ext cx="6227763" cy="56610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执行操作：</a:t>
            </a:r>
            <a:r>
              <a:rPr lang="zh-CN" altLang="en-US" sz="2400" dirty="0" smtClean="0">
                <a:latin typeface="Arial" panose="020B0604020202020204"/>
              </a:rPr>
              <a:t>“</a:t>
            </a:r>
            <a:r>
              <a:rPr lang="en-US" altLang="zh-CN" sz="2400" dirty="0" smtClean="0"/>
              <a:t>x = 1;</a:t>
            </a:r>
            <a:r>
              <a:rPr lang="zh-CN" altLang="en-US" sz="2400" dirty="0" smtClean="0"/>
              <a:t>”前，（假设</a:t>
            </a:r>
            <a:r>
              <a:rPr lang="en-US" altLang="zh-CN" sz="2400" dirty="0" smtClean="0"/>
              <a:t>120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124</a:t>
            </a:r>
            <a:r>
              <a:rPr lang="zh-CN" altLang="en-US" sz="2400" dirty="0" smtClean="0"/>
              <a:t>分别代表变量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的内存地址）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/>
              <a:t>			</a:t>
            </a:r>
            <a:r>
              <a:rPr lang="en-US" altLang="zh-CN" sz="2400" b="1" dirty="0" smtClean="0"/>
              <a:t>x              		   p</a:t>
            </a:r>
            <a:endParaRPr lang="en-US" altLang="zh-CN" sz="24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 smtClean="0"/>
              <a:t>     120:	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？</a:t>
            </a:r>
            <a:r>
              <a:rPr lang="zh-CN" altLang="en-US" sz="2400" b="1" dirty="0" smtClean="0"/>
              <a:t>		</a:t>
            </a:r>
            <a:r>
              <a:rPr lang="en-US" altLang="zh-CN" sz="2400" b="1" dirty="0" smtClean="0"/>
              <a:t>124:    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？</a:t>
            </a:r>
            <a:endParaRPr lang="zh-CN" altLang="en-US" sz="24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sz="2400" dirty="0" smtClean="0"/>
              <a:t>执行操作：</a:t>
            </a:r>
            <a:r>
              <a:rPr lang="zh-CN" altLang="en-US" sz="2400" dirty="0" smtClean="0">
                <a:latin typeface="Arial" panose="020B0604020202020204"/>
              </a:rPr>
              <a:t>“</a:t>
            </a:r>
            <a:r>
              <a:rPr lang="en-US" altLang="zh-CN" sz="2400" dirty="0" smtClean="0"/>
              <a:t>x = 1;</a:t>
            </a:r>
            <a:r>
              <a:rPr lang="zh-CN" altLang="en-US" sz="2400" dirty="0" smtClean="0"/>
              <a:t>”</a:t>
            </a:r>
            <a:r>
              <a:rPr lang="zh-CN" altLang="en-US" sz="2400" dirty="0"/>
              <a:t>后</a:t>
            </a:r>
            <a:r>
              <a:rPr lang="zh-CN" altLang="en-US" sz="2400" dirty="0" smtClean="0"/>
              <a:t>： 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/>
              <a:t>			</a:t>
            </a:r>
            <a:r>
              <a:rPr lang="en-US" altLang="zh-CN" sz="2400" b="1" dirty="0" smtClean="0"/>
              <a:t>x              		   p</a:t>
            </a:r>
            <a:endParaRPr lang="en-US" altLang="zh-CN" sz="24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 smtClean="0"/>
              <a:t>     120:	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1</a:t>
            </a:r>
            <a:r>
              <a:rPr lang="en-US" altLang="zh-CN" sz="2400" b="1" dirty="0" smtClean="0"/>
              <a:t>		124:    </a:t>
            </a:r>
            <a:r>
              <a:rPr lang="zh-CN" altLang="en-US" sz="2400" b="1" dirty="0" smtClean="0">
                <a:solidFill>
                  <a:schemeClr val="folHlink"/>
                </a:solidFill>
              </a:rPr>
              <a:t>？</a:t>
            </a:r>
            <a:endParaRPr lang="zh-CN" altLang="en-US" sz="24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400" dirty="0" smtClean="0"/>
              <a:t>执行操作：</a:t>
            </a:r>
            <a:r>
              <a:rPr lang="zh-CN" altLang="en-US" sz="2400" dirty="0" smtClean="0">
                <a:latin typeface="Arial" panose="020B0604020202020204"/>
              </a:rPr>
              <a:t>“</a:t>
            </a:r>
            <a:r>
              <a:rPr lang="en-US" altLang="zh-CN" sz="2400" dirty="0" smtClean="0"/>
              <a:t>p = &amp;x;</a:t>
            </a:r>
            <a:r>
              <a:rPr lang="zh-CN" altLang="en-US" sz="2400" dirty="0" smtClean="0">
                <a:latin typeface="Arial" panose="020B0604020202020204"/>
              </a:rPr>
              <a:t>”</a:t>
            </a:r>
            <a:r>
              <a:rPr lang="zh-CN" altLang="en-US" sz="2400" dirty="0" smtClean="0"/>
              <a:t>后： 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/>
              <a:t>			</a:t>
            </a:r>
            <a:r>
              <a:rPr lang="en-US" altLang="zh-CN" sz="2400" b="1" dirty="0" smtClean="0"/>
              <a:t>x              		   p</a:t>
            </a:r>
            <a:endParaRPr lang="en-US" altLang="zh-CN" sz="24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 smtClean="0"/>
              <a:t>     120:	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1</a:t>
            </a:r>
            <a:r>
              <a:rPr lang="en-US" altLang="zh-CN" sz="2400" b="1" dirty="0" smtClean="0"/>
              <a:t>		124:   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120</a:t>
            </a:r>
            <a:endParaRPr lang="en-US" altLang="zh-CN" sz="24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400" dirty="0" smtClean="0"/>
              <a:t>执行操作：</a:t>
            </a:r>
            <a:r>
              <a:rPr lang="zh-CN" altLang="en-US" sz="2400" dirty="0" smtClean="0">
                <a:latin typeface="Arial" panose="020B0604020202020204"/>
              </a:rPr>
              <a:t>“</a:t>
            </a:r>
            <a:r>
              <a:rPr lang="zh-CN" altLang="en-US" sz="2400" dirty="0" smtClean="0"/>
              <a:t>*</a:t>
            </a:r>
            <a:r>
              <a:rPr lang="en-US" altLang="zh-CN" sz="2400" dirty="0" smtClean="0"/>
              <a:t>p = 2;</a:t>
            </a:r>
            <a:r>
              <a:rPr lang="zh-CN" altLang="en-US" sz="2400" dirty="0" smtClean="0"/>
              <a:t>”</a:t>
            </a:r>
            <a:r>
              <a:rPr lang="zh-CN" altLang="en-US" sz="2400" dirty="0"/>
              <a:t>后</a:t>
            </a:r>
            <a:r>
              <a:rPr lang="zh-CN" altLang="en-US" sz="2400" dirty="0" smtClean="0"/>
              <a:t>， 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/>
              <a:t>			</a:t>
            </a:r>
            <a:r>
              <a:rPr lang="en-US" altLang="zh-CN" sz="2400" b="1" dirty="0" smtClean="0"/>
              <a:t>x             		   p</a:t>
            </a:r>
            <a:endParaRPr lang="en-US" altLang="zh-CN" sz="24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 smtClean="0"/>
              <a:t>     120:	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2</a:t>
            </a:r>
            <a:r>
              <a:rPr lang="en-US" altLang="zh-CN" sz="2400" b="1" dirty="0" smtClean="0"/>
              <a:t>		124:   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120</a:t>
            </a:r>
            <a:endParaRPr lang="en-US" altLang="zh-CN" sz="2400" b="1" dirty="0" smtClean="0">
              <a:solidFill>
                <a:schemeClr val="folHlink"/>
              </a:solidFill>
            </a:endParaRPr>
          </a:p>
        </p:txBody>
      </p:sp>
      <p:sp>
        <p:nvSpPr>
          <p:cNvPr id="406532" name="Text Box 4"/>
          <p:cNvSpPr txBox="1">
            <a:spLocks noChangeArrowheads="1"/>
          </p:cNvSpPr>
          <p:nvPr/>
        </p:nvSpPr>
        <p:spPr bwMode="auto">
          <a:xfrm>
            <a:off x="303213" y="1284288"/>
            <a:ext cx="1965325" cy="3231654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algn="l">
              <a:defRPr/>
            </a:pPr>
            <a:r>
              <a:rPr lang="en-US" altLang="zh-CN" b="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x;</a:t>
            </a:r>
            <a:endParaRPr lang="en-US" altLang="zh-CN" b="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lvl="1" algn="l">
              <a:defRPr/>
            </a:pPr>
            <a:r>
              <a:rPr lang="en-US" altLang="zh-CN" b="0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lang="en-US" altLang="zh-CN" b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*p;</a:t>
            </a:r>
            <a:endParaRPr lang="en-US" altLang="zh-CN" b="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lvl="1" algn="l">
              <a:defRPr/>
            </a:pPr>
            <a:r>
              <a:rPr lang="en-US" altLang="zh-CN" b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 </a:t>
            </a:r>
            <a:r>
              <a:rPr lang="en-US" altLang="zh-CN" b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= 1;</a:t>
            </a:r>
            <a:endParaRPr lang="en-US" altLang="zh-CN" b="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lvl="1" algn="l">
              <a:defRPr/>
            </a:pPr>
            <a:r>
              <a:rPr lang="en-US" altLang="zh-CN" b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 = &amp;x;</a:t>
            </a:r>
            <a:endParaRPr lang="en-US" altLang="zh-CN" b="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lvl="1" algn="l">
              <a:defRPr/>
            </a:pPr>
            <a:r>
              <a:rPr lang="en-US" altLang="zh-CN" b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*p = 2;</a:t>
            </a:r>
            <a:endParaRPr lang="en-US" altLang="zh-CN" b="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l">
              <a:defRPr/>
            </a:pPr>
            <a:endParaRPr lang="en-US" altLang="zh-CN" b="0" dirty="0">
              <a:solidFill>
                <a:srgbClr val="0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11960" y="2348880"/>
            <a:ext cx="916304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CN" altLang="en-US" sz="2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？</a:t>
            </a:r>
            <a:endParaRPr lang="zh-CN" altLang="en-US" sz="2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36296" y="2348880"/>
            <a:ext cx="916304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CN" altLang="en-US" sz="2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？</a:t>
            </a:r>
            <a:endParaRPr lang="zh-CN" altLang="en-US" sz="2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36296" y="3748970"/>
            <a:ext cx="916304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CN" altLang="en-US" sz="2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？</a:t>
            </a:r>
            <a:endParaRPr lang="zh-CN" altLang="en-US" sz="2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11960" y="3748970"/>
            <a:ext cx="916304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zh-CN" sz="2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2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11960" y="5085184"/>
            <a:ext cx="916304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zh-CN" sz="2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2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11960" y="6413266"/>
            <a:ext cx="916304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zh-CN" sz="2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zh-CN" altLang="en-US" sz="2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56096" y="5085184"/>
            <a:ext cx="916304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zh-CN" sz="2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120</a:t>
            </a:r>
            <a:endParaRPr lang="zh-CN" altLang="en-US" sz="2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56096" y="6413266"/>
            <a:ext cx="916304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zh-CN" sz="2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120</a:t>
            </a:r>
            <a:endParaRPr lang="zh-CN" altLang="en-US" sz="2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6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6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6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6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6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6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6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6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6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6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6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6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06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06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332929"/>
            <a:ext cx="8229600" cy="619241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通过一个指向</a:t>
            </a:r>
            <a:r>
              <a:rPr lang="zh-CN" altLang="en-US" sz="2800" dirty="0" smtClean="0">
                <a:solidFill>
                  <a:srgbClr val="FFC000"/>
                </a:solidFill>
              </a:rPr>
              <a:t>结构类型</a:t>
            </a:r>
            <a:r>
              <a:rPr lang="zh-CN" altLang="en-US" sz="2800" dirty="0" smtClean="0"/>
              <a:t>数据</a:t>
            </a:r>
            <a:r>
              <a:rPr lang="zh-CN" altLang="en-US" sz="2800" dirty="0"/>
              <a:t>的指针</a:t>
            </a:r>
            <a:r>
              <a:rPr lang="zh-CN" altLang="en-US" sz="2800" dirty="0" smtClean="0"/>
              <a:t>变量来访问结构数据的</a:t>
            </a:r>
            <a:r>
              <a:rPr lang="zh-CN" altLang="en-US" sz="2800" dirty="0" smtClean="0">
                <a:solidFill>
                  <a:srgbClr val="FFC000"/>
                </a:solidFill>
              </a:rPr>
              <a:t>成员</a:t>
            </a:r>
            <a:r>
              <a:rPr lang="zh-CN" altLang="en-US" sz="2800" dirty="0" smtClean="0"/>
              <a:t>时，可以写成：</a:t>
            </a:r>
            <a:endParaRPr lang="zh-CN" altLang="en-US" sz="2800" dirty="0" smtClean="0"/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   </a:t>
            </a:r>
            <a:r>
              <a:rPr lang="en-US" altLang="zh-CN" sz="2400" dirty="0" smtClean="0">
                <a:solidFill>
                  <a:srgbClr val="FFC000"/>
                </a:solidFill>
              </a:rPr>
              <a:t>(*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指针变量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).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结构成员</a:t>
            </a:r>
            <a:r>
              <a:rPr lang="en-US" altLang="zh-CN" sz="2400" dirty="0" smtClean="0"/>
              <a:t>&gt;</a:t>
            </a:r>
            <a:endParaRPr lang="en-US" altLang="zh-CN" sz="24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dirty="0" smtClean="0"/>
              <a:t>或</a:t>
            </a:r>
            <a:endParaRPr lang="zh-CN" altLang="en-US" sz="2400" dirty="0" smtClean="0"/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   &lt;</a:t>
            </a:r>
            <a:r>
              <a:rPr lang="zh-CN" altLang="en-US" sz="2400" dirty="0" smtClean="0"/>
              <a:t>指针变量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chemeClr val="folHlink"/>
                </a:solidFill>
              </a:rPr>
              <a:t>-&gt;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结构成员</a:t>
            </a:r>
            <a:r>
              <a:rPr lang="en-US" altLang="zh-CN" sz="2400" dirty="0" smtClean="0"/>
              <a:t>&gt;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例如：</a:t>
            </a:r>
            <a:endParaRPr lang="zh-CN" altLang="en-US" sz="28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err="1" smtClean="0"/>
              <a:t>struct</a:t>
            </a:r>
            <a:r>
              <a:rPr lang="en-US" altLang="zh-CN" sz="2200" dirty="0" smtClean="0"/>
              <a:t> A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{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;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	double d;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	char </a:t>
            </a:r>
            <a:r>
              <a:rPr lang="en-US" altLang="zh-CN" sz="2200" dirty="0" err="1" smtClean="0"/>
              <a:t>ch</a:t>
            </a:r>
            <a:r>
              <a:rPr lang="en-US" altLang="zh-CN" sz="2200" dirty="0" smtClean="0"/>
              <a:t>;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}</a:t>
            </a:r>
            <a:r>
              <a:rPr lang="zh-CN" altLang="en-GB" sz="2200" dirty="0" smtClean="0"/>
              <a:t>；</a:t>
            </a:r>
            <a:endParaRPr lang="zh-CN" altLang="en-US" sz="22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A </a:t>
            </a:r>
            <a:r>
              <a:rPr lang="en-US" altLang="zh-CN" sz="2200" dirty="0" err="1" smtClean="0"/>
              <a:t>a</a:t>
            </a:r>
            <a:r>
              <a:rPr lang="en-US" altLang="zh-CN" sz="2200" dirty="0" smtClean="0"/>
              <a:t>;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A *p=&amp;a;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......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</a:t>
            </a:r>
            <a:r>
              <a:rPr lang="en-US" altLang="zh-CN" sz="2200" dirty="0" smtClean="0">
                <a:solidFill>
                  <a:schemeClr val="folHlink"/>
                </a:solidFill>
              </a:rPr>
              <a:t>(*</a:t>
            </a:r>
            <a:r>
              <a:rPr lang="en-US" altLang="zh-CN" sz="2200" dirty="0" smtClean="0"/>
              <a:t>p</a:t>
            </a:r>
            <a:r>
              <a:rPr lang="en-US" altLang="zh-CN" sz="2200" dirty="0" smtClean="0">
                <a:solidFill>
                  <a:schemeClr val="folHlink"/>
                </a:solidFill>
              </a:rPr>
              <a:t>).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 &lt;&lt; p</a:t>
            </a:r>
            <a:r>
              <a:rPr lang="en-US" altLang="zh-CN" sz="2200" dirty="0" smtClean="0">
                <a:solidFill>
                  <a:schemeClr val="folHlink"/>
                </a:solidFill>
              </a:rPr>
              <a:t>-&gt;</a:t>
            </a:r>
            <a:r>
              <a:rPr lang="en-US" altLang="zh-CN" sz="2200" dirty="0" smtClean="0"/>
              <a:t>d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//</a:t>
            </a:r>
            <a:r>
              <a:rPr lang="zh-CN" altLang="en-US" sz="2200" dirty="0" smtClean="0"/>
              <a:t>输出</a:t>
            </a:r>
            <a:r>
              <a:rPr lang="en-US" altLang="zh-CN" sz="2200" dirty="0" err="1" smtClean="0"/>
              <a:t>a.i</a:t>
            </a:r>
            <a:r>
              <a:rPr lang="zh-CN" altLang="en-US" sz="2200" dirty="0" smtClean="0"/>
              <a:t>和</a:t>
            </a:r>
            <a:r>
              <a:rPr lang="en-US" altLang="zh-CN" sz="2200" dirty="0" err="1" smtClean="0"/>
              <a:t>a.d</a:t>
            </a:r>
            <a:endParaRPr lang="en-US" altLang="zh-CN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dirty="0" smtClean="0"/>
              <a:t>对于</a:t>
            </a:r>
            <a:r>
              <a:rPr lang="zh-CN" altLang="en-US" dirty="0"/>
              <a:t>一</a:t>
            </a:r>
            <a:r>
              <a:rPr lang="zh-CN" altLang="en-US" dirty="0" smtClean="0"/>
              <a:t>个</a:t>
            </a:r>
            <a:r>
              <a:rPr lang="en-US" altLang="zh-CN" dirty="0" smtClean="0"/>
              <a:t>void *</a:t>
            </a:r>
            <a:r>
              <a:rPr lang="zh-CN" altLang="en-US" dirty="0" smtClean="0"/>
              <a:t>类型的</a:t>
            </a:r>
            <a:r>
              <a:rPr lang="zh-CN" altLang="en-US" dirty="0"/>
              <a:t>指针变量，在访问它所指向的数据时，</a:t>
            </a:r>
            <a:r>
              <a:rPr lang="zh-CN" altLang="en-US" dirty="0" smtClean="0"/>
              <a:t>需要把</a:t>
            </a:r>
            <a:r>
              <a:rPr lang="zh-CN" altLang="en-US" dirty="0"/>
              <a:t>它转换成指向某个具体类型的</a:t>
            </a:r>
            <a:r>
              <a:rPr lang="zh-CN" altLang="en-US" dirty="0" smtClean="0"/>
              <a:t>指针。例如：</a:t>
            </a:r>
            <a:endParaRPr lang="en-US" altLang="zh-CN" dirty="0" smtClean="0"/>
          </a:p>
          <a:p>
            <a:pPr marL="742950" lvl="2" indent="-342900" eaLnBrk="1" hangingPunct="1">
              <a:buClr>
                <a:schemeClr val="hlink"/>
              </a:buClr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x;</a:t>
            </a:r>
            <a:endParaRPr lang="en-US" altLang="zh-CN" dirty="0" smtClean="0"/>
          </a:p>
          <a:p>
            <a:pPr marL="742950" lvl="2" indent="-342900" eaLnBrk="1" hangingPunct="1">
              <a:buClr>
                <a:schemeClr val="hlink"/>
              </a:buClr>
            </a:pPr>
            <a:r>
              <a:rPr lang="en-US" altLang="zh-CN" dirty="0" smtClean="0"/>
              <a:t>void *p=&amp;x;</a:t>
            </a:r>
            <a:endParaRPr lang="en-US" altLang="zh-CN" dirty="0" smtClean="0"/>
          </a:p>
          <a:p>
            <a:pPr marL="742950" lvl="2" indent="-342900" eaLnBrk="1" hangingPunct="1">
              <a:buClr>
                <a:schemeClr val="hlink"/>
              </a:buClr>
            </a:pPr>
            <a:r>
              <a:rPr lang="en-US" altLang="zh-CN" dirty="0" smtClean="0"/>
              <a:t>......</a:t>
            </a:r>
            <a:endParaRPr lang="en-US" altLang="zh-CN" dirty="0" smtClean="0"/>
          </a:p>
          <a:p>
            <a:pPr marL="742950" lvl="2" indent="-342900" eaLnBrk="1" hangingPunct="1">
              <a:buClr>
                <a:schemeClr val="hlink"/>
              </a:buClr>
            </a:pPr>
            <a:r>
              <a:rPr lang="en-US" altLang="zh-CN" dirty="0" smtClean="0"/>
              <a:t>*p = 10; //</a:t>
            </a:r>
            <a:r>
              <a:rPr lang="en-US" altLang="zh-CN" dirty="0" smtClean="0">
                <a:solidFill>
                  <a:srgbClr val="FFC000"/>
                </a:solidFill>
              </a:rPr>
              <a:t>Error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742950" lvl="2" indent="-342900" eaLnBrk="1" hangingPunct="1">
              <a:buClr>
                <a:schemeClr val="hlink"/>
              </a:buClr>
            </a:pPr>
            <a:r>
              <a:rPr lang="en-US" altLang="zh-CN" dirty="0" smtClean="0"/>
              <a:t>*(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*)p = 10; //OK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smtClean="0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cs typeface="Times New Roman" panose="02020603050405020304" pitchFamily="18" charset="0"/>
              </a:rPr>
              <a:t>请注意下面的问题：</a:t>
            </a:r>
            <a:endParaRPr lang="zh-CN" altLang="en-US" dirty="0" smtClean="0"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*p;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*p = 1; //</a:t>
            </a:r>
            <a:r>
              <a:rPr lang="en-US" altLang="zh-CN" dirty="0" smtClean="0">
                <a:solidFill>
                  <a:schemeClr val="folHlink"/>
                </a:solidFill>
              </a:rPr>
              <a:t>1</a:t>
            </a:r>
            <a:r>
              <a:rPr lang="zh-CN" altLang="en-US" dirty="0" smtClean="0">
                <a:solidFill>
                  <a:schemeClr val="folHlink"/>
                </a:solidFill>
              </a:rPr>
              <a:t>赋值到哪里去了？</a:t>
            </a:r>
            <a:endParaRPr lang="zh-CN" altLang="en-US" dirty="0" smtClean="0">
              <a:solidFill>
                <a:schemeClr val="folHlink"/>
              </a:solidFill>
            </a:endParaRPr>
          </a:p>
          <a:p>
            <a:pPr eaLnBrk="1" hangingPunct="1"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50" y="1341438"/>
            <a:ext cx="8893175" cy="5516562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2800" dirty="0" smtClean="0"/>
              <a:t>一个指针加上或减去一个整型值</a:t>
            </a:r>
            <a:endParaRPr lang="zh-CN" altLang="en-US" sz="2800" dirty="0" smtClean="0"/>
          </a:p>
          <a:p>
            <a:pPr lvl="1" algn="just" eaLnBrk="1" hangingPunct="1">
              <a:defRPr/>
            </a:pPr>
            <a:r>
              <a:rPr lang="zh-CN" altLang="en-US" sz="2400" dirty="0" smtClean="0"/>
              <a:t>实际加（或减）的值由该指针所指向的数据类型来定。例如：</a:t>
            </a:r>
            <a:endParaRPr lang="zh-CN" altLang="en-US" sz="2400" dirty="0" smtClean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x;</a:t>
            </a:r>
            <a:endParaRPr lang="en-US" altLang="zh-CN" sz="2000" dirty="0" smtClean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*p;</a:t>
            </a:r>
            <a:endParaRPr lang="en-US" altLang="zh-CN" sz="2000" dirty="0" smtClean="0"/>
          </a:p>
          <a:p>
            <a:pPr lvl="2" eaLnBrk="1" hangingPunct="1">
              <a:buNone/>
              <a:defRPr/>
            </a:pPr>
            <a:r>
              <a:rPr lang="en-US" altLang="zh-CN" sz="2000" dirty="0" smtClean="0"/>
              <a:t>p = &amp;x + </a:t>
            </a:r>
            <a:r>
              <a:rPr lang="en-US" altLang="zh-CN" sz="2000" dirty="0" smtClean="0">
                <a:solidFill>
                  <a:schemeClr val="folHlink"/>
                </a:solidFill>
              </a:rPr>
              <a:t>2</a:t>
            </a:r>
            <a:r>
              <a:rPr lang="en-US" altLang="zh-CN" sz="2000" dirty="0" smtClean="0"/>
              <a:t>;  //p</a:t>
            </a:r>
            <a:r>
              <a:rPr lang="zh-CN" altLang="en-US" sz="2000" dirty="0" smtClean="0"/>
              <a:t>的值为</a:t>
            </a:r>
            <a:r>
              <a:rPr lang="en-US" altLang="zh-CN" sz="2000" dirty="0" smtClean="0"/>
              <a:t>x</a:t>
            </a:r>
            <a:r>
              <a:rPr lang="zh-CN" altLang="en-US" sz="2000" dirty="0" smtClean="0"/>
              <a:t>的地址加上</a:t>
            </a:r>
            <a:r>
              <a:rPr lang="en-US" altLang="zh-CN" sz="2000" dirty="0" err="1" smtClean="0">
                <a:solidFill>
                  <a:schemeClr val="folHlink"/>
                </a:solidFill>
              </a:rPr>
              <a:t>sizeof</a:t>
            </a:r>
            <a:r>
              <a:rPr lang="en-US" altLang="zh-CN" sz="2000" dirty="0" smtClean="0">
                <a:solidFill>
                  <a:schemeClr val="folHlink"/>
                </a:solidFill>
              </a:rPr>
              <a:t>(</a:t>
            </a:r>
            <a:r>
              <a:rPr lang="en-US" altLang="zh-CN" sz="2000" dirty="0" err="1" smtClean="0">
                <a:solidFill>
                  <a:schemeClr val="folHlink"/>
                </a:solidFill>
              </a:rPr>
              <a:t>int</a:t>
            </a:r>
            <a:r>
              <a:rPr lang="en-US" altLang="zh-CN" sz="2000" dirty="0" smtClean="0">
                <a:solidFill>
                  <a:schemeClr val="folHlink"/>
                </a:solidFill>
              </a:rPr>
              <a:t>)*2</a:t>
            </a:r>
            <a:r>
              <a:rPr lang="zh-CN" altLang="en-US" sz="2000" dirty="0" smtClean="0"/>
              <a:t>后得到的地址</a:t>
            </a:r>
            <a:endParaRPr lang="en-US" altLang="zh-CN" sz="2000" dirty="0" smtClean="0">
              <a:solidFill>
                <a:schemeClr val="folHlink"/>
              </a:solidFill>
            </a:endParaRPr>
          </a:p>
          <a:p>
            <a:pPr lvl="1" algn="just" eaLnBrk="1" hangingPunct="1">
              <a:defRPr/>
            </a:pPr>
            <a:r>
              <a:rPr lang="zh-CN" altLang="en-US" sz="2400" dirty="0" smtClean="0"/>
              <a:t>该操作通常用于以指针方式来访问数组元素。例如：</a:t>
            </a:r>
            <a:endParaRPr lang="zh-CN" altLang="en-US" sz="2400" dirty="0" smtClean="0"/>
          </a:p>
          <a:p>
            <a:pPr lvl="2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a[10];</a:t>
            </a:r>
            <a:endParaRPr lang="en-US" altLang="zh-CN" sz="2000" dirty="0" smtClean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*p;</a:t>
            </a:r>
            <a:endParaRPr lang="en-US" altLang="zh-CN" sz="2000" dirty="0" smtClean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p = &amp;a[0]; //p</a:t>
            </a:r>
            <a:r>
              <a:rPr lang="zh-CN" altLang="en-US" sz="2000" dirty="0" smtClean="0"/>
              <a:t>指向数组</a:t>
            </a:r>
            <a:r>
              <a:rPr lang="en-US" altLang="zh-CN" sz="2000" dirty="0" smtClean="0"/>
              <a:t>a</a:t>
            </a:r>
            <a:r>
              <a:rPr lang="zh-CN" altLang="en-US" sz="2000" dirty="0" smtClean="0"/>
              <a:t>的第一个元素</a:t>
            </a:r>
            <a:endParaRPr lang="en-US" altLang="zh-CN" sz="2000" dirty="0" smtClean="0"/>
          </a:p>
          <a:p>
            <a:pPr marL="457200" lvl="1" indent="0" eaLnBrk="1" hangingPunct="1">
              <a:buNone/>
              <a:defRPr/>
            </a:pPr>
            <a:r>
              <a:rPr lang="zh-CN" altLang="en-US" sz="2400" dirty="0" smtClean="0"/>
              <a:t>这时，访问数组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的元素可采用下面的形式：</a:t>
            </a:r>
            <a:endParaRPr lang="zh-CN" altLang="en-US" sz="2400" dirty="0" smtClean="0"/>
          </a:p>
          <a:p>
            <a:pPr lvl="2" eaLnBrk="1" hangingPunct="1">
              <a:defRPr/>
            </a:pPr>
            <a:r>
              <a:rPr lang="en-US" altLang="zh-CN" sz="2000" dirty="0" smtClean="0"/>
              <a:t>*p</a:t>
            </a:r>
            <a:r>
              <a:rPr lang="zh-CN" altLang="en-US" sz="2000" dirty="0" smtClean="0"/>
              <a:t>、*</a:t>
            </a:r>
            <a:r>
              <a:rPr lang="en-US" altLang="zh-CN" sz="2000" dirty="0" smtClean="0"/>
              <a:t>(</a:t>
            </a:r>
            <a:r>
              <a:rPr lang="en-US" altLang="zh-CN" sz="2000" dirty="0" smtClean="0">
                <a:solidFill>
                  <a:srgbClr val="FFC000"/>
                </a:solidFill>
              </a:rPr>
              <a:t>p+1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...</a:t>
            </a:r>
            <a:r>
              <a:rPr lang="zh-CN" altLang="en-US" sz="2000" dirty="0" smtClean="0"/>
              <a:t>、*</a:t>
            </a:r>
            <a:r>
              <a:rPr lang="en-US" altLang="zh-CN" sz="2000" dirty="0" smtClean="0"/>
              <a:t>(</a:t>
            </a:r>
            <a:r>
              <a:rPr lang="en-US" altLang="zh-CN" sz="2000" dirty="0" smtClean="0">
                <a:solidFill>
                  <a:srgbClr val="FFC000"/>
                </a:solidFill>
              </a:rPr>
              <a:t>p+9</a:t>
            </a:r>
            <a:r>
              <a:rPr lang="en-US" altLang="zh-CN" sz="2000" dirty="0" smtClean="0"/>
              <a:t>)</a:t>
            </a:r>
            <a:endParaRPr lang="en-US" altLang="zh-CN" sz="2000" dirty="0" smtClean="0"/>
          </a:p>
          <a:p>
            <a:pPr marL="914400" lvl="2" indent="0" eaLnBrk="1" hangingPunct="1">
              <a:buNone/>
              <a:defRPr/>
            </a:pPr>
            <a:r>
              <a:rPr lang="zh-CN" altLang="en-US" sz="2000" dirty="0" smtClean="0"/>
              <a:t>或者</a:t>
            </a:r>
            <a:endParaRPr lang="en-US" altLang="zh-CN" sz="2000" dirty="0" smtClean="0"/>
          </a:p>
          <a:p>
            <a:pPr lvl="2" eaLnBrk="1" hangingPunct="1">
              <a:defRPr/>
            </a:pPr>
            <a:r>
              <a:rPr lang="en-US" altLang="zh-CN" sz="2000" dirty="0" smtClean="0">
                <a:solidFill>
                  <a:srgbClr val="FFC000"/>
                </a:solidFill>
              </a:rPr>
              <a:t>p[0]</a:t>
            </a:r>
            <a:r>
              <a:rPr lang="zh-CN" altLang="en-US" sz="2000" dirty="0" smtClean="0">
                <a:solidFill>
                  <a:srgbClr val="FFC000"/>
                </a:solidFill>
              </a:rPr>
              <a:t>、</a:t>
            </a:r>
            <a:r>
              <a:rPr lang="en-US" altLang="zh-CN" sz="2000" dirty="0" smtClean="0">
                <a:solidFill>
                  <a:srgbClr val="FFC000"/>
                </a:solidFill>
              </a:rPr>
              <a:t>p[1]</a:t>
            </a:r>
            <a:r>
              <a:rPr lang="zh-CN" altLang="en-US" sz="2000" dirty="0" smtClean="0">
                <a:solidFill>
                  <a:srgbClr val="FFC000"/>
                </a:solidFill>
              </a:rPr>
              <a:t>、</a:t>
            </a:r>
            <a:r>
              <a:rPr lang="en-US" altLang="zh-CN" sz="2000" dirty="0" smtClean="0">
                <a:solidFill>
                  <a:srgbClr val="FFC000"/>
                </a:solidFill>
              </a:rPr>
              <a:t>...</a:t>
            </a:r>
            <a:r>
              <a:rPr lang="zh-CN" altLang="en-US" sz="2000" dirty="0" smtClean="0">
                <a:solidFill>
                  <a:srgbClr val="FFC000"/>
                </a:solidFill>
              </a:rPr>
              <a:t>、</a:t>
            </a:r>
            <a:r>
              <a:rPr lang="en-US" altLang="zh-CN" sz="2000" dirty="0" smtClean="0">
                <a:solidFill>
                  <a:srgbClr val="FFC000"/>
                </a:solidFill>
              </a:rPr>
              <a:t>p[9] </a:t>
            </a:r>
            <a:r>
              <a:rPr lang="en-US" altLang="zh-CN" sz="2000" dirty="0" smtClean="0"/>
              <a:t>  </a:t>
            </a:r>
            <a:endParaRPr lang="en-US" altLang="zh-CN" sz="2000" dirty="0" smtClean="0"/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指针的运算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620688"/>
            <a:ext cx="8229600" cy="6048400"/>
          </a:xfrm>
        </p:spPr>
        <p:txBody>
          <a:bodyPr/>
          <a:lstStyle/>
          <a:p>
            <a:pPr marL="62738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a[10];</a:t>
            </a:r>
            <a:endParaRPr lang="en-US" altLang="zh-CN" sz="2400" dirty="0" smtClean="0"/>
          </a:p>
          <a:p>
            <a:pPr marL="62738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sum=0;</a:t>
            </a:r>
            <a:endParaRPr lang="en-US" altLang="zh-CN" sz="2400" dirty="0" smtClean="0"/>
          </a:p>
          <a:p>
            <a:pPr marL="62738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......</a:t>
            </a:r>
            <a:endParaRPr lang="en-US" altLang="zh-CN" sz="2400" dirty="0" smtClean="0"/>
          </a:p>
          <a:p>
            <a:pPr marL="62738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for  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&lt;10;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</a:t>
            </a:r>
            <a:endParaRPr lang="en-US" altLang="zh-CN" sz="2400" dirty="0" smtClean="0"/>
          </a:p>
          <a:p>
            <a:pPr marL="62738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  sum += a[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];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/>
              <a:t>或者   </a:t>
            </a:r>
            <a:endParaRPr lang="zh-CN" altLang="en-US" sz="2400" dirty="0" smtClean="0"/>
          </a:p>
          <a:p>
            <a:pPr marL="62738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*p=&amp;a[0];</a:t>
            </a:r>
            <a:endParaRPr lang="en-US" altLang="zh-CN" sz="2400" dirty="0" smtClean="0"/>
          </a:p>
          <a:p>
            <a:pPr marL="62738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for  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&lt;10;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</a:t>
            </a:r>
            <a:endParaRPr lang="en-US" altLang="zh-CN" sz="2400" dirty="0" smtClean="0"/>
          </a:p>
          <a:p>
            <a:pPr marL="62738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sum += *(</a:t>
            </a:r>
            <a:r>
              <a:rPr lang="en-US" altLang="zh-CN" sz="2400" dirty="0" err="1" smtClean="0"/>
              <a:t>p+i</a:t>
            </a:r>
            <a:r>
              <a:rPr lang="en-US" altLang="zh-CN" sz="2400" dirty="0" smtClean="0"/>
              <a:t>); 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/>
              <a:t>或者</a:t>
            </a:r>
            <a:endParaRPr lang="zh-CN" altLang="en-US" sz="2400" dirty="0" smtClean="0"/>
          </a:p>
          <a:p>
            <a:pPr marL="62738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*p=&amp;a[0]; </a:t>
            </a:r>
            <a:endParaRPr lang="en-US" altLang="zh-CN" sz="2400" dirty="0" smtClean="0"/>
          </a:p>
          <a:p>
            <a:pPr marL="62738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for  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&lt;10;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</a:t>
            </a:r>
            <a:endParaRPr lang="en-US" altLang="zh-CN" sz="2400" dirty="0" smtClean="0"/>
          </a:p>
          <a:p>
            <a:pPr marL="62738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  sum += p[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]; 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12738" y="764704"/>
            <a:ext cx="8507412" cy="5759921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2800" dirty="0" smtClean="0"/>
              <a:t>两个同类型的指针相减</a:t>
            </a:r>
            <a:endParaRPr lang="zh-CN" altLang="en-US" sz="2800" dirty="0" smtClean="0"/>
          </a:p>
          <a:p>
            <a:pPr lvl="1" algn="just" eaLnBrk="1" hangingPunct="1">
              <a:defRPr/>
            </a:pPr>
            <a:r>
              <a:rPr lang="zh-CN" altLang="en-US" sz="2400" dirty="0" smtClean="0"/>
              <a:t>实际</a:t>
            </a:r>
            <a:r>
              <a:rPr lang="zh-CN" altLang="en-US" sz="2400" dirty="0"/>
              <a:t>结果由指针所指向的类型来定。</a:t>
            </a:r>
            <a:r>
              <a:rPr lang="zh-CN" altLang="en-US" sz="2400" dirty="0" smtClean="0"/>
              <a:t>例如：</a:t>
            </a:r>
            <a:endParaRPr lang="en-US" altLang="zh-CN" sz="2400" dirty="0" smtClean="0"/>
          </a:p>
          <a:p>
            <a:pPr lvl="2" eaLnBrk="1" hangingPunct="1">
              <a:buNone/>
              <a:defRPr/>
            </a:pP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/>
              <a:t> *</a:t>
            </a:r>
            <a:r>
              <a:rPr lang="en-US" altLang="zh-CN" dirty="0" smtClean="0"/>
              <a:t>p,*q;</a:t>
            </a:r>
            <a:endParaRPr lang="en-US" altLang="zh-CN" dirty="0" smtClean="0"/>
          </a:p>
          <a:p>
            <a:pPr lvl="2" eaLnBrk="1" hangingPunct="1">
              <a:buNone/>
              <a:defRPr/>
            </a:pPr>
            <a:r>
              <a:rPr lang="en-US" altLang="zh-CN" dirty="0" smtClean="0"/>
              <a:t>......  </a:t>
            </a:r>
            <a:endParaRPr lang="en-US" altLang="zh-CN" dirty="0"/>
          </a:p>
          <a:p>
            <a:pPr lvl="2" eaLnBrk="1" hangingPunct="1">
              <a:buNone/>
              <a:defRPr/>
            </a:pPr>
            <a:r>
              <a:rPr lang="en-US" altLang="zh-CN" dirty="0" smtClean="0"/>
              <a:t>... q-p ... //</a:t>
            </a:r>
            <a:r>
              <a:rPr lang="zh-CN" altLang="en-US" dirty="0" smtClean="0"/>
              <a:t>结果为：</a:t>
            </a:r>
            <a:r>
              <a:rPr lang="en-US" altLang="zh-CN" dirty="0" smtClean="0"/>
              <a:t>(q</a:t>
            </a:r>
            <a:r>
              <a:rPr lang="zh-CN" altLang="en-US" dirty="0" smtClean="0"/>
              <a:t>的值</a:t>
            </a:r>
            <a:r>
              <a:rPr lang="en-US" altLang="zh-CN" dirty="0" smtClean="0"/>
              <a:t>-p</a:t>
            </a:r>
            <a:r>
              <a:rPr lang="zh-CN" altLang="en-US" dirty="0" smtClean="0"/>
              <a:t>的值</a:t>
            </a:r>
            <a:r>
              <a:rPr lang="en-US" altLang="zh-CN" dirty="0" smtClean="0"/>
              <a:t>)/</a:t>
            </a:r>
            <a:r>
              <a:rPr lang="en-US" altLang="zh-CN" dirty="0" err="1" smtClean="0"/>
              <a:t>sizeof</a:t>
            </a:r>
            <a:r>
              <a:rPr lang="en-US" altLang="zh-CN" dirty="0" smtClean="0"/>
              <a:t>(</a:t>
            </a: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algn="just" eaLnBrk="1" hangingPunct="1">
              <a:defRPr/>
            </a:pPr>
            <a:r>
              <a:rPr lang="zh-CN" altLang="en-US" sz="2400" dirty="0"/>
              <a:t>只有跟数组结合使用才有实际意义。</a:t>
            </a:r>
            <a:r>
              <a:rPr lang="zh-CN" altLang="en-US" sz="2400" dirty="0" smtClean="0"/>
              <a:t>例如：</a:t>
            </a:r>
            <a:endParaRPr lang="zh-CN" altLang="en-US" sz="2400" dirty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a[10];</a:t>
            </a:r>
            <a:endParaRPr lang="en-US" altLang="zh-CN" dirty="0" smtClean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*p = &amp;a[0];  </a:t>
            </a:r>
            <a:endParaRPr lang="en-US" altLang="zh-CN" dirty="0" smtClean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*q = &amp;a[3];</a:t>
            </a:r>
            <a:endParaRPr lang="en-US" altLang="zh-CN" dirty="0" smtClean="0"/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</a:t>
            </a:r>
            <a:r>
              <a:rPr lang="en-US" altLang="zh-CN" dirty="0" smtClean="0">
                <a:solidFill>
                  <a:schemeClr val="folHlink"/>
                </a:solidFill>
              </a:rPr>
              <a:t>q-p</a:t>
            </a:r>
            <a:r>
              <a:rPr lang="en-US" altLang="zh-CN" dirty="0" smtClean="0"/>
              <a:t> &lt;&lt; </a:t>
            </a:r>
            <a:r>
              <a:rPr lang="en-US" altLang="zh-CN" dirty="0" err="1" smtClean="0"/>
              <a:t>endl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输出</a:t>
            </a:r>
            <a:r>
              <a:rPr lang="en-US" altLang="zh-CN" dirty="0" smtClean="0">
                <a:solidFill>
                  <a:schemeClr val="folHlink"/>
                </a:solidFill>
              </a:rPr>
              <a:t>3</a:t>
            </a:r>
            <a:endParaRPr lang="en-US" altLang="zh-CN" dirty="0" smtClean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904656"/>
          </a:xfrm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zh-CN" altLang="en-US" sz="2800" dirty="0"/>
              <a:t>两个同类型的指针比较 </a:t>
            </a:r>
            <a:endParaRPr lang="zh-CN" altLang="en-US" sz="2800" dirty="0"/>
          </a:p>
          <a:p>
            <a:pPr lvl="1" eaLnBrk="1" hangingPunct="1">
              <a:defRPr/>
            </a:pPr>
            <a:r>
              <a:rPr lang="zh-CN" altLang="en-US" dirty="0"/>
              <a:t>比较它们所对应的内存地址的大小。例如：</a:t>
            </a:r>
            <a:endParaRPr lang="zh-CN" altLang="en-US" dirty="0"/>
          </a:p>
          <a:p>
            <a:pPr lvl="2" eaLnBrk="1" hangingPunct="1"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*</a:t>
            </a:r>
            <a:r>
              <a:rPr lang="en-US" altLang="zh-CN" dirty="0"/>
              <a:t>p,*q;</a:t>
            </a:r>
            <a:endParaRPr lang="en-US" altLang="zh-CN" dirty="0"/>
          </a:p>
          <a:p>
            <a:pPr lvl="2" eaLnBrk="1" hangingPunct="1">
              <a:buNone/>
              <a:defRPr/>
            </a:pPr>
            <a:r>
              <a:rPr lang="en-US" altLang="zh-CN" dirty="0" smtClean="0"/>
              <a:t>......</a:t>
            </a:r>
            <a:endParaRPr lang="en-US" altLang="zh-CN" dirty="0" smtClean="0"/>
          </a:p>
          <a:p>
            <a:pPr lvl="2" eaLnBrk="1" hangingPunct="1">
              <a:buNone/>
              <a:defRPr/>
            </a:pPr>
            <a:r>
              <a:rPr lang="en-US" altLang="zh-CN" dirty="0" smtClean="0"/>
              <a:t>if (p &lt; q) ...... //</a:t>
            </a:r>
            <a:r>
              <a:rPr lang="zh-CN" altLang="en-US" dirty="0" smtClean="0"/>
              <a:t>比较</a:t>
            </a:r>
            <a:r>
              <a:rPr lang="en-US" altLang="zh-CN" dirty="0" smtClean="0"/>
              <a:t>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q</a:t>
            </a:r>
            <a:r>
              <a:rPr lang="zh-CN" altLang="en-US" dirty="0" smtClean="0"/>
              <a:t>中存储的地址的大小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/>
              <a:t>只有跟数组结合使用才有实际意义。例如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914400" lvl="2" indent="0" eaLnBrk="1" hangingPunct="1"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a[10],</a:t>
            </a:r>
            <a:r>
              <a:rPr lang="en-US" altLang="zh-CN" dirty="0" smtClean="0"/>
              <a:t>sum;</a:t>
            </a:r>
            <a:endParaRPr lang="en-US" altLang="zh-CN" dirty="0" smtClean="0"/>
          </a:p>
          <a:p>
            <a:pPr marL="914400" lvl="2" indent="0" eaLnBrk="1" hangingPunct="1">
              <a:buNone/>
              <a:defRPr/>
            </a:pPr>
            <a:r>
              <a:rPr lang="en-US" altLang="zh-CN" dirty="0" smtClean="0"/>
              <a:t>......</a:t>
            </a:r>
            <a:endParaRPr lang="en-US" altLang="zh-CN" dirty="0"/>
          </a:p>
          <a:p>
            <a:pPr lvl="2" eaLnBrk="1" hangingPunct="1">
              <a:buNone/>
              <a:defRPr/>
            </a:pPr>
            <a:r>
              <a:rPr lang="en-US" altLang="zh-CN" dirty="0"/>
              <a:t>for (p=&amp;a[0],q=&amp;a[9],sum=0; </a:t>
            </a:r>
            <a:r>
              <a:rPr lang="en-US" altLang="zh-CN" dirty="0">
                <a:solidFill>
                  <a:schemeClr val="folHlink"/>
                </a:solidFill>
              </a:rPr>
              <a:t>p&lt;=q</a:t>
            </a:r>
            <a:r>
              <a:rPr lang="en-US" altLang="zh-CN" dirty="0"/>
              <a:t>; p++)</a:t>
            </a:r>
            <a:endParaRPr lang="en-US" altLang="zh-CN" dirty="0"/>
          </a:p>
          <a:p>
            <a:pPr lvl="2" eaLnBrk="1" hangingPunct="1">
              <a:buNone/>
              <a:defRPr/>
            </a:pPr>
            <a:r>
              <a:rPr lang="en-US" altLang="zh-CN" dirty="0"/>
              <a:t>	sum += *p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为什么不按下面的做法？</a:t>
            </a:r>
            <a:endParaRPr lang="en-US" altLang="zh-CN" dirty="0">
              <a:solidFill>
                <a:srgbClr val="FFC000"/>
              </a:solidFill>
            </a:endParaRPr>
          </a:p>
          <a:p>
            <a:pPr lvl="2" eaLnBrk="1" hangingPunct="1">
              <a:buNone/>
              <a:defRPr/>
            </a:pPr>
            <a:r>
              <a:rPr lang="en-US" altLang="zh-CN" dirty="0"/>
              <a:t>for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=0,sum=0</a:t>
            </a:r>
            <a:r>
              <a:rPr lang="en-US" altLang="zh-CN" dirty="0"/>
              <a:t>; </a:t>
            </a:r>
            <a:r>
              <a:rPr lang="en-US" altLang="zh-CN" dirty="0" err="1" smtClean="0">
                <a:solidFill>
                  <a:schemeClr val="folHlink"/>
                </a:solidFill>
              </a:rPr>
              <a:t>i</a:t>
            </a:r>
            <a:r>
              <a:rPr lang="en-US" altLang="zh-CN" dirty="0" smtClean="0">
                <a:solidFill>
                  <a:schemeClr val="folHlink"/>
                </a:solidFill>
              </a:rPr>
              <a:t>&lt;10</a:t>
            </a:r>
            <a:r>
              <a:rPr lang="en-US" altLang="zh-CN" dirty="0" smtClean="0"/>
              <a:t>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</a:t>
            </a:r>
            <a:endParaRPr lang="en-US" altLang="zh-CN" dirty="0"/>
          </a:p>
          <a:p>
            <a:pPr lvl="2" eaLnBrk="1" hangingPunct="1">
              <a:buNone/>
              <a:defRPr/>
            </a:pPr>
            <a:r>
              <a:rPr lang="en-US" altLang="zh-CN" dirty="0"/>
              <a:t>	sum += </a:t>
            </a:r>
            <a:r>
              <a:rPr lang="en-US" altLang="zh-CN" dirty="0" smtClean="0"/>
              <a:t>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];</a:t>
            </a:r>
            <a:endParaRPr lang="en-US" altLang="zh-CN" dirty="0"/>
          </a:p>
          <a:p>
            <a:pPr lvl="2"/>
            <a:r>
              <a:rPr lang="zh-CN" altLang="en-US" dirty="0" smtClean="0">
                <a:solidFill>
                  <a:srgbClr val="FFC000"/>
                </a:solidFill>
              </a:rPr>
              <a:t>从执行效率上考虑！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785225" cy="4968875"/>
          </a:xfrm>
        </p:spPr>
        <p:txBody>
          <a:bodyPr/>
          <a:lstStyle/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x=1;</a:t>
            </a:r>
            <a:endParaRPr lang="en-US" altLang="zh-CN" sz="2400" dirty="0" smtClean="0"/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*p=&amp;x;</a:t>
            </a:r>
            <a:endParaRPr lang="en-US" altLang="zh-CN" sz="2400" dirty="0" smtClean="0"/>
          </a:p>
          <a:p>
            <a:pPr lvl="1" eaLnBrk="1" hangingPunct="1"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*p; //</a:t>
            </a:r>
            <a:r>
              <a:rPr lang="zh-CN" altLang="en-US" sz="2400" dirty="0" smtClean="0"/>
              <a:t>输出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指向的值（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的值）</a:t>
            </a:r>
            <a:endParaRPr lang="en-US" altLang="zh-CN" sz="2400" dirty="0" smtClean="0"/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p; //</a:t>
            </a:r>
            <a:r>
              <a:rPr lang="zh-CN" altLang="en-US" sz="2400" dirty="0" smtClean="0"/>
              <a:t>输出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的值</a:t>
            </a:r>
            <a:r>
              <a:rPr lang="en-US" altLang="zh-CN" sz="2400" dirty="0" smtClean="0"/>
              <a:t>(x</a:t>
            </a:r>
            <a:r>
              <a:rPr lang="zh-CN" altLang="en-US" sz="2400" dirty="0" smtClean="0"/>
              <a:t>的地址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特殊情况：对于指向字符的指针，含义不同</a:t>
            </a:r>
            <a:endParaRPr lang="zh-CN" altLang="en-US" sz="2400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130000"/>
              </a:lnSpc>
              <a:buFontTx/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</a:rPr>
              <a:t>char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str</a:t>
            </a:r>
            <a:r>
              <a:rPr lang="en-US" altLang="zh-CN" sz="2400" dirty="0" smtClean="0">
                <a:solidFill>
                  <a:srgbClr val="FF0000"/>
                </a:solidFill>
              </a:rPr>
              <a:t>[]="ABCD";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</a:rPr>
              <a:t>char *p=&amp;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str</a:t>
            </a:r>
            <a:r>
              <a:rPr lang="en-US" altLang="zh-CN" sz="2400" dirty="0" smtClean="0">
                <a:solidFill>
                  <a:srgbClr val="FF0000"/>
                </a:solidFill>
              </a:rPr>
              <a:t>[0]; 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>
                <a:solidFill>
                  <a:srgbClr val="FF0000"/>
                </a:solidFill>
              </a:rPr>
              <a:t>cout</a:t>
            </a:r>
            <a:r>
              <a:rPr lang="en-US" altLang="zh-CN" sz="2400" dirty="0" smtClean="0">
                <a:solidFill>
                  <a:srgbClr val="FF0000"/>
                </a:solidFill>
              </a:rPr>
              <a:t> &lt;&lt; *p; //</a:t>
            </a:r>
            <a:r>
              <a:rPr lang="zh-CN" altLang="en-US" sz="2400" dirty="0" smtClean="0">
                <a:solidFill>
                  <a:srgbClr val="FF0000"/>
                </a:solidFill>
              </a:rPr>
              <a:t>输出</a:t>
            </a:r>
            <a:r>
              <a:rPr lang="en-US" altLang="zh-CN" sz="2400" dirty="0" smtClean="0">
                <a:solidFill>
                  <a:srgbClr val="FF0000"/>
                </a:solidFill>
              </a:rPr>
              <a:t>p</a:t>
            </a:r>
            <a:r>
              <a:rPr lang="zh-CN" altLang="en-US" sz="2400" dirty="0" smtClean="0">
                <a:solidFill>
                  <a:srgbClr val="FF0000"/>
                </a:solidFill>
              </a:rPr>
              <a:t>指向的字符：</a:t>
            </a:r>
            <a:r>
              <a:rPr lang="en-US" altLang="zh-CN" sz="2400" dirty="0" smtClean="0">
                <a:solidFill>
                  <a:srgbClr val="FF0000"/>
                </a:solidFill>
              </a:rPr>
              <a:t>A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1" eaLnBrk="1" hangingPunct="1">
              <a:buNone/>
              <a:defRPr/>
            </a:pPr>
            <a:r>
              <a:rPr lang="en-US" altLang="zh-CN" sz="2400" dirty="0" err="1" smtClean="0">
                <a:solidFill>
                  <a:srgbClr val="FF0000"/>
                </a:solidFill>
              </a:rPr>
              <a:t>cout</a:t>
            </a:r>
            <a:r>
              <a:rPr lang="en-US" altLang="zh-CN" sz="2400" dirty="0" smtClean="0">
                <a:solidFill>
                  <a:srgbClr val="FF0000"/>
                </a:solidFill>
              </a:rPr>
              <a:t> &lt;&lt; p;  //</a:t>
            </a:r>
            <a:r>
              <a:rPr lang="zh-CN" altLang="en-US" sz="2400" dirty="0" smtClean="0">
                <a:solidFill>
                  <a:srgbClr val="FF0000"/>
                </a:solidFill>
              </a:rPr>
              <a:t>输出</a:t>
            </a:r>
            <a:r>
              <a:rPr lang="en-US" altLang="zh-CN" sz="2400" dirty="0" smtClean="0">
                <a:solidFill>
                  <a:srgbClr val="FF0000"/>
                </a:solidFill>
              </a:rPr>
              <a:t>p</a:t>
            </a:r>
            <a:r>
              <a:rPr lang="zh-CN" altLang="en-US" sz="2400" dirty="0" smtClean="0">
                <a:solidFill>
                  <a:srgbClr val="FF0000"/>
                </a:solidFill>
              </a:rPr>
              <a:t>指向的字符串：</a:t>
            </a:r>
            <a:r>
              <a:rPr lang="en-US" altLang="zh-CN" sz="2400" dirty="0" smtClean="0">
                <a:solidFill>
                  <a:srgbClr val="FF0000"/>
                </a:solidFill>
              </a:rPr>
              <a:t>ABCD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>
                <a:solidFill>
                  <a:srgbClr val="FF0000"/>
                </a:solidFill>
              </a:rPr>
              <a:t>cout</a:t>
            </a:r>
            <a:r>
              <a:rPr lang="en-US" altLang="zh-CN" sz="2400" dirty="0" smtClean="0">
                <a:solidFill>
                  <a:srgbClr val="FF0000"/>
                </a:solidFill>
              </a:rPr>
              <a:t> &lt;&lt; (void *)p  </a:t>
            </a:r>
            <a:r>
              <a:rPr lang="en-US" altLang="zh-CN" sz="2400" dirty="0">
                <a:solidFill>
                  <a:srgbClr val="FF0000"/>
                </a:solidFill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</a:rPr>
              <a:t>输出</a:t>
            </a:r>
            <a:r>
              <a:rPr lang="en-US" altLang="zh-CN" sz="2400" dirty="0">
                <a:solidFill>
                  <a:srgbClr val="FF0000"/>
                </a:solidFill>
              </a:rPr>
              <a:t>p</a:t>
            </a:r>
            <a:r>
              <a:rPr lang="zh-CN" altLang="en-US" sz="2400" dirty="0">
                <a:solidFill>
                  <a:srgbClr val="FF0000"/>
                </a:solidFill>
              </a:rPr>
              <a:t>的</a:t>
            </a:r>
            <a:r>
              <a:rPr lang="zh-CN" altLang="en-US" sz="2400" dirty="0" smtClean="0">
                <a:solidFill>
                  <a:srgbClr val="FF0000"/>
                </a:solidFill>
              </a:rPr>
              <a:t>值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en-US" altLang="zh-CN" sz="2400" dirty="0" smtClean="0">
                <a:solidFill>
                  <a:srgbClr val="FF0000"/>
                </a:solidFill>
              </a:rPr>
              <a:t>"</a:t>
            </a:r>
            <a:r>
              <a:rPr lang="en-US" altLang="zh-CN" sz="2400" dirty="0">
                <a:solidFill>
                  <a:srgbClr val="FF0000"/>
                </a:solidFill>
              </a:rPr>
              <a:t>ABCD"</a:t>
            </a:r>
            <a:r>
              <a:rPr lang="zh-CN" altLang="en-US" sz="2400" dirty="0">
                <a:solidFill>
                  <a:srgbClr val="FF0000"/>
                </a:solidFill>
              </a:rPr>
              <a:t>的内存首地址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mtClean="0"/>
              <a:t>指针的输出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 smtClean="0"/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下面指针的用法好吗</a:t>
            </a:r>
            <a:r>
              <a:rPr lang="zh-CN" altLang="en-US" dirty="0" smtClean="0"/>
              <a:t>？</a:t>
            </a:r>
            <a:endParaRPr lang="fr-FR" altLang="zh-CN" dirty="0" smtClean="0"/>
          </a:p>
          <a:p>
            <a:pPr marL="457200" lvl="1" indent="0" eaLnBrk="1" hangingPunct="1">
              <a:buNone/>
              <a:defRPr/>
            </a:pPr>
            <a:r>
              <a:rPr lang="fr-FR" altLang="zh-CN" dirty="0" smtClean="0"/>
              <a:t>int x=1,y;</a:t>
            </a:r>
            <a:endParaRPr lang="fr-FR" altLang="zh-CN" dirty="0" smtClean="0"/>
          </a:p>
          <a:p>
            <a:pPr marL="457200" lvl="1" indent="0" eaLnBrk="1" hangingPunct="1">
              <a:buNone/>
              <a:defRPr/>
            </a:pPr>
            <a:r>
              <a:rPr lang="fr-FR" altLang="zh-CN" dirty="0" smtClean="0"/>
              <a:t>int *p=&amp;</a:t>
            </a:r>
            <a:r>
              <a:rPr lang="en-US" altLang="zh-CN" dirty="0" smtClean="0"/>
              <a:t>y</a:t>
            </a:r>
            <a:r>
              <a:rPr lang="fr-FR" altLang="zh-CN" dirty="0" smtClean="0"/>
              <a:t>;</a:t>
            </a:r>
            <a:endParaRPr lang="en-US" altLang="zh-CN" dirty="0" smtClean="0"/>
          </a:p>
          <a:p>
            <a:pPr marL="457200" lvl="1" indent="0" eaLnBrk="1" hangingPunct="1">
              <a:buNone/>
              <a:defRPr/>
            </a:pPr>
            <a:r>
              <a:rPr lang="en-US" altLang="zh-CN" dirty="0" smtClean="0"/>
              <a:t>*p = 2;</a:t>
            </a:r>
            <a:endParaRPr lang="en-US" altLang="zh-CN" dirty="0" smtClean="0"/>
          </a:p>
          <a:p>
            <a:pPr marL="457200" lvl="1" indent="0" eaLnBrk="1" hangingPunct="1">
              <a:buNone/>
              <a:defRPr/>
            </a:pPr>
            <a:r>
              <a:rPr lang="en-US" altLang="zh-CN" dirty="0" smtClean="0"/>
              <a:t>y = *p+3*x; 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不好！程序的可读性很差！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在什么场合下用指针？</a:t>
            </a:r>
            <a:endParaRPr lang="en-US" altLang="zh-CN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指针的主要用途</a:t>
            </a:r>
            <a:endParaRPr lang="zh-CN" altLang="en-US" dirty="0" smtClean="0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指针主要用于：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/>
              <a:t>向函数传递数据的</a:t>
            </a:r>
            <a:r>
              <a:rPr lang="zh-CN" altLang="en-US" dirty="0" smtClean="0"/>
              <a:t>地址</a:t>
            </a:r>
            <a:r>
              <a:rPr lang="zh-CN" altLang="en-US" dirty="0" smtClean="0"/>
              <a:t>，</a:t>
            </a:r>
            <a:r>
              <a:rPr lang="zh-CN" altLang="en-US" dirty="0" smtClean="0"/>
              <a:t>提高参数传递</a:t>
            </a:r>
            <a:r>
              <a:rPr lang="zh-CN" altLang="en-US" dirty="0" smtClean="0"/>
              <a:t>效率。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zh-CN" altLang="en-US" dirty="0" smtClean="0"/>
              <a:t>访问动态变量（可表示元素个数可变的复合数据）。</a:t>
            </a:r>
            <a:endParaRPr lang="zh-CN" altLang="en-US" dirty="0" smtClean="0"/>
          </a:p>
          <a:p>
            <a:pPr lvl="1" eaLnBrk="1" hangingPunct="1">
              <a:defRPr/>
            </a:pPr>
            <a:r>
              <a:rPr lang="zh-CN" altLang="en-US" dirty="0" smtClean="0"/>
              <a:t>高效访问数组元素。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GMwOGI0MDFlOGUxOGFhOGQ1Y2FmODNlN2E0MWRhYjIifQ=="/>
</p:tagLst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marL="342900" indent="-342900" algn="just">
          <a:buFont typeface="Arial" panose="020B0604020202020204" pitchFamily="34" charset="0"/>
          <a:buChar char="•"/>
          <a:defRPr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3041</Words>
  <Application>WPS 演示</Application>
  <PresentationFormat>全屏显示(4:3)</PresentationFormat>
  <Paragraphs>255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Calibri</vt:lpstr>
      <vt:lpstr>Arial</vt:lpstr>
      <vt:lpstr>Globe</vt:lpstr>
      <vt:lpstr>九、指针及其基本操作</vt:lpstr>
      <vt:lpstr>主要内容</vt:lpstr>
      <vt:lpstr>指针类型概述</vt:lpstr>
      <vt:lpstr>指针类型的定义</vt:lpstr>
      <vt:lpstr>指针类型变量的定义</vt:lpstr>
      <vt:lpstr>PowerPoint 演示文稿</vt:lpstr>
      <vt:lpstr>获取一个变量的内存地址</vt:lpstr>
      <vt:lpstr>指针类型的基本操作</vt:lpstr>
      <vt:lpstr>指针赋值操作</vt:lpstr>
      <vt:lpstr>间接访问操作(*和-&gt;)</vt:lpstr>
      <vt:lpstr>指针间接访问操作的例子</vt:lpstr>
      <vt:lpstr>PowerPoint 演示文稿</vt:lpstr>
      <vt:lpstr>PowerPoint 演示文稿</vt:lpstr>
      <vt:lpstr>PowerPoint 演示文稿</vt:lpstr>
      <vt:lpstr>指针的运算</vt:lpstr>
      <vt:lpstr>PowerPoint 演示文稿</vt:lpstr>
      <vt:lpstr>PowerPoint 演示文稿</vt:lpstr>
      <vt:lpstr>PowerPoint 演示文稿</vt:lpstr>
      <vt:lpstr>指针的输出</vt:lpstr>
      <vt:lpstr>PowerPoint 演示文稿</vt:lpstr>
      <vt:lpstr>指针的主要用途</vt:lpstr>
    </vt:vector>
  </TitlesOfParts>
  <Company>Nanjing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构造数据类型</dc:title>
  <dc:creator>Chen Jiajun</dc:creator>
  <cp:lastModifiedBy>Ethereal_YC</cp:lastModifiedBy>
  <cp:revision>732</cp:revision>
  <dcterms:created xsi:type="dcterms:W3CDTF">2004-12-03T07:36:00Z</dcterms:created>
  <dcterms:modified xsi:type="dcterms:W3CDTF">2023-12-22T14:52:13Z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5B98B9C755B14E98A5784B778BBB2C69_12</vt:lpwstr>
  </property>
  <property fmtid="{D5CDD505-2E9C-101B-9397-08002B2CF9AE}" pid="3" name="KSOProductBuildVer">
    <vt:lpwstr>2052-12.1.0.15990</vt:lpwstr>
  </property>
</Properties>
</file>
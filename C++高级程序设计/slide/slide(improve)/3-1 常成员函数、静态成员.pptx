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931" r:id="rId3"/>
    <p:sldId id="833" r:id="rId4"/>
    <p:sldId id="970" r:id="rId5"/>
    <p:sldId id="1016" r:id="rId6"/>
    <p:sldId id="978" r:id="rId7"/>
    <p:sldId id="1017" r:id="rId8"/>
    <p:sldId id="1018" r:id="rId9"/>
    <p:sldId id="1019" r:id="rId10"/>
    <p:sldId id="1020" r:id="rId11"/>
    <p:sldId id="1021" r:id="rId12"/>
    <p:sldId id="1022" r:id="rId13"/>
    <p:sldId id="1023" r:id="rId14"/>
    <p:sldId id="1024" r:id="rId15"/>
    <p:sldId id="1025" r:id="rId1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Verdan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9900"/>
    <a:srgbClr val="000000"/>
    <a:srgbClr val="00FFFF"/>
    <a:srgbClr val="85EDA0"/>
    <a:srgbClr val="00CCFF"/>
    <a:srgbClr val="FFFF99"/>
    <a:srgbClr val="FDAFB5"/>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2273"/>
    <p:restoredTop sz="88873"/>
  </p:normalViewPr>
  <p:slideViewPr>
    <p:cSldViewPr showGuides="1">
      <p:cViewPr varScale="1">
        <p:scale>
          <a:sx n="87" d="100"/>
          <a:sy n="87" d="100"/>
        </p:scale>
        <p:origin x="1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2134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87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87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87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8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8ED7A16-7ED7-4247-A296-57F49DB4CB63}"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042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FFAF037-0E2B-488D-A2B6-6FBAA5D8CAA4}"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051" name="Group 2"/>
          <p:cNvGrpSpPr/>
          <p:nvPr/>
        </p:nvGrpSpPr>
        <p:grpSpPr>
          <a:xfrm>
            <a:off x="0" y="0"/>
            <a:ext cx="9148763" cy="6851650"/>
            <a:chOff x="1" y="0"/>
            <a:chExt cx="5763" cy="4316"/>
          </a:xfrm>
        </p:grpSpPr>
        <p:sp>
          <p:nvSpPr>
            <p:cNvPr id="45"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6"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7"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2060" name="Group 6"/>
            <p:cNvGrpSpPr/>
            <p:nvPr/>
          </p:nvGrpSpPr>
          <p:grpSpPr>
            <a:xfrm>
              <a:off x="288" y="0"/>
              <a:ext cx="5098" cy="4316"/>
              <a:chOff x="288" y="0"/>
              <a:chExt cx="5098" cy="4316"/>
            </a:xfrm>
          </p:grpSpPr>
          <p:sp>
            <p:nvSpPr>
              <p:cNvPr id="68"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9"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0"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1"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2"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4"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49"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0"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4" name="Freeform 23"/>
            <p:cNvSpPr/>
            <p:nvPr/>
          </p:nvSpPr>
          <p:spPr>
            <a:xfrm>
              <a:off x="5041" y="0"/>
              <a:ext cx="719" cy="845"/>
            </a:xfrm>
            <a:custGeom>
              <a:avLst/>
              <a:gdLst/>
              <a:ahLst/>
              <a:cxnLst>
                <a:cxn ang="0">
                  <a:pos x="1026" y="845"/>
                </a:cxn>
                <a:cxn ang="0">
                  <a:pos x="1026" y="821"/>
                </a:cxn>
                <a:cxn ang="0">
                  <a:pos x="840" y="605"/>
                </a:cxn>
                <a:cxn ang="0">
                  <a:pos x="540" y="396"/>
                </a:cxn>
                <a:cxn ang="0">
                  <a:pos x="354" y="192"/>
                </a:cxn>
                <a:cxn ang="0">
                  <a:pos x="17" y="0"/>
                </a:cxn>
                <a:cxn ang="0">
                  <a:pos x="0" y="0"/>
                </a:cxn>
                <a:cxn ang="0">
                  <a:pos x="342" y="198"/>
                </a:cxn>
                <a:cxn ang="0">
                  <a:pos x="533" y="408"/>
                </a:cxn>
                <a:cxn ang="0">
                  <a:pos x="834" y="623"/>
                </a:cxn>
                <a:cxn ang="0">
                  <a:pos x="1026" y="845"/>
                </a:cxn>
                <a:cxn ang="0">
                  <a:pos x="1026"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2065" name="Freeform 24"/>
            <p:cNvSpPr/>
            <p:nvPr/>
          </p:nvSpPr>
          <p:spPr>
            <a:xfrm>
              <a:off x="5352" y="0"/>
              <a:ext cx="408" cy="414"/>
            </a:xfrm>
            <a:custGeom>
              <a:avLst/>
              <a:gdLst/>
              <a:ahLst/>
              <a:cxnLst>
                <a:cxn ang="0">
                  <a:pos x="540" y="414"/>
                </a:cxn>
                <a:cxn ang="0">
                  <a:pos x="540" y="396"/>
                </a:cxn>
                <a:cxn ang="0">
                  <a:pos x="355" y="192"/>
                </a:cxn>
                <a:cxn ang="0">
                  <a:pos x="12" y="0"/>
                </a:cxn>
                <a:cxn ang="0">
                  <a:pos x="0" y="0"/>
                </a:cxn>
                <a:cxn ang="0">
                  <a:pos x="108" y="102"/>
                </a:cxn>
                <a:cxn ang="0">
                  <a:pos x="349" y="204"/>
                </a:cxn>
                <a:cxn ang="0">
                  <a:pos x="540" y="414"/>
                </a:cxn>
                <a:cxn ang="0">
                  <a:pos x="540"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54"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67" name="Freeform 26"/>
            <p:cNvSpPr/>
            <p:nvPr/>
          </p:nvSpPr>
          <p:spPr>
            <a:xfrm>
              <a:off x="6" y="0"/>
              <a:ext cx="588" cy="599"/>
            </a:xfrm>
            <a:custGeom>
              <a:avLst/>
              <a:gdLst/>
              <a:ahLst/>
              <a:cxnLst>
                <a:cxn ang="0">
                  <a:pos x="911" y="0"/>
                </a:cxn>
                <a:cxn ang="0">
                  <a:pos x="884" y="0"/>
                </a:cxn>
                <a:cxn ang="0">
                  <a:pos x="640" y="132"/>
                </a:cxn>
                <a:cxn ang="0">
                  <a:pos x="390" y="270"/>
                </a:cxn>
                <a:cxn ang="0">
                  <a:pos x="120" y="420"/>
                </a:cxn>
                <a:cxn ang="0">
                  <a:pos x="0" y="575"/>
                </a:cxn>
                <a:cxn ang="0">
                  <a:pos x="0" y="599"/>
                </a:cxn>
                <a:cxn ang="0">
                  <a:pos x="120" y="432"/>
                </a:cxn>
                <a:cxn ang="0">
                  <a:pos x="390" y="282"/>
                </a:cxn>
                <a:cxn ang="0">
                  <a:pos x="652" y="138"/>
                </a:cxn>
                <a:cxn ang="0">
                  <a:pos x="911" y="0"/>
                </a:cxn>
                <a:cxn ang="0">
                  <a:pos x="911"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2068" name="Freeform 27"/>
            <p:cNvSpPr/>
            <p:nvPr/>
          </p:nvSpPr>
          <p:spPr>
            <a:xfrm>
              <a:off x="6" y="0"/>
              <a:ext cx="270" cy="252"/>
            </a:xfrm>
            <a:custGeom>
              <a:avLst/>
              <a:gdLst/>
              <a:ahLst/>
              <a:cxnLst>
                <a:cxn ang="0">
                  <a:pos x="402" y="0"/>
                </a:cxn>
                <a:cxn ang="0">
                  <a:pos x="384" y="0"/>
                </a:cxn>
                <a:cxn ang="0">
                  <a:pos x="120" y="114"/>
                </a:cxn>
                <a:cxn ang="0">
                  <a:pos x="60" y="174"/>
                </a:cxn>
                <a:cxn ang="0">
                  <a:pos x="0" y="234"/>
                </a:cxn>
                <a:cxn ang="0">
                  <a:pos x="0" y="252"/>
                </a:cxn>
                <a:cxn ang="0">
                  <a:pos x="126" y="120"/>
                </a:cxn>
                <a:cxn ang="0">
                  <a:pos x="402" y="0"/>
                </a:cxn>
                <a:cxn ang="0">
                  <a:pos x="402"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2069"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2070"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2071"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2072" name="Group 31"/>
            <p:cNvGrpSpPr/>
            <p:nvPr/>
          </p:nvGrpSpPr>
          <p:grpSpPr>
            <a:xfrm>
              <a:off x="1" y="392"/>
              <a:ext cx="5758" cy="1571"/>
              <a:chOff x="1" y="392"/>
              <a:chExt cx="5758" cy="1571"/>
            </a:xfrm>
          </p:grpSpPr>
          <p:sp>
            <p:nvSpPr>
              <p:cNvPr id="2075"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2076"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2077"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2078"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2079"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2073"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2074"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1265703"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endParaRPr lang="zh-CN" altLang="en-US"/>
          </a:p>
        </p:txBody>
      </p:sp>
      <p:sp>
        <p:nvSpPr>
          <p:cNvPr id="126570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81" name="Rectangle 41"/>
          <p:cNvSpPr>
            <a:spLocks noGrp="1" noChangeArrowheads="1"/>
          </p:cNvSpPr>
          <p:nvPr>
            <p:ph type="dt" sz="quarter" idx="2"/>
          </p:nvPr>
        </p:nvSpPr>
        <p:spPr bwMode="auto">
          <a:xfrm>
            <a:off x="457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2" name="Rectangle 42"/>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3" name="Rectangle 43"/>
          <p:cNvSpPr>
            <a:spLocks noGrp="1" noChangeArrowheads="1"/>
          </p:cNvSpPr>
          <p:nvPr>
            <p:ph type="sldNum" sz="quarter" idx="4"/>
          </p:nvPr>
        </p:nvSpPr>
        <p:spPr bwMode="auto">
          <a:xfrm>
            <a:off x="6553200" y="6243638"/>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48D9607-E46F-4E62-8D71-F4FC4C7A5F29}"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lumMod val="50000"/>
              </a:schemeClr>
            </a:gs>
            <a:gs pos="100000">
              <a:schemeClr val="bg2">
                <a:lumMod val="50000"/>
              </a:schemeClr>
            </a:gs>
          </a:gsLst>
          <a:lin ang="5400000" scaled="1"/>
          <a:tileRect/>
        </a:gradFill>
        <a:effectLst/>
      </p:bgPr>
    </p:bg>
    <p:spTree>
      <p:nvGrpSpPr>
        <p:cNvPr id="1" name=""/>
        <p:cNvGrpSpPr/>
        <p:nvPr/>
      </p:nvGrpSpPr>
      <p:grpSpPr/>
      <p:grpSp>
        <p:nvGrpSpPr>
          <p:cNvPr id="1026" name="Group 2"/>
          <p:cNvGrpSpPr/>
          <p:nvPr/>
        </p:nvGrpSpPr>
        <p:grpSpPr>
          <a:xfrm>
            <a:off x="1588" y="0"/>
            <a:ext cx="9148762" cy="6851650"/>
            <a:chOff x="1" y="0"/>
            <a:chExt cx="5763" cy="4316"/>
          </a:xfrm>
        </p:grpSpPr>
        <p:sp>
          <p:nvSpPr>
            <p:cNvPr id="1264643" name="Freeform 3"/>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44" name="Freeform 4"/>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45" name="Freeform 5"/>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nvGrpSpPr>
            <p:cNvPr id="1035" name="Group 6"/>
            <p:cNvGrpSpPr/>
            <p:nvPr/>
          </p:nvGrpSpPr>
          <p:grpSpPr>
            <a:xfrm>
              <a:off x="288" y="0"/>
              <a:ext cx="5098" cy="4316"/>
              <a:chOff x="288" y="0"/>
              <a:chExt cx="5098" cy="4316"/>
            </a:xfrm>
          </p:grpSpPr>
          <p:sp>
            <p:nvSpPr>
              <p:cNvPr id="1264647" name="Freeform 7"/>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48" name="Freeform 8"/>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49" name="Freeform 9"/>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0" name="Freeform 10"/>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1" name="Freeform 11"/>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2" name="Freeform 12"/>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3" name="Freeform 13"/>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4" name="Freeform 14"/>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5" name="Freeform 15"/>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6" name="Freeform 16"/>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7" name="Freeform 17"/>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8" name="Freeform 18"/>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59" name="Freeform 19"/>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1264660" name="Freeform 20"/>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61" name="Freeform 21"/>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4662" name="Freeform 22"/>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Freeform 23"/>
            <p:cNvSpPr/>
            <p:nvPr/>
          </p:nvSpPr>
          <p:spPr>
            <a:xfrm>
              <a:off x="5041" y="0"/>
              <a:ext cx="719" cy="845"/>
            </a:xfrm>
            <a:custGeom>
              <a:avLst/>
              <a:gdLst/>
              <a:ahLst/>
              <a:cxnLst>
                <a:cxn ang="0">
                  <a:pos x="1026" y="845"/>
                </a:cxn>
                <a:cxn ang="0">
                  <a:pos x="1026" y="821"/>
                </a:cxn>
                <a:cxn ang="0">
                  <a:pos x="840" y="605"/>
                </a:cxn>
                <a:cxn ang="0">
                  <a:pos x="540" y="396"/>
                </a:cxn>
                <a:cxn ang="0">
                  <a:pos x="354" y="192"/>
                </a:cxn>
                <a:cxn ang="0">
                  <a:pos x="17" y="0"/>
                </a:cxn>
                <a:cxn ang="0">
                  <a:pos x="0" y="0"/>
                </a:cxn>
                <a:cxn ang="0">
                  <a:pos x="342" y="198"/>
                </a:cxn>
                <a:cxn ang="0">
                  <a:pos x="533" y="408"/>
                </a:cxn>
                <a:cxn ang="0">
                  <a:pos x="834" y="623"/>
                </a:cxn>
                <a:cxn ang="0">
                  <a:pos x="1026" y="845"/>
                </a:cxn>
                <a:cxn ang="0">
                  <a:pos x="1026" y="845"/>
                </a:cxn>
              </a:cxnLst>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alpha val="100000"/>
              </a:schemeClr>
            </a:solidFill>
            <a:ln w="9525">
              <a:noFill/>
            </a:ln>
          </p:spPr>
          <p:txBody>
            <a:bodyPr/>
            <a:p>
              <a:endParaRPr lang="zh-CN" altLang="en-US"/>
            </a:p>
          </p:txBody>
        </p:sp>
        <p:sp>
          <p:nvSpPr>
            <p:cNvPr id="1040" name="Freeform 24"/>
            <p:cNvSpPr/>
            <p:nvPr/>
          </p:nvSpPr>
          <p:spPr>
            <a:xfrm>
              <a:off x="5352" y="0"/>
              <a:ext cx="408" cy="414"/>
            </a:xfrm>
            <a:custGeom>
              <a:avLst/>
              <a:gdLst/>
              <a:ahLst/>
              <a:cxnLst>
                <a:cxn ang="0">
                  <a:pos x="540" y="414"/>
                </a:cxn>
                <a:cxn ang="0">
                  <a:pos x="540" y="396"/>
                </a:cxn>
                <a:cxn ang="0">
                  <a:pos x="355" y="192"/>
                </a:cxn>
                <a:cxn ang="0">
                  <a:pos x="12" y="0"/>
                </a:cxn>
                <a:cxn ang="0">
                  <a:pos x="0" y="0"/>
                </a:cxn>
                <a:cxn ang="0">
                  <a:pos x="108" y="102"/>
                </a:cxn>
                <a:cxn ang="0">
                  <a:pos x="349" y="204"/>
                </a:cxn>
                <a:cxn ang="0">
                  <a:pos x="540" y="414"/>
                </a:cxn>
                <a:cxn ang="0">
                  <a:pos x="540" y="414"/>
                </a:cxn>
              </a:cxnLst>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alpha val="100000"/>
              </a:schemeClr>
            </a:solidFill>
            <a:ln w="9525">
              <a:noFill/>
            </a:ln>
          </p:spPr>
          <p:txBody>
            <a:bodyPr/>
            <a:p>
              <a:endParaRPr lang="zh-CN" altLang="en-US"/>
            </a:p>
          </p:txBody>
        </p:sp>
        <p:sp>
          <p:nvSpPr>
            <p:cNvPr id="1264665" name="Freeform 25"/>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Freeform 26"/>
            <p:cNvSpPr/>
            <p:nvPr/>
          </p:nvSpPr>
          <p:spPr>
            <a:xfrm>
              <a:off x="6" y="0"/>
              <a:ext cx="588" cy="599"/>
            </a:xfrm>
            <a:custGeom>
              <a:avLst/>
              <a:gdLst/>
              <a:ahLst/>
              <a:cxnLst>
                <a:cxn ang="0">
                  <a:pos x="911" y="0"/>
                </a:cxn>
                <a:cxn ang="0">
                  <a:pos x="884" y="0"/>
                </a:cxn>
                <a:cxn ang="0">
                  <a:pos x="640" y="132"/>
                </a:cxn>
                <a:cxn ang="0">
                  <a:pos x="390" y="270"/>
                </a:cxn>
                <a:cxn ang="0">
                  <a:pos x="120" y="420"/>
                </a:cxn>
                <a:cxn ang="0">
                  <a:pos x="0" y="575"/>
                </a:cxn>
                <a:cxn ang="0">
                  <a:pos x="0" y="599"/>
                </a:cxn>
                <a:cxn ang="0">
                  <a:pos x="120" y="432"/>
                </a:cxn>
                <a:cxn ang="0">
                  <a:pos x="390" y="282"/>
                </a:cxn>
                <a:cxn ang="0">
                  <a:pos x="652" y="138"/>
                </a:cxn>
                <a:cxn ang="0">
                  <a:pos x="911" y="0"/>
                </a:cxn>
                <a:cxn ang="0">
                  <a:pos x="911" y="0"/>
                </a:cxn>
              </a:cxnLst>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alpha val="100000"/>
              </a:schemeClr>
            </a:solidFill>
            <a:ln w="9525">
              <a:noFill/>
            </a:ln>
          </p:spPr>
          <p:txBody>
            <a:bodyPr/>
            <a:p>
              <a:endParaRPr lang="zh-CN" altLang="en-US"/>
            </a:p>
          </p:txBody>
        </p:sp>
        <p:sp>
          <p:nvSpPr>
            <p:cNvPr id="1043" name="Freeform 27"/>
            <p:cNvSpPr/>
            <p:nvPr/>
          </p:nvSpPr>
          <p:spPr>
            <a:xfrm>
              <a:off x="6" y="0"/>
              <a:ext cx="270" cy="252"/>
            </a:xfrm>
            <a:custGeom>
              <a:avLst/>
              <a:gdLst/>
              <a:ahLst/>
              <a:cxnLst>
                <a:cxn ang="0">
                  <a:pos x="402" y="0"/>
                </a:cxn>
                <a:cxn ang="0">
                  <a:pos x="384" y="0"/>
                </a:cxn>
                <a:cxn ang="0">
                  <a:pos x="120" y="114"/>
                </a:cxn>
                <a:cxn ang="0">
                  <a:pos x="60" y="174"/>
                </a:cxn>
                <a:cxn ang="0">
                  <a:pos x="0" y="234"/>
                </a:cxn>
                <a:cxn ang="0">
                  <a:pos x="0" y="252"/>
                </a:cxn>
                <a:cxn ang="0">
                  <a:pos x="126" y="120"/>
                </a:cxn>
                <a:cxn ang="0">
                  <a:pos x="402" y="0"/>
                </a:cxn>
                <a:cxn ang="0">
                  <a:pos x="402" y="0"/>
                </a:cxn>
              </a:cxnLst>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alpha val="100000"/>
              </a:schemeClr>
            </a:solidFill>
            <a:ln w="9525">
              <a:noFill/>
            </a:ln>
          </p:spPr>
          <p:txBody>
            <a:bodyPr/>
            <a:p>
              <a:endParaRPr lang="zh-CN" altLang="en-US"/>
            </a:p>
          </p:txBody>
        </p:sp>
        <p:sp>
          <p:nvSpPr>
            <p:cNvPr id="1044" name="Line 28"/>
            <p:cNvSpPr/>
            <p:nvPr/>
          </p:nvSpPr>
          <p:spPr>
            <a:xfrm>
              <a:off x="1" y="2749"/>
              <a:ext cx="5758" cy="0"/>
            </a:xfrm>
            <a:prstGeom prst="line">
              <a:avLst/>
            </a:prstGeom>
            <a:ln w="15875" cap="flat" cmpd="sng">
              <a:solidFill>
                <a:schemeClr val="bg1"/>
              </a:solidFill>
              <a:prstDash val="solid"/>
              <a:headEnd type="none" w="med" len="med"/>
              <a:tailEnd type="none" w="med" len="med"/>
            </a:ln>
          </p:spPr>
        </p:sp>
        <p:sp>
          <p:nvSpPr>
            <p:cNvPr id="1045" name="Line 29"/>
            <p:cNvSpPr/>
            <p:nvPr/>
          </p:nvSpPr>
          <p:spPr>
            <a:xfrm>
              <a:off x="1" y="2356"/>
              <a:ext cx="5758" cy="0"/>
            </a:xfrm>
            <a:prstGeom prst="line">
              <a:avLst/>
            </a:prstGeom>
            <a:ln w="15875" cap="flat" cmpd="sng">
              <a:solidFill>
                <a:schemeClr val="bg1"/>
              </a:solidFill>
              <a:prstDash val="solid"/>
              <a:headEnd type="none" w="med" len="med"/>
              <a:tailEnd type="none" w="med" len="med"/>
            </a:ln>
          </p:spPr>
        </p:sp>
        <p:sp>
          <p:nvSpPr>
            <p:cNvPr id="1046" name="Line 30"/>
            <p:cNvSpPr/>
            <p:nvPr/>
          </p:nvSpPr>
          <p:spPr>
            <a:xfrm>
              <a:off x="1" y="3142"/>
              <a:ext cx="5758" cy="0"/>
            </a:xfrm>
            <a:prstGeom prst="line">
              <a:avLst/>
            </a:prstGeom>
            <a:ln w="15875" cap="flat" cmpd="sng">
              <a:solidFill>
                <a:schemeClr val="bg2"/>
              </a:solidFill>
              <a:prstDash val="solid"/>
              <a:headEnd type="none" w="med" len="med"/>
              <a:tailEnd type="none" w="med" len="med"/>
            </a:ln>
          </p:spPr>
        </p:sp>
        <p:grpSp>
          <p:nvGrpSpPr>
            <p:cNvPr id="1047" name="Group 31"/>
            <p:cNvGrpSpPr/>
            <p:nvPr/>
          </p:nvGrpSpPr>
          <p:grpSpPr>
            <a:xfrm>
              <a:off x="1" y="392"/>
              <a:ext cx="5758" cy="1571"/>
              <a:chOff x="1" y="392"/>
              <a:chExt cx="5758" cy="1571"/>
            </a:xfrm>
          </p:grpSpPr>
          <p:sp>
            <p:nvSpPr>
              <p:cNvPr id="1050" name="Line 32"/>
              <p:cNvSpPr/>
              <p:nvPr userDrawn="1"/>
            </p:nvSpPr>
            <p:spPr>
              <a:xfrm>
                <a:off x="1" y="784"/>
                <a:ext cx="5758" cy="0"/>
              </a:xfrm>
              <a:prstGeom prst="line">
                <a:avLst/>
              </a:prstGeom>
              <a:ln w="15875" cap="flat" cmpd="sng">
                <a:solidFill>
                  <a:schemeClr val="bg1"/>
                </a:solidFill>
                <a:prstDash val="solid"/>
                <a:headEnd type="none" w="med" len="med"/>
                <a:tailEnd type="none" w="med" len="med"/>
              </a:ln>
            </p:spPr>
          </p:sp>
          <p:sp>
            <p:nvSpPr>
              <p:cNvPr id="1051" name="Line 33"/>
              <p:cNvSpPr/>
              <p:nvPr userDrawn="1"/>
            </p:nvSpPr>
            <p:spPr>
              <a:xfrm>
                <a:off x="1" y="1963"/>
                <a:ext cx="5758" cy="0"/>
              </a:xfrm>
              <a:prstGeom prst="line">
                <a:avLst/>
              </a:prstGeom>
              <a:ln w="15875" cap="flat" cmpd="sng">
                <a:solidFill>
                  <a:schemeClr val="bg1"/>
                </a:solidFill>
                <a:prstDash val="solid"/>
                <a:headEnd type="none" w="med" len="med"/>
                <a:tailEnd type="none" w="med" len="med"/>
              </a:ln>
            </p:spPr>
          </p:sp>
          <p:sp>
            <p:nvSpPr>
              <p:cNvPr id="1052" name="Line 34"/>
              <p:cNvSpPr/>
              <p:nvPr userDrawn="1"/>
            </p:nvSpPr>
            <p:spPr>
              <a:xfrm>
                <a:off x="1" y="1570"/>
                <a:ext cx="5758" cy="0"/>
              </a:xfrm>
              <a:prstGeom prst="line">
                <a:avLst/>
              </a:prstGeom>
              <a:ln w="15875" cap="flat" cmpd="sng">
                <a:solidFill>
                  <a:schemeClr val="bg1"/>
                </a:solidFill>
                <a:prstDash val="solid"/>
                <a:headEnd type="none" w="med" len="med"/>
                <a:tailEnd type="none" w="med" len="med"/>
              </a:ln>
            </p:spPr>
          </p:sp>
          <p:sp>
            <p:nvSpPr>
              <p:cNvPr id="1053" name="Line 35"/>
              <p:cNvSpPr/>
              <p:nvPr userDrawn="1"/>
            </p:nvSpPr>
            <p:spPr>
              <a:xfrm>
                <a:off x="1" y="1177"/>
                <a:ext cx="5758" cy="0"/>
              </a:xfrm>
              <a:prstGeom prst="line">
                <a:avLst/>
              </a:prstGeom>
              <a:ln w="15875" cap="flat" cmpd="sng">
                <a:solidFill>
                  <a:schemeClr val="bg1"/>
                </a:solidFill>
                <a:prstDash val="solid"/>
                <a:headEnd type="none" w="med" len="med"/>
                <a:tailEnd type="none" w="med" len="med"/>
              </a:ln>
            </p:spPr>
          </p:sp>
          <p:sp>
            <p:nvSpPr>
              <p:cNvPr id="1054" name="Line 36"/>
              <p:cNvSpPr/>
              <p:nvPr userDrawn="1"/>
            </p:nvSpPr>
            <p:spPr>
              <a:xfrm>
                <a:off x="1" y="392"/>
                <a:ext cx="5758" cy="0"/>
              </a:xfrm>
              <a:prstGeom prst="line">
                <a:avLst/>
              </a:prstGeom>
              <a:ln w="15875" cap="flat" cmpd="sng">
                <a:solidFill>
                  <a:schemeClr val="bg1"/>
                </a:solidFill>
                <a:prstDash val="solid"/>
                <a:headEnd type="none" w="med" len="med"/>
                <a:tailEnd type="none" w="med" len="med"/>
              </a:ln>
            </p:spPr>
          </p:sp>
        </p:grpSp>
        <p:sp>
          <p:nvSpPr>
            <p:cNvPr id="1048" name="Line 37"/>
            <p:cNvSpPr/>
            <p:nvPr/>
          </p:nvSpPr>
          <p:spPr>
            <a:xfrm>
              <a:off x="1" y="3928"/>
              <a:ext cx="5758" cy="0"/>
            </a:xfrm>
            <a:prstGeom prst="line">
              <a:avLst/>
            </a:prstGeom>
            <a:ln w="15875" cap="flat" cmpd="sng">
              <a:solidFill>
                <a:schemeClr val="bg2"/>
              </a:solidFill>
              <a:prstDash val="solid"/>
              <a:headEnd type="none" w="med" len="med"/>
              <a:tailEnd type="none" w="med" len="med"/>
            </a:ln>
          </p:spPr>
        </p:sp>
        <p:sp>
          <p:nvSpPr>
            <p:cNvPr id="1049" name="Line 38"/>
            <p:cNvSpPr/>
            <p:nvPr/>
          </p:nvSpPr>
          <p:spPr>
            <a:xfrm>
              <a:off x="1" y="3535"/>
              <a:ext cx="5758" cy="0"/>
            </a:xfrm>
            <a:prstGeom prst="line">
              <a:avLst/>
            </a:prstGeom>
            <a:ln w="15875" cap="flat" cmpd="sng">
              <a:solidFill>
                <a:schemeClr val="bg2"/>
              </a:solidFill>
              <a:prstDash val="solid"/>
              <a:headEnd type="none" w="med" len="med"/>
              <a:tailEnd type="none" w="med" len="med"/>
            </a:ln>
          </p:spPr>
        </p:sp>
      </p:grpSp>
      <p:sp>
        <p:nvSpPr>
          <p:cNvPr id="1264679" name="Rectangle 39"/>
          <p:cNvSpPr>
            <a:spLocks noGrp="1" noChangeArrowheads="1"/>
          </p:cNvSpPr>
          <p:nvPr>
            <p:ph type="title"/>
          </p:nvPr>
        </p:nvSpPr>
        <p:spPr bwMode="auto">
          <a:xfrm>
            <a:off x="457200" y="2778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1264680" name="Rectangle 40"/>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000">
                <a:effectLst>
                  <a:outerShdw blurRad="38100" dist="38100" dir="2700000" algn="tl">
                    <a:srgbClr val="000000"/>
                  </a:outerShdw>
                </a:effectLs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264681" name="Rectangle 41"/>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000">
                <a:effectLst>
                  <a:outerShdw blurRad="38100" dist="38100" dir="2700000" algn="tl">
                    <a:srgbClr val="000000"/>
                  </a:outerShdw>
                </a:effectLs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264682" name="Rectangle 42"/>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000">
                <a:effectLst>
                  <a:outerShdw blurRad="38100" dist="38100" dir="2700000" algn="tl">
                    <a:srgbClr val="000000"/>
                  </a:outerShdw>
                </a:effectLs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DF7C1DD-0602-4B87-A543-BABE4E1AAC90}" type="slidenum">
              <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fld>
            <a:endParaRPr kumimoji="0" lang="en-US" altLang="zh-CN" sz="1000" b="0" i="0" u="none" strike="noStrike" kern="1200" cap="none" spc="0" normalizeH="0" baseline="0" noProof="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264683" name="Rectangle 4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7714" name="Rectangle 2"/>
          <p:cNvSpPr>
            <a:spLocks noGrp="1" noChangeArrowheads="1"/>
          </p:cNvSpPr>
          <p:nvPr>
            <p:ph type="ctrTitle" sz="quarter"/>
          </p:nvPr>
        </p:nvSpPr>
        <p:spPr/>
        <p:txBody>
          <a:bodyPr vert="horz" wrap="square" lIns="91440" tIns="45720" rIns="91440" bIns="45720" numCol="1" anchor="b" anchorCtr="1" compatLnSpc="1"/>
          <a:lstStyle/>
          <a:p>
            <a:pPr marL="0" marR="0" lvl="0" indent="0" algn="ctr" defTabSz="914400" rtl="0" eaLnBrk="1" fontAlgn="base" latinLnBrk="0" hangingPunct="1">
              <a:lnSpc>
                <a:spcPct val="100000"/>
              </a:lnSpc>
              <a:spcBef>
                <a:spcPts val="1000"/>
              </a:spcBef>
              <a:spcAft>
                <a:spcPts val="1000"/>
              </a:spcAft>
              <a:buClrTx/>
              <a:buSzTx/>
              <a:buFontTx/>
              <a:buNone/>
              <a:defRPr/>
            </a:pPr>
            <a:r>
              <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常成员函数及静态成员</a:t>
            </a:r>
            <a:endParaRPr kumimoji="0" lang="zh-CN" altLang="en-US" sz="5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267715" name="Rectangle 3"/>
          <p:cNvSpPr>
            <a:spLocks noGrp="1" noChangeArrowheads="1"/>
          </p:cNvSpPr>
          <p:nvPr>
            <p:ph type="subTitle" sz="quarter" idx="1"/>
          </p:nvPr>
        </p:nvSpPr>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defRPr/>
            </a:pPr>
            <a:endParaRPr kumimoji="0" lang="zh-CN" altLang="zh-CN"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8146" name="Rectangle 2"/>
          <p:cNvSpPr>
            <a:spLocks noGrp="1" noChangeArrowheads="1"/>
          </p:cNvSpPr>
          <p:nvPr>
            <p:ph type="title"/>
          </p:nvPr>
        </p:nvSpPr>
        <p:spPr>
          <a:xfrm>
            <a:off x="457200" y="44450"/>
            <a:ext cx="8229600" cy="995363"/>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获取</a:t>
            </a:r>
            <a:r>
              <a:rPr kumimoji="0" lang="en-US" altLang="zh-CN"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vs</a:t>
            </a: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改变对象的状态</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158147" name="Rectangle 3"/>
          <p:cNvSpPr>
            <a:spLocks noGrp="1" noChangeArrowheads="1"/>
          </p:cNvSpPr>
          <p:nvPr>
            <p:ph idx="1"/>
          </p:nvPr>
        </p:nvSpPr>
        <p:spPr>
          <a:xfrm>
            <a:off x="323850" y="1196975"/>
            <a:ext cx="8362950" cy="5545138"/>
          </a:xfrm>
        </p:spPr>
        <p:txBody>
          <a:bodyPr vert="horz" wrap="square" lIns="91440" tIns="45720" rIns="91440" bIns="45720" numCol="1" anchor="t" anchorCtr="0" compatLnSpc="1">
            <a:normAutofit fontScale="850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在程序运行的不同时刻，一个对象可能会处于不同的</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状态</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对象的状态由对象的数据成员的值来体现。</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可以把类中的成员函数分成两类：</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获取对象状态（不改变数据成员的值）</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改变对象状态（改变数据成员的值）</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Date</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set(</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y,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m,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d);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改变对象状态</a:t>
            </a:r>
            <a:endPar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get_day</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获取对象状态</a:t>
            </a:r>
            <a:endPar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get_month</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获取对象状态</a:t>
            </a:r>
            <a:endPar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get_year</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获取对象状态</a:t>
            </a:r>
            <a:endPar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7827" name="Rectangle 3"/>
          <p:cNvSpPr>
            <a:spLocks noGrp="1" noChangeArrowheads="1"/>
          </p:cNvSpPr>
          <p:nvPr>
            <p:ph idx="1"/>
          </p:nvPr>
        </p:nvSpPr>
        <p:spPr>
          <a:xfrm>
            <a:off x="179388" y="1195388"/>
            <a:ext cx="8640763" cy="5618163"/>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为了防止在一个获取对象状态的成员函数中无意中修改对象数据成员的值，可以把它说明成</a:t>
            </a:r>
            <a:r>
              <a:rPr kumimoji="0" lang="zh-CN" altLang="en-US" sz="3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常成员函数</a:t>
            </a:r>
            <a:r>
              <a:rPr kumimoji="0"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class Date</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public:</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void set(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y,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m,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get_day</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const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常成员函数</a:t>
            </a:r>
            <a:endPar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get_month</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const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常成员函数</a:t>
            </a:r>
            <a:endPar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get_year</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const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常成员函数</a:t>
            </a:r>
            <a:endPar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void </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Date::</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set(</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y,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m, </a:t>
            </a:r>
            <a:r>
              <a:rPr kumimoji="0"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 { year=y; month=m; day=d; }</a:t>
            </a:r>
            <a:endPar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Date::</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get_day</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const</a:t>
            </a:r>
            <a:r>
              <a:rPr kumimoji="1"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return day; }</a:t>
            </a:r>
            <a:endParaRPr kumimoji="1"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Date::</a:t>
            </a:r>
            <a:r>
              <a:rPr kumimoji="1" lang="en-US"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get_month</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a:ln>
                  <a:noFill/>
                </a:ln>
                <a:solidFill>
                  <a:srgbClr val="FFC000"/>
                </a:solidFill>
                <a:effectLst>
                  <a:outerShdw blurRad="38100" dist="38100" dir="2700000" algn="tl">
                    <a:srgbClr val="000000"/>
                  </a:outerShdw>
                </a:effectLst>
                <a:uLnTx/>
                <a:uFillTx/>
                <a:latin typeface="+mn-lt"/>
                <a:ea typeface="+mn-ea"/>
              </a:rPr>
              <a:t>const</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return month; }</a:t>
            </a:r>
            <a:endPar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Date::</a:t>
            </a:r>
            <a:r>
              <a:rPr kumimoji="1"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get_year</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const</a:t>
            </a:r>
            <a:r>
              <a:rPr kumimoji="1"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 </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return </a:t>
            </a:r>
            <a:r>
              <a:rPr kumimoji="1"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year; </a:t>
            </a:r>
            <a:r>
              <a:rPr kumimoji="1"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1"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1"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编译器</a:t>
            </a:r>
            <a:r>
              <a:rPr kumimoji="1" lang="zh-CN" altLang="en-US" sz="3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一旦</a:t>
            </a:r>
            <a:r>
              <a:rPr kumimoji="1"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发现在常</a:t>
            </a:r>
            <a:r>
              <a:rPr kumimoji="1" lang="zh-CN" altLang="en-US" sz="3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成员</a:t>
            </a:r>
            <a:r>
              <a:rPr kumimoji="1"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函数中修改数据成员的值，将会报错！</a:t>
            </a:r>
            <a:endParaRPr kumimoji="1"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3" name="Rectangle 2"/>
          <p:cNvSpPr>
            <a:spLocks noGrp="1" noChangeArrowheads="1"/>
          </p:cNvSpPr>
          <p:nvPr>
            <p:ph type="title"/>
          </p:nvPr>
        </p:nvSpPr>
        <p:spPr>
          <a:xfrm>
            <a:off x="457200" y="-26987"/>
            <a:ext cx="8229600" cy="995363"/>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常成员函数</a:t>
            </a:r>
            <a:endParaRPr kumimoji="0" lang="zh-CN" altLang="en-US" sz="40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476250"/>
            <a:ext cx="8229600" cy="6048375"/>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注意</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：对于有些修改对象状态的常成员函数，编译程序不会指出错误！</a:t>
            </a:r>
            <a:endParaRPr kumimoji="0" lang="en-GB"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x;</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char *p;</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public:</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void f() </a:t>
            </a:r>
            <a:r>
              <a:rPr kumimoji="0" lang="en-GB" altLang="zh-CN" sz="2400" b="0" i="0" u="none" strike="noStrike" kern="0" cap="none" spc="0" normalizeH="0" baseline="0" noProof="0" dirty="0" err="1">
                <a:ln>
                  <a:noFill/>
                </a:ln>
                <a:solidFill>
                  <a:schemeClr val="folHlink"/>
                </a:solidFill>
                <a:effectLst>
                  <a:outerShdw blurRad="38100" dist="38100" dir="2700000" algn="tl">
                    <a:srgbClr val="000000"/>
                  </a:outerShdw>
                </a:effectLst>
                <a:uLnTx/>
                <a:uFillTx/>
                <a:latin typeface="+mn-lt"/>
                <a:ea typeface="+mn-ea"/>
              </a:rPr>
              <a:t>const</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x = 10; </a:t>
            </a:r>
            <a:r>
              <a:rPr kumimoji="0" lang="en-GB" altLang="zh-CN" sz="2400" b="0" i="0" u="none" strike="noStrike" kern="0" cap="none" spc="0" normalizeH="0" baseline="0" noProof="0" dirty="0">
                <a:ln>
                  <a:noFill/>
                </a:ln>
                <a:solidFill>
                  <a:srgbClr val="FF9900"/>
                </a:solidFill>
                <a:effectLst>
                  <a:outerShdw blurRad="38100" dist="38100" dir="2700000" algn="tl">
                    <a:srgbClr val="000000"/>
                  </a:outerShdw>
                </a:effectLst>
                <a:uLnTx/>
                <a:uFillTx/>
                <a:latin typeface="+mn-lt"/>
                <a:ea typeface="+mn-ea"/>
              </a:rPr>
              <a:t>//Error</a:t>
            </a:r>
            <a:endParaRPr kumimoji="0" lang="en-GB" altLang="zh-CN" sz="2400" b="0" i="0" u="none" strike="noStrike" kern="0" cap="none" spc="0" normalizeH="0" baseline="0" noProof="0" dirty="0">
              <a:ln>
                <a:noFill/>
              </a:ln>
              <a:solidFill>
                <a:srgbClr val="FF99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p = new char[20]; </a:t>
            </a:r>
            <a:r>
              <a:rPr kumimoji="0" lang="en-GB" altLang="zh-CN" sz="2400" b="0" i="0" u="none" strike="noStrike" kern="0" cap="none" spc="0" normalizeH="0" baseline="0" noProof="0" dirty="0">
                <a:ln>
                  <a:noFill/>
                </a:ln>
                <a:solidFill>
                  <a:srgbClr val="FF9900"/>
                </a:solidFill>
                <a:effectLst>
                  <a:outerShdw blurRad="38100" dist="38100" dir="2700000" algn="tl">
                    <a:srgbClr val="000000"/>
                  </a:outerShdw>
                </a:effectLst>
                <a:uLnTx/>
                <a:uFillTx/>
                <a:latin typeface="+mn-lt"/>
                <a:ea typeface="+mn-ea"/>
              </a:rPr>
              <a:t>//Error</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strcpy</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en-GB" altLang="zh-CN" sz="24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p,"ABCD</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因为</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没有</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改变</a:t>
            </a: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p</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的值</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GB"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编译程序</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认为</a:t>
            </a:r>
            <a:r>
              <a:rPr kumimoji="0" lang="en-GB" altLang="zh-CN" sz="24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OK</a:t>
            </a:r>
            <a:r>
              <a:rPr kumimoji="0" lang="zh-CN" altLang="en-GB"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90000"/>
              </a:lnSpc>
              <a:spcBef>
                <a:spcPct val="20000"/>
              </a:spcBef>
              <a:spcAft>
                <a:spcPct val="0"/>
              </a:spcAft>
              <a:buClr>
                <a:schemeClr val="tx1"/>
              </a:buClr>
              <a:buSzTx/>
              <a:buFontTx/>
              <a:buNone/>
              <a:defRPr/>
            </a:pPr>
            <a:r>
              <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GB"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150" end="186"/>
                                            </p:txEl>
                                          </p:spTgt>
                                        </p:tgtEl>
                                        <p:attrNameLst>
                                          <p:attrName>style.visibility</p:attrName>
                                        </p:attrNameLst>
                                      </p:cBhvr>
                                      <p:to>
                                        <p:strVal val="visible"/>
                                      </p:to>
                                    </p:set>
                                    <p:anim calcmode="lin" valueType="num">
                                      <p:cBhvr additive="base">
                                        <p:cTn id="7" dur="500" fill="hold"/>
                                        <p:tgtEl>
                                          <p:spTgt spid="3">
                                            <p:txEl>
                                              <p:charRg st="150" end="18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150" end="18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charRg st="186" end="232"/>
                                            </p:txEl>
                                          </p:spTgt>
                                        </p:tgtEl>
                                        <p:attrNameLst>
                                          <p:attrName>style.visibility</p:attrName>
                                        </p:attrNameLst>
                                      </p:cBhvr>
                                      <p:to>
                                        <p:strVal val="visible"/>
                                      </p:to>
                                    </p:set>
                                    <p:anim calcmode="lin" valueType="num">
                                      <p:cBhvr additive="base">
                                        <p:cTn id="11" dur="500" fill="hold"/>
                                        <p:tgtEl>
                                          <p:spTgt spid="3">
                                            <p:txEl>
                                              <p:charRg st="186" end="23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charRg st="186" end="23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0115" name="Rectangle 3"/>
          <p:cNvSpPr>
            <a:spLocks noGrp="1" noChangeArrowheads="1"/>
          </p:cNvSpPr>
          <p:nvPr>
            <p:ph idx="1"/>
          </p:nvPr>
        </p:nvSpPr>
        <p:spPr>
          <a:xfrm>
            <a:off x="457200" y="476250"/>
            <a:ext cx="8229600" cy="5905500"/>
          </a:xfrm>
        </p:spPr>
        <p:txBody>
          <a:bodyPr vert="horz" wrap="square" lIns="91440" tIns="45720" rIns="91440" bIns="45720" numCol="1" anchor="t" anchorCtr="0" compatLnSpc="1">
            <a:normAutofit/>
          </a:bodyPr>
          <a:lstStyle/>
          <a:p>
            <a:pPr marL="342900" marR="0" lvl="0" indent="-342900" algn="l" defTabSz="914400" rtl="0" eaLnBrk="1" fontAlgn="base" latinLnBrk="0" hangingPunct="1">
              <a:lnSpc>
                <a:spcPct val="11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常成员</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函数还有一个作用：</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1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指出对常量对象能实施哪些操作，即，对常量对象</a:t>
            </a:r>
            <a:r>
              <a:rPr kumimoji="0" lang="zh-CN" altLang="en-US"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只能调用</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类中的常成员函数。例如：</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Date</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set(</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y, </a:t>
            </a:r>
            <a:r>
              <a:rPr kumimoji="1"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m, </a:t>
            </a:r>
            <a:r>
              <a:rPr kumimoji="1"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d);</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get_day</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const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get_month</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const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get_year</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folHlink"/>
                </a:solidFill>
                <a:effectLst>
                  <a:outerShdw blurRad="38100" dist="38100" dir="2700000" algn="tl">
                    <a:srgbClr val="000000"/>
                  </a:outerShdw>
                </a:effectLst>
                <a:uLnTx/>
                <a:uFillTx/>
                <a:latin typeface="+mn-lt"/>
                <a:ea typeface="+mn-ea"/>
              </a:rPr>
              <a:t>const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1"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1"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void f(</a:t>
            </a:r>
            <a:r>
              <a:rPr kumimoji="1" lang="en-US" altLang="zh-CN" sz="2000" b="0" i="0" u="none" strike="noStrike" kern="0" cap="none" spc="0" normalizeH="0" baseline="0" noProof="0" dirty="0" err="1" smtClean="0">
                <a:ln>
                  <a:noFill/>
                </a:ln>
                <a:solidFill>
                  <a:srgbClr val="FFC000"/>
                </a:solidFill>
                <a:effectLst>
                  <a:outerShdw blurRad="38100" dist="38100" dir="2700000" algn="tl">
                    <a:srgbClr val="000000"/>
                  </a:outerShdw>
                </a:effectLst>
                <a:uLnTx/>
                <a:uFillTx/>
                <a:latin typeface="+mn-lt"/>
                <a:ea typeface="+mn-ea"/>
              </a:rPr>
              <a:t>const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Date &amp;</a:t>
            </a:r>
            <a:r>
              <a:rPr kumimoji="1" lang="en-US" altLang="zh-CN" sz="20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d</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//d</a:t>
            </a:r>
            <a:r>
              <a:rPr kumimoji="1" lang="zh-CN" altLang="en-US"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引用的是个常量对象！</a:t>
            </a:r>
            <a:endPar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1"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d.get_day</a:t>
            </a: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//OK</a:t>
            </a:r>
            <a:endPar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1"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d.get_month</a:t>
            </a: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//OK</a:t>
            </a:r>
            <a:endPar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1" lang="en-US" altLang="zh-CN" sz="20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d.get_year</a:t>
            </a:r>
            <a:r>
              <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 </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//OK</a:t>
            </a:r>
            <a:endParaRPr kumimoji="1" lang="en-US" altLang="zh-CN" sz="20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1" lang="en-US" altLang="zh-CN" sz="20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d.set</a:t>
            </a: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(2011,3,23); </a:t>
            </a:r>
            <a:r>
              <a:rPr kumimoji="1" lang="en-US" altLang="zh-CN" sz="2000" b="0" i="0" u="none" strike="noStrike" kern="0" cap="none" spc="0" normalizeH="0" baseline="0" noProof="0" dirty="0" smtClean="0">
                <a:ln>
                  <a:noFill/>
                </a:ln>
                <a:solidFill>
                  <a:srgbClr val="FF9900"/>
                </a:solidFill>
                <a:effectLst>
                  <a:outerShdw blurRad="38100" dist="38100" dir="2700000" algn="tl">
                    <a:srgbClr val="000000"/>
                  </a:outerShdw>
                </a:effectLst>
                <a:uLnTx/>
                <a:uFillTx/>
                <a:latin typeface="+mn-lt"/>
                <a:ea typeface="+mn-ea"/>
              </a:rPr>
              <a:t>//Error</a:t>
            </a:r>
            <a:endParaRPr kumimoji="1" lang="en-US" altLang="zh-CN" sz="2000" b="0" i="0" u="none" strike="noStrike" kern="0" cap="none" spc="0" normalizeH="0" baseline="0" noProof="0" dirty="0" smtClean="0">
              <a:ln>
                <a:noFill/>
              </a:ln>
              <a:solidFill>
                <a:srgbClr val="FF99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tx1"/>
              </a:buClr>
              <a:buSzTx/>
              <a:buFontTx/>
              <a:buNone/>
              <a:defRPr/>
            </a:pPr>
            <a:r>
              <a:rPr kumimoji="1"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8850" name="Rectangle 2"/>
          <p:cNvSpPr>
            <a:spLocks noGrp="1" noChangeArrowheads="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同类对象</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如何</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共享数据？</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358851" name="Rectangle 3"/>
          <p:cNvSpPr>
            <a:spLocks noGrp="1" noChangeArrowheads="1"/>
          </p:cNvSpPr>
          <p:nvPr>
            <p:ph idx="1"/>
          </p:nvPr>
        </p:nvSpPr>
        <p:spPr>
          <a:xfrm>
            <a:off x="457200" y="1341438"/>
            <a:ext cx="8229600" cy="5327650"/>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方案一：采用全局变量来表示共享数据。例如：</a:t>
            </a:r>
            <a:endParaRPr kumimoji="0" lang="en-US" altLang="zh-CN" sz="30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=0; //</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全局变量</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y;</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f()   { y =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 //</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访问</a:t>
            </a:r>
            <a:r>
              <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共享的</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a,b</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以下操作</a:t>
            </a:r>
            <a:r>
              <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对同一个</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a:t>
            </a:r>
            <a:r>
              <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进行</a:t>
            </a:r>
            <a:endPar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a.f</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b.f</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共享的数据与对象之间缺乏显式的联系</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数据缺乏保护！</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a:t>
            </a: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不通过</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A</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类对象也能访问</a:t>
            </a:r>
            <a:r>
              <a:rPr kumimoji="0" lang="en-US" altLang="zh-CN"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a:t>
            </a:r>
            <a:r>
              <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，不安全</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t>
            </a:r>
            <a:endParaRPr kumimoji="0" lang="zh-CN" altLang="en-US" sz="24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58851">
                                            <p:txEl>
                                              <p:charRg st="149" end="167"/>
                                            </p:txEl>
                                          </p:spTgt>
                                        </p:tgtEl>
                                        <p:attrNameLst>
                                          <p:attrName>style.visibility</p:attrName>
                                        </p:attrNameLst>
                                      </p:cBhvr>
                                      <p:to>
                                        <p:strVal val="visible"/>
                                      </p:to>
                                    </p:set>
                                    <p:anim calcmode="lin" valueType="num">
                                      <p:cBhvr additive="base">
                                        <p:cTn id="7" dur="500" fill="hold"/>
                                        <p:tgtEl>
                                          <p:spTgt spid="1358851">
                                            <p:txEl>
                                              <p:charRg st="149" end="16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8851">
                                            <p:txEl>
                                              <p:charRg st="149" end="16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58851">
                                            <p:txEl>
                                              <p:charRg st="167" end="175"/>
                                            </p:txEl>
                                          </p:spTgt>
                                        </p:tgtEl>
                                        <p:attrNameLst>
                                          <p:attrName>style.visibility</p:attrName>
                                        </p:attrNameLst>
                                      </p:cBhvr>
                                      <p:to>
                                        <p:strVal val="visible"/>
                                      </p:to>
                                    </p:set>
                                    <p:anim calcmode="lin" valueType="num">
                                      <p:cBhvr additive="base">
                                        <p:cTn id="13" dur="500" fill="hold"/>
                                        <p:tgtEl>
                                          <p:spTgt spid="1358851">
                                            <p:txEl>
                                              <p:charRg st="167" end="17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58851">
                                            <p:txEl>
                                              <p:charRg st="167" end="17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58851">
                                            <p:txEl>
                                              <p:charRg st="175" end="200"/>
                                            </p:txEl>
                                          </p:spTgt>
                                        </p:tgtEl>
                                        <p:attrNameLst>
                                          <p:attrName>style.visibility</p:attrName>
                                        </p:attrNameLst>
                                      </p:cBhvr>
                                      <p:to>
                                        <p:strVal val="visible"/>
                                      </p:to>
                                    </p:set>
                                    <p:anim calcmode="lin" valueType="num">
                                      <p:cBhvr additive="base">
                                        <p:cTn id="17" dur="500" fill="hold"/>
                                        <p:tgtEl>
                                          <p:spTgt spid="1358851">
                                            <p:txEl>
                                              <p:charRg st="175" end="20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58851">
                                            <p:txEl>
                                              <p:charRg st="175" end="20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8851" name="Rectangle 3"/>
          <p:cNvSpPr>
            <a:spLocks noGrp="1" noChangeArrowheads="1"/>
          </p:cNvSpPr>
          <p:nvPr>
            <p:ph idx="1"/>
          </p:nvPr>
        </p:nvSpPr>
        <p:spPr>
          <a:xfrm>
            <a:off x="457200" y="1125538"/>
            <a:ext cx="8229600" cy="5688013"/>
          </a:xfrm>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方案二：采用</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静态</a:t>
            </a:r>
            <a:r>
              <a:rPr kumimoji="0" lang="zh-CN" altLang="en-US" sz="28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数据</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成员</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可以更好地实现同</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一个类的不同对象之间的</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数据共享。例如</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y;</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static</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静态数据成员</a:t>
            </a:r>
            <a:r>
              <a:rPr kumimoji="0" lang="zh-CN" altLang="en-US" sz="2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声明</a:t>
            </a:r>
            <a:endParaRPr kumimoji="0" lang="en-US" altLang="zh-CN" sz="2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f()   { y =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访问共享的</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x</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x=0; //</a:t>
            </a:r>
            <a:r>
              <a:rPr kumimoji="0" lang="zh-CN" altLang="en-US" sz="2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rPr>
              <a:t>静态数据</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成员定义及初始化</a:t>
            </a:r>
            <a:endPar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en-US" altLang="zh-CN" sz="2200" b="0" i="0" u="none" strike="noStrike" kern="0" cap="none" spc="0" normalizeH="0" baseline="0" noProof="0" dirty="0" err="1">
                <a:ln>
                  <a:noFill/>
                </a:ln>
                <a:solidFill>
                  <a:schemeClr val="tx1"/>
                </a:solidFill>
                <a:effectLst>
                  <a:outerShdw blurRad="38100" dist="38100" dir="2700000" algn="tl">
                    <a:srgbClr val="000000"/>
                  </a:outerShdw>
                </a:effectLst>
                <a:uLnTx/>
                <a:uFillTx/>
                <a:latin typeface="+mn-lt"/>
                <a:ea typeface="+mn-ea"/>
              </a:rPr>
              <a:t>a,b</a:t>
            </a: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a.f</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b.f</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t>
            </a:r>
            <a:r>
              <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上述</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操作对同</a:t>
            </a:r>
            <a:r>
              <a:rPr kumimoji="0" lang="zh-CN" altLang="en-US" sz="2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一个</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x</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进行</a:t>
            </a:r>
            <a:endPar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en-US" altLang="zh-CN"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Error</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不通过</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a:t>
            </a:r>
            <a:r>
              <a:rPr kumimoji="0" lang="zh-CN" altLang="en-US"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类对象不能访问</a:t>
            </a:r>
            <a:r>
              <a:rPr kumimoji="0" lang="en-US" altLang="zh-CN" sz="2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x</a:t>
            </a:r>
            <a:r>
              <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3" name="Rectangle 2"/>
          <p:cNvSpPr txBox="1">
            <a:spLocks noChangeArrowheads="1"/>
          </p:cNvSpPr>
          <p:nvPr/>
        </p:nvSpPr>
        <p:spPr bwMode="auto">
          <a:xfrm>
            <a:off x="457200" y="44450"/>
            <a:ext cx="8229600" cy="1139825"/>
          </a:xfrm>
          <a:prstGeom prst="rect">
            <a:avLst/>
          </a:prstGeom>
          <a:noFill/>
          <a:ln w="9525">
            <a:noFill/>
            <a:miter lim="800000"/>
          </a:ln>
          <a:effectLst/>
        </p:spPr>
        <p:txBody>
          <a:bodyPr anchor="ctr" anchorCtr="1"/>
          <a:lstStyle/>
          <a:p>
            <a:pPr marR="0" algn="ctr" defTabSz="914400" eaLnBrk="1" hangingPunct="1">
              <a:buClrTx/>
              <a:buSzTx/>
              <a:buFontTx/>
              <a:buNone/>
              <a:defRPr/>
            </a:pPr>
            <a:r>
              <a:rPr kumimoji="0" lang="zh-CN" altLang="en-US" sz="4400" kern="0" cap="none" spc="0" normalizeH="0" baseline="0" noProof="0" dirty="0">
                <a:solidFill>
                  <a:schemeClr val="tx2"/>
                </a:solidFill>
                <a:effectLst>
                  <a:outerShdw blurRad="38100" dist="38100" dir="2700000" algn="tl">
                    <a:srgbClr val="000000"/>
                  </a:outerShdw>
                </a:effectLst>
                <a:latin typeface="+mj-lt"/>
                <a:ea typeface="+mj-ea"/>
                <a:cs typeface="+mj-cs"/>
              </a:rPr>
              <a:t>静态数据成员</a:t>
            </a:r>
            <a:endParaRPr kumimoji="0" lang="zh-CN" altLang="en-US" sz="4400" kern="0" cap="none" spc="0" normalizeH="0" baseline="0" noProof="0" dirty="0">
              <a:solidFill>
                <a:schemeClr val="tx2"/>
              </a:solidFill>
              <a:effectLst>
                <a:outerShdw blurRad="38100" dist="38100" dir="2700000" algn="tl">
                  <a:srgbClr val="000000"/>
                </a:outerShdw>
              </a:effectLst>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82" name="Rectangle 2"/>
          <p:cNvSpPr>
            <a:spLocks noGrp="1" noChangeArrowheads="1"/>
          </p:cNvSpPr>
          <p:nvPr>
            <p:ph type="title"/>
          </p:nvPr>
        </p:nvSpPr>
        <p:spPr>
          <a:xfrm>
            <a:off x="457200" y="115888"/>
            <a:ext cx="8229600" cy="1009650"/>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sym typeface="Wingdings 2" pitchFamily="18" charset="2"/>
              </a:rPr>
              <a:t> </a:t>
            </a:r>
            <a:endParaRPr kumimoji="0" lang="en-US" altLang="zh-CN"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095683" name="Rectangle 3"/>
          <p:cNvSpPr>
            <a:spLocks noGrp="1" noChangeArrowheads="1"/>
          </p:cNvSpPr>
          <p:nvPr>
            <p:ph idx="1"/>
          </p:nvPr>
        </p:nvSpPr>
        <p:spPr>
          <a:xfrm>
            <a:off x="438150" y="403225"/>
            <a:ext cx="8382000" cy="5905500"/>
          </a:xfrm>
        </p:spPr>
        <p:txBody>
          <a:bodyPr vert="horz" wrap="square" lIns="91440" tIns="45720" rIns="91440" bIns="45720" numCol="1" anchor="t" anchorCtr="0" compatLnSpc="1">
            <a:normAutofit/>
          </a:bodyPr>
          <a:lstStyle/>
          <a:p>
            <a:pPr marL="742950" marR="0" lvl="1" indent="-285750" algn="l" defTabSz="914400" rtl="0" eaLnBrk="1" fontAlgn="base" latinLnBrk="0" hangingPunct="1">
              <a:lnSpc>
                <a:spcPct val="12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类的</a:t>
            </a:r>
            <a:r>
              <a:rPr kumimoji="0" lang="zh-CN" altLang="en-US" sz="28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rPr>
              <a:t>静态数据成员</a:t>
            </a:r>
            <a:r>
              <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对该类的所有对象只有一个拷贝。</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例如，对于下面</a:t>
            </a:r>
            <a:r>
              <a:rPr kumimoji="0" lang="en-US" altLang="zh-CN"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A</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类中的</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shared</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rPr>
              <a:t>static</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shared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 x = y = 0;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void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increase_all</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x++; y++; shared++;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sum_all</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const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return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x+y+shared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914400" marR="0" lvl="1" indent="-457200" algn="l" defTabSz="914400" rtl="0" eaLnBrk="1" fontAlgn="base" latinLnBrk="0" hangingPunct="1">
              <a:lnSpc>
                <a:spcPct val="9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A::shared=0; </a:t>
            </a:r>
            <a:endParaRPr kumimoji="0" lang="zh-CN" altLang="en-US" sz="2400" b="0" i="0" u="none"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n-lt"/>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p:nvPr/>
        </p:nvSpPr>
        <p:spPr>
          <a:xfrm>
            <a:off x="4356100" y="2781300"/>
            <a:ext cx="576263" cy="792163"/>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13315" name="Rectangle 1"/>
          <p:cNvSpPr/>
          <p:nvPr/>
        </p:nvSpPr>
        <p:spPr>
          <a:xfrm>
            <a:off x="1835150" y="2781300"/>
            <a:ext cx="576263" cy="792163"/>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13316" name="Rectangle 0"/>
          <p:cNvSpPr/>
          <p:nvPr/>
        </p:nvSpPr>
        <p:spPr>
          <a:xfrm>
            <a:off x="2771775" y="1916113"/>
            <a:ext cx="719138" cy="288925"/>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1096706" name="Rectangle 2"/>
          <p:cNvSpPr>
            <a:spLocks noGrp="1" noChangeArrowheads="1"/>
          </p:cNvSpPr>
          <p:nvPr>
            <p:ph idx="1"/>
          </p:nvPr>
        </p:nvSpPr>
        <p:spPr>
          <a:xfrm>
            <a:off x="250825" y="1341438"/>
            <a:ext cx="8424863" cy="3860800"/>
          </a:xfrm>
        </p:spPr>
        <p:txBody>
          <a:bodyPr vert="horz" wrap="square" lIns="91440" tIns="45720" rIns="91440" bIns="45720" numCol="1" anchor="t" anchorCtr="0" compatLnSpc="1"/>
          <a:lstStyle/>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a1,a2;</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shared</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a1		    a2</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a1.x:    0	   a2.x:   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a1.y:    0	   a2.y:   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13318" name="Line 2"/>
          <p:cNvSpPr/>
          <p:nvPr/>
        </p:nvSpPr>
        <p:spPr>
          <a:xfrm>
            <a:off x="1835150" y="3167063"/>
            <a:ext cx="576263" cy="0"/>
          </a:xfrm>
          <a:prstGeom prst="line">
            <a:avLst/>
          </a:prstGeom>
          <a:ln w="12700" cap="sq" cmpd="sng">
            <a:solidFill>
              <a:schemeClr val="tx1"/>
            </a:solidFill>
            <a:prstDash val="solid"/>
            <a:headEnd type="none" w="sm" len="sm"/>
            <a:tailEnd type="none" w="sm" len="sm"/>
          </a:ln>
        </p:spPr>
      </p:sp>
      <p:sp>
        <p:nvSpPr>
          <p:cNvPr id="13319" name="Line 4"/>
          <p:cNvSpPr/>
          <p:nvPr/>
        </p:nvSpPr>
        <p:spPr>
          <a:xfrm>
            <a:off x="4356100" y="3187700"/>
            <a:ext cx="576263" cy="0"/>
          </a:xfrm>
          <a:prstGeom prst="line">
            <a:avLst/>
          </a:prstGeom>
          <a:ln w="12700" cap="sq" cmpd="sng">
            <a:solidFill>
              <a:schemeClr val="tx1"/>
            </a:solidFill>
            <a:prstDash val="solid"/>
            <a:headEnd type="none" w="sm" len="sm"/>
            <a:tailEnd type="none" w="sm"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3"/>
          <p:cNvSpPr/>
          <p:nvPr/>
        </p:nvSpPr>
        <p:spPr>
          <a:xfrm>
            <a:off x="4356100" y="2781300"/>
            <a:ext cx="576263" cy="792163"/>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14339" name="Rectangle 1"/>
          <p:cNvSpPr/>
          <p:nvPr/>
        </p:nvSpPr>
        <p:spPr>
          <a:xfrm>
            <a:off x="1835150" y="2781300"/>
            <a:ext cx="576263" cy="792163"/>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14340" name="Rectangle 0"/>
          <p:cNvSpPr/>
          <p:nvPr/>
        </p:nvSpPr>
        <p:spPr>
          <a:xfrm>
            <a:off x="2771775" y="1916113"/>
            <a:ext cx="719138" cy="288925"/>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latin typeface="+mn-lt"/>
                <a:ea typeface="+mn-ea"/>
              </a:defRPr>
            </a:lvl5pPr>
          </a:lstStyle>
          <a:p>
            <a:pPr marL="0" lvl="0" indent="0" eaLnBrk="1" hangingPunct="1">
              <a:spcBef>
                <a:spcPct val="0"/>
              </a:spcBef>
              <a:buClrTx/>
              <a:buSzTx/>
              <a:buFontTx/>
              <a:buNone/>
            </a:pPr>
            <a:endParaRPr lang="zh-CN" altLang="en-US" sz="1800" dirty="0"/>
          </a:p>
        </p:txBody>
      </p:sp>
      <p:sp>
        <p:nvSpPr>
          <p:cNvPr id="1096706" name="Rectangle 2"/>
          <p:cNvSpPr>
            <a:spLocks noGrp="1" noChangeArrowheads="1"/>
          </p:cNvSpPr>
          <p:nvPr>
            <p:ph idx="1"/>
          </p:nvPr>
        </p:nvSpPr>
        <p:spPr>
          <a:xfrm>
            <a:off x="250825" y="1341438"/>
            <a:ext cx="8424863" cy="4103688"/>
          </a:xfrm>
        </p:spPr>
        <p:txBody>
          <a:bodyPr vert="horz" wrap="square" lIns="91440" tIns="45720" rIns="91440" bIns="45720" numCol="1" anchor="t" anchorCtr="0" compatLnSpc="1"/>
          <a:lstStyle/>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a1,a2;</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GB"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shared</a:t>
            </a: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1</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a1		    a2</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a1.x:    1	   a2.x:   0</a:t>
            </a:r>
            <a:endPar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GB"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a1.y:    1	   a2.y:   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a1.</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increase_all();</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a2</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.sum_all() &lt;&lt;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endl</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输出：</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1</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
        <p:nvSpPr>
          <p:cNvPr id="14342" name="Line 2"/>
          <p:cNvSpPr/>
          <p:nvPr/>
        </p:nvSpPr>
        <p:spPr>
          <a:xfrm>
            <a:off x="1835150" y="3167063"/>
            <a:ext cx="576263" cy="0"/>
          </a:xfrm>
          <a:prstGeom prst="line">
            <a:avLst/>
          </a:prstGeom>
          <a:ln w="12700" cap="sq" cmpd="sng">
            <a:solidFill>
              <a:schemeClr val="tx1"/>
            </a:solidFill>
            <a:prstDash val="solid"/>
            <a:headEnd type="none" w="sm" len="sm"/>
            <a:tailEnd type="none" w="sm" len="sm"/>
          </a:ln>
        </p:spPr>
      </p:sp>
      <p:sp>
        <p:nvSpPr>
          <p:cNvPr id="14343" name="Line 4"/>
          <p:cNvSpPr/>
          <p:nvPr/>
        </p:nvSpPr>
        <p:spPr>
          <a:xfrm>
            <a:off x="4356100" y="3187700"/>
            <a:ext cx="576263" cy="0"/>
          </a:xfrm>
          <a:prstGeom prst="line">
            <a:avLst/>
          </a:prstGeom>
          <a:ln w="12700" cap="sq" cmpd="sng">
            <a:solidFill>
              <a:schemeClr val="tx1"/>
            </a:solidFill>
            <a:prstDash val="soli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6706">
                                            <p:txEl>
                                              <p:charRg st="117" end="155"/>
                                            </p:txEl>
                                          </p:spTgt>
                                        </p:tgtEl>
                                        <p:attrNameLst>
                                          <p:attrName>style.visibility</p:attrName>
                                        </p:attrNameLst>
                                      </p:cBhvr>
                                      <p:to>
                                        <p:strVal val="visible"/>
                                      </p:to>
                                    </p:set>
                                    <p:anim calcmode="lin" valueType="num">
                                      <p:cBhvr additive="base">
                                        <p:cTn id="7" dur="500" fill="hold"/>
                                        <p:tgtEl>
                                          <p:spTgt spid="1096706">
                                            <p:txEl>
                                              <p:charRg st="117" end="15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6706">
                                            <p:txEl>
                                              <p:charRg st="117" end="15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44450"/>
            <a:ext cx="8229600" cy="1139825"/>
          </a:xfrm>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smtClean="0">
                <a:ln>
                  <a:noFill/>
                </a:ln>
                <a:solidFill>
                  <a:schemeClr val="tx2"/>
                </a:solidFill>
                <a:effectLst>
                  <a:outerShdw blurRad="38100" dist="38100" dir="2700000" algn="tl">
                    <a:srgbClr val="000000"/>
                  </a:outerShdw>
                </a:effectLst>
                <a:uLnTx/>
                <a:uFillTx/>
                <a:latin typeface="+mj-lt"/>
                <a:ea typeface="+mj-ea"/>
                <a:cs typeface="+mj-cs"/>
              </a:rPr>
              <a:t>静态成员函数</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a:xfrm>
            <a:off x="468313" y="1270000"/>
            <a:ext cx="8229600" cy="5327650"/>
          </a:xfrm>
        </p:spPr>
        <p:txBody>
          <a:bodyPr vert="horz" wrap="square" lIns="91440" tIns="45720" rIns="91440" bIns="45720" numCol="1" anchor="t" anchorCtr="0" compatLnSpc="1">
            <a:normAutofit fontScale="77500" lnSpcReduction="20000"/>
          </a:bodyPr>
          <a:lstStyle/>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成员函数也可以声明成静态的（</a:t>
            </a:r>
            <a:r>
              <a:rPr kumimoji="0" lang="zh-CN" altLang="en-US" sz="3200" b="0" i="0" u="none" strike="noStrike" kern="0" cap="none" spc="0" normalizeH="0" baseline="0" noProof="0" dirty="0">
                <a:ln>
                  <a:noFill/>
                </a:ln>
                <a:solidFill>
                  <a:schemeClr val="folHlink"/>
                </a:solidFill>
                <a:effectLst>
                  <a:outerShdw blurRad="38100" dist="38100" dir="2700000" algn="tl">
                    <a:srgbClr val="000000"/>
                  </a:outerShdw>
                </a:effectLst>
                <a:uLnTx/>
                <a:uFillTx/>
                <a:latin typeface="+mn-lt"/>
                <a:ea typeface="+mn-ea"/>
                <a:cs typeface="+mn-cs"/>
              </a:rPr>
              <a:t>静态成员函数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）。例如：</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class A</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x,y</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static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shared;</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public:</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 { x = y = 0;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static</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get_shared</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r>
              <a:rPr kumimoji="0" lang="zh-CN" altLang="en-US"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静态成员函数</a:t>
            </a:r>
            <a:endParaRPr kumimoji="0" lang="en-US" altLang="zh-CN" sz="24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 return shared;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rPr>
              <a:t> </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1" fontAlgn="base" latinLnBrk="0" hangingPunct="1">
              <a:lnSpc>
                <a:spcPct val="120000"/>
              </a:lnSpc>
              <a:spcBef>
                <a:spcPct val="20000"/>
              </a:spcBef>
              <a:spcAft>
                <a:spcPct val="0"/>
              </a:spcAft>
              <a:buClr>
                <a:schemeClr val="tx1"/>
              </a:buClr>
              <a:buSzTx/>
              <a:buFontTx/>
              <a:buNone/>
              <a:defRPr/>
            </a:pPr>
            <a:r>
              <a:rPr kumimoji="0" lang="en-US" altLang="zh-CN" sz="24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int</a:t>
            </a:r>
            <a:r>
              <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A::shared=0;</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静态成员函数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只能访问类的</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静态成员</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2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静态成员函数</a:t>
            </a:r>
            <a:r>
              <a:rPr kumimoji="0" lang="zh-CN" altLang="en-US" sz="3200" b="0" i="0" u="none" strike="noStrike" kern="0" cap="none" spc="0" normalizeH="0" baseline="0" noProof="0" dirty="0">
                <a:ln>
                  <a:noFill/>
                </a:ln>
                <a:solidFill>
                  <a:srgbClr val="FFC000"/>
                </a:solidFill>
                <a:effectLst>
                  <a:outerShdw blurRad="38100" dist="38100" dir="2700000" algn="tl">
                    <a:srgbClr val="000000"/>
                  </a:outerShdw>
                </a:effectLst>
                <a:uLnTx/>
                <a:uFillTx/>
                <a:latin typeface="+mn-lt"/>
                <a:ea typeface="+mn-ea"/>
                <a:cs typeface="+mn-cs"/>
              </a:rPr>
              <a:t>没有</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隐藏的</a:t>
            </a:r>
            <a:r>
              <a:rPr kumimoji="0" lang="en-US" altLang="zh-CN"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this</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参数</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静态成员除了通过对象来访问外，也可以直接通过类来访问。例如：</a:t>
            </a:r>
            <a:endPar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a.get_shared</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或者</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tx1"/>
              </a:buClr>
              <a:buSzTx/>
              <a:buFontTx/>
              <a:buNone/>
              <a:defRPr/>
            </a:pPr>
            <a:r>
              <a:rPr kumimoji="0" lang="en-US" altLang="zh-CN" sz="2800" b="0" i="0" u="none" strike="noStrike" kern="0" cap="none" spc="0" normalizeH="0" baseline="0" noProof="0" dirty="0" err="1" smtClean="0">
                <a:ln>
                  <a:noFill/>
                </a:ln>
                <a:solidFill>
                  <a:schemeClr val="tx1"/>
                </a:solidFill>
                <a:effectLst>
                  <a:outerShdw blurRad="38100" dist="38100" dir="2700000" algn="tl">
                    <a:srgbClr val="000000"/>
                  </a:outerShdw>
                </a:effectLst>
                <a:uLnTx/>
                <a:uFillTx/>
                <a:latin typeface="+mn-lt"/>
                <a:ea typeface="+mn-ea"/>
              </a:rPr>
              <a:t>cout</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 &lt;&lt; </a:t>
            </a:r>
            <a:r>
              <a:rPr kumimoji="0" lang="en-US" altLang="zh-CN"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A::</a:t>
            </a:r>
            <a:r>
              <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get_shared(); </a:t>
            </a:r>
            <a:endParaRPr kumimoji="0" lang="en-US" altLang="zh-CN"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endPar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2244" name="Rectangle 4"/>
          <p:cNvSpPr>
            <a:spLocks noChangeArrowheads="1"/>
          </p:cNvSpPr>
          <p:nvPr/>
        </p:nvSpPr>
        <p:spPr bwMode="auto">
          <a:xfrm>
            <a:off x="250825" y="992188"/>
            <a:ext cx="8713788" cy="5508625"/>
          </a:xfrm>
          <a:prstGeom prst="rect">
            <a:avLst/>
          </a:prstGeom>
          <a:noFill/>
          <a:ln w="12700" cap="sq">
            <a:noFill/>
            <a:miter lim="800000"/>
            <a:headEnd type="none" w="sm" len="sm"/>
            <a:tailEnd type="none" w="sm" len="sm"/>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class A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r>
              <a:rPr kumimoji="1" lang="en-GB" altLang="zh-CN" sz="22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static</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int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r>
              <a:rPr kumimoji="1" lang="en-GB" altLang="zh-CN" sz="2200" b="0" i="0" u="none" strike="noStrike" kern="1200" cap="none" spc="0" normalizeH="0" baseline="0" noProof="0" dirty="0" err="1">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obj_count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public:</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  //</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在</a:t>
            </a:r>
            <a:r>
              <a:rPr kumimoji="1" lang="zh-CN" altLang="en-US" sz="22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所有</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构造函数中增加：</a:t>
            </a: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obj_count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 </a:t>
            </a:r>
            <a:r>
              <a:rPr kumimoji="1" lang="en-GB" altLang="zh-CN" sz="2200" b="0" i="0" u="none" strike="noStrike" kern="1200" cap="none" spc="0" normalizeH="0" baseline="0" noProof="0" dirty="0" err="1">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obj_count</a:t>
            </a:r>
            <a:r>
              <a:rPr kumimoji="1" lang="en-GB" altLang="zh-CN" sz="22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  //</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在析构函数中增加：</a:t>
            </a: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obj_count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 </a:t>
            </a:r>
            <a:r>
              <a:rPr kumimoji="1" lang="en-GB" altLang="zh-CN" sz="2200" b="0" i="0" u="none" strike="noStrike" kern="1200" cap="none" spc="0" normalizeH="0" baseline="0" noProof="0" dirty="0" err="1">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obj_count</a:t>
            </a:r>
            <a:r>
              <a:rPr kumimoji="1" lang="en-GB" altLang="zh-CN" sz="2200" b="0" i="0" u="none" strike="noStrike" kern="1200" cap="none" spc="0" normalizeH="0" baseline="0" noProof="0" dirty="0">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static </a:t>
            </a: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int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get_num_of_objects</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 return </a:t>
            </a:r>
            <a:r>
              <a:rPr kumimoji="1" lang="en-GB" altLang="zh-CN" sz="2200" b="0" i="0" u="none" strike="noStrike" kern="1200" cap="none" spc="0" normalizeH="0" baseline="0" noProof="0" dirty="0" err="1">
                <a:ln>
                  <a:noFill/>
                </a:ln>
                <a:solidFill>
                  <a:srgbClr val="FFC000"/>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obj_count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int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A::obj_count=0;</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其中创建了一系列</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类对象</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00050" algn="l"/>
                <a:tab pos="533400" algn="l"/>
                <a:tab pos="666750" algn="l"/>
                <a:tab pos="800100" algn="l"/>
                <a:tab pos="933450" algn="l"/>
                <a:tab pos="1066800" algn="l"/>
                <a:tab pos="1200150" algn="l"/>
                <a:tab pos="1333500" algn="l"/>
              </a:tabLst>
              <a:defRPr/>
            </a:pPr>
            <a:r>
              <a:rPr kumimoji="1" lang="en-GB" altLang="zh-CN" sz="2200" b="0" i="0" u="none" strike="noStrike" kern="1200" cap="none" spc="0" normalizeH="0" baseline="0" noProof="0" dirty="0" err="1">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cout</a:t>
            </a:r>
            <a:r>
              <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 &lt;&lt; A::get_num_of_objects(); //</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输出</a:t>
            </a:r>
            <a:r>
              <a:rPr kumimoji="1" lang="en-US"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A</a:t>
            </a:r>
            <a:r>
              <a:rPr kumimoji="1" lang="zh-CN" altLang="en-US"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rPr>
              <a:t>类对象的个数</a:t>
            </a:r>
            <a:endParaRPr kumimoji="1" lang="en-GB" altLang="zh-CN" sz="2200" b="0" i="0" u="none" strike="noStrike" kern="1200" cap="none" spc="0" normalizeH="0" baseline="0" noProof="0" dirty="0">
              <a:ln>
                <a:noFill/>
              </a:ln>
              <a:solidFill>
                <a:schemeClr val="tx1"/>
              </a:solidFill>
              <a:effectLst>
                <a:outerShdw blurRad="38100" dist="38100" dir="2700000" algn="tl">
                  <a:srgbClr val="000000"/>
                </a:outerShdw>
              </a:effectLst>
              <a:uLnTx/>
              <a:uFillTx/>
              <a:latin typeface="Verdana" panose="020B0604030504040204" pitchFamily="34" charset="0"/>
              <a:ea typeface="宋体" panose="02010600030101010101" pitchFamily="2" charset="-122"/>
              <a:cs typeface="+mn-cs"/>
            </a:endParaRPr>
          </a:p>
        </p:txBody>
      </p:sp>
      <p:sp>
        <p:nvSpPr>
          <p:cNvPr id="1311744" name="Rectangle 0"/>
          <p:cNvSpPr>
            <a:spLocks noGrp="1" noChangeArrowheads="1"/>
          </p:cNvSpPr>
          <p:nvPr>
            <p:ph type="title"/>
          </p:nvPr>
        </p:nvSpPr>
        <p:spPr>
          <a:xfrm>
            <a:off x="179388" y="44450"/>
            <a:ext cx="8785225" cy="1008063"/>
          </a:xfrm>
        </p:spPr>
        <p:txBody>
          <a:bodyPr vert="horz" wrap="square" lIns="91440" tIns="45720" rIns="91440" bIns="45720" numCol="1" anchor="ctr" anchorCtr="1"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例： 对运行时刻某类对象的个数进行计数</a:t>
            </a:r>
            <a:endParaRPr kumimoji="0" lang="zh-CN" altLang="en-US" sz="36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1" compatLnSpc="1"/>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zh-CN" altLang="en-US" sz="3200" b="0" i="0" u="none" strike="noStrike" kern="0" cap="none" spc="0" normalizeH="0" baseline="0" noProof="0" dirty="0">
                <a:ln>
                  <a:noFill/>
                </a:ln>
                <a:solidFill>
                  <a:schemeClr val="tx1"/>
                </a:solidFill>
                <a:effectLst>
                  <a:outerShdw blurRad="38100" dist="38100" dir="2700000" algn="tl">
                    <a:srgbClr val="000000"/>
                  </a:outerShdw>
                </a:effectLst>
                <a:uLnTx/>
                <a:uFillTx/>
                <a:latin typeface="+mn-lt"/>
                <a:ea typeface="+mn-ea"/>
                <a:cs typeface="+mn-cs"/>
              </a:rPr>
              <a:t>一些</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纯</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”面向对象程序设计语言（如</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Smalltalk</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）中，把</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也看作</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对象</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，用</a:t>
            </a:r>
            <a:r>
              <a:rPr kumimoji="0" lang="zh-CN" altLang="en-US" sz="32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cs typeface="+mn-cs"/>
              </a:rPr>
              <a:t>元类</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meta class</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a:t>
            </a:r>
            <a:r>
              <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来描述类这个对象。</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Char char="n"/>
              <a:defRPr/>
            </a:pP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在</a:t>
            </a:r>
            <a:r>
              <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C++</a:t>
            </a:r>
            <a:r>
              <a:rPr kumimoji="0" lang="zh-CN" altLang="en-US"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rPr>
              <a:t>中也可以把类看成是对象，该对象的成员有哪些呢？</a:t>
            </a:r>
            <a:endParaRPr kumimoji="0" lang="en-US" altLang="zh-CN" sz="32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静态成员属于“</a:t>
            </a:r>
            <a:r>
              <a:rPr kumimoji="0" lang="zh-CN" altLang="en-US" sz="2800" b="0" i="0" u="none" strike="noStrike" kern="0" cap="none" spc="0" normalizeH="0" baseline="0" noProof="0" dirty="0" smtClean="0">
                <a:ln>
                  <a:noFill/>
                </a:ln>
                <a:solidFill>
                  <a:srgbClr val="FFC000"/>
                </a:solidFill>
                <a:effectLst>
                  <a:outerShdw blurRad="38100" dist="38100" dir="2700000" algn="tl">
                    <a:srgbClr val="000000"/>
                  </a:outerShdw>
                </a:effectLst>
                <a:uLnTx/>
                <a:uFillTx/>
                <a:latin typeface="+mn-lt"/>
                <a:ea typeface="+mn-ea"/>
              </a:rPr>
              <a:t>类对象</a:t>
            </a:r>
            <a:r>
              <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rPr>
              <a:t>”！</a:t>
            </a:r>
            <a:endParaRPr kumimoji="0" lang="zh-CN" altLang="en-US" sz="2800" b="0" i="0" u="none" strike="noStrike" kern="0" cap="none" spc="0" normalizeH="0" baseline="0" noProof="0" dirty="0" smtClean="0">
              <a:ln>
                <a:noFill/>
              </a:ln>
              <a:solidFill>
                <a:schemeClr val="tx1"/>
              </a:solidFill>
              <a:effectLst>
                <a:outerShdw blurRad="38100" dist="38100" dir="2700000" algn="tl">
                  <a:srgbClr val="000000"/>
                </a:outerShdw>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charRg st="91" end="104"/>
                                            </p:txEl>
                                          </p:spTgt>
                                        </p:tgtEl>
                                        <p:attrNameLst>
                                          <p:attrName>style.visibility</p:attrName>
                                        </p:attrNameLst>
                                      </p:cBhvr>
                                      <p:to>
                                        <p:strVal val="visible"/>
                                      </p:to>
                                    </p:set>
                                    <p:anim calcmode="lin" valueType="num">
                                      <p:cBhvr additive="base">
                                        <p:cTn id="7" dur="500" fill="hold"/>
                                        <p:tgtEl>
                                          <p:spTgt spid="3">
                                            <p:txEl>
                                              <p:charRg st="91" end="10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91" end="10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lobe">
  <a:themeElements>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CC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0</TotalTime>
  <Words>2980</Words>
  <Application>WPS 演示</Application>
  <PresentationFormat>全屏显示(4:3)</PresentationFormat>
  <Paragraphs>177</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宋体</vt:lpstr>
      <vt:lpstr>Wingdings</vt:lpstr>
      <vt:lpstr>Verdana</vt:lpstr>
      <vt:lpstr>Times New Roman</vt:lpstr>
      <vt:lpstr>Wingdings 2</vt:lpstr>
      <vt:lpstr>Wingdings</vt:lpstr>
      <vt:lpstr>微软雅黑</vt:lpstr>
      <vt:lpstr>Arial Unicode MS</vt:lpstr>
      <vt:lpstr>Globe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chenjj</dc:creator>
  <cp:lastModifiedBy>tattit</cp:lastModifiedBy>
  <cp:revision>596</cp:revision>
  <dcterms:created xsi:type="dcterms:W3CDTF">1999-05-22T12:40:20Z</dcterms:created>
  <dcterms:modified xsi:type="dcterms:W3CDTF">2023-10-09T14:02:35Z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2052-11.8.2.8875</vt:lpwstr>
  </property>
</Properties>
</file>
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96" r:id="rId5"/>
    <p:sldId id="289" r:id="rId6"/>
    <p:sldId id="260" r:id="rId7"/>
    <p:sldId id="266" r:id="rId8"/>
    <p:sldId id="333" r:id="rId9"/>
    <p:sldId id="309" r:id="rId10"/>
    <p:sldId id="290" r:id="rId11"/>
    <p:sldId id="258" r:id="rId12"/>
    <p:sldId id="259" r:id="rId13"/>
    <p:sldId id="267" r:id="rId14"/>
    <p:sldId id="340" r:id="rId15"/>
    <p:sldId id="344" r:id="rId16"/>
    <p:sldId id="331" r:id="rId17"/>
    <p:sldId id="342" r:id="rId18"/>
    <p:sldId id="330" r:id="rId19"/>
    <p:sldId id="261" r:id="rId20"/>
    <p:sldId id="293" r:id="rId21"/>
    <p:sldId id="311" r:id="rId22"/>
    <p:sldId id="346" r:id="rId23"/>
    <p:sldId id="347" r:id="rId24"/>
    <p:sldId id="348" r:id="rId25"/>
    <p:sldId id="345" r:id="rId26"/>
    <p:sldId id="349" r:id="rId27"/>
  </p:sldIdLst>
  <p:sldSz cx="9144000" cy="6858000" type="screen4x3"/>
  <p:notesSz cx="6858000" cy="9144000"/>
  <p:kinsoku lang="zh-CN" invalStChars="!),.:;?]}、。—ˇ¨〃々～‖…’”〕〉》」』〗】∶！＂＇），．：；？］｀｜｝·" invalEndChars="([{‘“〔〈《「『〖【（［｛．·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777"/>
    <p:restoredTop sz="94660"/>
  </p:normalViewPr>
  <p:slideViewPr>
    <p:cSldViewPr showGuides="1">
      <p:cViewPr varScale="1">
        <p:scale>
          <a:sx n="87" d="100"/>
          <a:sy n="87" d="100"/>
        </p:scale>
        <p:origin x="76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0">
          <a:gsLst>
            <a:gs pos="0">
              <a:srgbClr val="003366"/>
            </a:gs>
            <a:gs pos="100000">
              <a:srgbClr val="001D3B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1" name="Group 2"/>
          <p:cNvGrpSpPr/>
          <p:nvPr/>
        </p:nvGrpSpPr>
        <p:grpSpPr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45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60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68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6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7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8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0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9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4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978" y="845"/>
                </a:cxn>
                <a:cxn ang="0">
                  <a:pos x="978" y="821"/>
                </a:cxn>
                <a:cxn ang="0">
                  <a:pos x="808" y="605"/>
                </a:cxn>
                <a:cxn ang="0">
                  <a:pos x="523" y="396"/>
                </a:cxn>
                <a:cxn ang="0">
                  <a:pos x="338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26" y="198"/>
                </a:cxn>
                <a:cxn ang="0">
                  <a:pos x="517" y="408"/>
                </a:cxn>
                <a:cxn ang="0">
                  <a:pos x="802" y="623"/>
                </a:cxn>
                <a:cxn ang="0">
                  <a:pos x="978" y="845"/>
                </a:cxn>
                <a:cxn ang="0">
                  <a:pos x="978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24" y="414"/>
                </a:cxn>
                <a:cxn ang="0">
                  <a:pos x="524" y="396"/>
                </a:cxn>
                <a:cxn ang="0">
                  <a:pos x="339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33" y="204"/>
                </a:cxn>
                <a:cxn ang="0">
                  <a:pos x="524" y="414"/>
                </a:cxn>
                <a:cxn ang="0">
                  <a:pos x="524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7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863" y="0"/>
                </a:cxn>
                <a:cxn ang="0">
                  <a:pos x="836" y="0"/>
                </a:cxn>
                <a:cxn ang="0">
                  <a:pos x="608" y="132"/>
                </a:cxn>
                <a:cxn ang="0">
                  <a:pos x="374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74" y="282"/>
                </a:cxn>
                <a:cxn ang="0">
                  <a:pos x="620" y="138"/>
                </a:cxn>
                <a:cxn ang="0">
                  <a:pos x="863" y="0"/>
                </a:cxn>
                <a:cxn ang="0">
                  <a:pos x="863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386" y="0"/>
                </a:cxn>
                <a:cxn ang="0">
                  <a:pos x="368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386" y="0"/>
                </a:cxn>
                <a:cxn ang="0">
                  <a:pos x="386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0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1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72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075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6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7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8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9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73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4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159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160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1" name="Rectangle 41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" name="Rectangle 4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" name="Rectangle 4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D06DC2-E66B-48B2-9BE4-233B668EAC0C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EDC885-13C4-4E5A-BA4D-A0E1653F9E6A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EDC885-13C4-4E5A-BA4D-A0E1653F9E6A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EDC885-13C4-4E5A-BA4D-A0E1653F9E6A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EDC885-13C4-4E5A-BA4D-A0E1653F9E6A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EDC885-13C4-4E5A-BA4D-A0E1653F9E6A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EDC885-13C4-4E5A-BA4D-A0E1653F9E6A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EDC885-13C4-4E5A-BA4D-A0E1653F9E6A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EDC885-13C4-4E5A-BA4D-A0E1653F9E6A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EDC885-13C4-4E5A-BA4D-A0E1653F9E6A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EDC885-13C4-4E5A-BA4D-A0E1653F9E6A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3366"/>
            </a:gs>
            <a:gs pos="100000">
              <a:srgbClr val="001D3B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4099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00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01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5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4103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04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05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06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07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08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09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10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11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12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13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14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15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116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17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18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978" y="845"/>
                </a:cxn>
                <a:cxn ang="0">
                  <a:pos x="978" y="821"/>
                </a:cxn>
                <a:cxn ang="0">
                  <a:pos x="808" y="605"/>
                </a:cxn>
                <a:cxn ang="0">
                  <a:pos x="523" y="396"/>
                </a:cxn>
                <a:cxn ang="0">
                  <a:pos x="338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26" y="198"/>
                </a:cxn>
                <a:cxn ang="0">
                  <a:pos x="517" y="408"/>
                </a:cxn>
                <a:cxn ang="0">
                  <a:pos x="802" y="623"/>
                </a:cxn>
                <a:cxn ang="0">
                  <a:pos x="978" y="845"/>
                </a:cxn>
                <a:cxn ang="0">
                  <a:pos x="978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24" y="414"/>
                </a:cxn>
                <a:cxn ang="0">
                  <a:pos x="524" y="396"/>
                </a:cxn>
                <a:cxn ang="0">
                  <a:pos x="339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33" y="204"/>
                </a:cxn>
                <a:cxn ang="0">
                  <a:pos x="524" y="414"/>
                </a:cxn>
                <a:cxn ang="0">
                  <a:pos x="524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121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2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863" y="0"/>
                </a:cxn>
                <a:cxn ang="0">
                  <a:pos x="836" y="0"/>
                </a:cxn>
                <a:cxn ang="0">
                  <a:pos x="608" y="132"/>
                </a:cxn>
                <a:cxn ang="0">
                  <a:pos x="374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74" y="282"/>
                </a:cxn>
                <a:cxn ang="0">
                  <a:pos x="620" y="138"/>
                </a:cxn>
                <a:cxn ang="0">
                  <a:pos x="863" y="0"/>
                </a:cxn>
                <a:cxn ang="0">
                  <a:pos x="863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386" y="0"/>
                </a:cxn>
                <a:cxn ang="0">
                  <a:pos x="368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386" y="0"/>
                </a:cxn>
                <a:cxn ang="0">
                  <a:pos x="386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6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047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1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2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3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4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48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135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1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4136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37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38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EDC885-13C4-4E5A-BA4D-A0E1653F9E6A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39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 noChangeArrowheads="1"/>
          </p:cNvSpPr>
          <p:nvPr>
            <p:ph type="ctrTitle" sz="quarter"/>
          </p:nvPr>
        </p:nvSpPr>
        <p:spPr/>
        <p:txBody>
          <a:bodyPr vert="horz" wrap="square" lIns="91440" tIns="45720" rIns="91440" bIns="45720" numCol="1" anchor="b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事件（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消息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）驱动的程序设计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sz="quarter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主要内容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Windows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与事件驱动的程序设计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基于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Windows API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的过程式的事件驱动程序设计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面向对象的事件驱动程序设计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基于应用框架的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事件驱动程序设计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Windows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简介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84313"/>
            <a:ext cx="8362950" cy="4997450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Windows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是一种基于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图形界面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多任务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操作系统。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系统中可以同时运行多个程序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每个程序通过各自的“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窗口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”与用户进行交互。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用户通过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鼠标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的单击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双击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拖放、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菜单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选择以及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键盘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输入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来与程序进行交互。</a:t>
            </a:r>
            <a:endParaRPr kumimoji="0" lang="en-GB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Windows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的功能以两种方式提供：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工具（程序）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：资源管理器、记事本、画图、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，供用户（人）使用。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函数库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：以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语言函数形式出现（在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windows.h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等头文件中申明），作为应用程序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接口（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API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），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供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Windows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应用程序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（运行在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Windows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系统上的应用程序）使用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Windows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应用程序的类型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84313"/>
            <a:ext cx="8229600" cy="5141913"/>
          </a:xfrm>
        </p:spPr>
        <p:txBody>
          <a:bodyPr vert="horz" wrap="square" lIns="91440" tIns="45720" rIns="91440" bIns="45720" numCol="1" anchor="t" anchorCtr="0" compatLnSpc="1">
            <a:normAutofit fontScale="925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单文档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只能对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一个文档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的数据进行操作。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必须首先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等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当前文档的所有操作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结束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之后，才能进行下一个文档的操作。 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多文档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同时可以对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多个文档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的数据进行操作。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不必等到一个文档的所有操作结束，就可以对其它文档进行操作，对不同文档的操作是在不同的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子窗口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中进行的。 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对话框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以对话框的形式操作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一个文档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数据。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对文档数据的操作以各种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</a:rPr>
              <a:t>“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控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件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</a:rPr>
              <a:t>”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来实现。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程序以按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确定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或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取消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等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按钮来结束。 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事件</a:t>
            </a:r>
            <a:r>
              <a:rPr kumimoji="0" lang="zh-CN" altLang="en-GB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驱动的程序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结构 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268413"/>
            <a:ext cx="8713788" cy="5516563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Windows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应用程序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采用的是一种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事件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消息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驱动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交互式流程控制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结构：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程序的任何一个动作都是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由某个事件激发的。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事件可以是用户的键盘、鼠标、菜单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等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每个事件都会向应用程序发送一些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消息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。例如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WM_KEYDOWN/WM_KEYUP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（键盘按键）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WM_CHAR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按键有对应的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字符）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WM_LBUTTONDOWN/WM_LBUTTONUP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</a:t>
            </a:r>
            <a:r>
              <a:rPr kumimoji="0" lang="en-GB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WM_LBUTTONDBLCLK/WM_MOUSEMOVE 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（鼠标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按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键）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WM_COMMAND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（菜单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选取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WM_PAINT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（窗口内容刷新）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WM_TIMER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（定时器时间到了）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 txBox="1"/>
          <p:nvPr/>
        </p:nvSpPr>
        <p:spPr bwMode="auto">
          <a:xfrm>
            <a:off x="468313" y="476250"/>
            <a:ext cx="8135938" cy="62658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每个应用程序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都有一个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消息队列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Windows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系统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会把属于各个应用程序的消息放入各自的消息队列。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应用程序不断地从自己的消息队列中获取消息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并处理之。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取消息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处理消息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”的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过程称为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消息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循环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当取到某个特定消息（如：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WM_QUIT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）后，消息循环结束。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每个窗口都有一个</a:t>
            </a:r>
            <a:r>
              <a:rPr kumimoji="0" lang="zh-CN" alt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消息</a:t>
            </a:r>
            <a:r>
              <a:rPr kumimoji="0" lang="zh-CN" alt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处理函数</a:t>
            </a:r>
            <a:r>
              <a:rPr kumimoji="0" lang="zh-CN" alt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大部分的消息都关联到某个窗口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应用程序取到消息后将会去调用相应窗口的消息处理函数。</a:t>
            </a:r>
            <a:endParaRPr kumimoji="0" lang="zh-CN" altLang="en-GB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2151063"/>
            <a:ext cx="3671888" cy="31638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主程序：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//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初始化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......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625475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进入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消息循环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while (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取消息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{  ......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处理消息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219" name="Line 6"/>
          <p:cNvSpPr/>
          <p:nvPr/>
        </p:nvSpPr>
        <p:spPr>
          <a:xfrm>
            <a:off x="5003800" y="1647825"/>
            <a:ext cx="20161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0" name="Line 7"/>
          <p:cNvSpPr/>
          <p:nvPr/>
        </p:nvSpPr>
        <p:spPr>
          <a:xfrm>
            <a:off x="5003800" y="2079625"/>
            <a:ext cx="20161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1" name="Line 8"/>
          <p:cNvSpPr/>
          <p:nvPr/>
        </p:nvSpPr>
        <p:spPr>
          <a:xfrm>
            <a:off x="6445250" y="1647825"/>
            <a:ext cx="0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2" name="Line 9"/>
          <p:cNvSpPr/>
          <p:nvPr/>
        </p:nvSpPr>
        <p:spPr>
          <a:xfrm>
            <a:off x="5580063" y="1647825"/>
            <a:ext cx="0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3" name="Line 10"/>
          <p:cNvSpPr/>
          <p:nvPr/>
        </p:nvSpPr>
        <p:spPr>
          <a:xfrm>
            <a:off x="5868988" y="1647825"/>
            <a:ext cx="0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4" name="Line 11"/>
          <p:cNvSpPr/>
          <p:nvPr/>
        </p:nvSpPr>
        <p:spPr>
          <a:xfrm>
            <a:off x="6156325" y="1647825"/>
            <a:ext cx="0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5" name="Line 12"/>
          <p:cNvSpPr/>
          <p:nvPr/>
        </p:nvSpPr>
        <p:spPr>
          <a:xfrm flipH="1">
            <a:off x="6732588" y="1863725"/>
            <a:ext cx="71913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2238" name="Text Box 14"/>
          <p:cNvSpPr txBox="1">
            <a:spLocks noChangeArrowheads="1"/>
          </p:cNvSpPr>
          <p:nvPr/>
        </p:nvSpPr>
        <p:spPr bwMode="auto">
          <a:xfrm>
            <a:off x="4859338" y="981075"/>
            <a:ext cx="1724025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消息队列：</a:t>
            </a:r>
            <a:endParaRPr kumimoji="0" lang="zh-CN" altLang="en-US" sz="2400" kern="1200" cap="none" spc="0" normalizeH="0" baseline="0" noProof="0" dirty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7" name="Line 15"/>
          <p:cNvSpPr/>
          <p:nvPr/>
        </p:nvSpPr>
        <p:spPr>
          <a:xfrm flipH="1">
            <a:off x="2339975" y="1863725"/>
            <a:ext cx="2663825" cy="18716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28" name="Line 16"/>
          <p:cNvSpPr/>
          <p:nvPr/>
        </p:nvSpPr>
        <p:spPr>
          <a:xfrm>
            <a:off x="5292725" y="1647825"/>
            <a:ext cx="0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41" name="Text Box 17"/>
          <p:cNvSpPr txBox="1">
            <a:spLocks noChangeArrowheads="1"/>
          </p:cNvSpPr>
          <p:nvPr/>
        </p:nvSpPr>
        <p:spPr bwMode="auto">
          <a:xfrm>
            <a:off x="4572000" y="3614738"/>
            <a:ext cx="4545013" cy="200025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消息处理函数：</a:t>
            </a:r>
            <a:endParaRPr kumimoji="0" lang="zh-CN" altLang="en-US" sz="2400" kern="1200" cap="none" spc="0" normalizeH="0" baseline="0" noProof="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   ......</a:t>
            </a:r>
            <a:endParaRPr kumimoji="0" lang="en-US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endParaRPr kumimoji="0" lang="en-US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注意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：每个消息的处理时间不宜太长，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否则会造成程序“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假死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”现象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（程序不响应其它消息）。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30" name="Line 18"/>
          <p:cNvSpPr/>
          <p:nvPr/>
        </p:nvSpPr>
        <p:spPr>
          <a:xfrm flipV="1">
            <a:off x="2051050" y="3789363"/>
            <a:ext cx="2520950" cy="660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2243" name="Text Box 19"/>
          <p:cNvSpPr txBox="1">
            <a:spLocks noChangeArrowheads="1"/>
          </p:cNvSpPr>
          <p:nvPr/>
        </p:nvSpPr>
        <p:spPr bwMode="auto">
          <a:xfrm>
            <a:off x="7524750" y="1647825"/>
            <a:ext cx="696913" cy="4000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消息</a:t>
            </a:r>
            <a:endParaRPr kumimoji="0" lang="en-US" altLang="zh-CN" sz="2000" kern="1200" cap="none" spc="0" normalizeH="0" baseline="0" noProof="0" dirty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2738" y="1484313"/>
            <a:ext cx="8580438" cy="5113338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每个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Windows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应用程序</a:t>
            </a: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都必须提供一个主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</a:t>
            </a:r>
            <a:r>
              <a:rPr kumimoji="0" lang="en-GB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WinMain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其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主要</a:t>
            </a: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功能是：</a:t>
            </a:r>
            <a:endParaRPr kumimoji="0" lang="zh-CN" altLang="en-GB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注册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窗口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（定义程序中要创建的窗口类型）：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窗口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的基本风格、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消息处理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函数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图标、光标、背景颜色以及菜单等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每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类窗口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（不是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每个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窗口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）都需要注册。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根据注册的窗口类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创建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应用程序的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主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窗口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（程序的其它窗口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等到需要时再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创建）。</a:t>
            </a:r>
            <a:endParaRPr kumimoji="0" lang="zh-CN" altLang="en-GB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进入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消息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循环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，直到接收到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WM_QUIT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消息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时，消息循环结束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396875" y="188913"/>
            <a:ext cx="8423275" cy="11525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基于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Windows API</a:t>
            </a: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的事件驱动程序设计</a:t>
            </a:r>
            <a:br>
              <a:rPr kumimoji="0" lang="en-US" altLang="zh-CN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（过程式）</a:t>
            </a:r>
            <a:endParaRPr kumimoji="0" lang="zh-CN" altLang="en-US" sz="36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34925" y="985838"/>
            <a:ext cx="4824413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WinMain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(...)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注册窗口类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RegisterClass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(...);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创建主窗口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857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CreateWindow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(...);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2857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进入消息循环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while (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GetMessage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(...)) 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取消息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{  ......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DispatchMessage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(...); 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处理消息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}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67" name="Line 6"/>
          <p:cNvSpPr/>
          <p:nvPr/>
        </p:nvSpPr>
        <p:spPr>
          <a:xfrm>
            <a:off x="5003800" y="1196975"/>
            <a:ext cx="20161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68" name="Line 7"/>
          <p:cNvSpPr/>
          <p:nvPr/>
        </p:nvSpPr>
        <p:spPr>
          <a:xfrm>
            <a:off x="5003800" y="1628775"/>
            <a:ext cx="20161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69" name="Line 8"/>
          <p:cNvSpPr/>
          <p:nvPr/>
        </p:nvSpPr>
        <p:spPr>
          <a:xfrm>
            <a:off x="6445250" y="1196975"/>
            <a:ext cx="0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0" name="Line 9"/>
          <p:cNvSpPr/>
          <p:nvPr/>
        </p:nvSpPr>
        <p:spPr>
          <a:xfrm>
            <a:off x="5580063" y="1196975"/>
            <a:ext cx="0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1" name="Line 10"/>
          <p:cNvSpPr/>
          <p:nvPr/>
        </p:nvSpPr>
        <p:spPr>
          <a:xfrm>
            <a:off x="5868988" y="1196975"/>
            <a:ext cx="0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2" name="Line 11"/>
          <p:cNvSpPr/>
          <p:nvPr/>
        </p:nvSpPr>
        <p:spPr>
          <a:xfrm>
            <a:off x="6156325" y="1196975"/>
            <a:ext cx="0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3" name="Line 12"/>
          <p:cNvSpPr/>
          <p:nvPr/>
        </p:nvSpPr>
        <p:spPr>
          <a:xfrm flipH="1">
            <a:off x="6732588" y="1412875"/>
            <a:ext cx="71913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2238" name="Text Box 14"/>
          <p:cNvSpPr txBox="1">
            <a:spLocks noChangeArrowheads="1"/>
          </p:cNvSpPr>
          <p:nvPr/>
        </p:nvSpPr>
        <p:spPr bwMode="auto">
          <a:xfrm>
            <a:off x="4859338" y="530225"/>
            <a:ext cx="1724025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消息队列：</a:t>
            </a:r>
            <a:endParaRPr kumimoji="0" lang="zh-CN" altLang="en-US" sz="24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75" name="Line 15"/>
          <p:cNvSpPr/>
          <p:nvPr/>
        </p:nvSpPr>
        <p:spPr>
          <a:xfrm flipH="1">
            <a:off x="3132138" y="1412875"/>
            <a:ext cx="1871662" cy="16557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76" name="Line 16"/>
          <p:cNvSpPr/>
          <p:nvPr/>
        </p:nvSpPr>
        <p:spPr>
          <a:xfrm>
            <a:off x="5292725" y="1196975"/>
            <a:ext cx="0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41" name="Text Box 17"/>
          <p:cNvSpPr txBox="1">
            <a:spLocks noChangeArrowheads="1"/>
          </p:cNvSpPr>
          <p:nvPr/>
        </p:nvSpPr>
        <p:spPr bwMode="auto">
          <a:xfrm>
            <a:off x="4995863" y="2636838"/>
            <a:ext cx="3843338" cy="2616200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4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消息处理函数</a:t>
            </a:r>
            <a:endParaRPr kumimoji="0" lang="zh-CN" altLang="en-US" sz="24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WindowProc</a:t>
            </a: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(...,message,...)</a:t>
            </a:r>
            <a:endParaRPr kumimoji="0" lang="en-US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{ switch(message)</a:t>
            </a:r>
            <a:endParaRPr kumimoji="0" lang="en-US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  { case ...:</a:t>
            </a:r>
            <a:endParaRPr kumimoji="0" lang="en-US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     case ...:</a:t>
            </a:r>
            <a:endParaRPr kumimoji="0" lang="en-US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     ......</a:t>
            </a:r>
            <a:endParaRPr kumimoji="0" lang="en-US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  }</a:t>
            </a:r>
            <a:endParaRPr kumimoji="0" lang="en-US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78" name="Line 18"/>
          <p:cNvSpPr/>
          <p:nvPr/>
        </p:nvSpPr>
        <p:spPr>
          <a:xfrm flipV="1">
            <a:off x="3275013" y="3141663"/>
            <a:ext cx="1720850" cy="5762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2243" name="Text Box 19"/>
          <p:cNvSpPr txBox="1">
            <a:spLocks noChangeArrowheads="1"/>
          </p:cNvSpPr>
          <p:nvPr/>
        </p:nvSpPr>
        <p:spPr bwMode="auto">
          <a:xfrm>
            <a:off x="7524750" y="1196975"/>
            <a:ext cx="1423988" cy="6778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消息</a:t>
            </a:r>
            <a:endParaRPr kumimoji="0" lang="en-US" altLang="zh-CN" sz="2000" kern="1200" cap="none" spc="0" normalizeH="0" baseline="0" noProof="0" dirty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(Windows)</a:t>
            </a:r>
            <a:endParaRPr kumimoji="0" lang="en-US" altLang="zh-CN" kern="1200" cap="none" spc="0" normalizeH="0" baseline="0" noProof="0" dirty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80" name="Line 18"/>
          <p:cNvSpPr/>
          <p:nvPr/>
        </p:nvSpPr>
        <p:spPr>
          <a:xfrm flipH="1" flipV="1">
            <a:off x="2698750" y="2000250"/>
            <a:ext cx="2297113" cy="1141413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0" y="115888"/>
            <a:ext cx="9144000" cy="6742113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//Windows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应用程序的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主函数</a:t>
            </a:r>
            <a:endParaRPr kumimoji="0" lang="en-GB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windows.h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//Windows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所提供的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API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声明文件。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APIENTRY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WinMain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(HINSTANCE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hInstance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本实例标识（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Handle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         	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HINSTANCE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hPrevInstance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上一个实例标识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         	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LPSTR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lpCmdLine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命令行参数	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 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nCmdShow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主窗口的初始显示方式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注册窗口类（下面是个示意，函数参数实际为一个结构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WNDCLASS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RegisterClass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(...,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WindowProc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my_window_class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"); 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示意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......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创建并显示主窗口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HWND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hWnd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窗口的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id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hWnd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CreateWindow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my_window_class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",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…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x,y,width,height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,...); 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ShowWindow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hWnd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nCmdShow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......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消息循环，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直到接收到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WM_QUIT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消息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while (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GetMessage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(&amp;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msg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NULL, 0, 0)) 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从消息队列中取消息。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......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DispatchMessage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(&amp;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msg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 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把消息发送到程序相应的窗口。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return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msg.wParam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291" name="文本框 1"/>
          <p:cNvSpPr txBox="1"/>
          <p:nvPr/>
        </p:nvSpPr>
        <p:spPr>
          <a:xfrm>
            <a:off x="2916238" y="2843213"/>
            <a:ext cx="1568450" cy="3698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消息处理函数</a:t>
            </a:r>
            <a:endParaRPr lang="zh-CN" altLang="en-US" sz="1800" dirty="0"/>
          </a:p>
        </p:txBody>
      </p:sp>
      <p:sp>
        <p:nvSpPr>
          <p:cNvPr id="12292" name="文本框 3"/>
          <p:cNvSpPr txBox="1"/>
          <p:nvPr/>
        </p:nvSpPr>
        <p:spPr>
          <a:xfrm>
            <a:off x="5003800" y="2843213"/>
            <a:ext cx="1570038" cy="3698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窗口类的名字</a:t>
            </a:r>
            <a:endParaRPr lang="zh-CN" altLang="en-US" sz="1800" dirty="0"/>
          </a:p>
        </p:txBody>
      </p:sp>
      <p:sp>
        <p:nvSpPr>
          <p:cNvPr id="12293" name="Line 18"/>
          <p:cNvSpPr/>
          <p:nvPr/>
        </p:nvSpPr>
        <p:spPr>
          <a:xfrm flipH="1" flipV="1">
            <a:off x="3276600" y="2636838"/>
            <a:ext cx="358775" cy="2063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294" name="Line 18"/>
          <p:cNvSpPr/>
          <p:nvPr/>
        </p:nvSpPr>
        <p:spPr>
          <a:xfrm flipH="1" flipV="1">
            <a:off x="5435600" y="2636838"/>
            <a:ext cx="360363" cy="2063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15888"/>
            <a:ext cx="8435975" cy="6626225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ts val="225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窗口的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消息处理函数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21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LRESULT CALLBACK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WindowProc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(HWND</a:t>
            </a:r>
            <a:r>
              <a:rPr kumimoji="0" lang="en-US" altLang="zh-CN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b="0" i="1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hWnd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窗口标识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21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	  			               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UINT</a:t>
            </a:r>
            <a:r>
              <a:rPr kumimoji="0" lang="en-US" altLang="zh-CN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message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消息标识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21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               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WPARAM</a:t>
            </a:r>
            <a:r>
              <a:rPr kumimoji="0" lang="en-US" altLang="zh-CN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b="0" i="1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wParam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消息的参数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21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                LPARAM</a:t>
            </a:r>
            <a:r>
              <a:rPr kumimoji="0" lang="en-US" altLang="zh-CN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b="0" i="1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lParam</a:t>
            </a:r>
            <a:r>
              <a:rPr kumimoji="0" lang="en-US" altLang="zh-CN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消息的参数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21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switch (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message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21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{	case WM_KEYDOWN: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21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...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wParam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 //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wParam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为按键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的名字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21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21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case WM_CHAR: 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字符键消息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21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wParam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 //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wParam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是按键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对应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字符的编码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21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21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case WM_COMMAND: 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菜单消息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21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switch (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wParam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//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wParam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是菜单项的标识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21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 { case ID_FILE_OPEN: 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打开文件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21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......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21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    case ID_START_TIMER: 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启动定时器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21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SetTimer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(hWnd,1,1000,NULL);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21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......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21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    ......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21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 }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21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 ......	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107950" y="765175"/>
            <a:ext cx="8748713" cy="56165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case WM_LBUTTONDOWN: //</a:t>
            </a:r>
            <a:r>
              <a:rPr kumimoji="0" lang="zh-CN" altLang="en-GB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鼠标左键按下消息</a:t>
            </a:r>
            <a:endParaRPr kumimoji="0" lang="zh-CN" altLang="en-GB" sz="19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 ...</a:t>
            </a:r>
            <a:r>
              <a:rPr kumimoji="0" lang="en-GB" altLang="zh-CN" sz="19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lParam</a:t>
            </a:r>
            <a:r>
              <a:rPr kumimoji="0" lang="en-GB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 //</a:t>
            </a:r>
            <a:r>
              <a:rPr kumimoji="0" lang="en-GB" altLang="zh-CN" sz="19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lParam</a:t>
            </a:r>
            <a:r>
              <a:rPr kumimoji="0" lang="zh-CN" altLang="en-GB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为鼠标在窗口中的位置</a:t>
            </a:r>
            <a:endParaRPr kumimoji="0" lang="zh-CN" altLang="en-GB" sz="19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 </a:t>
            </a:r>
            <a:r>
              <a:rPr kumimoji="0" lang="en-GB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GB" altLang="zh-CN" sz="19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case WM_PAINT: //</a:t>
            </a:r>
            <a:r>
              <a:rPr kumimoji="0" lang="zh-CN" altLang="en-GB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窗口刷新消息</a:t>
            </a:r>
            <a:endParaRPr kumimoji="0" lang="zh-CN" altLang="en-GB" sz="19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</a:t>
            </a:r>
            <a:r>
              <a:rPr kumimoji="0" lang="en-GB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GB" altLang="zh-CN" sz="19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case WM_TIMER: </a:t>
            </a:r>
            <a:r>
              <a:rPr kumimoji="0" lang="en-US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定时器消息</a:t>
            </a:r>
            <a:endParaRPr kumimoji="0" lang="en-US" altLang="zh-CN" sz="19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...</a:t>
            </a:r>
            <a:r>
              <a:rPr kumimoji="0" lang="en-GB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wParam</a:t>
            </a:r>
            <a:r>
              <a:rPr kumimoji="0" lang="en-GB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 //</a:t>
            </a:r>
            <a:r>
              <a:rPr kumimoji="0" lang="en-GB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wParam</a:t>
            </a:r>
            <a:r>
              <a:rPr kumimoji="0" lang="zh-CN" altLang="en-GB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定时器编号</a:t>
            </a:r>
            <a:endParaRPr kumimoji="0" lang="en-US" altLang="zh-CN" sz="19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......</a:t>
            </a:r>
            <a:endParaRPr kumimoji="0" lang="en-GB" altLang="zh-CN" sz="19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case WM_CLOSE: //</a:t>
            </a:r>
            <a:r>
              <a:rPr kumimoji="0" lang="zh-CN" altLang="en-GB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关闭窗口消息</a:t>
            </a:r>
            <a:endParaRPr kumimoji="0" lang="zh-CN" altLang="en-GB" sz="19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</a:t>
            </a:r>
            <a:r>
              <a:rPr kumimoji="0" lang="en-GB" altLang="zh-CN" sz="19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DestroyWindow</a:t>
            </a:r>
            <a:r>
              <a:rPr kumimoji="0" lang="en-GB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GB" altLang="zh-CN" sz="19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hWnd</a:t>
            </a:r>
            <a:r>
              <a:rPr kumimoji="0" lang="en-GB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 </a:t>
            </a:r>
            <a:r>
              <a:rPr kumimoji="0" lang="en-US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撤销窗口</a:t>
            </a:r>
            <a:endParaRPr kumimoji="0" lang="en-GB" altLang="zh-CN" sz="19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break;</a:t>
            </a:r>
            <a:endParaRPr kumimoji="0" lang="en-GB" altLang="zh-CN" sz="19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case WM_DESTROY: //</a:t>
            </a:r>
            <a:r>
              <a:rPr kumimoji="0" lang="zh-CN" altLang="en-GB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窗口被</a:t>
            </a:r>
            <a:r>
              <a:rPr kumimoji="0" lang="zh-CN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撤销</a:t>
            </a:r>
            <a:r>
              <a:rPr kumimoji="0" lang="zh-CN" altLang="en-GB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消息</a:t>
            </a:r>
            <a:endParaRPr kumimoji="0" lang="zh-CN" altLang="en-GB" sz="19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</a:t>
            </a:r>
            <a:r>
              <a:rPr kumimoji="0" lang="en-GB" altLang="zh-CN" sz="19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PostQuitMessage</a:t>
            </a:r>
            <a:r>
              <a:rPr kumimoji="0" lang="en-GB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(0); //</a:t>
            </a:r>
            <a:r>
              <a:rPr kumimoji="0" lang="zh-CN" altLang="en-GB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往本应用的消息队列中放入</a:t>
            </a:r>
            <a:r>
              <a:rPr kumimoji="0" lang="en-GB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WM_QUIT</a:t>
            </a:r>
            <a:endParaRPr kumimoji="0" lang="en-GB" altLang="zh-CN" sz="19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break;</a:t>
            </a:r>
            <a:endParaRPr kumimoji="0" lang="en-GB" altLang="zh-CN" sz="19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default: //</a:t>
            </a:r>
            <a:r>
              <a:rPr kumimoji="0" lang="zh-CN" altLang="en-GB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由系统</a:t>
            </a:r>
            <a:r>
              <a:rPr kumimoji="0" lang="zh-CN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进行</a:t>
            </a:r>
            <a:r>
              <a:rPr kumimoji="0" lang="zh-CN" altLang="en-GB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默认的消息处理</a:t>
            </a:r>
            <a:endParaRPr kumimoji="0" lang="zh-CN" altLang="en-GB" sz="19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 </a:t>
            </a:r>
            <a:r>
              <a:rPr kumimoji="0" lang="en-GB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return </a:t>
            </a:r>
            <a:r>
              <a:rPr kumimoji="0" lang="en-GB" altLang="zh-CN" sz="19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DefWindowProc</a:t>
            </a:r>
            <a:r>
              <a:rPr kumimoji="0" lang="en-GB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GB" altLang="zh-CN" sz="19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hWnd,message,wParam</a:t>
            </a:r>
            <a:r>
              <a:rPr kumimoji="0" lang="en-GB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GB" altLang="zh-CN" sz="19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lParam</a:t>
            </a:r>
            <a:r>
              <a:rPr kumimoji="0" lang="en-GB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GB" altLang="zh-CN" sz="19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	}</a:t>
            </a:r>
            <a:endParaRPr kumimoji="0" lang="en-GB" altLang="zh-CN" sz="19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	return 0;</a:t>
            </a:r>
            <a:endParaRPr kumimoji="0" lang="en-US" altLang="zh-CN" sz="19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19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5888"/>
            <a:ext cx="8229600" cy="11811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可用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VC++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应用向导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建立基于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Windows API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的事件驱动的应用程序基本框架：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5363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188" y="1268413"/>
            <a:ext cx="7921625" cy="5508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6388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157163"/>
            <a:ext cx="8267700" cy="65436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1026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资源（</a:t>
            </a:r>
            <a:r>
              <a:rPr kumimoji="0" lang="en-US" altLang="zh-CN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Resource</a:t>
            </a: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8131" name="Rectangle 1027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708525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每个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Windows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应用程序，除了程序代码外，还包含一些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资源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菜单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：菜单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ID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、菜单项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ID/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显示文字。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对话框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：对话框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ID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尺寸；对话框中各个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控件的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ID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类型、尺寸与位置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等。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资源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的描述有规定的格式，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存储在相应的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资源文件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GB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rc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）中，经编译后将作为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Windows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应用程序的一部分被链接到应用程序的目标文件中。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资源可以用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VC++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资源编辑器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来进行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可视化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编辑。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92150"/>
            <a:ext cx="8229600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可用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VC++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资源编辑器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来生成资源：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843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100" y="1968500"/>
            <a:ext cx="8728075" cy="41973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面向对象的事件驱动程序设计</a:t>
            </a:r>
            <a:endParaRPr kumimoji="0" lang="zh-CN" altLang="en-US" sz="40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8" y="1916113"/>
            <a:ext cx="8353425" cy="4608513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基于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Windows API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事件驱动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程序设计属于过程式程序设计范式。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通过调用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API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函数编写程序的粒度太细、太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繁琐，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开发效率不高。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如何以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更大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粒度的程序元素（如，类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对象）来开发事件驱动的应用程序？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Windows</a:t>
            </a:r>
            <a:r>
              <a:rPr kumimoji="0" lang="zh-CN" altLang="en-GB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应用程序中的对象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2875"/>
            <a:ext cx="8229600" cy="5400675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窗口对象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显示程序的处理数据。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处理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Windows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的消息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、实现与用户的交互。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窗口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对象类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之间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可以存在继承和组合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关系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 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文档对象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管理在各个窗口中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显示和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处理的数据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文档对象与窗口对象之间可以存在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关联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关系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应用程序对象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管理属于它的窗口对象和文档对象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实现消息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循环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GB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它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与窗口对象及文档对象之间构成了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组合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关系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506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9113" y="333375"/>
            <a:ext cx="4248150" cy="31448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7" name="AutoShape 5"/>
          <p:cNvSpPr/>
          <p:nvPr/>
        </p:nvSpPr>
        <p:spPr>
          <a:xfrm>
            <a:off x="6084888" y="4005263"/>
            <a:ext cx="936625" cy="1368425"/>
          </a:xfrm>
          <a:prstGeom prst="foldedCorner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21508" name="AutoShape 6"/>
          <p:cNvSpPr/>
          <p:nvPr/>
        </p:nvSpPr>
        <p:spPr>
          <a:xfrm>
            <a:off x="3276600" y="4005263"/>
            <a:ext cx="936625" cy="1368425"/>
          </a:xfrm>
          <a:prstGeom prst="foldedCorner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16389" name="Text Box 7"/>
          <p:cNvSpPr txBox="1">
            <a:spLocks noChangeArrowheads="1"/>
          </p:cNvSpPr>
          <p:nvPr/>
        </p:nvSpPr>
        <p:spPr bwMode="auto">
          <a:xfrm>
            <a:off x="468313" y="3933825"/>
            <a:ext cx="145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文档对象：</a:t>
            </a:r>
            <a:endParaRPr kumimoji="0" lang="zh-CN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0" name="Text Box 8"/>
          <p:cNvSpPr txBox="1">
            <a:spLocks noChangeArrowheads="1"/>
          </p:cNvSpPr>
          <p:nvPr/>
        </p:nvSpPr>
        <p:spPr bwMode="auto">
          <a:xfrm>
            <a:off x="447675" y="476250"/>
            <a:ext cx="145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窗口对象：</a:t>
            </a:r>
            <a:endParaRPr kumimoji="0" lang="zh-CN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11" name="Line 9"/>
          <p:cNvSpPr/>
          <p:nvPr/>
        </p:nvSpPr>
        <p:spPr>
          <a:xfrm>
            <a:off x="179388" y="3716338"/>
            <a:ext cx="871378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2" name="Line 20"/>
          <p:cNvSpPr/>
          <p:nvPr/>
        </p:nvSpPr>
        <p:spPr>
          <a:xfrm>
            <a:off x="179388" y="5589588"/>
            <a:ext cx="871378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3" name="Text Box 21"/>
          <p:cNvSpPr txBox="1">
            <a:spLocks noChangeArrowheads="1"/>
          </p:cNvSpPr>
          <p:nvPr/>
        </p:nvSpPr>
        <p:spPr bwMode="auto">
          <a:xfrm>
            <a:off x="303213" y="6000750"/>
            <a:ext cx="196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应用程序对象：</a:t>
            </a:r>
            <a:endParaRPr kumimoji="0" lang="zh-CN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>
            <a:off x="3492500" y="2205038"/>
            <a:ext cx="142875" cy="1800225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>
            <a:endCxn id="21507" idx="0"/>
          </p:cNvCxnSpPr>
          <p:nvPr/>
        </p:nvCxnSpPr>
        <p:spPr>
          <a:xfrm>
            <a:off x="5651500" y="2565400"/>
            <a:ext cx="901700" cy="1439863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486275" y="5805488"/>
            <a:ext cx="1338263" cy="9223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注册窗口类</a:t>
            </a:r>
            <a:endParaRPr kumimoji="0" lang="zh-CN" altLang="en-GB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创建主窗口</a:t>
            </a:r>
            <a:endParaRPr kumimoji="0" lang="zh-CN" altLang="en-GB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消息循环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84313"/>
            <a:ext cx="8229600" cy="4537075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如何为上述对象设计相应的类？下面是常见的两个类库：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微软的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MFC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：用类封装了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Windows API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的功能，与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Windows API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的联系比较紧密。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Qt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公司的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Qt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不需要了解太多的底层实现细节（如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Windows API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），跨平台（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Windows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Android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IOS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...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应用程序可以通过继承上面类库中的类来实现各自的特殊功能。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支持</a:t>
            </a:r>
            <a:r>
              <a:rPr kumimoji="0" lang="en-US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Windows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应用开发的类库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例：</a:t>
            </a:r>
            <a:r>
              <a:rPr kumimoji="0" lang="en-US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MFC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提供的主要类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1268413"/>
            <a:ext cx="8435975" cy="5329238"/>
          </a:xfrm>
        </p:spPr>
        <p:txBody>
          <a:bodyPr vert="horz" wrap="square" lIns="91440" tIns="45720" rIns="91440" bIns="45720" numCol="1" anchor="t" anchorCtr="0" compatLnSpc="1">
            <a:normAutofit fontScale="850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基本窗口类（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CWnd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实现窗口的基本功能：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一般的消息处理、窗口大小和位置管理、菜单管理、坐标系管理、滚动条管理、剪贴板管理、窗口状态管理、窗口间位置关系管理，等等。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是其它窗口类的基类。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框架窗口类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提供对标题栏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、菜单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栏、工具栏、状态栏以及属于它的子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窗口的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管理功能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CFrameWnd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提供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了单文档应用主窗口的基本功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能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CMDIFrameWnd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提供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了多文档应用主窗口的基本功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能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CMDIChildWnd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提供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了多文档应用子窗口的基本功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能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512763"/>
            <a:ext cx="8497888" cy="5940425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视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类（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CView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视窗口（简称视）通常位于单文档应用主窗口（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CFrameWnd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）和多文档应用子窗口（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CMDIChildWnd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）的客户区（可显示区）。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视用于实现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程序数据的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显示以及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操作数据时与用户的交互功能。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文档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类（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CDocument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对程序要处理的数据进行管理，包括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磁盘文件输入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输出。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类（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CWinApp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提供了对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Windows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应用程序的各部分进行组合和管理的功能，其中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包括实现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消息循环等。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5"/>
          <p:cNvSpPr>
            <a:spLocks noChangeArrowheads="1"/>
          </p:cNvSpPr>
          <p:nvPr/>
        </p:nvSpPr>
        <p:spPr bwMode="auto">
          <a:xfrm>
            <a:off x="107950" y="476250"/>
            <a:ext cx="212725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CMDIFrameWnd</a:t>
            </a:r>
            <a:r>
              <a:rPr kumimoji="0" lang="en-GB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GB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3" name="Rectangle 7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16388" name="Rectangle 8"/>
          <p:cNvSpPr>
            <a:spLocks noChangeArrowheads="1"/>
          </p:cNvSpPr>
          <p:nvPr/>
        </p:nvSpPr>
        <p:spPr bwMode="auto">
          <a:xfrm>
            <a:off x="255588" y="1412875"/>
            <a:ext cx="1908175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CMDIChildWnd</a:t>
            </a:r>
            <a:endParaRPr kumimoji="0" lang="en-GB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9" name="Rectangle 9"/>
          <p:cNvSpPr>
            <a:spLocks noChangeArrowheads="1"/>
          </p:cNvSpPr>
          <p:nvPr/>
        </p:nvSpPr>
        <p:spPr bwMode="auto">
          <a:xfrm>
            <a:off x="1266825" y="2276475"/>
            <a:ext cx="968375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CView</a:t>
            </a:r>
            <a:r>
              <a:rPr kumimoji="0" lang="en-GB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GB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5606" name="Group 16"/>
          <p:cNvGrpSpPr/>
          <p:nvPr/>
        </p:nvGrpSpPr>
        <p:grpSpPr>
          <a:xfrm>
            <a:off x="2306638" y="260350"/>
            <a:ext cx="5040312" cy="2952750"/>
            <a:chOff x="1474" y="1162"/>
            <a:chExt cx="4054" cy="2598"/>
          </a:xfrm>
        </p:grpSpPr>
        <p:pic>
          <p:nvPicPr>
            <p:cNvPr id="25617" name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18" y="1162"/>
              <a:ext cx="3510" cy="259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18" name="Line 6"/>
            <p:cNvSpPr/>
            <p:nvPr/>
          </p:nvSpPr>
          <p:spPr>
            <a:xfrm flipV="1">
              <a:off x="1474" y="1253"/>
              <a:ext cx="544" cy="227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19" name="Line 10"/>
            <p:cNvSpPr/>
            <p:nvPr/>
          </p:nvSpPr>
          <p:spPr>
            <a:xfrm flipV="1">
              <a:off x="1519" y="1797"/>
              <a:ext cx="635" cy="544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20" name="Line 11"/>
            <p:cNvSpPr/>
            <p:nvPr/>
          </p:nvSpPr>
          <p:spPr>
            <a:xfrm flipV="1">
              <a:off x="1519" y="2251"/>
              <a:ext cx="1180" cy="9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21" name="Line 12"/>
            <p:cNvSpPr/>
            <p:nvPr/>
          </p:nvSpPr>
          <p:spPr>
            <a:xfrm flipV="1">
              <a:off x="1565" y="2499"/>
              <a:ext cx="771" cy="614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22" name="Line 13"/>
            <p:cNvSpPr/>
            <p:nvPr/>
          </p:nvSpPr>
          <p:spPr>
            <a:xfrm flipV="1">
              <a:off x="1565" y="2683"/>
              <a:ext cx="1329" cy="43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25607" name="Line 17"/>
          <p:cNvSpPr/>
          <p:nvPr/>
        </p:nvSpPr>
        <p:spPr>
          <a:xfrm>
            <a:off x="107950" y="3716338"/>
            <a:ext cx="88931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8" name="AutoShape 18"/>
          <p:cNvSpPr/>
          <p:nvPr/>
        </p:nvSpPr>
        <p:spPr>
          <a:xfrm>
            <a:off x="3603625" y="3933825"/>
            <a:ext cx="936625" cy="1368425"/>
          </a:xfrm>
          <a:prstGeom prst="foldedCorner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25609" name="AutoShape 19"/>
          <p:cNvSpPr/>
          <p:nvPr/>
        </p:nvSpPr>
        <p:spPr>
          <a:xfrm>
            <a:off x="5580063" y="3933825"/>
            <a:ext cx="936625" cy="1368425"/>
          </a:xfrm>
          <a:prstGeom prst="foldedCorner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54292" name="Text Box 20"/>
          <p:cNvSpPr txBox="1">
            <a:spLocks noChangeArrowheads="1"/>
          </p:cNvSpPr>
          <p:nvPr/>
        </p:nvSpPr>
        <p:spPr bwMode="auto">
          <a:xfrm>
            <a:off x="434975" y="4327525"/>
            <a:ext cx="1662113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GB" altLang="zh-CN" sz="20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CDocument</a:t>
            </a:r>
            <a:endParaRPr kumimoji="0" lang="en-US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11" name="Line 22"/>
          <p:cNvSpPr/>
          <p:nvPr/>
        </p:nvSpPr>
        <p:spPr>
          <a:xfrm>
            <a:off x="107950" y="5589588"/>
            <a:ext cx="88931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295" name="Text Box 23"/>
          <p:cNvSpPr txBox="1">
            <a:spLocks noChangeArrowheads="1"/>
          </p:cNvSpPr>
          <p:nvPr/>
        </p:nvSpPr>
        <p:spPr bwMode="auto">
          <a:xfrm>
            <a:off x="757238" y="5867400"/>
            <a:ext cx="13335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GB" altLang="zh-CN" sz="20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CWinApp</a:t>
            </a:r>
            <a:endParaRPr kumimoji="0" lang="en-US" altLang="zh-CN" sz="2000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13" name="Line 31"/>
          <p:cNvSpPr/>
          <p:nvPr/>
        </p:nvSpPr>
        <p:spPr>
          <a:xfrm flipV="1">
            <a:off x="2306638" y="4365625"/>
            <a:ext cx="1584325" cy="142875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614" name="Line 32"/>
          <p:cNvSpPr/>
          <p:nvPr/>
        </p:nvSpPr>
        <p:spPr>
          <a:xfrm>
            <a:off x="2306638" y="4508500"/>
            <a:ext cx="3817937" cy="360363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4305" name="Text Box 33"/>
          <p:cNvSpPr txBox="1">
            <a:spLocks noChangeArrowheads="1"/>
          </p:cNvSpPr>
          <p:nvPr/>
        </p:nvSpPr>
        <p:spPr bwMode="auto">
          <a:xfrm>
            <a:off x="4221163" y="5795963"/>
            <a:ext cx="1344613" cy="9239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  <a:effectLst/>
        </p:spPr>
        <p:txBody>
          <a:bodyPr wrap="none">
            <a:spAutoFit/>
          </a:bodyPr>
          <a:lstStyle/>
          <a:p>
            <a:pPr marL="508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注册窗口类</a:t>
            </a:r>
            <a:endParaRPr kumimoji="0" lang="zh-CN" altLang="en-GB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508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创建主窗口</a:t>
            </a:r>
            <a:endParaRPr kumimoji="0" lang="zh-CN" altLang="en-GB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508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消息循环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16" name="Line 32"/>
          <p:cNvSpPr/>
          <p:nvPr/>
        </p:nvSpPr>
        <p:spPr>
          <a:xfrm flipV="1">
            <a:off x="2235200" y="6134100"/>
            <a:ext cx="2020888" cy="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应用框架</a:t>
            </a:r>
            <a:br>
              <a:rPr kumimoji="0" lang="en-US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（</a:t>
            </a: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application framework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60563"/>
            <a:ext cx="8229600" cy="4637088"/>
          </a:xfrm>
        </p:spPr>
        <p:txBody>
          <a:bodyPr vert="horz" wrap="square" lIns="91440" tIns="45720" rIns="91440" bIns="45720" numCol="1" anchor="t" anchorCtr="0" compatLnSpc="1">
            <a:normAutofit fontScale="850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虽然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MFC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Qt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提供了以面向对象的方式进行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Windows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应用程序开发所需要的类，但如何使用这些类来构建和组织程序，往往还要做很多的工作，并且比较灵活，有时不太容易把握。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应用框架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是一种通用的、可复用的应用程序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结构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，该结构规定了程序应包含哪些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组件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以及这些组件之间的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关系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，它封装了程序处理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流程的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控制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逻辑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通过复用应用框架，使得应用的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开发速度更快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质量更高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成本更低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>
            <a:normAutofit fontScale="925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一个应用框架中，各个组件以及它们之间的关系是固定的，应用的开发者通过给各组件添加具体的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业务代码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来实现不同的应用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应用框架有很多，例如：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基于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MFC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的“文档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-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视”结构的应用框架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基于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Qt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的“模型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-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视”结构的应用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框架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0</TotalTime>
  <Words>4774</Words>
  <Application>WPS 演示</Application>
  <PresentationFormat>全屏显示(4:3)</PresentationFormat>
  <Paragraphs>280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Arial</vt:lpstr>
      <vt:lpstr>宋体</vt:lpstr>
      <vt:lpstr>Wingdings</vt:lpstr>
      <vt:lpstr>Verdana</vt:lpstr>
      <vt:lpstr>等线</vt:lpstr>
      <vt:lpstr>Times New Roman</vt:lpstr>
      <vt:lpstr>Arial</vt:lpstr>
      <vt:lpstr>微软雅黑</vt:lpstr>
      <vt:lpstr>Arial Unicode MS</vt:lpstr>
      <vt:lpstr>Calibri</vt:lpstr>
      <vt:lpstr>Globe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Nanjing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第十二章 实例</dc:title>
  <dc:creator>chenjiajun</dc:creator>
  <cp:lastModifiedBy>Ethereal_YC</cp:lastModifiedBy>
  <cp:revision>447</cp:revision>
  <dcterms:created xsi:type="dcterms:W3CDTF">2005-01-07T00:41:11Z</dcterms:created>
  <dcterms:modified xsi:type="dcterms:W3CDTF">2023-11-27T04:29:26Z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1B66D98097BD4FDE95F311442A02A386_13</vt:lpwstr>
  </property>
  <property fmtid="{D5CDD505-2E9C-101B-9397-08002B2CF9AE}" pid="3" name="KSOProductBuildVer">
    <vt:lpwstr>2052-12.1.0.15990</vt:lpwstr>
  </property>
</Properties>
</file>
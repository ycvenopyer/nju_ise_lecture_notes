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84" r:id="rId3"/>
    <p:sldId id="462" r:id="rId5"/>
    <p:sldId id="279" r:id="rId6"/>
    <p:sldId id="463" r:id="rId7"/>
    <p:sldId id="466" r:id="rId8"/>
    <p:sldId id="464" r:id="rId9"/>
    <p:sldId id="506" r:id="rId10"/>
    <p:sldId id="521" r:id="rId11"/>
    <p:sldId id="522" r:id="rId12"/>
    <p:sldId id="524" r:id="rId13"/>
    <p:sldId id="260" r:id="rId14"/>
    <p:sldId id="467" r:id="rId15"/>
    <p:sldId id="468" r:id="rId16"/>
    <p:sldId id="474" r:id="rId17"/>
    <p:sldId id="504" r:id="rId18"/>
    <p:sldId id="505" r:id="rId19"/>
    <p:sldId id="469" r:id="rId20"/>
    <p:sldId id="470" r:id="rId21"/>
    <p:sldId id="475" r:id="rId22"/>
    <p:sldId id="525" r:id="rId23"/>
    <p:sldId id="471" r:id="rId24"/>
    <p:sldId id="512" r:id="rId25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66"/>
    <a:srgbClr val="FF8585"/>
    <a:srgbClr val="000000"/>
    <a:srgbClr val="99FF99"/>
    <a:srgbClr val="008080"/>
    <a:srgbClr val="6699FF"/>
    <a:srgbClr val="99FFCC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433"/>
    <p:restoredTop sz="94674"/>
  </p:normalViewPr>
  <p:slideViewPr>
    <p:cSldViewPr showGuides="1">
      <p:cViewPr varScale="1">
        <p:scale>
          <a:sx n="82" d="100"/>
          <a:sy n="82" d="100"/>
        </p:scale>
        <p:origin x="883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869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0A56C92-F8C6-4C64-A269-9DC1579299EC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r>
              <a:rPr lang="zh-CN" altLang="en-US" dirty="0"/>
              <a:t>智能</a:t>
            </a:r>
            <a:endParaRPr lang="zh-CN" altLang="en-US" dirty="0"/>
          </a:p>
        </p:txBody>
      </p:sp>
      <p:sp>
        <p:nvSpPr>
          <p:cNvPr id="51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2150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gradFill rotWithShape="0">
          <a:gsLst>
            <a:gs pos="0">
              <a:srgbClr val="003366"/>
            </a:gs>
            <a:gs pos="100000">
              <a:srgbClr val="001D3B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1" name="Group 2"/>
          <p:cNvGrpSpPr/>
          <p:nvPr/>
        </p:nvGrpSpPr>
        <p:grpSpPr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45" name="Freeform 3"/>
            <p:cNvSpPr/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" name="Freeform 4"/>
            <p:cNvSpPr/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" name="Freeform 5"/>
            <p:cNvSpPr/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060" name="Group 6"/>
            <p:cNvGrpSpPr/>
            <p:nvPr/>
          </p:nvGrpSpPr>
          <p:grpSpPr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68" name="Freeform 7"/>
              <p:cNvSpPr/>
              <p:nvPr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9" name="Freeform 8"/>
              <p:cNvSpPr/>
              <p:nvPr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" name="Freeform 9"/>
              <p:cNvSpPr/>
              <p:nvPr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1" name="Freeform 10"/>
              <p:cNvSpPr/>
              <p:nvPr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2" name="Freeform 11"/>
              <p:cNvSpPr/>
              <p:nvPr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3" name="Freeform 12"/>
              <p:cNvSpPr/>
              <p:nvPr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4" name="Freeform 13"/>
              <p:cNvSpPr/>
              <p:nvPr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5" name="Freeform 14"/>
              <p:cNvSpPr/>
              <p:nvPr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6" name="Freeform 15"/>
              <p:cNvSpPr/>
              <p:nvPr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7" name="Freeform 16"/>
              <p:cNvSpPr/>
              <p:nvPr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8" name="Freeform 17"/>
              <p:cNvSpPr/>
              <p:nvPr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9" name="Freeform 18"/>
              <p:cNvSpPr/>
              <p:nvPr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0" name="Freeform 19"/>
              <p:cNvSpPr/>
              <p:nvPr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49" name="Freeform 20"/>
            <p:cNvSpPr/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" name="Freeform 21"/>
            <p:cNvSpPr/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Freeform 22"/>
            <p:cNvSpPr/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4" name="Freeform 23"/>
            <p:cNvSpPr/>
            <p:nvPr/>
          </p:nvSpPr>
          <p:spPr>
            <a:xfrm>
              <a:off x="5041" y="0"/>
              <a:ext cx="719" cy="845"/>
            </a:xfrm>
            <a:custGeom>
              <a:avLst/>
              <a:gdLst/>
              <a:ahLst/>
              <a:cxnLst>
                <a:cxn ang="0">
                  <a:pos x="879" y="845"/>
                </a:cxn>
                <a:cxn ang="0">
                  <a:pos x="879" y="821"/>
                </a:cxn>
                <a:cxn ang="0">
                  <a:pos x="736" y="605"/>
                </a:cxn>
                <a:cxn ang="0">
                  <a:pos x="487" y="396"/>
                </a:cxn>
                <a:cxn ang="0">
                  <a:pos x="302" y="192"/>
                </a:cxn>
                <a:cxn ang="0">
                  <a:pos x="17" y="0"/>
                </a:cxn>
                <a:cxn ang="0">
                  <a:pos x="0" y="0"/>
                </a:cxn>
                <a:cxn ang="0">
                  <a:pos x="290" y="198"/>
                </a:cxn>
                <a:cxn ang="0">
                  <a:pos x="481" y="408"/>
                </a:cxn>
                <a:cxn ang="0">
                  <a:pos x="730" y="623"/>
                </a:cxn>
                <a:cxn ang="0">
                  <a:pos x="879" y="845"/>
                </a:cxn>
                <a:cxn ang="0">
                  <a:pos x="879" y="845"/>
                </a:cxn>
              </a:cxnLst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5" name="Freeform 24"/>
            <p:cNvSpPr/>
            <p:nvPr/>
          </p:nvSpPr>
          <p:spPr>
            <a:xfrm>
              <a:off x="5352" y="0"/>
              <a:ext cx="408" cy="414"/>
            </a:xfrm>
            <a:custGeom>
              <a:avLst/>
              <a:gdLst/>
              <a:ahLst/>
              <a:cxnLst>
                <a:cxn ang="0">
                  <a:pos x="488" y="414"/>
                </a:cxn>
                <a:cxn ang="0">
                  <a:pos x="488" y="396"/>
                </a:cxn>
                <a:cxn ang="0">
                  <a:pos x="303" y="192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08" y="102"/>
                </a:cxn>
                <a:cxn ang="0">
                  <a:pos x="297" y="204"/>
                </a:cxn>
                <a:cxn ang="0">
                  <a:pos x="488" y="414"/>
                </a:cxn>
                <a:cxn ang="0">
                  <a:pos x="488" y="414"/>
                </a:cxn>
              </a:cxnLst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" name="Freeform 25"/>
            <p:cNvSpPr/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7" name="Freeform 26"/>
            <p:cNvSpPr/>
            <p:nvPr/>
          </p:nvSpPr>
          <p:spPr>
            <a:xfrm>
              <a:off x="6" y="0"/>
              <a:ext cx="588" cy="599"/>
            </a:xfrm>
            <a:custGeom>
              <a:avLst/>
              <a:gdLst/>
              <a:ahLst/>
              <a:cxnLst>
                <a:cxn ang="0">
                  <a:pos x="755" y="0"/>
                </a:cxn>
                <a:cxn ang="0">
                  <a:pos x="730" y="0"/>
                </a:cxn>
                <a:cxn ang="0">
                  <a:pos x="536" y="132"/>
                </a:cxn>
                <a:cxn ang="0">
                  <a:pos x="338" y="270"/>
                </a:cxn>
                <a:cxn ang="0">
                  <a:pos x="120" y="420"/>
                </a:cxn>
                <a:cxn ang="0">
                  <a:pos x="0" y="575"/>
                </a:cxn>
                <a:cxn ang="0">
                  <a:pos x="0" y="599"/>
                </a:cxn>
                <a:cxn ang="0">
                  <a:pos x="120" y="432"/>
                </a:cxn>
                <a:cxn ang="0">
                  <a:pos x="338" y="282"/>
                </a:cxn>
                <a:cxn ang="0">
                  <a:pos x="548" y="138"/>
                </a:cxn>
                <a:cxn ang="0">
                  <a:pos x="755" y="0"/>
                </a:cxn>
                <a:cxn ang="0">
                  <a:pos x="755" y="0"/>
                </a:cxn>
              </a:cxnLst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8" name="Freeform 27"/>
            <p:cNvSpPr/>
            <p:nvPr/>
          </p:nvSpPr>
          <p:spPr>
            <a:xfrm>
              <a:off x="6" y="0"/>
              <a:ext cx="270" cy="252"/>
            </a:xfrm>
            <a:custGeom>
              <a:avLst/>
              <a:gdLst/>
              <a:ahLst/>
              <a:cxnLst>
                <a:cxn ang="0">
                  <a:pos x="350" y="0"/>
                </a:cxn>
                <a:cxn ang="0">
                  <a:pos x="332" y="0"/>
                </a:cxn>
                <a:cxn ang="0">
                  <a:pos x="120" y="114"/>
                </a:cxn>
                <a:cxn ang="0">
                  <a:pos x="60" y="174"/>
                </a:cxn>
                <a:cxn ang="0">
                  <a:pos x="0" y="234"/>
                </a:cxn>
                <a:cxn ang="0">
                  <a:pos x="0" y="252"/>
                </a:cxn>
                <a:cxn ang="0">
                  <a:pos x="126" y="120"/>
                </a:cxn>
                <a:cxn ang="0">
                  <a:pos x="350" y="0"/>
                </a:cxn>
                <a:cxn ang="0">
                  <a:pos x="350" y="0"/>
                </a:cxn>
              </a:cxnLst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9" name="Line 28"/>
            <p:cNvSpPr/>
            <p:nvPr/>
          </p:nvSpPr>
          <p:spPr>
            <a:xfrm>
              <a:off x="1" y="2749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70" name="Line 29"/>
            <p:cNvSpPr/>
            <p:nvPr/>
          </p:nvSpPr>
          <p:spPr>
            <a:xfrm>
              <a:off x="1" y="2356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71" name="Line 30"/>
            <p:cNvSpPr/>
            <p:nvPr/>
          </p:nvSpPr>
          <p:spPr>
            <a:xfrm>
              <a:off x="1" y="3142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072" name="Group 31"/>
            <p:cNvGrpSpPr/>
            <p:nvPr/>
          </p:nvGrpSpPr>
          <p:grpSpPr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2075" name="Line 32"/>
              <p:cNvSpPr/>
              <p:nvPr userDrawn="1"/>
            </p:nvSpPr>
            <p:spPr>
              <a:xfrm>
                <a:off x="1" y="784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6" name="Line 33"/>
              <p:cNvSpPr/>
              <p:nvPr userDrawn="1"/>
            </p:nvSpPr>
            <p:spPr>
              <a:xfrm>
                <a:off x="1" y="1963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7" name="Line 34"/>
              <p:cNvSpPr/>
              <p:nvPr userDrawn="1"/>
            </p:nvSpPr>
            <p:spPr>
              <a:xfrm>
                <a:off x="1" y="1570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8" name="Line 35"/>
              <p:cNvSpPr/>
              <p:nvPr userDrawn="1"/>
            </p:nvSpPr>
            <p:spPr>
              <a:xfrm>
                <a:off x="1" y="1177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9" name="Line 36"/>
              <p:cNvSpPr/>
              <p:nvPr userDrawn="1"/>
            </p:nvSpPr>
            <p:spPr>
              <a:xfrm>
                <a:off x="1" y="392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073" name="Line 37"/>
            <p:cNvSpPr/>
            <p:nvPr/>
          </p:nvSpPr>
          <p:spPr>
            <a:xfrm>
              <a:off x="1" y="3928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74" name="Line 38"/>
            <p:cNvSpPr/>
            <p:nvPr/>
          </p:nvSpPr>
          <p:spPr>
            <a:xfrm>
              <a:off x="1" y="3535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63207" name="Rectangle 3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63208" name="Rectangle 4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81" name="Rectangle 41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" name="Rectangle 4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3" name="Rectangle 4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CBB0AEB-DFD0-4FB6-8B6D-E9DB22F9B1CD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DC6C4B-24EF-4C8B-9B56-4FF7D50F2719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DC6C4B-24EF-4C8B-9B56-4FF7D50F2719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DC6C4B-24EF-4C8B-9B56-4FF7D50F2719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DC6C4B-24EF-4C8B-9B56-4FF7D50F2719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DC6C4B-24EF-4C8B-9B56-4FF7D50F2719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DC6C4B-24EF-4C8B-9B56-4FF7D50F2719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DC6C4B-24EF-4C8B-9B56-4FF7D50F2719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DC6C4B-24EF-4C8B-9B56-4FF7D50F2719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DC6C4B-24EF-4C8B-9B56-4FF7D50F2719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DC6C4B-24EF-4C8B-9B56-4FF7D50F2719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3366"/>
            </a:gs>
            <a:gs pos="100000">
              <a:srgbClr val="001D3B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/>
          <p:nvPr/>
        </p:nvGrpSpPr>
        <p:grpSpPr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262147" name="Freeform 3"/>
            <p:cNvSpPr/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2148" name="Freeform 4"/>
            <p:cNvSpPr/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2149" name="Freeform 5"/>
            <p:cNvSpPr/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35" name="Group 6"/>
            <p:cNvGrpSpPr/>
            <p:nvPr/>
          </p:nvGrpSpPr>
          <p:grpSpPr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262151" name="Freeform 7"/>
              <p:cNvSpPr/>
              <p:nvPr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2152" name="Freeform 8"/>
              <p:cNvSpPr/>
              <p:nvPr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2153" name="Freeform 9"/>
              <p:cNvSpPr/>
              <p:nvPr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2154" name="Freeform 10"/>
              <p:cNvSpPr/>
              <p:nvPr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2155" name="Freeform 11"/>
              <p:cNvSpPr/>
              <p:nvPr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2156" name="Freeform 12"/>
              <p:cNvSpPr/>
              <p:nvPr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2157" name="Freeform 13"/>
              <p:cNvSpPr/>
              <p:nvPr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2158" name="Freeform 14"/>
              <p:cNvSpPr/>
              <p:nvPr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2159" name="Freeform 15"/>
              <p:cNvSpPr/>
              <p:nvPr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2160" name="Freeform 16"/>
              <p:cNvSpPr/>
              <p:nvPr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2161" name="Freeform 17"/>
              <p:cNvSpPr/>
              <p:nvPr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2162" name="Freeform 18"/>
              <p:cNvSpPr/>
              <p:nvPr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2163" name="Freeform 19"/>
              <p:cNvSpPr/>
              <p:nvPr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262164" name="Freeform 20"/>
            <p:cNvSpPr/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2165" name="Freeform 21"/>
            <p:cNvSpPr/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2166" name="Freeform 22"/>
            <p:cNvSpPr/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9" name="Freeform 23"/>
            <p:cNvSpPr/>
            <p:nvPr/>
          </p:nvSpPr>
          <p:spPr>
            <a:xfrm>
              <a:off x="5041" y="0"/>
              <a:ext cx="719" cy="845"/>
            </a:xfrm>
            <a:custGeom>
              <a:avLst/>
              <a:gdLst/>
              <a:ahLst/>
              <a:cxnLst>
                <a:cxn ang="0">
                  <a:pos x="879" y="845"/>
                </a:cxn>
                <a:cxn ang="0">
                  <a:pos x="879" y="821"/>
                </a:cxn>
                <a:cxn ang="0">
                  <a:pos x="736" y="605"/>
                </a:cxn>
                <a:cxn ang="0">
                  <a:pos x="487" y="396"/>
                </a:cxn>
                <a:cxn ang="0">
                  <a:pos x="302" y="192"/>
                </a:cxn>
                <a:cxn ang="0">
                  <a:pos x="17" y="0"/>
                </a:cxn>
                <a:cxn ang="0">
                  <a:pos x="0" y="0"/>
                </a:cxn>
                <a:cxn ang="0">
                  <a:pos x="290" y="198"/>
                </a:cxn>
                <a:cxn ang="0">
                  <a:pos x="481" y="408"/>
                </a:cxn>
                <a:cxn ang="0">
                  <a:pos x="730" y="623"/>
                </a:cxn>
                <a:cxn ang="0">
                  <a:pos x="879" y="845"/>
                </a:cxn>
                <a:cxn ang="0">
                  <a:pos x="879" y="845"/>
                </a:cxn>
              </a:cxnLst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0" name="Freeform 24"/>
            <p:cNvSpPr/>
            <p:nvPr/>
          </p:nvSpPr>
          <p:spPr>
            <a:xfrm>
              <a:off x="5352" y="0"/>
              <a:ext cx="408" cy="414"/>
            </a:xfrm>
            <a:custGeom>
              <a:avLst/>
              <a:gdLst/>
              <a:ahLst/>
              <a:cxnLst>
                <a:cxn ang="0">
                  <a:pos x="488" y="414"/>
                </a:cxn>
                <a:cxn ang="0">
                  <a:pos x="488" y="396"/>
                </a:cxn>
                <a:cxn ang="0">
                  <a:pos x="303" y="192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08" y="102"/>
                </a:cxn>
                <a:cxn ang="0">
                  <a:pos x="297" y="204"/>
                </a:cxn>
                <a:cxn ang="0">
                  <a:pos x="488" y="414"/>
                </a:cxn>
                <a:cxn ang="0">
                  <a:pos x="488" y="414"/>
                </a:cxn>
              </a:cxnLst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2169" name="Freeform 25"/>
            <p:cNvSpPr/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2" name="Freeform 26"/>
            <p:cNvSpPr/>
            <p:nvPr/>
          </p:nvSpPr>
          <p:spPr>
            <a:xfrm>
              <a:off x="6" y="0"/>
              <a:ext cx="588" cy="599"/>
            </a:xfrm>
            <a:custGeom>
              <a:avLst/>
              <a:gdLst/>
              <a:ahLst/>
              <a:cxnLst>
                <a:cxn ang="0">
                  <a:pos x="755" y="0"/>
                </a:cxn>
                <a:cxn ang="0">
                  <a:pos x="730" y="0"/>
                </a:cxn>
                <a:cxn ang="0">
                  <a:pos x="536" y="132"/>
                </a:cxn>
                <a:cxn ang="0">
                  <a:pos x="338" y="270"/>
                </a:cxn>
                <a:cxn ang="0">
                  <a:pos x="120" y="420"/>
                </a:cxn>
                <a:cxn ang="0">
                  <a:pos x="0" y="575"/>
                </a:cxn>
                <a:cxn ang="0">
                  <a:pos x="0" y="599"/>
                </a:cxn>
                <a:cxn ang="0">
                  <a:pos x="120" y="432"/>
                </a:cxn>
                <a:cxn ang="0">
                  <a:pos x="338" y="282"/>
                </a:cxn>
                <a:cxn ang="0">
                  <a:pos x="548" y="138"/>
                </a:cxn>
                <a:cxn ang="0">
                  <a:pos x="755" y="0"/>
                </a:cxn>
                <a:cxn ang="0">
                  <a:pos x="755" y="0"/>
                </a:cxn>
              </a:cxnLst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3" name="Freeform 27"/>
            <p:cNvSpPr/>
            <p:nvPr/>
          </p:nvSpPr>
          <p:spPr>
            <a:xfrm>
              <a:off x="6" y="0"/>
              <a:ext cx="270" cy="252"/>
            </a:xfrm>
            <a:custGeom>
              <a:avLst/>
              <a:gdLst/>
              <a:ahLst/>
              <a:cxnLst>
                <a:cxn ang="0">
                  <a:pos x="350" y="0"/>
                </a:cxn>
                <a:cxn ang="0">
                  <a:pos x="332" y="0"/>
                </a:cxn>
                <a:cxn ang="0">
                  <a:pos x="120" y="114"/>
                </a:cxn>
                <a:cxn ang="0">
                  <a:pos x="60" y="174"/>
                </a:cxn>
                <a:cxn ang="0">
                  <a:pos x="0" y="234"/>
                </a:cxn>
                <a:cxn ang="0">
                  <a:pos x="0" y="252"/>
                </a:cxn>
                <a:cxn ang="0">
                  <a:pos x="126" y="120"/>
                </a:cxn>
                <a:cxn ang="0">
                  <a:pos x="350" y="0"/>
                </a:cxn>
                <a:cxn ang="0">
                  <a:pos x="350" y="0"/>
                </a:cxn>
              </a:cxnLst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4" name="Line 28"/>
            <p:cNvSpPr/>
            <p:nvPr/>
          </p:nvSpPr>
          <p:spPr>
            <a:xfrm>
              <a:off x="1" y="2749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5" name="Line 29"/>
            <p:cNvSpPr/>
            <p:nvPr/>
          </p:nvSpPr>
          <p:spPr>
            <a:xfrm>
              <a:off x="1" y="2356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6" name="Line 30"/>
            <p:cNvSpPr/>
            <p:nvPr/>
          </p:nvSpPr>
          <p:spPr>
            <a:xfrm>
              <a:off x="1" y="3142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047" name="Group 31"/>
            <p:cNvGrpSpPr/>
            <p:nvPr/>
          </p:nvGrpSpPr>
          <p:grpSpPr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1050" name="Line 32"/>
              <p:cNvSpPr/>
              <p:nvPr userDrawn="1"/>
            </p:nvSpPr>
            <p:spPr>
              <a:xfrm>
                <a:off x="1" y="784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1" name="Line 33"/>
              <p:cNvSpPr/>
              <p:nvPr userDrawn="1"/>
            </p:nvSpPr>
            <p:spPr>
              <a:xfrm>
                <a:off x="1" y="1963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2" name="Line 34"/>
              <p:cNvSpPr/>
              <p:nvPr userDrawn="1"/>
            </p:nvSpPr>
            <p:spPr>
              <a:xfrm>
                <a:off x="1" y="1570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3" name="Line 35"/>
              <p:cNvSpPr/>
              <p:nvPr userDrawn="1"/>
            </p:nvSpPr>
            <p:spPr>
              <a:xfrm>
                <a:off x="1" y="1177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4" name="Line 36"/>
              <p:cNvSpPr/>
              <p:nvPr userDrawn="1"/>
            </p:nvSpPr>
            <p:spPr>
              <a:xfrm>
                <a:off x="1" y="392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048" name="Line 37"/>
            <p:cNvSpPr/>
            <p:nvPr/>
          </p:nvSpPr>
          <p:spPr>
            <a:xfrm>
              <a:off x="1" y="3928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" name="Line 38"/>
            <p:cNvSpPr/>
            <p:nvPr/>
          </p:nvSpPr>
          <p:spPr>
            <a:xfrm>
              <a:off x="1" y="3535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62183" name="Rectangle 39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1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262184" name="Rectangle 4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2185" name="Rectangle 4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2186" name="Rectangle 4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DC6C4B-24EF-4C8B-9B56-4FF7D50F2719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2187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7618" name="Rectangle 2"/>
          <p:cNvSpPr>
            <a:spLocks noGrp="1" noChangeArrowheads="1"/>
          </p:cNvSpPr>
          <p:nvPr>
            <p:ph type="ctrTitle" sz="quarter"/>
          </p:nvPr>
        </p:nvSpPr>
        <p:spPr/>
        <p:txBody>
          <a:bodyPr vert="horz" wrap="square" lIns="91440" tIns="45720" rIns="91440" bIns="45720" numCol="1" anchor="b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操作符重载</a:t>
            </a:r>
            <a:endParaRPr kumimoji="0" lang="zh-CN" altLang="en-US" sz="5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67619" name="Rectangle 3"/>
          <p:cNvSpPr>
            <a:spLocks noGrp="1" noChangeArrowheads="1"/>
          </p:cNvSpPr>
          <p:nvPr>
            <p:ph type="subTitle" sz="quarter"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基本做法</a:t>
            </a:r>
            <a:endParaRPr kumimoji="0" lang="zh-CN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419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主要内容</a:t>
            </a:r>
            <a:endParaRPr kumimoji="0" lang="zh-CN" altLang="en-US" sz="4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6419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操作符重载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概述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双目操作符重载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单目操作符重载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操作符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++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-- 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的重载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88913"/>
            <a:ext cx="7772400" cy="971550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GB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+mj-cs"/>
              </a:rPr>
              <a:t>操作符重载的需要性</a:t>
            </a:r>
            <a:r>
              <a:rPr kumimoji="0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kumimoji="0" lang="zh-CN" altLang="en-US" sz="40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179388" y="1484313"/>
            <a:ext cx="8675688" cy="51847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C++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语言本身没有提供复数类型，可通过定义一个类来实现：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Complex	//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复数类定义</a:t>
            </a:r>
            <a:endParaRPr kumimoji="0" lang="zh-CN" alt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{public: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 Complex(double r=0.0,double 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=0.0)     </a:t>
            </a:r>
            <a:b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</a:b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{ real=r; 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imag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=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 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 }</a:t>
            </a:r>
            <a:b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</a:b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void display() 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const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 { 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cout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&lt;&lt; real &lt;&lt; '+' &lt;&lt; 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imag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&lt;&lt; '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';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 } 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 ......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private:	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 double real;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 double 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imag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};	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Complex a(1.0,2.0),b(3.0,4.0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如何实现两个复数（类型为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Complex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）相加？	</a:t>
            </a:r>
            <a:r>
              <a:rPr kumimoji="0" lang="zh-CN" altLang="en-US" sz="21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endParaRPr kumimoji="0" lang="zh-CN" altLang="en-US" sz="21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521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58875"/>
            <a:ext cx="8229600" cy="5654675"/>
          </a:xfrm>
        </p:spPr>
        <p:txBody>
          <a:bodyPr vert="horz" wrap="square" lIns="91440" tIns="45720" rIns="91440" bIns="45720" numCol="1" anchor="t" anchorCtr="0" compatLnSpc="1">
            <a:normAutofit fontScale="92500" lnSpcReduction="10000"/>
          </a:bodyPr>
          <a:lstStyle/>
          <a:p>
            <a:pPr marL="342900" marR="0" lvl="0" indent="-342900" algn="l" defTabSz="62103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一种方案：为</a:t>
            </a: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Complex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类定义一个成员函数</a:t>
            </a: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add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，例如：</a:t>
            </a:r>
            <a:endParaRPr kumimoji="0" lang="zh-CN" alt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62103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Complex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62103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	public: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62103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</a:rPr>
              <a:t>……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62103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Complex 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add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const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Complex&amp; x)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const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62103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{	Complex temp;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62103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	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temp.real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=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real+x.real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62103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	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temp.imag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=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imag+x.imag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62103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	return temp;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62103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}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private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:	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double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real;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double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imag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62103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62103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</a:rPr>
              <a:t>……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62103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Complex a(1.0,2.0),b(3.0,4.0),c;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62103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 =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a.add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(b)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4450"/>
            <a:ext cx="7772400" cy="971550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+mj-cs"/>
              </a:rPr>
              <a:t>用函数实现</a:t>
            </a:r>
            <a:r>
              <a:rPr kumimoji="0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kumimoji="0" lang="zh-CN" altLang="en-US" sz="40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8291" name="Rectangle 3"/>
          <p:cNvSpPr>
            <a:spLocks noGrp="1" noChangeArrowheads="1"/>
          </p:cNvSpPr>
          <p:nvPr>
            <p:ph idx="1"/>
          </p:nvPr>
        </p:nvSpPr>
        <p:spPr>
          <a:xfrm>
            <a:off x="107950" y="620713"/>
            <a:ext cx="8964613" cy="60483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另一种方案：定义一个全局函数（声明成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Complex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类的友元），例如：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Complex	//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复数类定义</a:t>
            </a:r>
            <a:endParaRPr kumimoji="0" lang="zh-CN" alt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  ......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friend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Complex add(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const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Complex&amp; x1, 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const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Complex&amp; x2);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private:	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double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real;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double 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imag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};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Complex 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add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const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Complex&amp; x1, 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const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Complex&amp; x2)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	Complex temp;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temp.real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= x1.real+x2.real;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temp.imag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= x1.imag+x2.imag;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return temp;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</a:rPr>
              <a:t>……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Complex a(1.0,2.0),b(3.0,4.0),c;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 = 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add(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a,b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43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484313"/>
            <a:ext cx="8507413" cy="43211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用函数来实现复数的加法操作不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符合数学上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的使用习惯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 c=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+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</a:t>
            </a:r>
            <a:endParaRPr kumimoji="0" lang="en-GB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C++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允许对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已有的操作符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进行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重载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，使得用它们能对自定义类型（类）的对象进行操作。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与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函数名重载一样，操作符重载也是实现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多态性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的一种语言机制。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88913"/>
            <a:ext cx="7772400" cy="971550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+mj-cs"/>
              </a:rPr>
              <a:t>用</a:t>
            </a:r>
            <a:r>
              <a:rPr kumimoji="0" lang="zh-CN" altLang="en-GB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+mj-cs"/>
              </a:rPr>
              <a:t>操作符重载</a:t>
            </a:r>
            <a:r>
              <a:rPr kumimoji="0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+mj-cs"/>
              </a:rPr>
              <a:t>实现</a:t>
            </a:r>
            <a:r>
              <a:rPr kumimoji="0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kumimoji="0" lang="zh-CN" altLang="en-US" sz="40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C++</a:t>
            </a:r>
            <a:r>
              <a:rPr kumimoji="0" lang="zh-CN" altLang="zh-CN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操作符重载的实现途径</a:t>
            </a:r>
            <a:endParaRPr kumimoji="0" lang="zh-CN" altLang="en-US" sz="4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450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操作符重载可通过定义一个函数名为“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operator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”（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“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”代表某个可重载的操作符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）的函数来实现，该函数可以作为：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一个类的非静态的</a:t>
            </a: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成员函数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（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操作符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new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和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delete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除外）。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一个</a:t>
            </a: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全局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（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友元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）</a:t>
            </a: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函数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620713"/>
            <a:ext cx="8229600" cy="5510213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例如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以</a:t>
            </a:r>
            <a:r>
              <a:rPr kumimoji="0" lang="zh-CN" altLang="en-GB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成员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函数重载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复数的“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+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”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zh-CN" altLang="en-GB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Complex</a:t>
            </a:r>
            <a:endParaRPr kumimoji="0" lang="en-GB" altLang="zh-CN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	public:</a:t>
            </a:r>
            <a:endParaRPr kumimoji="0" lang="en-GB" altLang="zh-CN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Complex </a:t>
            </a:r>
            <a:r>
              <a:rPr kumimoji="0" lang="en-GB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operator +</a:t>
            </a:r>
            <a:r>
              <a:rPr kumimoji="0" lang="en-GB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(</a:t>
            </a:r>
            <a:r>
              <a:rPr kumimoji="0" lang="en-GB" altLang="zh-CN" sz="2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const</a:t>
            </a:r>
            <a:r>
              <a:rPr kumimoji="0" lang="en-GB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Complex&amp; x) </a:t>
            </a:r>
            <a:r>
              <a:rPr kumimoji="0" lang="en-GB" altLang="zh-CN" sz="2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const</a:t>
            </a:r>
            <a:endParaRPr kumimoji="0" lang="en-GB" altLang="zh-CN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{	Complex temp;</a:t>
            </a:r>
            <a:endParaRPr kumimoji="0" lang="en-GB" altLang="zh-CN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	</a:t>
            </a:r>
            <a:r>
              <a:rPr kumimoji="0" lang="en-GB" altLang="zh-CN" sz="2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temp.real</a:t>
            </a:r>
            <a:r>
              <a:rPr kumimoji="0" lang="en-GB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= </a:t>
            </a:r>
            <a:r>
              <a:rPr kumimoji="0" lang="en-GB" altLang="zh-CN" sz="2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real+x.real</a:t>
            </a:r>
            <a:r>
              <a:rPr kumimoji="0" lang="en-GB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endParaRPr kumimoji="0" lang="en-GB" altLang="zh-CN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	</a:t>
            </a:r>
            <a:r>
              <a:rPr kumimoji="0" lang="en-GB" altLang="zh-CN" sz="2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temp.imag</a:t>
            </a:r>
            <a:r>
              <a:rPr kumimoji="0" lang="en-GB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= </a:t>
            </a:r>
            <a:r>
              <a:rPr kumimoji="0" lang="en-GB" altLang="zh-CN" sz="2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imag+x.imag</a:t>
            </a:r>
            <a:r>
              <a:rPr kumimoji="0" lang="en-GB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endParaRPr kumimoji="0" lang="en-GB" altLang="zh-CN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	return temp;</a:t>
            </a:r>
            <a:endParaRPr kumimoji="0" lang="en-GB" altLang="zh-CN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}</a:t>
            </a:r>
            <a:endParaRPr kumimoji="0" lang="en-GB" altLang="zh-CN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 ......</a:t>
            </a:r>
            <a:endParaRPr kumimoji="0" lang="zh-CN" altLang="en-GB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};</a:t>
            </a:r>
            <a:endParaRPr kumimoji="0" lang="en-GB" altLang="zh-CN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……</a:t>
            </a:r>
            <a:endParaRPr kumimoji="0" lang="en-GB" altLang="zh-CN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Complex a(1.0,2.0),b(3.0,4.0),c;</a:t>
            </a:r>
            <a:endParaRPr kumimoji="0" lang="en-GB" altLang="zh-CN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 = a </a:t>
            </a:r>
            <a:r>
              <a:rPr kumimoji="0" lang="en-GB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+</a:t>
            </a:r>
            <a:r>
              <a:rPr kumimoji="0" lang="en-GB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b;</a:t>
            </a: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76250"/>
            <a:ext cx="8362950" cy="5905500"/>
          </a:xfrm>
        </p:spPr>
        <p:txBody>
          <a:bodyPr vert="horz" wrap="square" lIns="91440" tIns="45720" rIns="91440" bIns="45720" numCol="1" anchor="t" anchorCtr="0" compatLnSpc="1">
            <a:normAutofit fontScale="92500" lnSpcReduction="1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再例如，以</a:t>
            </a:r>
            <a:r>
              <a:rPr kumimoji="0" lang="zh-CN" altLang="en-US" sz="3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全局</a:t>
            </a:r>
            <a:r>
              <a:rPr kumimoji="0" lang="zh-CN" altLang="en-US" sz="3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函数重载复数</a:t>
            </a:r>
            <a:r>
              <a:rPr kumimoji="0" lang="zh-CN" altLang="en-US" sz="3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的“</a:t>
            </a:r>
            <a:r>
              <a:rPr kumimoji="0" lang="en-US" altLang="zh-CN" sz="3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+</a:t>
            </a:r>
            <a:r>
              <a:rPr kumimoji="0" lang="zh-CN" altLang="en-US" sz="3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”：</a:t>
            </a:r>
            <a:endParaRPr kumimoji="0" lang="zh-CN" altLang="en-US" sz="3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Complex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	......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friend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Complex operator + (</a:t>
            </a:r>
            <a:r>
              <a:rPr kumimoji="0" lang="en-GB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const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Complex&amp; c1, 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			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        </a:t>
            </a:r>
            <a:r>
              <a:rPr kumimoji="0" lang="en-GB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const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Complex&amp; c2);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};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Complex 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operator +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(</a:t>
            </a:r>
            <a:r>
              <a:rPr kumimoji="0" lang="en-GB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const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Complex&amp; c1, 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		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     </a:t>
            </a:r>
            <a:r>
              <a:rPr kumimoji="0" lang="en-GB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const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Complex&amp; c2)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	Complex temp;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GB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temp.real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= c1.real + c2.real;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GB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temp.imag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= c1.imag + c2.imag;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return temp;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……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Complex a(1.0,2.0),b(3.0,4.0),c;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 = a 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+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b;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4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一般情况下，操作符既可以</a:t>
            </a:r>
            <a:r>
              <a:rPr kumimoji="0" lang="zh-CN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作为全局函数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，也可以</a:t>
            </a:r>
            <a:r>
              <a:rPr kumimoji="0" lang="zh-CN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作为成员函数来重载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在有些情况下，操作符只能作为全局函数或只能作为成员函数来</a:t>
            </a:r>
            <a:r>
              <a:rPr kumimoji="0" lang="zh-CN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重载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！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5" name="Rectangle 5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GB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+mj-cs"/>
              </a:rPr>
              <a:t>操作符重载的基本原则</a:t>
            </a:r>
            <a:r>
              <a:rPr kumimoji="0" lang="zh-CN" altLang="en-US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kumimoji="0" lang="zh-CN" altLang="en-US" sz="44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246" name="Rectangle 6"/>
          <p:cNvSpPr>
            <a:spLocks noGrp="1" noChangeArrowheads="1"/>
          </p:cNvSpPr>
          <p:nvPr>
            <p:ph idx="1"/>
          </p:nvPr>
        </p:nvSpPr>
        <p:spPr>
          <a:xfrm>
            <a:off x="539750" y="1752600"/>
            <a:ext cx="8064500" cy="4916488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只能重载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C++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语言中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已有的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操作符，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不可臆造新的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操作符。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可以重载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C++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中除下列操作符外的所有操作符：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</a:rPr>
              <a:t>“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”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 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</a:rPr>
              <a:t>“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.*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”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</a:rPr>
              <a:t>“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?: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”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</a:rPr>
              <a:t>“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::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”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</a:rPr>
              <a:t>“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sizeof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”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需要</a:t>
            </a: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遵循已有操作符的</a:t>
            </a: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语法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: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不能改变操作数个数。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原操作符的优先级和结合性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不变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尽量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遵循已有操作符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原来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语义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语言本身没有对此做任何规定，使用者自己把握 ！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9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919163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GB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双目操作符重载</a:t>
            </a:r>
            <a:endParaRPr kumimoji="0" lang="zh-CN" altLang="en-US" sz="44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69315" name="Rectangle 3"/>
          <p:cNvSpPr>
            <a:spLocks noGrp="1" noChangeArrowheads="1"/>
          </p:cNvSpPr>
          <p:nvPr>
            <p:ph idx="1"/>
          </p:nvPr>
        </p:nvSpPr>
        <p:spPr>
          <a:xfrm>
            <a:off x="107950" y="1196975"/>
            <a:ext cx="8964613" cy="56610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作为成员函数重载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只需要提供一个参数，其类型为第二个操作数的类型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定义格式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&lt;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类名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	......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&lt;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返回值类型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 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operator #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(&lt;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类型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&gt;); //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#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代表可重载的操作符</a:t>
            </a:r>
            <a:endParaRPr kumimoji="0" lang="zh-CN" alt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&lt;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返回值类型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 &lt;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类名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&gt;::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operator #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(&lt;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类型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 &lt;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参数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&gt;) { ...... }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使用格式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&lt;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类名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 a;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&lt;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类型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 b;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 # b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或</a:t>
            </a:r>
            <a:endParaRPr kumimoji="0" lang="zh-CN" alt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a.operator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#(b)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03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15888"/>
            <a:ext cx="9144000" cy="795338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例、实现复数的“等于”和“不等于”操作</a:t>
            </a:r>
            <a:endParaRPr kumimoji="0" lang="zh-CN" altLang="en-US" sz="36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70339" name="Rectangle 3"/>
          <p:cNvSpPr>
            <a:spLocks noGrp="1" noChangeArrowheads="1"/>
          </p:cNvSpPr>
          <p:nvPr>
            <p:ph idx="1"/>
          </p:nvPr>
        </p:nvSpPr>
        <p:spPr>
          <a:xfrm>
            <a:off x="206375" y="1052513"/>
            <a:ext cx="8686800" cy="5545138"/>
          </a:xfrm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/>
          <a:p>
            <a:pPr marL="342900" marR="0" lvl="0" indent="-342900" algn="l" defTabSz="44958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Complex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	double real,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imag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public: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......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bool operator ==(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const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Complex&amp; x)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const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{	return (real ==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x.real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 &amp;&amp; (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imag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==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x.imag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}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bool operator !=(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const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Complex&amp; x)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const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{	return (real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!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x.real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 || (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imag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!=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x.imag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}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......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Complex c1,c2;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...... 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if (c1 == c2) //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或 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if (c1 != c2)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......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7700" y="3357563"/>
            <a:ext cx="7956550" cy="979487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defTabSz="449580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zh-CN" sz="2400" dirty="0"/>
              <a:t>bool operator !=(const Complex&amp; x) const </a:t>
            </a:r>
            <a:r>
              <a:rPr lang="en-GB" altLang="zh-CN" sz="2400" dirty="0">
                <a:solidFill>
                  <a:srgbClr val="FFC000"/>
                </a:solidFill>
              </a:rPr>
              <a:t>//</a:t>
            </a:r>
            <a:r>
              <a:rPr lang="zh-CN" altLang="en-US" sz="2400" dirty="0">
                <a:solidFill>
                  <a:srgbClr val="FFC000"/>
                </a:solidFill>
              </a:rPr>
              <a:t>更好！</a:t>
            </a:r>
            <a:endParaRPr lang="en-GB" altLang="zh-CN" sz="2400" dirty="0">
              <a:solidFill>
                <a:srgbClr val="FFC000"/>
              </a:solidFill>
            </a:endParaRPr>
          </a:p>
          <a:p>
            <a:pPr marL="0" lvl="0" indent="0" defTabSz="449580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zh-CN" sz="2400" dirty="0"/>
              <a:t>{	return !(*this == x);</a:t>
            </a:r>
            <a:endParaRPr lang="en-GB" altLang="zh-CN" sz="2400" dirty="0"/>
          </a:p>
          <a:p>
            <a:pPr marL="0" lvl="0" indent="0" defTabSz="449580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None/>
            </a:pPr>
            <a:r>
              <a:rPr lang="en-GB" altLang="zh-CN" sz="2400" dirty="0"/>
              <a:t>}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82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44450"/>
            <a:ext cx="8686800" cy="1139825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双目操作符重载</a:t>
            </a:r>
            <a:r>
              <a:rPr kumimoji="0" lang="zh-CN" altLang="en-GB" sz="3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（续</a:t>
            </a:r>
            <a:r>
              <a:rPr kumimoji="0" lang="en-GB" altLang="zh-CN" sz="3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1</a:t>
            </a:r>
            <a:r>
              <a:rPr kumimoji="0" lang="zh-CN" altLang="en-GB" sz="3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）</a:t>
            </a:r>
            <a:endParaRPr kumimoji="0" lang="zh-CN" altLang="en-US" sz="36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7648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96975"/>
            <a:ext cx="8218488" cy="5545138"/>
          </a:xfrm>
        </p:spPr>
        <p:txBody>
          <a:bodyPr vert="horz" wrap="square" lIns="91440" tIns="45720" rIns="91440" bIns="45720" numCol="1" anchor="t" anchorCtr="0" compatLnSpc="1">
            <a:normAutofit fontScale="92500" lnSpcReduction="2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作为全局（友元）函数重载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需要提供两个参数，其中至少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应该有一个是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类、结构、枚举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或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它们的引用类型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定义格式</a:t>
            </a:r>
            <a:endParaRPr kumimoji="0" lang="zh-CN" alt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&lt;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返回值类型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 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operator #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(&lt;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类型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1&gt; &lt;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参数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1&gt;,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		         &lt;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类型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2&gt; &lt;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参数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2&gt;) 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 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</a:rPr>
              <a:t>…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... }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使用格式</a:t>
            </a:r>
            <a:endParaRPr kumimoji="0" lang="zh-CN" alt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&lt;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类型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1&gt; a;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&lt;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类型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2&gt; b;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 # b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或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operator#(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a,b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1139825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806450" marR="0" lvl="0" indent="-806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GB" sz="32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例：重载操作符</a:t>
            </a:r>
            <a:r>
              <a:rPr kumimoji="0" lang="en-GB" altLang="zh-CN" sz="32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+</a:t>
            </a:r>
            <a:r>
              <a:rPr kumimoji="0" lang="zh-CN" altLang="en-GB" sz="32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，使其能够实现实数与复数的混合运算。</a:t>
            </a:r>
            <a:r>
              <a:rPr kumimoji="0" lang="zh-CN" altLang="en-US" sz="40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kumimoji="0" lang="zh-CN" altLang="en-US" sz="40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78531" name="Rectangle 3"/>
          <p:cNvSpPr>
            <a:spLocks noGrp="1" noChangeArrowheads="1"/>
          </p:cNvSpPr>
          <p:nvPr>
            <p:ph idx="1"/>
          </p:nvPr>
        </p:nvSpPr>
        <p:spPr>
          <a:xfrm>
            <a:off x="142875" y="1600200"/>
            <a:ext cx="8893175" cy="49974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71310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Complex</a:t>
            </a:r>
            <a:endParaRPr kumimoji="0" lang="en-GB" altLang="zh-CN" sz="24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71310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	double real, imag;</a:t>
            </a:r>
            <a:endParaRPr kumimoji="0" lang="en-GB" altLang="zh-CN" sz="24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71310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public:</a:t>
            </a:r>
            <a:endParaRPr kumimoji="0" lang="en-GB" altLang="zh-CN" sz="24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71310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Complex() { real = 0; imag = 0; }</a:t>
            </a:r>
            <a:endParaRPr kumimoji="0" lang="en-GB" altLang="zh-CN" sz="24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71310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Complex(double r, double i) { real = r; imag = i; }</a:t>
            </a:r>
            <a:endParaRPr kumimoji="0" lang="en-GB" altLang="zh-CN" sz="24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71310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......</a:t>
            </a:r>
            <a:endParaRPr kumimoji="0" lang="en-GB" altLang="zh-CN" sz="24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71310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friend Complex operator + (const Complex&amp; c1, </a:t>
            </a:r>
            <a:endParaRPr kumimoji="0" lang="en-GB" altLang="zh-CN" sz="24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71310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				    const Complex&amp; c2);</a:t>
            </a:r>
            <a:endParaRPr kumimoji="0" lang="en-GB" altLang="zh-CN" sz="24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71310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friend Complex operator + (const Complex&amp; c, </a:t>
            </a:r>
            <a:endParaRPr kumimoji="0" lang="en-GB" altLang="zh-CN" sz="24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71310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							    double d);</a:t>
            </a:r>
            <a:endParaRPr kumimoji="0" lang="en-GB" altLang="zh-CN" sz="24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71310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friend Complex operator + (double d, </a:t>
            </a:r>
            <a:endParaRPr kumimoji="0" lang="en-GB" altLang="zh-CN" sz="24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71310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				    const Complex&amp; c);</a:t>
            </a:r>
            <a:endParaRPr kumimoji="0" lang="en-GB" altLang="zh-CN" sz="24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71310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GB" altLang="zh-CN" sz="24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9555" name="Rectangle 3"/>
          <p:cNvSpPr>
            <a:spLocks noGrp="1" noChangeArrowheads="1"/>
          </p:cNvSpPr>
          <p:nvPr>
            <p:ph idx="1"/>
          </p:nvPr>
        </p:nvSpPr>
        <p:spPr>
          <a:xfrm>
            <a:off x="277813" y="260350"/>
            <a:ext cx="8686800" cy="63817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Complex operator + (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const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Complex&amp; c1, 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	     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const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Complex&amp; c2)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return Complex(c1.real+c2.real,c1.imag+c2.imag);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Complex operator + (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const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Complex&amp; c, double d)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return Complex(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c.real+d,c.imag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Complex operator + (double d,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const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Complex&amp; c)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“实数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+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复数”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只能作为全局函数重载。为什么？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return Complex(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d+c.real,c.imag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......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Complex a(1,2),b(3,4),c1,c2,c3;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c1 = a + b;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c2 = b + 21.5;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c3 = 10.2 + a;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charRg st="255" end="2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9555">
                                            <p:txEl>
                                              <p:charRg st="255" end="28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9555">
                                            <p:txEl>
                                              <p:charRg st="255" end="28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1363" name="Rectangle 3"/>
          <p:cNvSpPr>
            <a:spLocks noGrp="1" noChangeArrowheads="1"/>
          </p:cNvSpPr>
          <p:nvPr>
            <p:ph idx="1"/>
          </p:nvPr>
        </p:nvSpPr>
        <p:spPr>
          <a:xfrm>
            <a:off x="287338" y="1341438"/>
            <a:ext cx="8532813" cy="5256213"/>
          </a:xfrm>
        </p:spPr>
        <p:txBody>
          <a:bodyPr vert="horz" wrap="square" lIns="91440" tIns="45720" rIns="91440" bIns="45720" numCol="1" anchor="t" anchorCtr="0" compatLnSpc="1">
            <a:normAutofit fontScale="92500" lnSpcReduction="1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作为成员函数重载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不需要提供参数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定义格式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&lt;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类名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	......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&lt;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返回值类型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 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operator #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(); 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&lt;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返回值类型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 &lt;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类名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&gt;::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operator #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() { ...... }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使用格式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&lt;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类名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 a;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#a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或，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a.operator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#()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  <p:sp>
        <p:nvSpPr>
          <p:cNvPr id="386048" name="Rectangle 0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919163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GB" sz="40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单目操作符重载</a:t>
            </a:r>
            <a:endParaRPr kumimoji="0" lang="zh-CN" altLang="en-US" sz="40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2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941388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例：实现复数的取负操作</a:t>
            </a:r>
            <a:endParaRPr kumimoji="0" lang="zh-CN" altLang="en-US" sz="4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7238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84313"/>
            <a:ext cx="8229600" cy="5040313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342900" marR="0" lvl="0" indent="-342900" algn="l" defTabSz="44958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Complex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......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public: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......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Complex operator -()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const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{	return Complex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-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real,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-</a:t>
            </a:r>
            <a:r>
              <a:rPr kumimoji="0" lang="en-GB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imag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}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......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Complex a(1,2),b;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 = -a;  //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把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负数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赋值给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7506" name="Rectangle 2"/>
          <p:cNvSpPr>
            <a:spLocks noGrp="1" noChangeArrowheads="1"/>
          </p:cNvSpPr>
          <p:nvPr>
            <p:ph type="title"/>
          </p:nvPr>
        </p:nvSpPr>
        <p:spPr>
          <a:xfrm>
            <a:off x="206375" y="188913"/>
            <a:ext cx="8686800" cy="941388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单目操作符重载</a:t>
            </a:r>
            <a:r>
              <a:rPr kumimoji="0" lang="zh-CN" altLang="en-GB" sz="36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（续</a:t>
            </a:r>
            <a:r>
              <a:rPr kumimoji="0" lang="en-GB" altLang="zh-CN" sz="36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1</a:t>
            </a:r>
            <a:r>
              <a:rPr kumimoji="0" lang="zh-CN" altLang="en-GB" sz="36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）</a:t>
            </a:r>
            <a:endParaRPr kumimoji="0" lang="zh-CN" altLang="en-US" sz="36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77507" name="Rectangle 3"/>
          <p:cNvSpPr>
            <a:spLocks noGrp="1" noChangeArrowheads="1"/>
          </p:cNvSpPr>
          <p:nvPr>
            <p:ph idx="1"/>
          </p:nvPr>
        </p:nvSpPr>
        <p:spPr>
          <a:xfrm>
            <a:off x="142875" y="1412875"/>
            <a:ext cx="8893175" cy="51847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作为全局（友元）函数重载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只需要提供一个参数，其类型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必须是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类、结构、枚举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或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它们的引用类型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定义格式</a:t>
            </a:r>
            <a:endParaRPr kumimoji="0" lang="zh-CN" alt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&lt;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返回值类型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 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operator #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(&lt;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类型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 &lt;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参数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&gt;) { 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</a:rPr>
              <a:t>…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... }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使用格式为：</a:t>
            </a:r>
            <a:endParaRPr kumimoji="0" lang="zh-CN" alt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&lt;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类型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 a;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#a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或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operator#(a)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4463" y="115888"/>
            <a:ext cx="8964613" cy="1139825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例：实现</a:t>
            </a:r>
            <a:r>
              <a:rPr kumimoji="0" lang="zh-CN" alt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判断</a:t>
            </a:r>
            <a:r>
              <a:rPr kumimoji="0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复数是否为“零”的操作</a:t>
            </a:r>
            <a:endParaRPr kumimoji="0" lang="zh-CN" altLang="en-US" sz="40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84313"/>
            <a:ext cx="8229600" cy="4852988"/>
          </a:xfrm>
        </p:spPr>
        <p:txBody>
          <a:bodyPr vert="horz" wrap="square" lIns="91440" tIns="45720" rIns="91440" bIns="45720" numCol="1" anchor="t" anchorCtr="0" compatLnSpc="1">
            <a:normAutofit fontScale="70000" lnSpcReduction="20000"/>
          </a:bodyPr>
          <a:lstStyle/>
          <a:p>
            <a:pPr marL="342900" marR="0" lvl="0" indent="-342900" algn="l" defTabSz="44958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Complex</a:t>
            </a:r>
            <a:endParaRPr kumimoji="0" lang="en-GB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......</a:t>
            </a:r>
            <a:endParaRPr kumimoji="0" lang="en-GB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public:</a:t>
            </a:r>
            <a:endParaRPr kumimoji="0" lang="en-GB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......</a:t>
            </a:r>
            <a:endParaRPr kumimoji="0" lang="en-GB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friend bool operator !(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const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Complex &amp;c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GB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bool operator !(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const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Complex &amp;c)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return (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c.real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== 0.0)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&amp;&amp;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c.imag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==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0.0);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GB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......</a:t>
            </a:r>
            <a:endParaRPr kumimoji="0" lang="en-GB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Complex a(1,2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GB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......</a:t>
            </a:r>
            <a:endParaRPr kumimoji="0" lang="en-GB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if (!a)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//a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为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0</a:t>
            </a:r>
            <a:endParaRPr kumimoji="0" lang="en-GB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......</a:t>
            </a:r>
            <a:endParaRPr kumimoji="0" lang="en-GB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......</a:t>
            </a:r>
            <a:endParaRPr kumimoji="0" lang="en-GB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1139825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GB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操作符</a:t>
            </a:r>
            <a:r>
              <a:rPr kumimoji="0" lang="en-GB" altLang="zh-CN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++</a:t>
            </a:r>
            <a:r>
              <a:rPr kumimoji="0" lang="zh-CN" altLang="en-GB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和</a:t>
            </a:r>
            <a:r>
              <a:rPr kumimoji="0" lang="en-GB" altLang="zh-CN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--</a:t>
            </a:r>
            <a:r>
              <a:rPr kumimoji="0" lang="en-US" altLang="zh-CN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的重载</a:t>
            </a:r>
            <a:endParaRPr kumimoji="0" lang="zh-CN" altLang="en-US" sz="4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73411" name="Rectangle 3"/>
          <p:cNvSpPr>
            <a:spLocks noGrp="1" noChangeArrowheads="1"/>
          </p:cNvSpPr>
          <p:nvPr>
            <p:ph idx="1"/>
          </p:nvPr>
        </p:nvSpPr>
        <p:spPr>
          <a:xfrm>
            <a:off x="179388" y="1412875"/>
            <a:ext cx="8737600" cy="5068888"/>
          </a:xfrm>
        </p:spPr>
        <p:txBody>
          <a:bodyPr vert="horz" wrap="square" lIns="91440" tIns="45720" rIns="91440" bIns="45720" numCol="1" anchor="t" anchorCtr="0" compatLnSpc="1">
            <a:normAutofit fontScale="77500" lnSpcReduction="2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单目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操作符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++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--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x,y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++x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或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x++;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//x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的值加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1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x = 0; y =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++x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 //x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的值为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1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y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的值为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1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x = 0; y =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x++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 //x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的值为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1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y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的值为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0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++(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++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x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);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或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(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++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x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)++;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//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?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++(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x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++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);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或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(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x++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)++; //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?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重载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++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--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时，如果没有特殊处理，它们的后置用法和前置用法共用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同一个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重载函数。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为了能够区分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++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--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）的前置与后置用法，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可以为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后置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用法再写一个重载函数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，该重载函数应有一个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额外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型参数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（函数体中可以不使用该参数的值）。</a:t>
            </a:r>
            <a:endParaRPr kumimoji="0" lang="en-US" altLang="zh-CN" sz="31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643438" y="3892550"/>
            <a:ext cx="3197225" cy="400050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FFC000"/>
                </a:solidFill>
              </a:rPr>
              <a:t>Error</a:t>
            </a:r>
            <a:r>
              <a:rPr lang="zh-CN" altLang="en-US" sz="2000" dirty="0"/>
              <a:t>。</a:t>
            </a:r>
            <a:r>
              <a:rPr lang="en-US" altLang="zh-CN" sz="2000" dirty="0"/>
              <a:t>x++</a:t>
            </a:r>
            <a:r>
              <a:rPr lang="zh-CN" altLang="en-US" sz="2000" dirty="0"/>
              <a:t>为</a:t>
            </a:r>
            <a:r>
              <a:rPr lang="zh-CN" altLang="en-US" sz="2000" dirty="0">
                <a:solidFill>
                  <a:srgbClr val="FFC000"/>
                </a:solidFill>
              </a:rPr>
              <a:t>右值表达式</a:t>
            </a:r>
            <a:endParaRPr lang="zh-CN" altLang="en-US" sz="2000" dirty="0">
              <a:solidFill>
                <a:srgbClr val="FFC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643438" y="3500438"/>
            <a:ext cx="4273550" cy="400050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/>
              <a:t>OK</a:t>
            </a:r>
            <a:r>
              <a:rPr lang="zh-CN" altLang="en-US" sz="2000" dirty="0"/>
              <a:t>，</a:t>
            </a:r>
            <a:r>
              <a:rPr lang="en-US" altLang="zh-CN" sz="2000" dirty="0"/>
              <a:t>x</a:t>
            </a:r>
            <a:r>
              <a:rPr lang="zh-CN" altLang="en-US" sz="2000" dirty="0"/>
              <a:t>的值加</a:t>
            </a:r>
            <a:r>
              <a:rPr lang="en-US" altLang="zh-CN" sz="2000" dirty="0"/>
              <a:t>2</a:t>
            </a:r>
            <a:r>
              <a:rPr lang="zh-CN" altLang="en-US" sz="2000" dirty="0"/>
              <a:t>。</a:t>
            </a:r>
            <a:r>
              <a:rPr lang="en-US" altLang="zh-CN" sz="2000" dirty="0"/>
              <a:t>++x</a:t>
            </a:r>
            <a:r>
              <a:rPr lang="zh-CN" altLang="en-US" sz="2000" dirty="0"/>
              <a:t>为</a:t>
            </a:r>
            <a:r>
              <a:rPr lang="zh-CN" altLang="en-US" sz="2000" dirty="0">
                <a:solidFill>
                  <a:srgbClr val="FFC000"/>
                </a:solidFill>
              </a:rPr>
              <a:t>左值表达式</a:t>
            </a:r>
            <a:endParaRPr lang="zh-CN" altLang="en-US" sz="2000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charRg st="147" end="1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73411">
                                            <p:txEl>
                                              <p:charRg st="147" end="18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3411">
                                            <p:txEl>
                                              <p:charRg st="147" end="18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charRg st="189" end="2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3411">
                                            <p:txEl>
                                              <p:charRg st="189" end="26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3411">
                                            <p:txEl>
                                              <p:charRg st="189" end="26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4435" name="Rectangle 3"/>
          <p:cNvSpPr>
            <a:spLocks noGrp="1" noChangeArrowheads="1"/>
          </p:cNvSpPr>
          <p:nvPr>
            <p:ph idx="1"/>
          </p:nvPr>
        </p:nvSpPr>
        <p:spPr>
          <a:xfrm>
            <a:off x="206375" y="71438"/>
            <a:ext cx="8937625" cy="6742113"/>
          </a:xfrm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/>
          <a:p>
            <a:pPr marL="342900" marR="0" lvl="0" indent="-342900" algn="l" defTabSz="279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Counter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279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	</a:t>
            </a:r>
            <a:r>
              <a:rPr kumimoji="0" lang="en-GB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value;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279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public: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279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Counter() { value = 0; }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279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Counter&amp;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operator ++()  //</a:t>
            </a:r>
            <a:r>
              <a:rPr kumimoji="0" lang="zh-CN" altLang="en-GB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前置的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++</a:t>
            </a:r>
            <a:r>
              <a:rPr kumimoji="0" lang="zh-CN" altLang="en-GB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重载函数</a:t>
            </a:r>
            <a:endParaRPr kumimoji="0" lang="zh-CN" altLang="en-GB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279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GB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value++;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279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return *this;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279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}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279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GB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const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Counter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operator ++(</a:t>
            </a:r>
            <a:r>
              <a:rPr kumimoji="0" lang="en-GB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  //</a:t>
            </a:r>
            <a:r>
              <a:rPr kumimoji="0" lang="zh-CN" altLang="en-GB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后置的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++</a:t>
            </a:r>
            <a:r>
              <a:rPr kumimoji="0" lang="zh-CN" altLang="en-GB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重载函数</a:t>
            </a:r>
            <a:endParaRPr kumimoji="0" lang="zh-CN" altLang="en-GB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279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GB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Counter temp=*this; //</a:t>
            </a:r>
            <a:r>
              <a:rPr kumimoji="0" lang="zh-CN" altLang="en-GB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保存原来的对象</a:t>
            </a:r>
            <a:endParaRPr kumimoji="0" lang="zh-CN" altLang="en-GB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279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</a:t>
            </a:r>
            <a:r>
              <a:rPr kumimoji="0" lang="en-GB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value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++; //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写成：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++(*</a:t>
            </a:r>
            <a:r>
              <a:rPr kumimoji="0" lang="en-GB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this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更好！</a:t>
            </a:r>
            <a:r>
              <a:rPr kumimoji="0" lang="zh-CN" altLang="en-GB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调用前置的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++</a:t>
            </a:r>
            <a:r>
              <a:rPr kumimoji="0" lang="zh-CN" altLang="en-GB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重载函数</a:t>
            </a:r>
            <a:endParaRPr kumimoji="0" lang="zh-CN" altLang="en-GB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279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GB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return temp; //</a:t>
            </a:r>
            <a:r>
              <a:rPr kumimoji="0" lang="zh-CN" altLang="en-GB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返回原来的对象</a:t>
            </a:r>
            <a:endParaRPr kumimoji="0" lang="zh-CN" altLang="en-GB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279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}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279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279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......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279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Counter </a:t>
            </a:r>
            <a:r>
              <a:rPr kumimoji="0" lang="en-GB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a,b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279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++</a:t>
            </a:r>
            <a:r>
              <a:rPr kumimoji="0" lang="en-GB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a;  //</a:t>
            </a:r>
            <a:r>
              <a:rPr kumimoji="0" lang="zh-CN" altLang="en-GB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使用的</a:t>
            </a:r>
            <a:r>
              <a:rPr kumimoji="0" lang="zh-CN" altLang="en-GB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是不</a:t>
            </a:r>
            <a:r>
              <a:rPr kumimoji="0" lang="zh-CN" altLang="en-GB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带参数的操作符</a:t>
            </a:r>
            <a:r>
              <a:rPr kumimoji="0" lang="en-GB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++</a:t>
            </a:r>
            <a:r>
              <a:rPr kumimoji="0" lang="zh-CN" altLang="en-GB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重载函数</a:t>
            </a:r>
            <a:endParaRPr kumimoji="0" lang="zh-CN" altLang="en-GB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279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GB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++;  //</a:t>
            </a:r>
            <a:r>
              <a:rPr kumimoji="0" lang="zh-CN" altLang="en-GB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使用的</a:t>
            </a:r>
            <a:r>
              <a:rPr kumimoji="0" lang="zh-CN" altLang="en-GB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是带</a:t>
            </a:r>
            <a:r>
              <a:rPr kumimoji="0" lang="en-GB" altLang="zh-CN" sz="2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zh-CN" altLang="en-GB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型参数的操作符</a:t>
            </a:r>
            <a:r>
              <a:rPr kumimoji="0" lang="en-GB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++</a:t>
            </a:r>
            <a:r>
              <a:rPr kumimoji="0" lang="zh-CN" altLang="en-GB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重载函数</a:t>
            </a:r>
            <a:endParaRPr kumimoji="0" lang="zh-CN" altLang="en-GB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279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 = ++a;  //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加一之后的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赋值给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</a:t>
            </a:r>
            <a:endParaRPr kumimoji="0" lang="zh-CN" altLang="en-GB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279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= a++;  //</a:t>
            </a: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加一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之前的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赋值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给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</a:t>
            </a:r>
            <a:endParaRPr kumimoji="0" lang="zh-CN" altLang="en-GB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279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++(++a);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或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(++a)++; //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OK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加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279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++(a++);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或 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(a++)++; //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Error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，编译不通过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lobe">
  <a:themeElements>
    <a:clrScheme name="Globe 9">
      <a:dk1>
        <a:srgbClr val="003B76"/>
      </a:dk1>
      <a:lt1>
        <a:srgbClr val="FFFFFF"/>
      </a:lt1>
      <a:dk2>
        <a:srgbClr val="0066CC"/>
      </a:dk2>
      <a:lt2>
        <a:srgbClr val="FFFF00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e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rtlCol="0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9">
        <a:dk1>
          <a:srgbClr val="003B76"/>
        </a:dk1>
        <a:lt1>
          <a:srgbClr val="FFFFFF"/>
        </a:lt1>
        <a:dk2>
          <a:srgbClr val="0066CC"/>
        </a:dk2>
        <a:lt2>
          <a:srgbClr val="FFFF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0</TotalTime>
  <Words>4903</Words>
  <Application>WPS 演示</Application>
  <PresentationFormat>全屏显示(4:3)</PresentationFormat>
  <Paragraphs>316</Paragraphs>
  <Slides>22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1" baseType="lpstr">
      <vt:lpstr>Arial</vt:lpstr>
      <vt:lpstr>宋体</vt:lpstr>
      <vt:lpstr>Wingdings</vt:lpstr>
      <vt:lpstr>Verdana</vt:lpstr>
      <vt:lpstr>Times New Roman</vt:lpstr>
      <vt:lpstr>Arial</vt:lpstr>
      <vt:lpstr>微软雅黑</vt:lpstr>
      <vt:lpstr>Arial Unicode MS</vt:lpstr>
      <vt:lpstr>Globe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 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chenjj</dc:creator>
  <cp:lastModifiedBy>tattit</cp:lastModifiedBy>
  <cp:revision>728</cp:revision>
  <dcterms:created xsi:type="dcterms:W3CDTF">1999-06-07T10:00:06Z</dcterms:created>
  <dcterms:modified xsi:type="dcterms:W3CDTF">2023-10-16T04:03:14Z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2052-11.8.2.8875</vt:lpwstr>
  </property>
</Properties>
</file>
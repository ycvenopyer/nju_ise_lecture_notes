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72" r:id="rId3"/>
    <p:sldId id="271" r:id="rId4"/>
    <p:sldId id="276" r:id="rId5"/>
    <p:sldId id="291" r:id="rId6"/>
    <p:sldId id="258" r:id="rId7"/>
    <p:sldId id="260" r:id="rId8"/>
    <p:sldId id="277" r:id="rId9"/>
    <p:sldId id="259" r:id="rId10"/>
    <p:sldId id="278" r:id="rId11"/>
    <p:sldId id="279" r:id="rId12"/>
    <p:sldId id="280" r:id="rId13"/>
    <p:sldId id="281" r:id="rId14"/>
    <p:sldId id="282" r:id="rId15"/>
    <p:sldId id="290" r:id="rId16"/>
    <p:sldId id="261" r:id="rId17"/>
    <p:sldId id="283" r:id="rId18"/>
    <p:sldId id="262" r:id="rId19"/>
    <p:sldId id="263" r:id="rId20"/>
    <p:sldId id="264" r:id="rId21"/>
    <p:sldId id="265" r:id="rId22"/>
    <p:sldId id="266" r:id="rId23"/>
    <p:sldId id="267" r:id="rId24"/>
    <p:sldId id="269" r:id="rId25"/>
    <p:sldId id="270" r:id="rId26"/>
    <p:sldId id="273" r:id="rId27"/>
    <p:sldId id="274" r:id="rId28"/>
    <p:sldId id="296" r:id="rId29"/>
    <p:sldId id="293" r:id="rId30"/>
    <p:sldId id="285" r:id="rId31"/>
    <p:sldId id="286" r:id="rId32"/>
    <p:sldId id="287" r:id="rId33"/>
    <p:sldId id="288" r:id="rId34"/>
    <p:sldId id="294" r:id="rId36"/>
    <p:sldId id="289" r:id="rId37"/>
    <p:sldId id="295" r:id="rId38"/>
  </p:sldIdLst>
  <p:sldSz cx="9144000" cy="6858000" type="screen4x3"/>
  <p:notesSz cx="6858000" cy="9144000"/>
  <p:custDataLst>
    <p:tags r:id="rId42"/>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1306"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051" name="Group 2"/>
          <p:cNvGrpSpPr/>
          <p:nvPr/>
        </p:nvGrpSpPr>
        <p:grpSpPr>
          <a:xfrm>
            <a:off x="0" y="0"/>
            <a:ext cx="9148763" cy="6851650"/>
            <a:chOff x="1" y="0"/>
            <a:chExt cx="5763" cy="4316"/>
          </a:xfrm>
        </p:grpSpPr>
        <p:sp>
          <p:nvSpPr>
            <p:cNvPr id="45" name="Freeform 3"/>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6" name="Freeform 4"/>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7" name="Freeform 5"/>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2060" name="Group 6"/>
            <p:cNvGrpSpPr/>
            <p:nvPr/>
          </p:nvGrpSpPr>
          <p:grpSpPr>
            <a:xfrm>
              <a:off x="288" y="0"/>
              <a:ext cx="5098" cy="4316"/>
              <a:chOff x="288" y="0"/>
              <a:chExt cx="5098" cy="4316"/>
            </a:xfrm>
          </p:grpSpPr>
          <p:sp>
            <p:nvSpPr>
              <p:cNvPr id="68" name="Freeform 7"/>
              <p:cNvSpPr/>
              <p:nvPr/>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9" name="Freeform 8"/>
              <p:cNvSpPr/>
              <p:nvPr/>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0" name="Freeform 9"/>
              <p:cNvSpPr/>
              <p:nvPr/>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 name="Freeform 10"/>
              <p:cNvSpPr/>
              <p:nvPr/>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2" name="Freeform 11"/>
              <p:cNvSpPr/>
              <p:nvPr/>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Freeform 12"/>
              <p:cNvSpPr/>
              <p:nvPr/>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4" name="Freeform 13"/>
              <p:cNvSpPr/>
              <p:nvPr/>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Freeform 14"/>
              <p:cNvSpPr/>
              <p:nvPr/>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Freeform 15"/>
              <p:cNvSpPr/>
              <p:nvPr/>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Freeform 16"/>
              <p:cNvSpPr/>
              <p:nvPr/>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Freeform 17"/>
              <p:cNvSpPr/>
              <p:nvPr/>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Freeform 18"/>
              <p:cNvSpPr/>
              <p:nvPr/>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Freeform 19"/>
              <p:cNvSpPr/>
              <p:nvPr/>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49" name="Freeform 20"/>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0" name="Freeform 21"/>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 name="Freeform 22"/>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4" name="Freeform 23"/>
            <p:cNvSpPr/>
            <p:nvPr/>
          </p:nvSpPr>
          <p:spPr>
            <a:xfrm>
              <a:off x="5041" y="0"/>
              <a:ext cx="719" cy="845"/>
            </a:xfrm>
            <a:custGeom>
              <a:avLst/>
              <a:gdLst/>
              <a:ahLst/>
              <a:cxnLst>
                <a:cxn ang="0">
                  <a:pos x="807" y="845"/>
                </a:cxn>
                <a:cxn ang="0">
                  <a:pos x="807" y="821"/>
                </a:cxn>
                <a:cxn ang="0">
                  <a:pos x="664" y="605"/>
                </a:cxn>
                <a:cxn ang="0">
                  <a:pos x="451" y="396"/>
                </a:cxn>
                <a:cxn ang="0">
                  <a:pos x="266" y="192"/>
                </a:cxn>
                <a:cxn ang="0">
                  <a:pos x="17" y="0"/>
                </a:cxn>
                <a:cxn ang="0">
                  <a:pos x="0" y="0"/>
                </a:cxn>
                <a:cxn ang="0">
                  <a:pos x="254" y="198"/>
                </a:cxn>
                <a:cxn ang="0">
                  <a:pos x="445" y="408"/>
                </a:cxn>
                <a:cxn ang="0">
                  <a:pos x="658" y="623"/>
                </a:cxn>
                <a:cxn ang="0">
                  <a:pos x="807" y="845"/>
                </a:cxn>
                <a:cxn ang="0">
                  <a:pos x="807"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2065" name="Freeform 24"/>
            <p:cNvSpPr/>
            <p:nvPr/>
          </p:nvSpPr>
          <p:spPr>
            <a:xfrm>
              <a:off x="5352" y="0"/>
              <a:ext cx="408" cy="414"/>
            </a:xfrm>
            <a:custGeom>
              <a:avLst/>
              <a:gdLst/>
              <a:ahLst/>
              <a:cxnLst>
                <a:cxn ang="0">
                  <a:pos x="452" y="414"/>
                </a:cxn>
                <a:cxn ang="0">
                  <a:pos x="452" y="396"/>
                </a:cxn>
                <a:cxn ang="0">
                  <a:pos x="267" y="192"/>
                </a:cxn>
                <a:cxn ang="0">
                  <a:pos x="12" y="0"/>
                </a:cxn>
                <a:cxn ang="0">
                  <a:pos x="0" y="0"/>
                </a:cxn>
                <a:cxn ang="0">
                  <a:pos x="108" y="102"/>
                </a:cxn>
                <a:cxn ang="0">
                  <a:pos x="261" y="204"/>
                </a:cxn>
                <a:cxn ang="0">
                  <a:pos x="452" y="414"/>
                </a:cxn>
                <a:cxn ang="0">
                  <a:pos x="452"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54" name="Freeform 25"/>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7" name="Freeform 26"/>
            <p:cNvSpPr/>
            <p:nvPr/>
          </p:nvSpPr>
          <p:spPr>
            <a:xfrm>
              <a:off x="6" y="0"/>
              <a:ext cx="588" cy="599"/>
            </a:xfrm>
            <a:custGeom>
              <a:avLst/>
              <a:gdLst/>
              <a:ahLst/>
              <a:cxnLst>
                <a:cxn ang="0">
                  <a:pos x="676" y="0"/>
                </a:cxn>
                <a:cxn ang="0">
                  <a:pos x="658" y="0"/>
                </a:cxn>
                <a:cxn ang="0">
                  <a:pos x="464" y="132"/>
                </a:cxn>
                <a:cxn ang="0">
                  <a:pos x="302" y="270"/>
                </a:cxn>
                <a:cxn ang="0">
                  <a:pos x="120" y="420"/>
                </a:cxn>
                <a:cxn ang="0">
                  <a:pos x="0" y="575"/>
                </a:cxn>
                <a:cxn ang="0">
                  <a:pos x="0" y="599"/>
                </a:cxn>
                <a:cxn ang="0">
                  <a:pos x="120" y="432"/>
                </a:cxn>
                <a:cxn ang="0">
                  <a:pos x="302" y="282"/>
                </a:cxn>
                <a:cxn ang="0">
                  <a:pos x="476" y="138"/>
                </a:cxn>
                <a:cxn ang="0">
                  <a:pos x="676" y="0"/>
                </a:cxn>
                <a:cxn ang="0">
                  <a:pos x="676"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2068" name="Freeform 27"/>
            <p:cNvSpPr/>
            <p:nvPr/>
          </p:nvSpPr>
          <p:spPr>
            <a:xfrm>
              <a:off x="6" y="0"/>
              <a:ext cx="270" cy="252"/>
            </a:xfrm>
            <a:custGeom>
              <a:avLst/>
              <a:gdLst/>
              <a:ahLst/>
              <a:cxnLst>
                <a:cxn ang="0">
                  <a:pos x="314" y="0"/>
                </a:cxn>
                <a:cxn ang="0">
                  <a:pos x="296" y="0"/>
                </a:cxn>
                <a:cxn ang="0">
                  <a:pos x="120" y="114"/>
                </a:cxn>
                <a:cxn ang="0">
                  <a:pos x="60" y="174"/>
                </a:cxn>
                <a:cxn ang="0">
                  <a:pos x="0" y="234"/>
                </a:cxn>
                <a:cxn ang="0">
                  <a:pos x="0" y="252"/>
                </a:cxn>
                <a:cxn ang="0">
                  <a:pos x="126" y="120"/>
                </a:cxn>
                <a:cxn ang="0">
                  <a:pos x="314" y="0"/>
                </a:cxn>
                <a:cxn ang="0">
                  <a:pos x="314"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2069"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2070"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2071"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2072" name="Group 31"/>
            <p:cNvGrpSpPr/>
            <p:nvPr/>
          </p:nvGrpSpPr>
          <p:grpSpPr>
            <a:xfrm>
              <a:off x="1" y="392"/>
              <a:ext cx="5758" cy="1571"/>
              <a:chOff x="1" y="392"/>
              <a:chExt cx="5758" cy="1571"/>
            </a:xfrm>
          </p:grpSpPr>
          <p:sp>
            <p:nvSpPr>
              <p:cNvPr id="2075"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2076"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2077"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2078"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2079"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2073"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2074"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8231"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zh-CN" altLang="en-US" noProof="0" smtClean="0"/>
              <a:t>单击此处编辑母版标题样式</a:t>
            </a:r>
            <a:endParaRPr lang="zh-CN" altLang="en-US" noProof="0" smtClean="0"/>
          </a:p>
        </p:txBody>
      </p:sp>
      <p:sp>
        <p:nvSpPr>
          <p:cNvPr id="8232"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81" name="Rectangle 41"/>
          <p:cNvSpPr>
            <a:spLocks noGrp="1" noChangeArrowheads="1"/>
          </p:cNvSpPr>
          <p:nvPr>
            <p:ph type="dt" sz="quarter" idx="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2" name="Rectangle 42"/>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3" name="Rectangle 43"/>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27659CD-E395-4064-82A9-BDF28ABE9935}"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overrideClrMapping bg1="dk2" tx1="lt1" bg2="dk1" tx2="lt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lumMod val="50000"/>
              </a:schemeClr>
            </a:gs>
            <a:gs pos="100000">
              <a:schemeClr val="bg2">
                <a:lumMod val="50000"/>
              </a:schemeClr>
            </a:gs>
          </a:gsLst>
          <a:lin ang="5400000" scaled="1"/>
          <a:tileRect/>
        </a:gradFill>
        <a:effectLst/>
      </p:bgPr>
    </p:bg>
    <p:spTree>
      <p:nvGrpSpPr>
        <p:cNvPr id="1" name=""/>
        <p:cNvGrpSpPr/>
        <p:nvPr/>
      </p:nvGrpSpPr>
      <p:grpSpPr/>
      <p:grpSp>
        <p:nvGrpSpPr>
          <p:cNvPr id="1026" name="Group 2"/>
          <p:cNvGrpSpPr/>
          <p:nvPr/>
        </p:nvGrpSpPr>
        <p:grpSpPr>
          <a:xfrm>
            <a:off x="1588" y="0"/>
            <a:ext cx="9148762" cy="6851650"/>
            <a:chOff x="1" y="0"/>
            <a:chExt cx="5763" cy="4316"/>
          </a:xfrm>
        </p:grpSpPr>
        <p:sp>
          <p:nvSpPr>
            <p:cNvPr id="7171" name="Freeform 3"/>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72" name="Freeform 4"/>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73" name="Freeform 5"/>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1035" name="Group 6"/>
            <p:cNvGrpSpPr/>
            <p:nvPr/>
          </p:nvGrpSpPr>
          <p:grpSpPr>
            <a:xfrm>
              <a:off x="288" y="0"/>
              <a:ext cx="5098" cy="4316"/>
              <a:chOff x="288" y="0"/>
              <a:chExt cx="5098" cy="4316"/>
            </a:xfrm>
          </p:grpSpPr>
          <p:sp>
            <p:nvSpPr>
              <p:cNvPr id="7175" name="Freeform 7"/>
              <p:cNvSpPr/>
              <p:nvPr/>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76" name="Freeform 8"/>
              <p:cNvSpPr/>
              <p:nvPr/>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77" name="Freeform 9"/>
              <p:cNvSpPr/>
              <p:nvPr/>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78" name="Freeform 10"/>
              <p:cNvSpPr/>
              <p:nvPr/>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79" name="Freeform 11"/>
              <p:cNvSpPr/>
              <p:nvPr/>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0" name="Freeform 12"/>
              <p:cNvSpPr/>
              <p:nvPr/>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1" name="Freeform 13"/>
              <p:cNvSpPr/>
              <p:nvPr/>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2" name="Freeform 14"/>
              <p:cNvSpPr/>
              <p:nvPr/>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3" name="Freeform 15"/>
              <p:cNvSpPr/>
              <p:nvPr/>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4" name="Freeform 16"/>
              <p:cNvSpPr/>
              <p:nvPr/>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5" name="Freeform 17"/>
              <p:cNvSpPr/>
              <p:nvPr/>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6" name="Freeform 18"/>
              <p:cNvSpPr/>
              <p:nvPr/>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7" name="Freeform 19"/>
              <p:cNvSpPr/>
              <p:nvPr/>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7188" name="Freeform 20"/>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89" name="Freeform 21"/>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90" name="Freeform 22"/>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Freeform 23"/>
            <p:cNvSpPr/>
            <p:nvPr/>
          </p:nvSpPr>
          <p:spPr>
            <a:xfrm>
              <a:off x="5041" y="0"/>
              <a:ext cx="719" cy="845"/>
            </a:xfrm>
            <a:custGeom>
              <a:avLst/>
              <a:gdLst/>
              <a:ahLst/>
              <a:cxnLst>
                <a:cxn ang="0">
                  <a:pos x="807" y="845"/>
                </a:cxn>
                <a:cxn ang="0">
                  <a:pos x="807" y="821"/>
                </a:cxn>
                <a:cxn ang="0">
                  <a:pos x="664" y="605"/>
                </a:cxn>
                <a:cxn ang="0">
                  <a:pos x="451" y="396"/>
                </a:cxn>
                <a:cxn ang="0">
                  <a:pos x="266" y="192"/>
                </a:cxn>
                <a:cxn ang="0">
                  <a:pos x="17" y="0"/>
                </a:cxn>
                <a:cxn ang="0">
                  <a:pos x="0" y="0"/>
                </a:cxn>
                <a:cxn ang="0">
                  <a:pos x="254" y="198"/>
                </a:cxn>
                <a:cxn ang="0">
                  <a:pos x="445" y="408"/>
                </a:cxn>
                <a:cxn ang="0">
                  <a:pos x="658" y="623"/>
                </a:cxn>
                <a:cxn ang="0">
                  <a:pos x="807" y="845"/>
                </a:cxn>
                <a:cxn ang="0">
                  <a:pos x="807"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1040" name="Freeform 24"/>
            <p:cNvSpPr/>
            <p:nvPr/>
          </p:nvSpPr>
          <p:spPr>
            <a:xfrm>
              <a:off x="5352" y="0"/>
              <a:ext cx="408" cy="414"/>
            </a:xfrm>
            <a:custGeom>
              <a:avLst/>
              <a:gdLst/>
              <a:ahLst/>
              <a:cxnLst>
                <a:cxn ang="0">
                  <a:pos x="452" y="414"/>
                </a:cxn>
                <a:cxn ang="0">
                  <a:pos x="452" y="396"/>
                </a:cxn>
                <a:cxn ang="0">
                  <a:pos x="267" y="192"/>
                </a:cxn>
                <a:cxn ang="0">
                  <a:pos x="12" y="0"/>
                </a:cxn>
                <a:cxn ang="0">
                  <a:pos x="0" y="0"/>
                </a:cxn>
                <a:cxn ang="0">
                  <a:pos x="108" y="102"/>
                </a:cxn>
                <a:cxn ang="0">
                  <a:pos x="261" y="204"/>
                </a:cxn>
                <a:cxn ang="0">
                  <a:pos x="452" y="414"/>
                </a:cxn>
                <a:cxn ang="0">
                  <a:pos x="452"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7193" name="Freeform 25"/>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Freeform 26"/>
            <p:cNvSpPr/>
            <p:nvPr/>
          </p:nvSpPr>
          <p:spPr>
            <a:xfrm>
              <a:off x="6" y="0"/>
              <a:ext cx="588" cy="599"/>
            </a:xfrm>
            <a:custGeom>
              <a:avLst/>
              <a:gdLst/>
              <a:ahLst/>
              <a:cxnLst>
                <a:cxn ang="0">
                  <a:pos x="676" y="0"/>
                </a:cxn>
                <a:cxn ang="0">
                  <a:pos x="658" y="0"/>
                </a:cxn>
                <a:cxn ang="0">
                  <a:pos x="464" y="132"/>
                </a:cxn>
                <a:cxn ang="0">
                  <a:pos x="302" y="270"/>
                </a:cxn>
                <a:cxn ang="0">
                  <a:pos x="120" y="420"/>
                </a:cxn>
                <a:cxn ang="0">
                  <a:pos x="0" y="575"/>
                </a:cxn>
                <a:cxn ang="0">
                  <a:pos x="0" y="599"/>
                </a:cxn>
                <a:cxn ang="0">
                  <a:pos x="120" y="432"/>
                </a:cxn>
                <a:cxn ang="0">
                  <a:pos x="302" y="282"/>
                </a:cxn>
                <a:cxn ang="0">
                  <a:pos x="476" y="138"/>
                </a:cxn>
                <a:cxn ang="0">
                  <a:pos x="676" y="0"/>
                </a:cxn>
                <a:cxn ang="0">
                  <a:pos x="676"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1043" name="Freeform 27"/>
            <p:cNvSpPr/>
            <p:nvPr/>
          </p:nvSpPr>
          <p:spPr>
            <a:xfrm>
              <a:off x="6" y="0"/>
              <a:ext cx="270" cy="252"/>
            </a:xfrm>
            <a:custGeom>
              <a:avLst/>
              <a:gdLst/>
              <a:ahLst/>
              <a:cxnLst>
                <a:cxn ang="0">
                  <a:pos x="314" y="0"/>
                </a:cxn>
                <a:cxn ang="0">
                  <a:pos x="296" y="0"/>
                </a:cxn>
                <a:cxn ang="0">
                  <a:pos x="120" y="114"/>
                </a:cxn>
                <a:cxn ang="0">
                  <a:pos x="60" y="174"/>
                </a:cxn>
                <a:cxn ang="0">
                  <a:pos x="0" y="234"/>
                </a:cxn>
                <a:cxn ang="0">
                  <a:pos x="0" y="252"/>
                </a:cxn>
                <a:cxn ang="0">
                  <a:pos x="126" y="120"/>
                </a:cxn>
                <a:cxn ang="0">
                  <a:pos x="314" y="0"/>
                </a:cxn>
                <a:cxn ang="0">
                  <a:pos x="314"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1044"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1045"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1046"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1047" name="Group 31"/>
            <p:cNvGrpSpPr/>
            <p:nvPr/>
          </p:nvGrpSpPr>
          <p:grpSpPr>
            <a:xfrm>
              <a:off x="1" y="392"/>
              <a:ext cx="5758" cy="1571"/>
              <a:chOff x="1" y="392"/>
              <a:chExt cx="5758" cy="1571"/>
            </a:xfrm>
          </p:grpSpPr>
          <p:sp>
            <p:nvSpPr>
              <p:cNvPr id="1050"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1051"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1052"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1053"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1054"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1048"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1049"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7207" name="Rectangle 39"/>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7208" name="Rectangle 40"/>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a:effectLst>
                  <a:outerShdw blurRad="38100" dist="38100" dir="2700000" algn="tl">
                    <a:srgbClr val="000000"/>
                  </a:outerShdw>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209" name="Rectangle 41"/>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a:effectLst>
                  <a:outerShdw blurRad="38100" dist="38100" dir="2700000" algn="tl">
                    <a:srgbClr val="000000"/>
                  </a:outerShdw>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210" name="Rectangle 42"/>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effectLst>
                  <a:outerShdw blurRad="38100" dist="38100" dir="2700000" algn="tl">
                    <a:srgbClr val="000000"/>
                  </a:outerShdw>
                </a:effectLs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42F737C-E60B-4931-BEAA-0FB713807ED1}"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211" name="Rectangle 4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noChangeArrowheads="1"/>
          </p:cNvSpPr>
          <p:nvPr>
            <p:ph type="ctrTitle" sz="quarter"/>
          </p:nvPr>
        </p:nvSpPr>
        <p:spPr/>
        <p:txBody>
          <a:bodyPr vert="horz" wrap="square" lIns="91440" tIns="45720" rIns="91440" bIns="45720" numCol="1" anchor="b"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异常处理</a:t>
            </a:r>
            <a:endPar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7651" name="Rectangle 3"/>
          <p:cNvSpPr>
            <a:spLocks noGrp="1" noChangeArrowheads="1"/>
          </p:cNvSpPr>
          <p:nvPr>
            <p:ph type="subTitle" sz="quarter" idx="1"/>
          </p:nvPr>
        </p:nvSpPr>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主要内容</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662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异常概述</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的异常处理机制</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基于断言的程序调试</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异常概述</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0243" name="Rectangle 3"/>
          <p:cNvSpPr>
            <a:spLocks noGrp="1" noChangeArrowheads="1"/>
          </p:cNvSpPr>
          <p:nvPr>
            <p:ph idx="1"/>
          </p:nvPr>
        </p:nvSpPr>
        <p:spPr>
          <a:xfrm>
            <a:off x="457200" y="1196975"/>
            <a:ext cx="8229600" cy="5589588"/>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程序的错误通常包括：</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语法错误</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指程序的书写不符合语言的语法规则。</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使用了未定义或未声明的标识符</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左右括号不匹配</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这</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类错误可由编译程序发现</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逻辑错误</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语义错误</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指程序设计不当造成程序没有完成预期的功能。</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把两个数相加写成了相乘</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排序功能未能正确排序</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这</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类错误</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可</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通过</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对程序进行静态分析和动态</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测试发现。</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20713"/>
            <a:ext cx="8362950" cy="5976938"/>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运行异常</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指程序设计对程序运行环境考虑</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不周而</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造成的程序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运行错误</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对于</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x/y</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”操作，给</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输入了“零”。</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由</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内存空间不足</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导致</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内存</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访问错误：</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371600" marR="0" lvl="3" indent="0" algn="l" defTabSz="914400" rtl="0" eaLnBrk="1" fontAlgn="base" latinLnBrk="0" hangingPunct="1">
              <a:lnSpc>
                <a:spcPct val="100000"/>
              </a:lnSpc>
              <a:spcBef>
                <a:spcPct val="20000"/>
              </a:spcBef>
              <a:spcAft>
                <a:spcPct val="0"/>
              </a:spcAft>
              <a:buClr>
                <a:schemeClr val="tx2"/>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*p=new </a:t>
            </a:r>
            <a:r>
              <a:rPr kumimoji="0"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动态分配空间，可能失败！</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371600" marR="0" lvl="3" indent="0" algn="l" defTabSz="914400" rtl="0" eaLnBrk="1" fontAlgn="base" latinLnBrk="0" hangingPunct="1">
              <a:lnSpc>
                <a:spcPct val="100000"/>
              </a:lnSpc>
              <a:spcBef>
                <a:spcPct val="20000"/>
              </a:spcBef>
              <a:spcAft>
                <a:spcPct val="0"/>
              </a:spcAft>
              <a:buClr>
                <a:schemeClr val="tx2"/>
              </a:buClr>
              <a:buSzTx/>
              <a:buFontTx/>
              <a:buNone/>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 = 10</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如果上面</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new</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操作失败，</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可能为空指针！</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输入数据</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的数量超过存放它们的数组的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大小（数组</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下标</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越界），导致程序运行错误。</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多任务环境可能导致的</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文件操作</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错误</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Rectangle 3"/>
          <p:cNvSpPr>
            <a:spLocks noGrp="1" noChangeArrowheads="1"/>
          </p:cNvSpPr>
          <p:nvPr>
            <p:ph idx="1"/>
          </p:nvPr>
        </p:nvSpPr>
        <p:spPr>
          <a:xfrm>
            <a:off x="457200" y="765175"/>
            <a:ext cx="8229600" cy="53657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在程序运行环境正常的情况下，运行异常的错误是不会出现的。</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导致程序运行异常的情况是</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可以预料</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但它是</a:t>
            </a: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无法避免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为了保证程序的</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鲁棒性</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Robustness</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，必须在程序中对可能</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出现</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的异常</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错误</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进行</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预见性处理</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noChangeArrowheads="1"/>
          </p:cNvSpPr>
          <p:nvPr>
            <p:ph idx="1"/>
          </p:nvPr>
        </p:nvSpPr>
        <p:spPr>
          <a:xfrm>
            <a:off x="457200" y="549275"/>
            <a:ext cx="8229600" cy="6119813"/>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例如，下面程序的鲁棒性不高！</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f(char *filename)</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ifstream</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file(filename);</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下面的代码没有对</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文件打开操作</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是否成功</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进行判断，</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就</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直接进行文件读操作了！</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file &gt;&gt; x; //</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如果</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打开</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filename</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指定的文件</a:t>
            </a:r>
            <a:endPar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失败，</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将会出现运行异常</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错误</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endPar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异常</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处理的策略</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2291" name="Rectangle 3"/>
          <p:cNvSpPr>
            <a:spLocks noGrp="1" noChangeArrowheads="1"/>
          </p:cNvSpPr>
          <p:nvPr>
            <p:ph idx="1"/>
          </p:nvPr>
        </p:nvSpPr>
        <p:spPr>
          <a:xfrm>
            <a:off x="457200" y="1600200"/>
            <a:ext cx="8229600" cy="47815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异常处理包括：</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发现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异常</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处理异常</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发现异常后如何处理异常？</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就地处理：在发现异常的地方处理异常。</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异地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处理：在其它地方（非</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异常发现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地）处理异常。</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异常的就地处理</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2291" name="Rectangle 3"/>
          <p:cNvSpPr>
            <a:spLocks noGrp="1" noChangeArrowheads="1"/>
          </p:cNvSpPr>
          <p:nvPr>
            <p:ph idx="1"/>
          </p:nvPr>
        </p:nvSpPr>
        <p:spPr>
          <a:xfrm>
            <a:off x="457200" y="1600200"/>
            <a:ext cx="8229600" cy="47815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就地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处理异常的常见做法是调用</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标准库中的函数</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exit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abort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终止程序执行（在</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cstdlib</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stdlib.h</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中声明）</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abort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立即终止程序的执行，不作任何的善后处理工作。</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exit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在终止程序的运行前，会做关闭被程序打开的文件、调用全局对象和</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static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存储类的局部对象的析构函数（</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注意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不要在这些对象类的析构函数中调用</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exit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）等工作。</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04813"/>
            <a:ext cx="8229600" cy="5832475"/>
          </a:xfrm>
        </p:spPr>
        <p:txBody>
          <a:bodyPr vert="horz" wrap="square" lIns="91440" tIns="45720" rIns="91440" bIns="45720" numCol="1" anchor="t" anchorCtr="0" compatLnSpc="1">
            <a:normAutofit lnSpcReduction="1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f(char *filename)</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ifstream</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file(filename);</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if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file.fail</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cerr</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文件打开失败</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exit(-1);	</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x;</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rgbClr val="FFFFCC"/>
              </a:buClr>
              <a:buSzPct val="60000"/>
              <a:buFont typeface="Wingdings" panose="05000000000000000000" pitchFamily="2" charset="2"/>
              <a:buChar char="n"/>
              <a:defRPr/>
            </a:pPr>
            <a:r>
              <a:rPr kumimoji="0" lang="zh-CN" altLang="en-US"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不管</a:t>
            </a:r>
            <a:r>
              <a:rPr kumimoji="0" lang="en-US" altLang="zh-CN"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abort</a:t>
            </a:r>
            <a:r>
              <a:rPr kumimoji="0" lang="zh-CN" altLang="en-US"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还是</a:t>
            </a:r>
            <a:r>
              <a:rPr kumimoji="0" lang="en-US" altLang="zh-CN"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exit</a:t>
            </a:r>
            <a:r>
              <a:rPr kumimoji="0" lang="zh-CN" altLang="en-US"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，都“</a:t>
            </a:r>
            <a:r>
              <a:rPr kumimoji="0" lang="en-US" altLang="zh-CN" sz="30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not user-friendly</a:t>
            </a:r>
            <a:r>
              <a:rPr kumimoji="0" lang="zh-CN" altLang="en-US"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rPr>
              <a:t>”</a:t>
            </a:r>
            <a:endParaRPr kumimoji="0" lang="en-GB" altLang="zh-CN" sz="3000" b="0" i="0" u="none" strike="noStrike" kern="0" cap="none" spc="0" normalizeH="0" baseline="0" noProof="0" dirty="0">
              <a:ln>
                <a:noFill/>
              </a:ln>
              <a:solidFill>
                <a:srgbClr val="FFFFFF"/>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异常的异地处理</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600200"/>
            <a:ext cx="8229600" cy="47815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发现异常时，往往在异常的发现地（如在</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被调用的函数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中）不知道如何处理这个异常，或者不能很好地处理这个异常。</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这时，可由程序的其它地方（如</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函数的调用者</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）来处理。</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例如，前面的函数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中打开文件失败，这时可以由函数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的调用者重新提供一个文件来解决。</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如何实现异常的异地处理？</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49275"/>
            <a:ext cx="8578850" cy="6048375"/>
          </a:xfrm>
        </p:spPr>
        <p:txBody>
          <a:bodyPr vert="horz" wrap="square" lIns="91440" tIns="45720" rIns="91440" bIns="45720" numCol="1" anchor="t" anchorCtr="0" compatLnSpc="1">
            <a:normAutofit fontScale="92500" lnSpcReduction="20000"/>
          </a:bodyPr>
          <a:lstStyle/>
          <a:p>
            <a:pPr marL="342900" marR="0" lvl="0" indent="-342900" algn="l" defTabSz="914400" rtl="0" eaLnBrk="0" fontAlgn="base" latinLnBrk="0" hangingPunct="0">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一种解决途径</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函数的返回值，或指针</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引用类型的参数，或全局变量把异常情况通知函数的调用者，由调用者</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处理异常。</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f(char *filename)</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ifstream</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file(filename);</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if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file.fail</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-1;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把错误情况告诉调用者</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&gt;&gt; x;</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return 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76250"/>
            <a:ext cx="8229600" cy="5976938"/>
          </a:xfrm>
        </p:spPr>
        <p:txBody>
          <a:bodyPr vert="horz" wrap="square" lIns="91440" tIns="45720" rIns="91440" bIns="45720" numCol="1" anchor="t" anchorCtr="0" compatLnSpc="1">
            <a:normAutofit lnSpcReduction="10000"/>
          </a:bodyPr>
          <a:lstStyle/>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main()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char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[100];</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rc</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if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rc</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-1)</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 //</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处理异常</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else</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正常情况</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908050"/>
            <a:ext cx="8229600" cy="5222875"/>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该途径的不足：</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函数的返回</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值返回异常情况会导致正常返回值和异常返回值</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交织在一起</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，有时无法区分。</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通过指针</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引用类型的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参数</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返回异常情况</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，需要引入</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额外的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参数，给函数的使用带来负担。</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通过全局变量返回</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异常情况会</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导致使用者会忽视这个全局变量的问题。（</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不知道它的存在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程序的可读性差！</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程序的正常处理代码与异常处理代码混杂在一起。</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另一种解决异常的异地处理途径：</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通过语言提供的结构化异常处理机制进行处理。</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结构化异常处理机制</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5363" name="Rectangle 3"/>
          <p:cNvSpPr>
            <a:spLocks noGrp="1" noChangeArrowheads="1"/>
          </p:cNvSpPr>
          <p:nvPr>
            <p:ph idx="1"/>
          </p:nvPr>
        </p:nvSpPr>
        <p:spPr>
          <a:xfrm>
            <a:off x="457200" y="1600200"/>
            <a:ext cx="8229600" cy="5068888"/>
          </a:xfrm>
        </p:spPr>
        <p:txBody>
          <a:bodyPr vert="horz" wrap="square" lIns="91440" tIns="45720" rIns="91440" bIns="45720" numCol="1" anchor="t" anchorCtr="0" compatLnSpc="1"/>
          <a:lstStyle/>
          <a:p>
            <a:pPr marL="363855" marR="0" lvl="0" indent="-36385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把有可能</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遭遇</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异常的一系列操作（语句或函数调用）构成一个</a:t>
            </a:r>
            <a:r>
              <a:rPr kumimoji="0" lang="en-GB"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try</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63855" marR="0" lvl="0" indent="-36385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语句块中的某个操作在执行中发现了异常，则通过执行一个</a:t>
            </a:r>
            <a:r>
              <a:rPr kumimoji="0" lang="en-GB"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throw</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语句抛掷（</a:t>
            </a:r>
            <a:r>
              <a:rPr kumimoji="0" lang="zh-CN" altLang="en-GB"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产生</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）一个异常对象</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，之后的操作不再进行</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63855" marR="0" lvl="0" indent="-36385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抛掷的异常对象将由</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程序中</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能够处理这个异常的地方通过</a:t>
            </a:r>
            <a:r>
              <a:rPr kumimoji="0" lang="en-GB"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catch</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语句块来</a:t>
            </a:r>
            <a:r>
              <a:rPr kumimoji="0" lang="zh-CN" altLang="en-GB"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捕获</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并处理之。</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33375"/>
            <a:ext cx="8578850" cy="6335713"/>
          </a:xfrm>
        </p:spPr>
        <p:txBody>
          <a:bodyPr vert="horz" wrap="square" lIns="91440" tIns="45720" rIns="91440" bIns="45720" numCol="1" anchor="t" anchorCtr="0" compatLnSpc="1">
            <a:normAutofit fontScale="70000" lnSpcReduction="20000"/>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f(char *filename)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file(filename);</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if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file.fail</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throw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filename; //</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产生异常对象，报告错误情况</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cin</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x;</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main()</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char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[100];</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try</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f(</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str</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catch</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(char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fn</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捕获异常</a:t>
            </a:r>
            <a:endParaRPr kumimoji="0" lang="en-US" altLang="zh-CN"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 ......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处理异常</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正常情况</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type="title"/>
          </p:nvPr>
        </p:nvSpPr>
        <p:spPr>
          <a:xfrm>
            <a:off x="457200" y="115888"/>
            <a:ext cx="8229600" cy="868363"/>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try</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语句</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6387" name="Rectangle 3"/>
          <p:cNvSpPr>
            <a:spLocks noGrp="1" noChangeArrowheads="1"/>
          </p:cNvSpPr>
          <p:nvPr>
            <p:ph idx="1"/>
          </p:nvPr>
        </p:nvSpPr>
        <p:spPr>
          <a:xfrm>
            <a:off x="457200" y="1196975"/>
            <a:ext cx="8229600" cy="5472113"/>
          </a:xfrm>
        </p:spPr>
        <p:txBody>
          <a:bodyPr vert="horz" wrap="square" lIns="91440" tIns="45720" rIns="91440" bIns="45720" numCol="1" anchor="t" anchorCtr="0" compatLnSpc="1">
            <a:normAutofit/>
          </a:bodyPr>
          <a:lstStyle/>
          <a:p>
            <a:pPr marL="365125" marR="0" lvl="0" indent="-36512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语句块的作用是</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启动</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异常处理机制。格式为：</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916305"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try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语句序列</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365125" marR="0" lvl="0" indent="-36512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65125" marR="0" lvl="0" indent="-36512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上述的</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语句序列</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中可以有函数调用。例如，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0005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6305"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try { f(</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6305"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noChangeArrowheads="1"/>
          </p:cNvSpPr>
          <p:nvPr>
            <p:ph type="title"/>
          </p:nvPr>
        </p:nvSpPr>
        <p:spPr>
          <a:xfrm>
            <a:off x="457200" y="44450"/>
            <a:ext cx="8229600" cy="9239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throw</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语句</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7411" name="Rectangle 3"/>
          <p:cNvSpPr>
            <a:spLocks noGrp="1" noChangeArrowheads="1"/>
          </p:cNvSpPr>
          <p:nvPr>
            <p:ph idx="1"/>
          </p:nvPr>
        </p:nvSpPr>
        <p:spPr>
          <a:xfrm>
            <a:off x="250825" y="1125538"/>
            <a:ext cx="8748713" cy="5472113"/>
          </a:xfrm>
        </p:spPr>
        <p:txBody>
          <a:bodyPr vert="horz" wrap="square" lIns="91440" tIns="45720" rIns="91440" bIns="45720" numCol="1" anchor="t" anchorCtr="0" compatLnSpc="1">
            <a:normAutofit fontScale="92500" lnSpcReduction="20000"/>
          </a:bodyPr>
          <a:lstStyle/>
          <a:p>
            <a:pPr marL="365125" marR="0" lvl="0" indent="-365125"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throw</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语句用于在发现异常情况时抛掷（</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产生</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）异常对象。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格式为：</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65125" marR="0" lvl="0" indent="-365125"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throw</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表达式</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为任意类型的</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r>
              <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a:t>
            </a:r>
            <a:r>
              <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除外）。</a:t>
            </a:r>
            <a:endParaRPr kumimoji="0" lang="zh-CN" altLang="en-GB"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f(char *filename)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ifstream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file(filename);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if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file.fail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throw</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filename;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产生异常对象</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（一个字符串指针）</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65125" marR="0" lvl="0" indent="-365125"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执行</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throw</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语句后，接在其后的语句将不再继续执行，而是转向异常处理（由某个</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语句给出）。</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ChangeArrowheads="1"/>
          </p:cNvSpPr>
          <p:nvPr>
            <p:ph type="title"/>
          </p:nvPr>
        </p:nvSpPr>
        <p:spPr>
          <a:xfrm>
            <a:off x="457200" y="44450"/>
            <a:ext cx="8229600" cy="9239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catch</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语句</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8435" name="Rectangle 3"/>
          <p:cNvSpPr>
            <a:spLocks noGrp="1" noChangeArrowheads="1"/>
          </p:cNvSpPr>
          <p:nvPr>
            <p:ph idx="1"/>
          </p:nvPr>
        </p:nvSpPr>
        <p:spPr>
          <a:xfrm>
            <a:off x="215900" y="1125538"/>
            <a:ext cx="8820150" cy="5327650"/>
          </a:xfrm>
        </p:spPr>
        <p:txBody>
          <a:bodyPr vert="horz" wrap="square" lIns="91440" tIns="45720" rIns="91440" bIns="45720" numCol="1" anchor="t" anchorCtr="0" compatLnSpc="1">
            <a:normAutofit fontScale="92500" lnSpcReduction="10000"/>
          </a:bodyPr>
          <a:lstStyle/>
          <a:p>
            <a:pPr marL="357505" marR="0" lvl="0" indent="-35750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语句块用于捕获</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throw</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抛掷的异常对象并处理相应的异常。</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格式为：</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100838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catch (</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 [&lt;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变量</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语句序列</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endPar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100838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用于指出捕获何种异常对象，它与</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throw</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所产生的</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异常对象的类型匹配规则</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与</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函数重载</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的绑定规则类似</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838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变量</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用于存储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捕获到的</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异常对象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它可以缺省，表明</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语句块只关心异常对象的类型，而不考虑具体的异常对象。</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57505" marR="0" lvl="0" indent="-35750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语句块要紧接在某个</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语句的后面。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3"/>
          <p:cNvSpPr>
            <a:spLocks noGrp="1" noChangeArrowheads="1"/>
          </p:cNvSpPr>
          <p:nvPr>
            <p:ph idx="1"/>
          </p:nvPr>
        </p:nvSpPr>
        <p:spPr>
          <a:xfrm>
            <a:off x="144463" y="260350"/>
            <a:ext cx="8891588" cy="6408738"/>
          </a:xfrm>
        </p:spPr>
        <p:txBody>
          <a:bodyPr vert="horz" wrap="square" lIns="91440" tIns="45720" rIns="91440" bIns="45720" numCol="1" anchor="t" anchorCtr="0" compatLnSpc="1"/>
          <a:lstStyle/>
          <a:p>
            <a:pPr marL="365125" marR="0" lvl="0" indent="-36512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filename[100];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请输入文件名：</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filename;</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try</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f(filename);//</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如果在函数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中抛掷了</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类型的异常，</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则程序转到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try</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后面的</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catch(char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处理。</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catch</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(char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不存在</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请重新输入文件名：</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filename;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重新获得一个文件名</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f(filename);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重新调用函数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305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noChangeArrowheads="1"/>
          </p:cNvSpPr>
          <p:nvPr>
            <p:ph idx="1"/>
          </p:nvPr>
        </p:nvSpPr>
        <p:spPr>
          <a:xfrm>
            <a:off x="144463" y="260350"/>
            <a:ext cx="8820150" cy="1008063"/>
          </a:xfrm>
        </p:spPr>
        <p:txBody>
          <a:bodyPr vert="horz" wrap="square" lIns="91440" tIns="45720" rIns="91440" bIns="45720" numCol="1" anchor="t" anchorCtr="0" compatLnSpc="1"/>
          <a:lstStyle/>
          <a:p>
            <a:pPr marL="365125" marR="0" lvl="0" indent="-36512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一个</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语句块的后面可以跟多个</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语句块，用于捕获不同类型的异常对象并进行处理。例如：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20483" name="Text Box 3"/>
          <p:cNvSpPr txBox="1">
            <a:spLocks noChangeArrowheads="1"/>
          </p:cNvSpPr>
          <p:nvPr/>
        </p:nvSpPr>
        <p:spPr bwMode="auto">
          <a:xfrm>
            <a:off x="6338888" y="1484313"/>
            <a:ext cx="2625725" cy="2835275"/>
          </a:xfrm>
          <a:prstGeom prst="rect">
            <a:avLst/>
          </a:prstGeom>
          <a:solidFill>
            <a:schemeClr val="bg2">
              <a:lumMod val="75000"/>
            </a:schemeClr>
          </a:solidFill>
          <a:ln>
            <a:noFill/>
          </a:ln>
          <a:effectLst/>
        </p:spPr>
        <p:txBody>
          <a:bodyPr>
            <a:spAutoFit/>
          </a:bodyPr>
          <a:lstStyle/>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void 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...throw 1;</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...throw 1.0;</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...throw "</a:t>
            </a: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abcd</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20484" name="Text Box 4"/>
          <p:cNvSpPr txBox="1">
            <a:spLocks noChangeArrowheads="1"/>
          </p:cNvSpPr>
          <p:nvPr/>
        </p:nvSpPr>
        <p:spPr bwMode="auto">
          <a:xfrm>
            <a:off x="247650" y="1484313"/>
            <a:ext cx="5837238" cy="4968875"/>
          </a:xfrm>
          <a:prstGeom prst="rect">
            <a:avLst/>
          </a:prstGeom>
          <a:solidFill>
            <a:schemeClr val="bg2">
              <a:lumMod val="75000"/>
            </a:schemeClr>
          </a:solidFill>
          <a:ln>
            <a:noFill/>
          </a:ln>
          <a:effectLst/>
        </p:spPr>
        <p:txBody>
          <a:bodyPr wrap="none">
            <a:spAutoFit/>
          </a:bodyPr>
          <a:lstStyle/>
          <a:p>
            <a:pPr marR="0" defTabSz="914400" eaLnBrk="1" hangingPunct="1">
              <a:buClrTx/>
              <a:buSzTx/>
              <a:buFontTx/>
              <a:buNone/>
              <a:defRPr/>
            </a:pP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g()</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try</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f();</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catch (</a:t>
            </a: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处理函数</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throw 1;</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&lt;</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语句序列</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1&gt;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catch (double) //</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处理函数</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throw 1.0</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&lt;</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语句序列</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2&gt;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catch (char *) //</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处理函数</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中的</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throw "</a:t>
            </a:r>
            <a:r>
              <a:rPr kumimoji="0" lang="en-US" altLang="zh-CN" sz="20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abcd</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&lt;</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语句序列</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3&gt;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&lt;</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非</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a:t>
            </a:r>
            <a:r>
              <a:rPr kumimoji="0" lang="zh-CN" altLang="en-US"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语句</a:t>
            </a: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&gt;</a:t>
            </a:r>
            <a:endPar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US" altLang="zh-CN" sz="20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US" altLang="zh-CN" sz="2000"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Rectangle 3"/>
          <p:cNvSpPr>
            <a:spLocks noGrp="1" noChangeArrowheads="1"/>
          </p:cNvSpPr>
          <p:nvPr>
            <p:ph idx="1"/>
          </p:nvPr>
        </p:nvSpPr>
        <p:spPr>
          <a:xfrm>
            <a:off x="250825" y="1052513"/>
            <a:ext cx="8642350" cy="5184775"/>
          </a:xfrm>
        </p:spPr>
        <p:txBody>
          <a:bodyPr vert="horz" wrap="square" lIns="91440" tIns="45720" rIns="91440" bIns="45720" numCol="1" anchor="t" anchorCtr="0" compatLnSpc="1">
            <a:normAutofit fontScale="85000" lnSpcReduction="10000"/>
          </a:bodyPr>
          <a:lstStyle/>
          <a:p>
            <a:pPr marL="609600" marR="0" lvl="0" indent="-6096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如果</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语句序列</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执行中没有抛掷（</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throw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）异常对象，则其后的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语句不执行，而是继续执行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语句块之后的</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非</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catch</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语句</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609600" marR="0" lvl="0" indent="-6096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如果</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语句序列</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执行中抛掷了（</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throw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）异常对象，</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1009650" marR="0" lvl="1" indent="-60960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如果该</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try</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语句块之后</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有能够捕获该异常对象的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语句，则执行这个</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语句中的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语句序列</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，然后继续执行这个</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语句之后的非</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如果该</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try</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语句块之后</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没有能够捕获该异常对象的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语句，则按</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嵌套</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的</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异常处理</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规则进行处理。</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noChangeArrowheads="1"/>
          </p:cNvSpPr>
          <p:nvPr>
            <p:ph type="title"/>
          </p:nvPr>
        </p:nvSpPr>
        <p:spPr>
          <a:xfrm>
            <a:off x="457200" y="128588"/>
            <a:ext cx="8229600" cy="9239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异常处理的嵌套</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4579" name="Rectangle 3"/>
          <p:cNvSpPr>
            <a:spLocks noGrp="1" noChangeArrowheads="1"/>
          </p:cNvSpPr>
          <p:nvPr>
            <p:ph idx="1"/>
          </p:nvPr>
        </p:nvSpPr>
        <p:spPr>
          <a:xfrm>
            <a:off x="395288" y="1412875"/>
            <a:ext cx="8208963" cy="4968875"/>
          </a:xfrm>
        </p:spPr>
        <p:txBody>
          <a:bodyPr vert="horz" wrap="square" lIns="91440" tIns="45720" rIns="91440" bIns="45720" numCol="1" anchor="t" anchorCtr="0" compatLnSpc="1">
            <a:normAutofit fontScale="85000" lnSpcReduction="20000"/>
          </a:bodyPr>
          <a:lstStyle/>
          <a:p>
            <a:pPr marL="452755" marR="0" lvl="0" indent="-45275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语句是可以嵌套的</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852805" marR="0" lvl="1" indent="-452755"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try</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语句块的语句序列执行过程中还可以包含</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try</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语句块。</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2755" marR="0" lvl="0" indent="-45275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当在内层的</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语句的执行中产生了异常，则首先在内层</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语句块之后的</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语句序列中查找与之匹配的处理，如果内层不存在能捕获相应异常的</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，则逐步向外层进行查找。</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2755" marR="0" lvl="0" indent="-452755"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如果抛掷的异常对象在程序的函数调用链上没有给出捕获，则调用系统的</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terminate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函数进行标准的异常处理。默认情况下，</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terminate</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函数将会去调用</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abort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noChangeArrowheads="1"/>
          </p:cNvSpPr>
          <p:nvPr>
            <p:ph idx="1"/>
          </p:nvPr>
        </p:nvSpPr>
        <p:spPr>
          <a:xfrm>
            <a:off x="323850" y="4078288"/>
            <a:ext cx="8569325" cy="2663825"/>
          </a:xfrm>
          <a:solidFill>
            <a:schemeClr val="bg1"/>
          </a:solidFill>
        </p:spPr>
        <p:txBody>
          <a:bodyPr vert="horz" wrap="square" lIns="91440" tIns="45720" rIns="91440" bIns="45720" numCol="1" anchor="t" anchorCtr="0" compatLnSpc="1"/>
          <a:lstStyle/>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h()</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throw 1;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由</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捕获并处理</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throw "</a:t>
            </a:r>
            <a:r>
              <a:rPr kumimoji="0" lang="en-GB"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abcd</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 //</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由</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f</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捕获并处理</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49580" marR="0" lvl="0" indent="-449580" algn="l" defTabSz="914400" rtl="0" eaLnBrk="1" fontAlgn="base" latinLnBrk="0" hangingPunct="1">
              <a:lnSpc>
                <a:spcPct val="8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25603" name="Text Box 3"/>
          <p:cNvSpPr txBox="1">
            <a:spLocks noChangeArrowheads="1"/>
          </p:cNvSpPr>
          <p:nvPr/>
        </p:nvSpPr>
        <p:spPr bwMode="auto">
          <a:xfrm>
            <a:off x="4787900" y="115888"/>
            <a:ext cx="4248150" cy="34782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void g()</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try</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h();</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catch (</a:t>
            </a:r>
            <a:r>
              <a:rPr kumimoji="0" lang="en-GB" altLang="zh-CN" sz="22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r>
              <a:rPr kumimoji="0" lang="en-US"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throw 2; //</a:t>
            </a:r>
            <a:r>
              <a:rPr kumimoji="0" lang="zh-CN" altLang="en-US"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由</a:t>
            </a:r>
            <a:r>
              <a:rPr kumimoji="0" lang="en-US"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f</a:t>
            </a:r>
            <a:r>
              <a:rPr kumimoji="0" lang="zh-CN" altLang="en-US"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捕获并处理</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25604" name="Text Box 4"/>
          <p:cNvSpPr txBox="1">
            <a:spLocks noChangeArrowheads="1"/>
          </p:cNvSpPr>
          <p:nvPr/>
        </p:nvSpPr>
        <p:spPr bwMode="auto">
          <a:xfrm>
            <a:off x="323850" y="115888"/>
            <a:ext cx="3979863" cy="37766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void f()</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try</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g();</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catch (</a:t>
            </a:r>
            <a:r>
              <a:rPr kumimoji="0" lang="en-GB" altLang="zh-CN" sz="2200" kern="1200" cap="none" spc="0" normalizeH="0" baseline="0" noProof="0" dirty="0" err="1">
                <a:effectLst>
                  <a:outerShdw blurRad="38100" dist="38100" dir="2700000" algn="tl">
                    <a:srgbClr val="000000"/>
                  </a:outerShdw>
                </a:effectLst>
                <a:latin typeface="Verdana" panose="020B0604030504040204" pitchFamily="34" charset="0"/>
                <a:ea typeface="宋体" panose="02010600030101010101" pitchFamily="2" charset="-122"/>
                <a:cs typeface="+mn-cs"/>
              </a:rPr>
              <a:t>int</a:t>
            </a: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catch (char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r>
              <a:rPr kumimoji="0" lang="en-US" altLang="zh-CN" sz="2200"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US" altLang="zh-CN" sz="2200"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noChangeArrowheads="1"/>
          </p:cNvSpPr>
          <p:nvPr>
            <p:ph type="title"/>
          </p:nvPr>
        </p:nvSpPr>
        <p:spPr>
          <a:xfrm>
            <a:off x="457200" y="44450"/>
            <a:ext cx="8229600" cy="919163"/>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例：一种处理除数为</a:t>
            </a: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0</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的异常错误</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8675" name="Rectangle 3"/>
          <p:cNvSpPr>
            <a:spLocks noGrp="1" noChangeArrowheads="1"/>
          </p:cNvSpPr>
          <p:nvPr>
            <p:ph idx="1"/>
          </p:nvPr>
        </p:nvSpPr>
        <p:spPr>
          <a:xfrm>
            <a:off x="457200" y="1125538"/>
            <a:ext cx="8229600" cy="5514975"/>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US"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#include &lt;</a:t>
            </a:r>
            <a:r>
              <a:rPr kumimoji="0" lang="en-US"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iostream</a:t>
            </a:r>
            <a:r>
              <a:rPr kumimoji="0" lang="en-US"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endParaRPr kumimoji="0" lang="en-US"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US"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using namespace </a:t>
            </a:r>
            <a:r>
              <a:rPr kumimoji="0" lang="en-US"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std</a:t>
            </a:r>
            <a:r>
              <a:rPr kumimoji="0" lang="en-US"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fr-FR"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void f() </a:t>
            </a:r>
            <a:r>
              <a:rPr kumimoji="0" lang="en-US"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其中用到两个数相除操作</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a,b</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try</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请输入两个数：</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cin</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a &gt;&gt; b;</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r=divide(</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a,b</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 &lt;&lt; "</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除以</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b &lt;&lt; "</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的商为：</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r &lt;&lt;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endl</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catch(</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除数不能为</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0</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，请重新输入两个数：</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cin</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a &gt;&gt; b;</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r=divide(</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a,b</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1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如果执行中又产生异常，则有</a:t>
            </a:r>
            <a:r>
              <a:rPr kumimoji="0" lang="en-US" altLang="zh-CN" sz="21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f</a:t>
            </a:r>
            <a:r>
              <a:rPr kumimoji="0" lang="zh-CN" altLang="en-US" sz="21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的调用者处理！</a:t>
            </a:r>
            <a:endParaRPr kumimoji="0" lang="en-GB" altLang="zh-CN" sz="21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 &lt;&lt; "</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除以</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b &lt;&lt; "</a:t>
            </a:r>
            <a:r>
              <a:rPr kumimoji="0" lang="zh-CN" altLang="en-GB"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的商为：</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r &lt;&lt; </a:t>
            </a:r>
            <a:r>
              <a:rPr kumimoji="0" lang="en-GB" altLang="zh-CN" sz="21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endl</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1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2" name="TextBox 1"/>
          <p:cNvSpPr txBox="1"/>
          <p:nvPr/>
        </p:nvSpPr>
        <p:spPr>
          <a:xfrm>
            <a:off x="5722938" y="1196975"/>
            <a:ext cx="3097213" cy="1322388"/>
          </a:xfrm>
          <a:prstGeom prst="rect">
            <a:avLst/>
          </a:prstGeom>
          <a:solidFill>
            <a:schemeClr val="bg1">
              <a:lumMod val="50000"/>
            </a:schemeClr>
          </a:solidFill>
        </p:spPr>
        <p:txBody>
          <a:bodyPr>
            <a:spAutoFit/>
          </a:bodyPr>
          <a:lstStyle/>
          <a:p>
            <a:pPr marR="0" defTabSz="914400" eaLnBrk="1" hangingPunct="1">
              <a:buClrTx/>
              <a:buSzTx/>
              <a:buFont typeface="Wingdings" panose="05000000000000000000" pitchFamily="2" charset="2"/>
              <a:buNone/>
              <a:defRPr/>
            </a:pPr>
            <a:r>
              <a:rPr kumimoji="0" lang="fr-FR"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int divide(int x, int y)</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if (y == 0) throw 0;</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return x/y; </a:t>
            </a:r>
            <a:endPar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hangingPunct="1">
              <a:buClrTx/>
              <a:buSzTx/>
              <a:buFont typeface="Wingdings" panose="05000000000000000000" pitchFamily="2" charset="2"/>
              <a:buNone/>
              <a:defRPr/>
            </a:pPr>
            <a:r>
              <a:rPr kumimoji="0" lang="en-GB" altLang="zh-CN" sz="20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a:t>
            </a:r>
            <a:endParaRPr kumimoji="0" lang="zh-CN" altLang="en-US"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9699" name="Rectangle 3"/>
          <p:cNvSpPr>
            <a:spLocks noGrp="1" noChangeArrowheads="1"/>
          </p:cNvSpPr>
          <p:nvPr>
            <p:ph idx="1"/>
          </p:nvPr>
        </p:nvSpPr>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main()</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try</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f();</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catch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请重新运行本程序！</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"&lt;&lt;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endl</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0;</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如何做到程序不终止，一直到获得正确的数据为止？</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60000"/>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前面加上</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loop,catch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里面改为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goto loop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charRg st="89" end="113"/>
                                            </p:txEl>
                                          </p:spTgt>
                                        </p:tgtEl>
                                        <p:attrNameLst>
                                          <p:attrName>style.visibility</p:attrName>
                                        </p:attrNameLst>
                                      </p:cBhvr>
                                      <p:to>
                                        <p:strVal val="visible"/>
                                      </p:to>
                                    </p:set>
                                    <p:anim calcmode="lin" valueType="num">
                                      <p:cBhvr additive="base">
                                        <p:cTn id="7" dur="500" fill="hold"/>
                                        <p:tgtEl>
                                          <p:spTgt spid="29699">
                                            <p:txEl>
                                              <p:charRg st="89" end="1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charRg st="89" end="11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699">
                                            <p:txEl>
                                              <p:charRg st="10" end="10"/>
                                            </p:txEl>
                                          </p:spTgt>
                                        </p:tgtEl>
                                        <p:attrNameLst>
                                          <p:attrName>style.visibility</p:attrName>
                                        </p:attrNameLst>
                                      </p:cBhvr>
                                      <p:to>
                                        <p:strVal val="visible"/>
                                      </p:to>
                                    </p:set>
                                    <p:anim calcmode="lin" valueType="num">
                                      <p:cBhvr additive="base">
                                        <p:cTn id="13" dur="500" fill="hold"/>
                                        <p:tgtEl>
                                          <p:spTgt spid="29699">
                                            <p:txEl>
                                              <p:charRg st="10" end="1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char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有了异常处理机制后，一个函数的对外接口说明：</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除了要包含函数的功能描述以及函数的参数和返回值的含义描述之外，</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还要包含函数可能抛掷的异常（类型和含义）</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异常处理实现机制（示意）</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0723" name="TextBox 3"/>
          <p:cNvSpPr txBox="1"/>
          <p:nvPr/>
        </p:nvSpPr>
        <p:spPr>
          <a:xfrm>
            <a:off x="4398963" y="4943475"/>
            <a:ext cx="266700" cy="369888"/>
          </a:xfrm>
          <a:prstGeom prst="rect">
            <a:avLst/>
          </a:prstGeom>
          <a:solidFill>
            <a:srgbClr val="002060"/>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f</a:t>
            </a:r>
            <a:endParaRPr lang="zh-CN" altLang="en-US" sz="1800" dirty="0"/>
          </a:p>
        </p:txBody>
      </p:sp>
      <p:sp>
        <p:nvSpPr>
          <p:cNvPr id="30724" name="TextBox 4"/>
          <p:cNvSpPr txBox="1"/>
          <p:nvPr/>
        </p:nvSpPr>
        <p:spPr>
          <a:xfrm>
            <a:off x="5942013" y="4933950"/>
            <a:ext cx="328612" cy="369888"/>
          </a:xfrm>
          <a:prstGeom prst="rect">
            <a:avLst/>
          </a:prstGeom>
          <a:solidFill>
            <a:srgbClr val="002060"/>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g</a:t>
            </a:r>
            <a:endParaRPr lang="zh-CN" altLang="en-US" sz="1800" dirty="0"/>
          </a:p>
        </p:txBody>
      </p:sp>
      <p:sp>
        <p:nvSpPr>
          <p:cNvPr id="6" name="TextBox 5"/>
          <p:cNvSpPr txBox="1"/>
          <p:nvPr/>
        </p:nvSpPr>
        <p:spPr>
          <a:xfrm>
            <a:off x="4183063" y="5481638"/>
            <a:ext cx="1362075" cy="922338"/>
          </a:xfrm>
          <a:prstGeom prst="rect">
            <a:avLst/>
          </a:prstGeom>
          <a:solidFill>
            <a:srgbClr val="0070C0"/>
          </a:solidFill>
        </p:spPr>
        <p:txBody>
          <a:bodyPr wrap="none">
            <a:spAutoFit/>
          </a:bodyPr>
          <a:lstStyle/>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30726" name="TextBox 6"/>
          <p:cNvSpPr txBox="1"/>
          <p:nvPr/>
        </p:nvSpPr>
        <p:spPr>
          <a:xfrm>
            <a:off x="7596188" y="4943475"/>
            <a:ext cx="330200" cy="369888"/>
          </a:xfrm>
          <a:prstGeom prst="rect">
            <a:avLst/>
          </a:prstGeom>
          <a:solidFill>
            <a:srgbClr val="002060"/>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h</a:t>
            </a:r>
            <a:endParaRPr lang="zh-CN" altLang="en-US" sz="1800" dirty="0"/>
          </a:p>
        </p:txBody>
      </p:sp>
      <p:sp>
        <p:nvSpPr>
          <p:cNvPr id="9" name="TextBox 8"/>
          <p:cNvSpPr txBox="1"/>
          <p:nvPr/>
        </p:nvSpPr>
        <p:spPr>
          <a:xfrm>
            <a:off x="5815013" y="5483225"/>
            <a:ext cx="1527175" cy="922338"/>
          </a:xfrm>
          <a:prstGeom prst="rect">
            <a:avLst/>
          </a:prstGeom>
          <a:solidFill>
            <a:srgbClr val="0070C0"/>
          </a:solidFill>
        </p:spPr>
        <p:txBody>
          <a:bodyPr wrap="none">
            <a:spAutoFit/>
          </a:bodyPr>
          <a:lstStyle/>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 (...); </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 (...);</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
        <p:nvSpPr>
          <p:cNvPr id="30728" name="TextBox 10"/>
          <p:cNvSpPr txBox="1"/>
          <p:nvPr/>
        </p:nvSpPr>
        <p:spPr>
          <a:xfrm>
            <a:off x="468313" y="4943475"/>
            <a:ext cx="646112" cy="369888"/>
          </a:xfrm>
          <a:prstGeom prst="rect">
            <a:avLst/>
          </a:prstGeom>
          <a:solidFill>
            <a:srgbClr val="002060"/>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1800" dirty="0"/>
              <a:t>系统</a:t>
            </a:r>
            <a:endParaRPr lang="zh-CN" altLang="en-US" sz="1800" dirty="0"/>
          </a:p>
        </p:txBody>
      </p:sp>
      <p:sp>
        <p:nvSpPr>
          <p:cNvPr id="12" name="TextBox 11"/>
          <p:cNvSpPr txBox="1"/>
          <p:nvPr/>
        </p:nvSpPr>
        <p:spPr>
          <a:xfrm>
            <a:off x="323850" y="5481638"/>
            <a:ext cx="1708150" cy="368300"/>
          </a:xfrm>
          <a:prstGeom prst="rect">
            <a:avLst/>
          </a:prstGeom>
          <a:solidFill>
            <a:srgbClr val="0070C0"/>
          </a:solidFill>
        </p:spPr>
        <p:txBody>
          <a:bodyPr wrap="none">
            <a:spAutoFit/>
          </a:bodyPr>
          <a:lstStyle/>
          <a:p>
            <a:pPr marR="0" defTabSz="914400" eaLnBrk="1" hangingPunct="1">
              <a:buClrTx/>
              <a:buSzTx/>
              <a:buFontTx/>
              <a:buNone/>
              <a:defRPr/>
            </a:pPr>
            <a:r>
              <a:rPr kumimoji="0" lang="en-US"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terminate();</a:t>
            </a:r>
            <a:r>
              <a:rPr kumimoji="0" lang="en-US" altLang="zh-CN"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 </a:t>
            </a:r>
            <a:endParaRPr kumimoji="0" lang="en-US" altLang="zh-CN"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p:txBody>
      </p:sp>
      <p:cxnSp>
        <p:nvCxnSpPr>
          <p:cNvPr id="14" name="直接箭头连接符 13"/>
          <p:cNvCxnSpPr/>
          <p:nvPr/>
        </p:nvCxnSpPr>
        <p:spPr>
          <a:xfrm>
            <a:off x="4068763" y="5159375"/>
            <a:ext cx="330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4656138" y="5159375"/>
            <a:ext cx="12541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6311900" y="5159375"/>
            <a:ext cx="125571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33" name="TextBox 16"/>
          <p:cNvSpPr txBox="1"/>
          <p:nvPr/>
        </p:nvSpPr>
        <p:spPr>
          <a:xfrm>
            <a:off x="2371725" y="4943475"/>
            <a:ext cx="757238" cy="369888"/>
          </a:xfrm>
          <a:prstGeom prst="rect">
            <a:avLst/>
          </a:prstGeom>
          <a:solidFill>
            <a:srgbClr val="002060"/>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en-US" altLang="zh-CN" sz="1800" dirty="0"/>
              <a:t>main</a:t>
            </a:r>
            <a:endParaRPr lang="zh-CN" altLang="en-US" sz="1800" dirty="0"/>
          </a:p>
        </p:txBody>
      </p:sp>
      <p:sp>
        <p:nvSpPr>
          <p:cNvPr id="18" name="TextBox 17"/>
          <p:cNvSpPr txBox="1"/>
          <p:nvPr/>
        </p:nvSpPr>
        <p:spPr>
          <a:xfrm>
            <a:off x="2195513" y="5481638"/>
            <a:ext cx="1362075" cy="922338"/>
          </a:xfrm>
          <a:prstGeom prst="rect">
            <a:avLst/>
          </a:prstGeom>
          <a:solidFill>
            <a:srgbClr val="0070C0"/>
          </a:solidFill>
        </p:spPr>
        <p:txBody>
          <a:bodyPr wrap="none">
            <a:spAutoFit/>
          </a:bodyPr>
          <a:lstStyle/>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catch(...);</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cxnSp>
        <p:nvCxnSpPr>
          <p:cNvPr id="19" name="直接箭头连接符 18"/>
          <p:cNvCxnSpPr/>
          <p:nvPr/>
        </p:nvCxnSpPr>
        <p:spPr>
          <a:xfrm>
            <a:off x="1116013" y="5159375"/>
            <a:ext cx="125571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3132138" y="5159375"/>
            <a:ext cx="330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17900" y="5159375"/>
            <a:ext cx="479425"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24" name="内容占位符 2"/>
          <p:cNvSpPr>
            <a:spLocks noGrp="1"/>
          </p:cNvSpPr>
          <p:nvPr>
            <p:ph idx="1"/>
          </p:nvPr>
        </p:nvSpPr>
        <p:spPr>
          <a:xfrm>
            <a:off x="457200" y="1600200"/>
            <a:ext cx="8229600" cy="3052763"/>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执行中的每个函数都</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有</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一个</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表。</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每进入一个</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try</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，都会把其后的所有</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入口地址记录在相应函数的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catch</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表中。</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执行</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throw</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时，</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顺着函数调用链去搜索</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入口；</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对之前函数调用的栈空间进行退栈处理；</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转</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到搜索到的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catch</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入口。</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22" name="TextBox 21"/>
          <p:cNvSpPr txBox="1"/>
          <p:nvPr/>
        </p:nvSpPr>
        <p:spPr>
          <a:xfrm>
            <a:off x="7608888" y="5468938"/>
            <a:ext cx="1284288" cy="1200150"/>
          </a:xfrm>
          <a:prstGeom prst="rect">
            <a:avLst/>
          </a:prstGeom>
          <a:solidFill>
            <a:schemeClr val="tx2">
              <a:lumMod val="50000"/>
            </a:schemeClr>
          </a:solidFill>
        </p:spPr>
        <p:txBody>
          <a:bodyPr wrap="none">
            <a:spAutoFit/>
          </a:bodyPr>
          <a:lstStyle/>
          <a:p>
            <a:pPr marR="0" defTabSz="914400" eaLnBrk="1" hangingPunct="1">
              <a:buClrTx/>
              <a:buSzTx/>
              <a:buFontTx/>
              <a:buNone/>
              <a:defRPr/>
            </a:pPr>
            <a:r>
              <a:rPr kumimoji="0" lang="en-US"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throw ...</a:t>
            </a: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 </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throw ...;</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r>
              <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rPr>
              <a:t>......</a:t>
            </a:r>
            <a:endParaRPr kumimoji="0" lang="en-GB" altLang="zh-CN" kern="1200" cap="none" spc="0" normalizeH="0" baseline="0" noProof="0" dirty="0">
              <a:effectLst>
                <a:outerShdw blurRad="38100" dist="38100" dir="2700000" algn="tl">
                  <a:srgbClr val="000000"/>
                </a:outerShdw>
              </a:effectLst>
              <a:latin typeface="Verdana" panose="020B0604030504040204" pitchFamily="34" charset="0"/>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基于断言的程序调试</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600200"/>
            <a:ext cx="8229600" cy="4924425"/>
          </a:xfrm>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一个处于开发阶段的程序可能会</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含有一些</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错误</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，包括：逻辑错误或异常错误。</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通过测试可以发现程序存在的错误。</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通过</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调试</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可以对错误进行定位。</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常用的调试手段：</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利用调试</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工具：单步执行、设置断点</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程序中的某些地方加上一些输出语句</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，在程序运行时把</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一些</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调试信息</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（如变量的值）</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输出供调试人员分析。</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采用输出调试信息的调试手段存在以下问题：</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调试</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者需要对输出的值做一定的分析才能知道程序是否有错。</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开发结束后</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，去掉</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调试信息有时是一件很繁琐的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工作。</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断言（</a:t>
            </a:r>
            <a:r>
              <a:rPr kumimoji="0" lang="en-US"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assertion</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701800"/>
            <a:ext cx="8229600" cy="5040313"/>
          </a:xfrm>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实际上，在调试程序时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输出程序在一些地方的</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某些变量或表达式的值，其目的是为了</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确认程序运行到这些地方时状态是否正确。</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上述目的可以在</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程序的一些关键或容易</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出错的</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点上插入</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一些</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断言</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来表达</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断言（</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assertion</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）是一个</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逻辑表达式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，它描述了程序执行到断言处应满足的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条件。</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条件满足则程序继续执行下去，否则</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程序异常终止。</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断言的作用：</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帮助对程序进行理解和形式化验证。</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在程序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开发</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阶段，帮助开发者发现</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程序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的错误和进行错误定位。</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宏</a:t>
            </a:r>
            <a:r>
              <a:rPr kumimoji="0" lang="en-US"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assert</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412875"/>
            <a:ext cx="8229600" cy="5068888"/>
          </a:xfrm>
        </p:spPr>
        <p:txBody>
          <a:bodyPr vert="horz" wrap="square" lIns="91440" tIns="45720" rIns="91440" bIns="45720" numCol="1" anchor="t" anchorCtr="0" compatLnSpc="1">
            <a:normAutofit fontScale="92500" lnSpcReduction="10000"/>
          </a:bodyPr>
          <a:lstStyle/>
          <a:p>
            <a:pPr marL="342900" marR="0" lvl="0" indent="-342900" algn="l" defTabSz="914400" rtl="0" eaLnBrk="0" fontAlgn="base" latinLnBrk="0" hangingPunct="0">
              <a:lnSpc>
                <a:spcPct val="11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标准</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库中提供了一</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个宏</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assert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（在头文件</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cassert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或</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assert.h</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中定义</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用来实现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断言。其格式为：</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assert(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一般为一</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个关系</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逻辑表达式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assert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执行时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值为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true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程序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继续</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正常</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执行</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表达式</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值为</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false</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，则它</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会</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首先，显示</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相应</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表达式</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、该</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assert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所在</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源文件名</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以及所在的</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行号</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等诊断</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信息</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然后，调用</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库函数</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abort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终止程序的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运行</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55638"/>
            <a:ext cx="8229600" cy="5868988"/>
          </a:xfrm>
        </p:spPr>
        <p:txBody>
          <a:bodyPr vert="horz" wrap="square" lIns="91440" tIns="45720" rIns="91440" bIns="45720" numCol="1" anchor="t" anchorCtr="0" compatLnSpc="1">
            <a:normAutofit fontScale="85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例如，下面的宏</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assert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调用表示程序执行到该宏调用处变量</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x</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的值应等于</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assert(x == 1);</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当程序执行到该调用处，如果</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x</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的值不等于</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，则它会显示下面的信息并终止程序的运行：</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Assertion failed: x == 1, file XXX, line YYY</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其中的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XXX</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表示相应调用所在的源文件名，</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YYY</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表示调用所在的源程序中的行号。</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assert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也可用于发现异常错误。例如，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divide(</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x,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y)</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assert(y != 0);</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return x/y; </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宏</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assert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的实现</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412875"/>
            <a:ext cx="8229600" cy="5111750"/>
          </a:xfrm>
        </p:spPr>
        <p:txBody>
          <a:bodyPr vert="horz" wrap="square" lIns="91440" tIns="45720" rIns="91440" bIns="45720" numCol="1" anchor="t" anchorCtr="0" compatLnSpc="1">
            <a:normAutofit fontScale="85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宏</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assert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是通过条件编译预处理命令来实现的，其实现细节大致如下：</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cassert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或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assert.h</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ifdef</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NDEBUG</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#define assert(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exp</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((void)0)</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#else</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#define assert(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exp</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exp</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)?(void)0:&lt;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输出诊断信息并调用库函数</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abort&gt;)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endif</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125538"/>
            <a:ext cx="8229600" cy="4032250"/>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宏</a:t>
            </a:r>
            <a:r>
              <a:rPr kumimoji="0" lang="en-US"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assert</a:t>
            </a:r>
            <a:r>
              <a:rPr kumimoji="0" lang="zh-CN"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只有</a:t>
            </a: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在宏</a:t>
            </a:r>
            <a:r>
              <a:rPr kumimoji="0" lang="zh-CN"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名</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NDEBUG</a:t>
            </a:r>
            <a:r>
              <a:rPr kumimoji="0" lang="zh-CN" altLang="en-US"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没定义</a:t>
            </a: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时</a:t>
            </a:r>
            <a:r>
              <a:rPr kumimoji="0" lang="zh-CN"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才有效，这时，程序一般处于开发、测试阶段。程序开发结束提交时，应该让宏名</a:t>
            </a:r>
            <a:r>
              <a:rPr kumimoji="0" lang="en-US"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NDEBUG</a:t>
            </a:r>
            <a:r>
              <a:rPr kumimoji="0" lang="zh-CN"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有定义，然后重新编译程序，这样，</a:t>
            </a:r>
            <a:r>
              <a:rPr kumimoji="0" lang="en-US"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assert</a:t>
            </a:r>
            <a:r>
              <a:rPr kumimoji="0" lang="zh-CN"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就不再有效了</a:t>
            </a:r>
            <a:r>
              <a:rPr kumimoji="0" lang="zh-CN"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zh-CN" sz="32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宏名</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NDEBUG</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rPr>
              <a:t>在哪儿定义？</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在编译命令中指出。例如：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endParaRPr>
          </a:p>
          <a:p>
            <a:pPr marL="457200" marR="0" lvl="1" indent="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uLnTx/>
                <a:uFillTx/>
                <a:latin typeface="+mn-lt"/>
                <a:ea typeface="+mn-ea"/>
              </a:rPr>
              <a:t>   cl </a:t>
            </a:r>
            <a:r>
              <a:rPr kumimoji="0" lang="en-US" altLang="zh-CN" sz="2800" b="0" i="0" u="none" strike="noStrike" kern="0" cap="none" spc="0" normalizeH="0" baseline="0" noProof="0" dirty="0">
                <a:ln>
                  <a:noFill/>
                </a:ln>
                <a:solidFill>
                  <a:schemeClr val="tx1"/>
                </a:solidFill>
                <a:effectLst/>
                <a:uLnTx/>
                <a:uFillTx/>
                <a:latin typeface="+mn-lt"/>
                <a:ea typeface="+mn-ea"/>
              </a:rPr>
              <a:t>&lt;</a:t>
            </a:r>
            <a:r>
              <a:rPr kumimoji="0" lang="zh-CN" altLang="zh-CN" sz="2800" b="0" i="0" u="none" strike="noStrike" kern="0" cap="none" spc="0" normalizeH="0" baseline="0" noProof="0" dirty="0">
                <a:ln>
                  <a:noFill/>
                </a:ln>
                <a:solidFill>
                  <a:schemeClr val="tx1"/>
                </a:solidFill>
                <a:effectLst/>
                <a:uLnTx/>
                <a:uFillTx/>
                <a:latin typeface="+mn-lt"/>
                <a:ea typeface="+mn-ea"/>
              </a:rPr>
              <a:t>源文件</a:t>
            </a:r>
            <a:r>
              <a:rPr kumimoji="0" lang="en-US" altLang="zh-CN" sz="2800" b="0" i="0" u="none" strike="noStrike" kern="0" cap="none" spc="0" normalizeH="0" baseline="0" noProof="0" dirty="0">
                <a:ln>
                  <a:noFill/>
                </a:ln>
                <a:solidFill>
                  <a:schemeClr val="tx1"/>
                </a:solidFill>
                <a:effectLst/>
                <a:uLnTx/>
                <a:uFillTx/>
                <a:latin typeface="+mn-lt"/>
                <a:ea typeface="+mn-ea"/>
              </a:rPr>
              <a:t>1&gt; &lt;</a:t>
            </a:r>
            <a:r>
              <a:rPr kumimoji="0" lang="zh-CN" altLang="zh-CN" sz="2800" b="0" i="0" u="none" strike="noStrike" kern="0" cap="none" spc="0" normalizeH="0" baseline="0" noProof="0" dirty="0">
                <a:ln>
                  <a:noFill/>
                </a:ln>
                <a:solidFill>
                  <a:schemeClr val="tx1"/>
                </a:solidFill>
                <a:effectLst/>
                <a:uLnTx/>
                <a:uFillTx/>
                <a:latin typeface="+mn-lt"/>
                <a:ea typeface="+mn-ea"/>
              </a:rPr>
              <a:t>源文件</a:t>
            </a:r>
            <a:r>
              <a:rPr kumimoji="0" lang="en-US" altLang="zh-CN" sz="2800" b="0" i="0" u="none" strike="noStrike" kern="0" cap="none" spc="0" normalizeH="0" baseline="0" noProof="0" dirty="0">
                <a:ln>
                  <a:noFill/>
                </a:ln>
                <a:solidFill>
                  <a:schemeClr val="tx1"/>
                </a:solidFill>
                <a:effectLst/>
                <a:uLnTx/>
                <a:uFillTx/>
                <a:latin typeface="+mn-lt"/>
                <a:ea typeface="+mn-ea"/>
              </a:rPr>
              <a:t>2&gt; ... </a:t>
            </a:r>
            <a:r>
              <a:rPr kumimoji="0" lang="en-US" altLang="zh-CN" sz="2800" b="0" i="0" u="none" strike="noStrike" kern="0" cap="none" spc="0" normalizeH="0" baseline="0" noProof="0" dirty="0">
                <a:ln>
                  <a:noFill/>
                </a:ln>
                <a:solidFill>
                  <a:srgbClr val="FFC000"/>
                </a:solidFill>
                <a:effectLst/>
                <a:uLnTx/>
                <a:uFillTx/>
                <a:latin typeface="+mn-lt"/>
                <a:ea typeface="+mn-ea"/>
              </a:rPr>
              <a:t>-D</a:t>
            </a:r>
            <a:r>
              <a:rPr kumimoji="0" lang="en-US" altLang="zh-CN" sz="2800" b="0" i="0" u="none" strike="noStrike" kern="0" cap="none" spc="0" normalizeH="0" baseline="0" noProof="0" dirty="0">
                <a:ln>
                  <a:noFill/>
                </a:ln>
                <a:solidFill>
                  <a:schemeClr val="tx1"/>
                </a:solidFill>
                <a:effectLst/>
                <a:uLnTx/>
                <a:uFillTx/>
                <a:latin typeface="+mn-lt"/>
                <a:ea typeface="+mn-ea"/>
              </a:rPr>
              <a:t> </a:t>
            </a:r>
            <a:r>
              <a:rPr kumimoji="0" lang="en-US" altLang="zh-CN" sz="2800" b="0" i="0"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mn-lt"/>
                <a:ea typeface="+mn-ea"/>
              </a:rPr>
              <a:t>NDEBUG</a:t>
            </a:r>
            <a:r>
              <a:rPr kumimoji="0" lang="en-US" altLang="zh-CN" sz="2800" b="0" i="0" u="none" strike="noStrike" kern="0" cap="none" spc="0" normalizeH="0" baseline="0" noProof="0" dirty="0" smtClean="0">
                <a:ln>
                  <a:noFill/>
                </a:ln>
                <a:solidFill>
                  <a:schemeClr val="tx1"/>
                </a:solidFill>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uLnTx/>
                <a:uFillTx/>
                <a:latin typeface="+mn-lt"/>
                <a:ea typeface="+mn-ea"/>
              </a:rPr>
              <a:t>在开发环境中的“</a:t>
            </a:r>
            <a:r>
              <a:rPr kumimoji="0" lang="zh-CN" altLang="en-US" sz="2800" b="0" i="0" u="none" strike="noStrike" kern="0" cap="none" spc="0" normalizeH="0" baseline="0" noProof="0" dirty="0" smtClean="0">
                <a:ln>
                  <a:noFill/>
                </a:ln>
                <a:solidFill>
                  <a:srgbClr val="FFC000"/>
                </a:solidFill>
                <a:effectLst/>
                <a:uLnTx/>
                <a:uFillTx/>
                <a:latin typeface="+mn-lt"/>
                <a:ea typeface="+mn-ea"/>
              </a:rPr>
              <a:t>项目</a:t>
            </a:r>
            <a:r>
              <a:rPr kumimoji="0" lang="en-US" altLang="zh-CN" sz="2800" b="0" i="0" u="none" strike="noStrike" kern="0" cap="none" spc="0" normalizeH="0" baseline="0" noProof="0" dirty="0" smtClean="0">
                <a:ln>
                  <a:noFill/>
                </a:ln>
                <a:solidFill>
                  <a:srgbClr val="FFC000"/>
                </a:solidFill>
                <a:effectLst/>
                <a:uLnTx/>
                <a:uFillTx/>
                <a:latin typeface="+mn-lt"/>
                <a:ea typeface="+mn-ea"/>
              </a:rPr>
              <a:t>|...</a:t>
            </a:r>
            <a:r>
              <a:rPr kumimoji="0" lang="zh-CN" altLang="en-US" sz="2800" b="0" i="0" u="none" strike="noStrike" kern="0" cap="none" spc="0" normalizeH="0" baseline="0" noProof="0" dirty="0" smtClean="0">
                <a:ln>
                  <a:noFill/>
                </a:ln>
                <a:solidFill>
                  <a:srgbClr val="FFC000"/>
                </a:solidFill>
                <a:effectLst/>
                <a:uLnTx/>
                <a:uFillTx/>
                <a:latin typeface="+mn-lt"/>
                <a:ea typeface="+mn-ea"/>
              </a:rPr>
              <a:t>属性</a:t>
            </a:r>
            <a:r>
              <a:rPr kumimoji="0" lang="en-US" altLang="zh-CN" sz="2800" b="0" i="0" u="none" strike="noStrike" kern="0" cap="none" spc="0" normalizeH="0" baseline="0" noProof="0" dirty="0" smtClean="0">
                <a:ln>
                  <a:noFill/>
                </a:ln>
                <a:solidFill>
                  <a:srgbClr val="FFC000"/>
                </a:solidFill>
                <a:effectLst/>
                <a:uLnTx/>
                <a:uFillTx/>
                <a:latin typeface="+mn-lt"/>
                <a:ea typeface="+mn-ea"/>
              </a:rPr>
              <a:t>|C</a:t>
            </a:r>
            <a:r>
              <a:rPr kumimoji="0" lang="en-US" altLang="zh-CN" sz="2800" b="0" i="0" u="none" strike="noStrike" kern="0" cap="none" spc="0" normalizeH="0" baseline="0" noProof="0" dirty="0">
                <a:ln>
                  <a:noFill/>
                </a:ln>
                <a:solidFill>
                  <a:srgbClr val="FFC000"/>
                </a:solidFill>
                <a:effectLst/>
                <a:uLnTx/>
                <a:uFillTx/>
                <a:latin typeface="+mn-lt"/>
                <a:ea typeface="+mn-ea"/>
              </a:rPr>
              <a:t>/</a:t>
            </a:r>
            <a:r>
              <a:rPr kumimoji="0" lang="en-US" altLang="zh-CN" sz="2800" b="0" i="0" u="none" strike="noStrike" kern="0" cap="none" spc="0" normalizeH="0" baseline="0" noProof="0" dirty="0" smtClean="0">
                <a:ln>
                  <a:noFill/>
                </a:ln>
                <a:solidFill>
                  <a:srgbClr val="FFC000"/>
                </a:solidFill>
                <a:effectLst/>
                <a:uLnTx/>
                <a:uFillTx/>
                <a:latin typeface="+mn-lt"/>
                <a:ea typeface="+mn-ea"/>
              </a:rPr>
              <a:t>C++|</a:t>
            </a:r>
            <a:r>
              <a:rPr kumimoji="0" lang="zh-CN" altLang="en-US" sz="2800" b="0" i="0" u="none" strike="noStrike" kern="0" cap="none" spc="0" normalizeH="0" baseline="0" noProof="0" dirty="0" smtClean="0">
                <a:ln>
                  <a:noFill/>
                </a:ln>
                <a:solidFill>
                  <a:srgbClr val="FFC000"/>
                </a:solidFill>
                <a:effectLst/>
                <a:uLnTx/>
                <a:uFillTx/>
                <a:latin typeface="+mn-lt"/>
                <a:ea typeface="+mn-ea"/>
              </a:rPr>
              <a:t>预处理器</a:t>
            </a:r>
            <a:r>
              <a:rPr kumimoji="0" lang="en-US" altLang="zh-CN" sz="2800" b="0" i="0" u="none" strike="noStrike" kern="0" cap="none" spc="0" normalizeH="0" baseline="0" noProof="0" dirty="0" smtClean="0">
                <a:ln>
                  <a:noFill/>
                </a:ln>
                <a:solidFill>
                  <a:srgbClr val="FFC000"/>
                </a:solidFill>
                <a:effectLst/>
                <a:uLnTx/>
                <a:uFillTx/>
                <a:latin typeface="+mn-lt"/>
                <a:ea typeface="+mn-ea"/>
              </a:rPr>
              <a:t>|</a:t>
            </a:r>
            <a:r>
              <a:rPr kumimoji="0" lang="zh-CN" altLang="en-US" sz="2800" b="0" i="0" u="none" strike="noStrike" kern="0" cap="none" spc="0" normalizeH="0" baseline="0" noProof="0" dirty="0" smtClean="0">
                <a:ln>
                  <a:noFill/>
                </a:ln>
                <a:solidFill>
                  <a:srgbClr val="FFC000"/>
                </a:solidFill>
                <a:effectLst/>
                <a:uLnTx/>
                <a:uFillTx/>
                <a:latin typeface="+mn-lt"/>
                <a:ea typeface="+mn-ea"/>
              </a:rPr>
              <a:t>预处理器定义</a:t>
            </a:r>
            <a:r>
              <a:rPr kumimoji="0" lang="zh-CN" altLang="en-US" sz="2800" b="0" i="0" u="none" strike="noStrike" kern="0" cap="none" spc="0" normalizeH="0" baseline="0" noProof="0" dirty="0" smtClean="0">
                <a:ln>
                  <a:noFill/>
                </a:ln>
                <a:solidFill>
                  <a:schemeClr val="tx1"/>
                </a:solidFill>
                <a:effectLst/>
                <a:uLnTx/>
                <a:uFillTx/>
                <a:latin typeface="+mn-lt"/>
                <a:ea typeface="+mn-ea"/>
              </a:rPr>
              <a:t>”中指出。（</a:t>
            </a:r>
            <a:r>
              <a:rPr kumimoji="0" lang="en-US" altLang="zh-CN" sz="2800" b="0" i="0" u="none" strike="noStrike" kern="0" cap="none" spc="0" normalizeH="0" baseline="0" noProof="0" dirty="0" smtClean="0">
                <a:ln>
                  <a:noFill/>
                </a:ln>
                <a:solidFill>
                  <a:schemeClr val="tx1"/>
                </a:solidFill>
                <a:effectLst/>
                <a:uLnTx/>
                <a:uFillTx/>
                <a:latin typeface="+mn-lt"/>
                <a:ea typeface="+mn-ea"/>
              </a:rPr>
              <a:t>VC++2015</a:t>
            </a:r>
            <a:r>
              <a:rPr kumimoji="0" lang="zh-CN" altLang="en-US" sz="2800" b="0" i="0" u="none" strike="noStrike" kern="0" cap="none" spc="0" normalizeH="0" baseline="0" noProof="0" dirty="0" smtClean="0">
                <a:ln>
                  <a:noFill/>
                </a:ln>
                <a:solidFill>
                  <a:schemeClr val="tx1"/>
                </a:solidFill>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94" end="109"/>
                                            </p:txEl>
                                          </p:spTgt>
                                        </p:tgtEl>
                                        <p:attrNameLst>
                                          <p:attrName>style.visibility</p:attrName>
                                        </p:attrNameLst>
                                      </p:cBhvr>
                                      <p:to>
                                        <p:strVal val="visible"/>
                                      </p:to>
                                    </p:set>
                                    <p:anim calcmode="lin" valueType="num">
                                      <p:cBhvr additive="base">
                                        <p:cTn id="7" dur="500" fill="hold"/>
                                        <p:tgtEl>
                                          <p:spTgt spid="3">
                                            <p:txEl>
                                              <p:charRg st="94" end="10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94" end="10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charRg st="109" end="122"/>
                                            </p:txEl>
                                          </p:spTgt>
                                        </p:tgtEl>
                                        <p:attrNameLst>
                                          <p:attrName>style.visibility</p:attrName>
                                        </p:attrNameLst>
                                      </p:cBhvr>
                                      <p:to>
                                        <p:strVal val="visible"/>
                                      </p:to>
                                    </p:set>
                                    <p:anim calcmode="lin" valueType="num">
                                      <p:cBhvr additive="base">
                                        <p:cTn id="13" dur="500" fill="hold"/>
                                        <p:tgtEl>
                                          <p:spTgt spid="3">
                                            <p:txEl>
                                              <p:charRg st="109" end="12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109" end="12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charRg st="122" end="160"/>
                                            </p:txEl>
                                          </p:spTgt>
                                        </p:tgtEl>
                                        <p:attrNameLst>
                                          <p:attrName>style.visibility</p:attrName>
                                        </p:attrNameLst>
                                      </p:cBhvr>
                                      <p:to>
                                        <p:strVal val="visible"/>
                                      </p:to>
                                    </p:set>
                                    <p:anim calcmode="lin" valueType="num">
                                      <p:cBhvr additive="base">
                                        <p:cTn id="17" dur="500" fill="hold"/>
                                        <p:tgtEl>
                                          <p:spTgt spid="3">
                                            <p:txEl>
                                              <p:charRg st="122" end="16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charRg st="122" end="16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charRg st="160" end="210"/>
                                            </p:txEl>
                                          </p:spTgt>
                                        </p:tgtEl>
                                        <p:attrNameLst>
                                          <p:attrName>style.visibility</p:attrName>
                                        </p:attrNameLst>
                                      </p:cBhvr>
                                      <p:to>
                                        <p:strVal val="visible"/>
                                      </p:to>
                                    </p:set>
                                    <p:anim calcmode="lin" valueType="num">
                                      <p:cBhvr additive="base">
                                        <p:cTn id="23" dur="500" fill="hold"/>
                                        <p:tgtEl>
                                          <p:spTgt spid="3">
                                            <p:txEl>
                                              <p:charRg st="160" end="2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charRg st="160" end="2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Picture 2"/>
          <p:cNvPicPr>
            <a:picLocks noChangeAspect="1"/>
          </p:cNvPicPr>
          <p:nvPr/>
        </p:nvPicPr>
        <p:blipFill>
          <a:blip r:embed="rId1"/>
          <a:stretch>
            <a:fillRect/>
          </a:stretch>
        </p:blipFill>
        <p:spPr>
          <a:xfrm>
            <a:off x="468313" y="1909763"/>
            <a:ext cx="7872412" cy="4398962"/>
          </a:xfrm>
          <a:prstGeom prst="rect">
            <a:avLst/>
          </a:prstGeom>
          <a:noFill/>
          <a:ln w="9525">
            <a:noFill/>
          </a:ln>
        </p:spPr>
      </p:pic>
      <p:pic>
        <p:nvPicPr>
          <p:cNvPr id="37891" name="Picture 4"/>
          <p:cNvPicPr>
            <a:picLocks noChangeAspect="1"/>
          </p:cNvPicPr>
          <p:nvPr/>
        </p:nvPicPr>
        <p:blipFill>
          <a:blip r:embed="rId2"/>
          <a:stretch>
            <a:fillRect/>
          </a:stretch>
        </p:blipFill>
        <p:spPr>
          <a:xfrm>
            <a:off x="468313" y="490538"/>
            <a:ext cx="5524500" cy="1066800"/>
          </a:xfrm>
          <a:prstGeom prst="rect">
            <a:avLst/>
          </a:prstGeom>
          <a:noFill/>
          <a:ln w="9525">
            <a:noFill/>
          </a:ln>
        </p:spPr>
      </p:pic>
    </p:spTree>
  </p:cSld>
  <p:clrMapOvr>
    <a:masterClrMapping/>
  </p:clrMapOvr>
</p:sld>
</file>

<file path=ppt/tags/tag1.xml><?xml version="1.0" encoding="utf-8"?>
<p:tagLst xmlns:p="http://schemas.openxmlformats.org/presentationml/2006/main">
  <p:tag name="commondata" val="eyJoZGlkIjoiMGMwOGI0MDFlOGUxOGFhOGQ1Y2FmODNlN2E0MWRhYjIifQ=="/>
</p:tagLst>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6246</Words>
  <Application>WPS 演示</Application>
  <PresentationFormat>全屏显示(4:3)</PresentationFormat>
  <Paragraphs>419</Paragraphs>
  <Slides>35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Arial</vt:lpstr>
      <vt:lpstr>宋体</vt:lpstr>
      <vt:lpstr>Wingdings</vt:lpstr>
      <vt:lpstr>Verdana</vt:lpstr>
      <vt:lpstr>微软雅黑</vt:lpstr>
      <vt:lpstr>Arial Unicode MS</vt:lpstr>
      <vt:lpstr>Calibri</vt:lpstr>
      <vt:lpstr>Arial</vt:lpstr>
      <vt:lpstr>Globe</vt:lpstr>
      <vt:lpstr>异常处理</vt:lpstr>
      <vt:lpstr>主要内容</vt:lpstr>
      <vt:lpstr>异常概述</vt:lpstr>
      <vt:lpstr>PowerPoint 演示文稿</vt:lpstr>
      <vt:lpstr>PowerPoint 演示文稿</vt:lpstr>
      <vt:lpstr>PowerPoint 演示文稿</vt:lpstr>
      <vt:lpstr>异常处理的策略</vt:lpstr>
      <vt:lpstr>异常的就地处理</vt:lpstr>
      <vt:lpstr>PowerPoint 演示文稿</vt:lpstr>
      <vt:lpstr>异常的异地处理</vt:lpstr>
      <vt:lpstr>PowerPoint 演示文稿</vt:lpstr>
      <vt:lpstr>PowerPoint 演示文稿</vt:lpstr>
      <vt:lpstr>PowerPoint 演示文稿</vt:lpstr>
      <vt:lpstr>PowerPoint 演示文稿</vt:lpstr>
      <vt:lpstr>C++结构化异常处理机制</vt:lpstr>
      <vt:lpstr>PowerPoint 演示文稿</vt:lpstr>
      <vt:lpstr>try语句</vt:lpstr>
      <vt:lpstr>throw语句</vt:lpstr>
      <vt:lpstr>catch语句</vt:lpstr>
      <vt:lpstr>PowerPoint 演示文稿</vt:lpstr>
      <vt:lpstr>PowerPoint 演示文稿</vt:lpstr>
      <vt:lpstr>PowerPoint 演示文稿</vt:lpstr>
      <vt:lpstr>异常处理的嵌套 </vt:lpstr>
      <vt:lpstr>PowerPoint 演示文稿</vt:lpstr>
      <vt:lpstr>例：一种处理除数为0的异常错误</vt:lpstr>
      <vt:lpstr>PowerPoint 演示文稿</vt:lpstr>
      <vt:lpstr>PowerPoint 演示文稿</vt:lpstr>
      <vt:lpstr>异常处理实现机制（示意）</vt:lpstr>
      <vt:lpstr>基于断言的程序调试</vt:lpstr>
      <vt:lpstr>断言（assertion）</vt:lpstr>
      <vt:lpstr>宏assert</vt:lpstr>
      <vt:lpstr>PowerPoint 演示文稿</vt:lpstr>
      <vt:lpstr>宏assert的实现</vt:lpstr>
      <vt:lpstr>PowerPoint 演示文稿</vt:lpstr>
      <vt:lpstr>PowerPoint 演示文稿</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第十一章 异常处理</dc:title>
  <dc:creator>chenjiajun</dc:creator>
  <cp:lastModifiedBy>Ethereal_YC</cp:lastModifiedBy>
  <cp:revision>140</cp:revision>
  <dcterms:created xsi:type="dcterms:W3CDTF">2005-01-07T00:40:00Z</dcterms:created>
  <dcterms:modified xsi:type="dcterms:W3CDTF">2023-11-27T09:24:34Z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D93EFEA09B6A45489D5E908E3242D362_13</vt:lpwstr>
  </property>
  <property fmtid="{D5CDD505-2E9C-101B-9397-08002B2CF9AE}" pid="3" name="KSOProductBuildVer">
    <vt:lpwstr>2052-12.1.0.15990</vt:lpwstr>
  </property>
</Properties>
</file>
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573" r:id="rId3"/>
    <p:sldId id="572" r:id="rId4"/>
    <p:sldId id="726" r:id="rId5"/>
    <p:sldId id="731" r:id="rId6"/>
    <p:sldId id="574" r:id="rId7"/>
    <p:sldId id="575" r:id="rId8"/>
    <p:sldId id="577" r:id="rId9"/>
    <p:sldId id="730" r:id="rId10"/>
    <p:sldId id="578" r:id="rId11"/>
    <p:sldId id="579" r:id="rId12"/>
    <p:sldId id="580" r:id="rId13"/>
    <p:sldId id="584" r:id="rId14"/>
    <p:sldId id="585" r:id="rId15"/>
    <p:sldId id="586" r:id="rId16"/>
    <p:sldId id="657" r:id="rId17"/>
    <p:sldId id="656" r:id="rId18"/>
    <p:sldId id="587" r:id="rId19"/>
    <p:sldId id="721" r:id="rId20"/>
    <p:sldId id="700" r:id="rId21"/>
    <p:sldId id="701" r:id="rId22"/>
    <p:sldId id="702" r:id="rId23"/>
    <p:sldId id="678" r:id="rId24"/>
    <p:sldId id="733" r:id="rId25"/>
    <p:sldId id="679" r:id="rId26"/>
    <p:sldId id="680" r:id="rId27"/>
    <p:sldId id="729" r:id="rId28"/>
    <p:sldId id="665" r:id="rId29"/>
    <p:sldId id="709" r:id="rId30"/>
    <p:sldId id="727" r:id="rId31"/>
    <p:sldId id="673" r:id="rId32"/>
    <p:sldId id="717" r:id="rId33"/>
    <p:sldId id="718" r:id="rId34"/>
    <p:sldId id="725" r:id="rId35"/>
    <p:sldId id="719" r:id="rId36"/>
    <p:sldId id="720" r:id="rId37"/>
    <p:sldId id="724" r:id="rId38"/>
    <p:sldId id="723" r:id="rId39"/>
    <p:sldId id="722" r:id="rId40"/>
    <p:sldId id="600" r:id="rId41"/>
    <p:sldId id="601" r:id="rId42"/>
    <p:sldId id="728" r:id="rId43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66"/>
    <a:srgbClr val="FFFF66"/>
    <a:srgbClr val="FF9966"/>
    <a:srgbClr val="00CC66"/>
    <a:srgbClr val="00CC00"/>
    <a:srgbClr val="99CCFF"/>
    <a:srgbClr val="66FFF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6"/>
    <p:restoredTop sz="94718"/>
  </p:normalViewPr>
  <p:slideViewPr>
    <p:cSldViewPr showGuides="1">
      <p:cViewPr varScale="1">
        <p:scale>
          <a:sx n="87" d="100"/>
          <a:sy n="87" d="100"/>
        </p:scale>
        <p:origin x="773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notesMaster" Target="notesMasters/notesMaster1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700D666-CCA7-45C9-A2D0-B19CF2A1C8FB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gradFill rotWithShape="0">
          <a:gsLst>
            <a:gs pos="0">
              <a:srgbClr val="003366"/>
            </a:gs>
            <a:gs pos="100000">
              <a:srgbClr val="001D3B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1" name="Group 2"/>
          <p:cNvGrpSpPr/>
          <p:nvPr/>
        </p:nvGrpSpPr>
        <p:grpSpPr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45" name="Freeform 3"/>
            <p:cNvSpPr/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Freeform 4"/>
            <p:cNvSpPr/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Freeform 5"/>
            <p:cNvSpPr/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60" name="Group 6"/>
            <p:cNvGrpSpPr/>
            <p:nvPr/>
          </p:nvGrpSpPr>
          <p:grpSpPr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68" name="Freeform 7"/>
              <p:cNvSpPr/>
              <p:nvPr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9" name="Freeform 8"/>
              <p:cNvSpPr/>
              <p:nvPr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" name="Freeform 9"/>
              <p:cNvSpPr/>
              <p:nvPr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1" name="Freeform 10"/>
              <p:cNvSpPr/>
              <p:nvPr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2" name="Freeform 11"/>
              <p:cNvSpPr/>
              <p:nvPr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3" name="Freeform 12"/>
              <p:cNvSpPr/>
              <p:nvPr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4" name="Freeform 13"/>
              <p:cNvSpPr/>
              <p:nvPr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5" name="Freeform 14"/>
              <p:cNvSpPr/>
              <p:nvPr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6" name="Freeform 15"/>
              <p:cNvSpPr/>
              <p:nvPr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7" name="Freeform 16"/>
              <p:cNvSpPr/>
              <p:nvPr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8" name="Freeform 17"/>
              <p:cNvSpPr/>
              <p:nvPr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9" name="Freeform 18"/>
              <p:cNvSpPr/>
              <p:nvPr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0" name="Freeform 19"/>
              <p:cNvSpPr/>
              <p:nvPr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9" name="Freeform 20"/>
            <p:cNvSpPr/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Freeform 21"/>
            <p:cNvSpPr/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Freeform 22"/>
            <p:cNvSpPr/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4" name="Freeform 23"/>
            <p:cNvSpPr/>
            <p:nvPr/>
          </p:nvSpPr>
          <p:spPr>
            <a:xfrm>
              <a:off x="5041" y="0"/>
              <a:ext cx="719" cy="845"/>
            </a:xfrm>
            <a:custGeom>
              <a:avLst/>
              <a:gdLst/>
              <a:ahLst/>
              <a:cxnLst>
                <a:cxn ang="0">
                  <a:pos x="981" y="845"/>
                </a:cxn>
                <a:cxn ang="0">
                  <a:pos x="981" y="821"/>
                </a:cxn>
                <a:cxn ang="0">
                  <a:pos x="810" y="605"/>
                </a:cxn>
                <a:cxn ang="0">
                  <a:pos x="524" y="396"/>
                </a:cxn>
                <a:cxn ang="0">
                  <a:pos x="339" y="192"/>
                </a:cxn>
                <a:cxn ang="0">
                  <a:pos x="17" y="0"/>
                </a:cxn>
                <a:cxn ang="0">
                  <a:pos x="0" y="0"/>
                </a:cxn>
                <a:cxn ang="0">
                  <a:pos x="327" y="198"/>
                </a:cxn>
                <a:cxn ang="0">
                  <a:pos x="518" y="408"/>
                </a:cxn>
                <a:cxn ang="0">
                  <a:pos x="804" y="623"/>
                </a:cxn>
                <a:cxn ang="0">
                  <a:pos x="981" y="845"/>
                </a:cxn>
                <a:cxn ang="0">
                  <a:pos x="981" y="845"/>
                </a:cxn>
              </a:cxnLst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5" name="Freeform 24"/>
            <p:cNvSpPr/>
            <p:nvPr/>
          </p:nvSpPr>
          <p:spPr>
            <a:xfrm>
              <a:off x="5352" y="0"/>
              <a:ext cx="408" cy="414"/>
            </a:xfrm>
            <a:custGeom>
              <a:avLst/>
              <a:gdLst/>
              <a:ahLst/>
              <a:cxnLst>
                <a:cxn ang="0">
                  <a:pos x="525" y="414"/>
                </a:cxn>
                <a:cxn ang="0">
                  <a:pos x="525" y="396"/>
                </a:cxn>
                <a:cxn ang="0">
                  <a:pos x="340" y="192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08" y="102"/>
                </a:cxn>
                <a:cxn ang="0">
                  <a:pos x="334" y="204"/>
                </a:cxn>
                <a:cxn ang="0">
                  <a:pos x="525" y="414"/>
                </a:cxn>
                <a:cxn ang="0">
                  <a:pos x="525" y="414"/>
                </a:cxn>
              </a:cxnLst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" name="Freeform 25"/>
            <p:cNvSpPr/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7" name="Freeform 26"/>
            <p:cNvSpPr/>
            <p:nvPr/>
          </p:nvSpPr>
          <p:spPr>
            <a:xfrm>
              <a:off x="6" y="0"/>
              <a:ext cx="588" cy="599"/>
            </a:xfrm>
            <a:custGeom>
              <a:avLst/>
              <a:gdLst/>
              <a:ahLst/>
              <a:cxnLst>
                <a:cxn ang="0">
                  <a:pos x="866" y="0"/>
                </a:cxn>
                <a:cxn ang="0">
                  <a:pos x="839" y="0"/>
                </a:cxn>
                <a:cxn ang="0">
                  <a:pos x="610" y="132"/>
                </a:cxn>
                <a:cxn ang="0">
                  <a:pos x="375" y="270"/>
                </a:cxn>
                <a:cxn ang="0">
                  <a:pos x="120" y="420"/>
                </a:cxn>
                <a:cxn ang="0">
                  <a:pos x="0" y="575"/>
                </a:cxn>
                <a:cxn ang="0">
                  <a:pos x="0" y="599"/>
                </a:cxn>
                <a:cxn ang="0">
                  <a:pos x="120" y="432"/>
                </a:cxn>
                <a:cxn ang="0">
                  <a:pos x="375" y="282"/>
                </a:cxn>
                <a:cxn ang="0">
                  <a:pos x="622" y="138"/>
                </a:cxn>
                <a:cxn ang="0">
                  <a:pos x="866" y="0"/>
                </a:cxn>
                <a:cxn ang="0">
                  <a:pos x="866" y="0"/>
                </a:cxn>
              </a:cxnLst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8" name="Freeform 27"/>
            <p:cNvSpPr/>
            <p:nvPr/>
          </p:nvSpPr>
          <p:spPr>
            <a:xfrm>
              <a:off x="6" y="0"/>
              <a:ext cx="270" cy="252"/>
            </a:xfrm>
            <a:custGeom>
              <a:avLst/>
              <a:gdLst/>
              <a:ahLst/>
              <a:cxnLst>
                <a:cxn ang="0">
                  <a:pos x="387" y="0"/>
                </a:cxn>
                <a:cxn ang="0">
                  <a:pos x="369" y="0"/>
                </a:cxn>
                <a:cxn ang="0">
                  <a:pos x="120" y="114"/>
                </a:cxn>
                <a:cxn ang="0">
                  <a:pos x="60" y="174"/>
                </a:cxn>
                <a:cxn ang="0">
                  <a:pos x="0" y="234"/>
                </a:cxn>
                <a:cxn ang="0">
                  <a:pos x="0" y="252"/>
                </a:cxn>
                <a:cxn ang="0">
                  <a:pos x="126" y="120"/>
                </a:cxn>
                <a:cxn ang="0">
                  <a:pos x="387" y="0"/>
                </a:cxn>
                <a:cxn ang="0">
                  <a:pos x="387" y="0"/>
                </a:cxn>
              </a:cxnLst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9" name="Line 28"/>
            <p:cNvSpPr/>
            <p:nvPr/>
          </p:nvSpPr>
          <p:spPr>
            <a:xfrm>
              <a:off x="1" y="2749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0" name="Line 29"/>
            <p:cNvSpPr/>
            <p:nvPr/>
          </p:nvSpPr>
          <p:spPr>
            <a:xfrm>
              <a:off x="1" y="2356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1" name="Line 30"/>
            <p:cNvSpPr/>
            <p:nvPr/>
          </p:nvSpPr>
          <p:spPr>
            <a:xfrm>
              <a:off x="1" y="3142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072" name="Group 31"/>
            <p:cNvGrpSpPr/>
            <p:nvPr/>
          </p:nvGrpSpPr>
          <p:grpSpPr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075" name="Line 32"/>
              <p:cNvSpPr/>
              <p:nvPr userDrawn="1"/>
            </p:nvSpPr>
            <p:spPr>
              <a:xfrm>
                <a:off x="1" y="784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6" name="Line 33"/>
              <p:cNvSpPr/>
              <p:nvPr userDrawn="1"/>
            </p:nvSpPr>
            <p:spPr>
              <a:xfrm>
                <a:off x="1" y="1963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7" name="Line 34"/>
              <p:cNvSpPr/>
              <p:nvPr userDrawn="1"/>
            </p:nvSpPr>
            <p:spPr>
              <a:xfrm>
                <a:off x="1" y="1570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8" name="Line 35"/>
              <p:cNvSpPr/>
              <p:nvPr userDrawn="1"/>
            </p:nvSpPr>
            <p:spPr>
              <a:xfrm>
                <a:off x="1" y="1177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9" name="Line 36"/>
              <p:cNvSpPr/>
              <p:nvPr userDrawn="1"/>
            </p:nvSpPr>
            <p:spPr>
              <a:xfrm>
                <a:off x="1" y="392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073" name="Line 37"/>
            <p:cNvSpPr/>
            <p:nvPr/>
          </p:nvSpPr>
          <p:spPr>
            <a:xfrm>
              <a:off x="1" y="3928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4" name="Line 38"/>
            <p:cNvSpPr/>
            <p:nvPr/>
          </p:nvSpPr>
          <p:spPr>
            <a:xfrm>
              <a:off x="1" y="3535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00423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00424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81" name="Rectangle 41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" name="Rectangle 4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3" name="Rectangle 4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B6E1BC6-93C9-4EF4-B476-42A11B9F8C43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2CB5353-D370-47DA-A1B7-770641A0E787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2CB5353-D370-47DA-A1B7-770641A0E787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2CB5353-D370-47DA-A1B7-770641A0E787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2CB5353-D370-47DA-A1B7-770641A0E787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2CB5353-D370-47DA-A1B7-770641A0E787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2CB5353-D370-47DA-A1B7-770641A0E787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2CB5353-D370-47DA-A1B7-770641A0E787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2CB5353-D370-47DA-A1B7-770641A0E787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2CB5353-D370-47DA-A1B7-770641A0E787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2CB5353-D370-47DA-A1B7-770641A0E787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2CB5353-D370-47DA-A1B7-770641A0E787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2CB5353-D370-47DA-A1B7-770641A0E787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3366"/>
            </a:gs>
            <a:gs pos="100000">
              <a:srgbClr val="001D3B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/>
          <p:nvPr/>
        </p:nvGrpSpPr>
        <p:grpSpPr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399363" name="Freeform 3"/>
            <p:cNvSpPr/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364" name="Freeform 4"/>
            <p:cNvSpPr/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365" name="Freeform 5"/>
            <p:cNvSpPr/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35" name="Group 6"/>
            <p:cNvGrpSpPr/>
            <p:nvPr/>
          </p:nvGrpSpPr>
          <p:grpSpPr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399367" name="Freeform 7"/>
              <p:cNvSpPr/>
              <p:nvPr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368" name="Freeform 8"/>
              <p:cNvSpPr/>
              <p:nvPr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369" name="Freeform 9"/>
              <p:cNvSpPr/>
              <p:nvPr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370" name="Freeform 10"/>
              <p:cNvSpPr/>
              <p:nvPr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371" name="Freeform 11"/>
              <p:cNvSpPr/>
              <p:nvPr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372" name="Freeform 12"/>
              <p:cNvSpPr/>
              <p:nvPr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373" name="Freeform 13"/>
              <p:cNvSpPr/>
              <p:nvPr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374" name="Freeform 14"/>
              <p:cNvSpPr/>
              <p:nvPr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375" name="Freeform 15"/>
              <p:cNvSpPr/>
              <p:nvPr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376" name="Freeform 16"/>
              <p:cNvSpPr/>
              <p:nvPr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377" name="Freeform 17"/>
              <p:cNvSpPr/>
              <p:nvPr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378" name="Freeform 18"/>
              <p:cNvSpPr/>
              <p:nvPr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379" name="Freeform 19"/>
              <p:cNvSpPr/>
              <p:nvPr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99380" name="Freeform 20"/>
            <p:cNvSpPr/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381" name="Freeform 21"/>
            <p:cNvSpPr/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382" name="Freeform 22"/>
            <p:cNvSpPr/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9" name="Freeform 23"/>
            <p:cNvSpPr/>
            <p:nvPr/>
          </p:nvSpPr>
          <p:spPr>
            <a:xfrm>
              <a:off x="5041" y="0"/>
              <a:ext cx="719" cy="845"/>
            </a:xfrm>
            <a:custGeom>
              <a:avLst/>
              <a:gdLst/>
              <a:ahLst/>
              <a:cxnLst>
                <a:cxn ang="0">
                  <a:pos x="981" y="845"/>
                </a:cxn>
                <a:cxn ang="0">
                  <a:pos x="981" y="821"/>
                </a:cxn>
                <a:cxn ang="0">
                  <a:pos x="810" y="605"/>
                </a:cxn>
                <a:cxn ang="0">
                  <a:pos x="524" y="396"/>
                </a:cxn>
                <a:cxn ang="0">
                  <a:pos x="339" y="192"/>
                </a:cxn>
                <a:cxn ang="0">
                  <a:pos x="17" y="0"/>
                </a:cxn>
                <a:cxn ang="0">
                  <a:pos x="0" y="0"/>
                </a:cxn>
                <a:cxn ang="0">
                  <a:pos x="327" y="198"/>
                </a:cxn>
                <a:cxn ang="0">
                  <a:pos x="518" y="408"/>
                </a:cxn>
                <a:cxn ang="0">
                  <a:pos x="804" y="623"/>
                </a:cxn>
                <a:cxn ang="0">
                  <a:pos x="981" y="845"/>
                </a:cxn>
                <a:cxn ang="0">
                  <a:pos x="981" y="845"/>
                </a:cxn>
              </a:cxnLst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Freeform 24"/>
            <p:cNvSpPr/>
            <p:nvPr/>
          </p:nvSpPr>
          <p:spPr>
            <a:xfrm>
              <a:off x="5352" y="0"/>
              <a:ext cx="408" cy="414"/>
            </a:xfrm>
            <a:custGeom>
              <a:avLst/>
              <a:gdLst/>
              <a:ahLst/>
              <a:cxnLst>
                <a:cxn ang="0">
                  <a:pos x="525" y="414"/>
                </a:cxn>
                <a:cxn ang="0">
                  <a:pos x="525" y="396"/>
                </a:cxn>
                <a:cxn ang="0">
                  <a:pos x="340" y="192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08" y="102"/>
                </a:cxn>
                <a:cxn ang="0">
                  <a:pos x="334" y="204"/>
                </a:cxn>
                <a:cxn ang="0">
                  <a:pos x="525" y="414"/>
                </a:cxn>
                <a:cxn ang="0">
                  <a:pos x="525" y="414"/>
                </a:cxn>
              </a:cxnLst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9385" name="Freeform 25"/>
            <p:cNvSpPr/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2" name="Freeform 26"/>
            <p:cNvSpPr/>
            <p:nvPr/>
          </p:nvSpPr>
          <p:spPr>
            <a:xfrm>
              <a:off x="6" y="0"/>
              <a:ext cx="588" cy="599"/>
            </a:xfrm>
            <a:custGeom>
              <a:avLst/>
              <a:gdLst/>
              <a:ahLst/>
              <a:cxnLst>
                <a:cxn ang="0">
                  <a:pos x="866" y="0"/>
                </a:cxn>
                <a:cxn ang="0">
                  <a:pos x="839" y="0"/>
                </a:cxn>
                <a:cxn ang="0">
                  <a:pos x="610" y="132"/>
                </a:cxn>
                <a:cxn ang="0">
                  <a:pos x="375" y="270"/>
                </a:cxn>
                <a:cxn ang="0">
                  <a:pos x="120" y="420"/>
                </a:cxn>
                <a:cxn ang="0">
                  <a:pos x="0" y="575"/>
                </a:cxn>
                <a:cxn ang="0">
                  <a:pos x="0" y="599"/>
                </a:cxn>
                <a:cxn ang="0">
                  <a:pos x="120" y="432"/>
                </a:cxn>
                <a:cxn ang="0">
                  <a:pos x="375" y="282"/>
                </a:cxn>
                <a:cxn ang="0">
                  <a:pos x="622" y="138"/>
                </a:cxn>
                <a:cxn ang="0">
                  <a:pos x="866" y="0"/>
                </a:cxn>
                <a:cxn ang="0">
                  <a:pos x="866" y="0"/>
                </a:cxn>
              </a:cxnLst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3" name="Freeform 27"/>
            <p:cNvSpPr/>
            <p:nvPr/>
          </p:nvSpPr>
          <p:spPr>
            <a:xfrm>
              <a:off x="6" y="0"/>
              <a:ext cx="270" cy="252"/>
            </a:xfrm>
            <a:custGeom>
              <a:avLst/>
              <a:gdLst/>
              <a:ahLst/>
              <a:cxnLst>
                <a:cxn ang="0">
                  <a:pos x="387" y="0"/>
                </a:cxn>
                <a:cxn ang="0">
                  <a:pos x="369" y="0"/>
                </a:cxn>
                <a:cxn ang="0">
                  <a:pos x="120" y="114"/>
                </a:cxn>
                <a:cxn ang="0">
                  <a:pos x="60" y="174"/>
                </a:cxn>
                <a:cxn ang="0">
                  <a:pos x="0" y="234"/>
                </a:cxn>
                <a:cxn ang="0">
                  <a:pos x="0" y="252"/>
                </a:cxn>
                <a:cxn ang="0">
                  <a:pos x="126" y="120"/>
                </a:cxn>
                <a:cxn ang="0">
                  <a:pos x="387" y="0"/>
                </a:cxn>
                <a:cxn ang="0">
                  <a:pos x="387" y="0"/>
                </a:cxn>
              </a:cxnLst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4" name="Line 28"/>
            <p:cNvSpPr/>
            <p:nvPr/>
          </p:nvSpPr>
          <p:spPr>
            <a:xfrm>
              <a:off x="1" y="2749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5" name="Line 29"/>
            <p:cNvSpPr/>
            <p:nvPr/>
          </p:nvSpPr>
          <p:spPr>
            <a:xfrm>
              <a:off x="1" y="2356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6" name="Line 30"/>
            <p:cNvSpPr/>
            <p:nvPr/>
          </p:nvSpPr>
          <p:spPr>
            <a:xfrm>
              <a:off x="1" y="3142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047" name="Group 31"/>
            <p:cNvGrpSpPr/>
            <p:nvPr/>
          </p:nvGrpSpPr>
          <p:grpSpPr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/>
              <p:cNvSpPr/>
              <p:nvPr userDrawn="1"/>
            </p:nvSpPr>
            <p:spPr>
              <a:xfrm>
                <a:off x="1" y="784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1" name="Line 33"/>
              <p:cNvSpPr/>
              <p:nvPr userDrawn="1"/>
            </p:nvSpPr>
            <p:spPr>
              <a:xfrm>
                <a:off x="1" y="1963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2" name="Line 34"/>
              <p:cNvSpPr/>
              <p:nvPr userDrawn="1"/>
            </p:nvSpPr>
            <p:spPr>
              <a:xfrm>
                <a:off x="1" y="1570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3" name="Line 35"/>
              <p:cNvSpPr/>
              <p:nvPr userDrawn="1"/>
            </p:nvSpPr>
            <p:spPr>
              <a:xfrm>
                <a:off x="1" y="1177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4" name="Line 36"/>
              <p:cNvSpPr/>
              <p:nvPr userDrawn="1"/>
            </p:nvSpPr>
            <p:spPr>
              <a:xfrm>
                <a:off x="1" y="392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048" name="Line 37"/>
            <p:cNvSpPr/>
            <p:nvPr/>
          </p:nvSpPr>
          <p:spPr>
            <a:xfrm>
              <a:off x="1" y="3928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" name="Line 38"/>
            <p:cNvSpPr/>
            <p:nvPr/>
          </p:nvSpPr>
          <p:spPr>
            <a:xfrm>
              <a:off x="1" y="3535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99399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1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399400" name="Rectangle 4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401" name="Rectangle 4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402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2CB5353-D370-47DA-A1B7-770641A0E787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403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2434" name="Rectangle 2"/>
          <p:cNvSpPr>
            <a:spLocks noGrp="1" noChangeArrowheads="1"/>
          </p:cNvSpPr>
          <p:nvPr>
            <p:ph type="ctrTitle" sz="quarter"/>
          </p:nvPr>
        </p:nvSpPr>
        <p:spPr/>
        <p:txBody>
          <a:bodyPr vert="horz" wrap="square" lIns="91440" tIns="45720" rIns="91440" bIns="45720" numCol="1" anchor="b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继承－－派生类</a:t>
            </a:r>
            <a:endParaRPr kumimoji="0" lang="zh-CN" altLang="en-US" sz="5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02435" name="Rectangle 3"/>
          <p:cNvSpPr>
            <a:spLocks noGrp="1" noChangeArrowheads="1"/>
          </p:cNvSpPr>
          <p:nvPr>
            <p:ph type="subTitle" sz="quarter"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基本内容</a:t>
            </a:r>
            <a:endParaRPr kumimoji="0" lang="zh-CN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主要内容</a:t>
            </a:r>
            <a:endParaRPr kumimoji="0" lang="zh-CN" altLang="en-US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0141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继承概述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单继承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protected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访问控制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继承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方式与子类型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派生类对象的初始化与消亡处理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派生类对象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的赋值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软件复用</a:t>
            </a: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41438"/>
            <a:ext cx="8229600" cy="5327650"/>
          </a:xfrm>
        </p:spPr>
        <p:txBody>
          <a:bodyPr vert="horz" wrap="square" lIns="91440" tIns="45720" rIns="91440" bIns="45720" numCol="1" anchor="t" anchorCtr="0" compatLnSpc="1">
            <a:normAutofit fontScale="85000" lnSpcReduction="2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在开发一个新软件时，把现有软件的一些功能拿过来用称为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软件复用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可复用的软件部件可以是子程序（函数），也可以是类。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加修改地直接复用已有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软件比较困难，因为已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有软件的功能与新软件所需要的功能总是有差别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子程序（函数）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除了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一些最基本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的子程序（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如数学函数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）外，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已有软件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的子程序不是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为新软件设计的，常常不完全符合新软件的功能要求。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某个应用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领域来讲，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虽然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类具有通用性，但针对不同的应用它们仍然存在一些差别。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继承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（</a:t>
            </a:r>
            <a:r>
              <a:rPr kumimoji="0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Inheritance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</a:t>
            </a: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57338"/>
            <a:ext cx="8229600" cy="4851400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如何解决已有软件与新软件的差别：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修改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已有软件的源代码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，它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的缺点是：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需读懂源代码，可靠性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差，易出错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源代码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有时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难以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获得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采用类的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继承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机制：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定义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一个新的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类，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先把已有的一个或多个类的功能全部包含进来，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然后再在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新的类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中给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出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新功能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的定义或对已有类的某些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功能进行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重新定义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不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需要已有软件的源代码，属于目标代码复用！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1125"/>
            <a:ext cx="8229600" cy="941388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基类与派生类</a:t>
            </a:r>
            <a:endParaRPr kumimoji="0" lang="zh-CN" altLang="en-US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03459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125538"/>
            <a:ext cx="8686800" cy="3168650"/>
          </a:xfrm>
        </p:spPr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在继承关系中存在两个类：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基类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（或称父类）和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派生类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（或称子类）。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派生类拥有基类的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所有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成员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，并可以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定义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新的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成员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基类的一些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成员函数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进行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重定义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GB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继承分为：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单继承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多继承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单继承：一个类只有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一个直接基类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多继承：一个类有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多个直接基类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grpSp>
        <p:nvGrpSpPr>
          <p:cNvPr id="8196" name="组合 1"/>
          <p:cNvGrpSpPr/>
          <p:nvPr/>
        </p:nvGrpSpPr>
        <p:grpSpPr>
          <a:xfrm>
            <a:off x="1547813" y="4365625"/>
            <a:ext cx="6624637" cy="2238375"/>
            <a:chOff x="1547813" y="4581525"/>
            <a:chExt cx="6624637" cy="2238375"/>
          </a:xfrm>
        </p:grpSpPr>
        <p:grpSp>
          <p:nvGrpSpPr>
            <p:cNvPr id="8197" name="Group 29"/>
            <p:cNvGrpSpPr/>
            <p:nvPr/>
          </p:nvGrpSpPr>
          <p:grpSpPr>
            <a:xfrm>
              <a:off x="1547813" y="4581525"/>
              <a:ext cx="1685925" cy="1727200"/>
              <a:chOff x="975" y="2977"/>
              <a:chExt cx="1062" cy="1088"/>
            </a:xfrm>
          </p:grpSpPr>
          <p:grpSp>
            <p:nvGrpSpPr>
              <p:cNvPr id="8210" name="Group 7"/>
              <p:cNvGrpSpPr/>
              <p:nvPr/>
            </p:nvGrpSpPr>
            <p:grpSpPr>
              <a:xfrm>
                <a:off x="975" y="2977"/>
                <a:ext cx="1062" cy="1088"/>
                <a:chOff x="1274" y="3428"/>
                <a:chExt cx="432" cy="557"/>
              </a:xfrm>
            </p:grpSpPr>
            <p:sp>
              <p:nvSpPr>
                <p:cNvPr id="8213" name="Oval 4"/>
                <p:cNvSpPr/>
                <p:nvPr/>
              </p:nvSpPr>
              <p:spPr>
                <a:xfrm>
                  <a:off x="1274" y="3428"/>
                  <a:ext cx="432" cy="187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6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•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 dirty="0"/>
                </a:p>
              </p:txBody>
            </p:sp>
            <p:sp>
              <p:nvSpPr>
                <p:cNvPr id="8214" name="Oval 5"/>
                <p:cNvSpPr/>
                <p:nvPr/>
              </p:nvSpPr>
              <p:spPr>
                <a:xfrm>
                  <a:off x="1274" y="3798"/>
                  <a:ext cx="432" cy="187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6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•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 dirty="0"/>
                </a:p>
              </p:txBody>
            </p:sp>
            <p:sp>
              <p:nvSpPr>
                <p:cNvPr id="8215" name="Line 6"/>
                <p:cNvSpPr/>
                <p:nvPr/>
              </p:nvSpPr>
              <p:spPr>
                <a:xfrm flipV="1">
                  <a:off x="1490" y="3610"/>
                  <a:ext cx="0" cy="18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sp>
            <p:nvSpPr>
              <p:cNvPr id="8211" name="Text Box 8"/>
              <p:cNvSpPr txBox="1"/>
              <p:nvPr/>
            </p:nvSpPr>
            <p:spPr>
              <a:xfrm>
                <a:off x="1292" y="3022"/>
                <a:ext cx="43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dirty="0"/>
                  <a:t>基类</a:t>
                </a:r>
                <a:endParaRPr lang="zh-CN" altLang="en-US" sz="2000" dirty="0"/>
              </a:p>
            </p:txBody>
          </p:sp>
          <p:sp>
            <p:nvSpPr>
              <p:cNvPr id="8212" name="Text Box 9"/>
              <p:cNvSpPr txBox="1"/>
              <p:nvPr/>
            </p:nvSpPr>
            <p:spPr>
              <a:xfrm>
                <a:off x="1201" y="3702"/>
                <a:ext cx="59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dirty="0"/>
                  <a:t>派生类</a:t>
                </a:r>
                <a:endParaRPr lang="zh-CN" altLang="en-US" sz="2000" dirty="0"/>
              </a:p>
            </p:txBody>
          </p:sp>
        </p:grpSp>
        <p:grpSp>
          <p:nvGrpSpPr>
            <p:cNvPr id="8198" name="Group 30"/>
            <p:cNvGrpSpPr/>
            <p:nvPr/>
          </p:nvGrpSpPr>
          <p:grpSpPr>
            <a:xfrm>
              <a:off x="4140200" y="4652963"/>
              <a:ext cx="4032250" cy="1658937"/>
              <a:chOff x="2608" y="3022"/>
              <a:chExt cx="2540" cy="1045"/>
            </a:xfrm>
          </p:grpSpPr>
          <p:sp>
            <p:nvSpPr>
              <p:cNvPr id="8201" name="Oval 2"/>
              <p:cNvSpPr/>
              <p:nvPr/>
            </p:nvSpPr>
            <p:spPr>
              <a:xfrm>
                <a:off x="3379" y="3702"/>
                <a:ext cx="1062" cy="365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8202" name="Line 3"/>
              <p:cNvSpPr/>
              <p:nvPr/>
            </p:nvSpPr>
            <p:spPr>
              <a:xfrm flipH="1" flipV="1">
                <a:off x="3243" y="3385"/>
                <a:ext cx="544" cy="31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8203" name="Text Box 5"/>
              <p:cNvSpPr txBox="1"/>
              <p:nvPr/>
            </p:nvSpPr>
            <p:spPr>
              <a:xfrm>
                <a:off x="3606" y="3748"/>
                <a:ext cx="59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dirty="0"/>
                  <a:t>派生类</a:t>
                </a:r>
                <a:endParaRPr lang="zh-CN" altLang="en-US" sz="2000" dirty="0"/>
              </a:p>
            </p:txBody>
          </p:sp>
          <p:sp>
            <p:nvSpPr>
              <p:cNvPr id="8204" name="Line 11"/>
              <p:cNvSpPr/>
              <p:nvPr/>
            </p:nvSpPr>
            <p:spPr>
              <a:xfrm flipV="1">
                <a:off x="3878" y="3385"/>
                <a:ext cx="499" cy="31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8205" name="Oval 12"/>
              <p:cNvSpPr/>
              <p:nvPr/>
            </p:nvSpPr>
            <p:spPr>
              <a:xfrm>
                <a:off x="4086" y="3022"/>
                <a:ext cx="1062" cy="365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8206" name="Text Box 13"/>
              <p:cNvSpPr txBox="1"/>
              <p:nvPr/>
            </p:nvSpPr>
            <p:spPr>
              <a:xfrm>
                <a:off x="4384" y="3073"/>
                <a:ext cx="537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dirty="0"/>
                  <a:t>基类</a:t>
                </a:r>
                <a:r>
                  <a:rPr lang="en-US" altLang="zh-CN" sz="2000" dirty="0"/>
                  <a:t>n</a:t>
                </a:r>
                <a:endParaRPr lang="en-US" altLang="zh-CN" sz="2000" dirty="0"/>
              </a:p>
            </p:txBody>
          </p:sp>
          <p:sp>
            <p:nvSpPr>
              <p:cNvPr id="8207" name="Oval 14"/>
              <p:cNvSpPr/>
              <p:nvPr/>
            </p:nvSpPr>
            <p:spPr>
              <a:xfrm>
                <a:off x="2608" y="3022"/>
                <a:ext cx="1062" cy="365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8208" name="Text Box 15"/>
              <p:cNvSpPr txBox="1"/>
              <p:nvPr/>
            </p:nvSpPr>
            <p:spPr>
              <a:xfrm>
                <a:off x="2925" y="3073"/>
                <a:ext cx="53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dirty="0"/>
                  <a:t>基类</a:t>
                </a:r>
                <a:r>
                  <a:rPr lang="en-US" altLang="zh-CN" sz="2000" dirty="0"/>
                  <a:t>1</a:t>
                </a:r>
                <a:endParaRPr lang="en-US" altLang="zh-CN" sz="2000" dirty="0"/>
              </a:p>
            </p:txBody>
          </p:sp>
          <p:sp>
            <p:nvSpPr>
              <p:cNvPr id="8209" name="Text Box 28"/>
              <p:cNvSpPr txBox="1"/>
              <p:nvPr/>
            </p:nvSpPr>
            <p:spPr>
              <a:xfrm>
                <a:off x="3729" y="3080"/>
                <a:ext cx="260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latin typeface="Arial" panose="020B0604020202020204" pitchFamily="34" charset="0"/>
                  </a:rPr>
                  <a:t>…</a:t>
                </a:r>
                <a:endParaRPr lang="en-US" altLang="zh-CN" sz="1800" dirty="0"/>
              </a:p>
            </p:txBody>
          </p:sp>
        </p:grpSp>
        <p:sp>
          <p:nvSpPr>
            <p:cNvPr id="8199" name="Text Box 31"/>
            <p:cNvSpPr txBox="1"/>
            <p:nvPr/>
          </p:nvSpPr>
          <p:spPr>
            <a:xfrm>
              <a:off x="1973263" y="6453188"/>
              <a:ext cx="869950" cy="3667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/>
                <a:t>单继承</a:t>
              </a:r>
              <a:endParaRPr lang="zh-CN" altLang="en-US" sz="1800" dirty="0"/>
            </a:p>
          </p:txBody>
        </p:sp>
        <p:sp>
          <p:nvSpPr>
            <p:cNvPr id="8200" name="Text Box 32"/>
            <p:cNvSpPr txBox="1"/>
            <p:nvPr/>
          </p:nvSpPr>
          <p:spPr>
            <a:xfrm>
              <a:off x="5862638" y="6446838"/>
              <a:ext cx="869950" cy="3667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/>
                <a:t>多继承</a:t>
              </a:r>
              <a:endParaRPr lang="zh-CN" altLang="en-US" sz="18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4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继承对程序设计的支持</a:t>
            </a:r>
            <a:endParaRPr kumimoji="0" lang="zh-CN" altLang="en-US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044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341438"/>
            <a:ext cx="7931150" cy="20161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继承机制除了支持软件复用外，它还具有下面的作用：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处理的对象按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层次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进行分类。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有利于问题的描述和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解决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pic>
        <p:nvPicPr>
          <p:cNvPr id="9220" name="Picture 4" descr="16"/>
          <p:cNvPicPr>
            <a:picLocks noChangeAspect="1"/>
          </p:cNvPicPr>
          <p:nvPr>
            <p:ph sz="half" idx="2"/>
          </p:nvPr>
        </p:nvPicPr>
        <p:blipFill>
          <a:blip r:embed="rId1"/>
          <a:srcRect/>
          <a:stretch>
            <a:fillRect/>
          </a:stretch>
        </p:blipFill>
        <p:spPr>
          <a:xfrm>
            <a:off x="1189038" y="3503613"/>
            <a:ext cx="6696075" cy="3065462"/>
          </a:xfrm>
          <a:ln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755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0755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10366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对概念进行组合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给新类的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设计进一步带来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便利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grpSp>
        <p:nvGrpSpPr>
          <p:cNvPr id="10244" name="Group 9"/>
          <p:cNvGrpSpPr/>
          <p:nvPr/>
        </p:nvGrpSpPr>
        <p:grpSpPr>
          <a:xfrm>
            <a:off x="2700338" y="2781300"/>
            <a:ext cx="4103687" cy="2574925"/>
            <a:chOff x="1058" y="3691"/>
            <a:chExt cx="1152" cy="624"/>
          </a:xfrm>
        </p:grpSpPr>
        <p:sp>
          <p:nvSpPr>
            <p:cNvPr id="10248" name="Oval 4"/>
            <p:cNvSpPr/>
            <p:nvPr/>
          </p:nvSpPr>
          <p:spPr>
            <a:xfrm>
              <a:off x="1058" y="3691"/>
              <a:ext cx="504" cy="25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  <p:sp>
          <p:nvSpPr>
            <p:cNvPr id="10249" name="Oval 5"/>
            <p:cNvSpPr/>
            <p:nvPr/>
          </p:nvSpPr>
          <p:spPr>
            <a:xfrm>
              <a:off x="1706" y="3691"/>
              <a:ext cx="504" cy="25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  <p:sp>
          <p:nvSpPr>
            <p:cNvPr id="10250" name="Oval 6"/>
            <p:cNvSpPr/>
            <p:nvPr/>
          </p:nvSpPr>
          <p:spPr>
            <a:xfrm>
              <a:off x="1375" y="4066"/>
              <a:ext cx="504" cy="249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  <p:sp>
          <p:nvSpPr>
            <p:cNvPr id="10251" name="Line 7"/>
            <p:cNvSpPr/>
            <p:nvPr/>
          </p:nvSpPr>
          <p:spPr>
            <a:xfrm>
              <a:off x="1346" y="3941"/>
              <a:ext cx="173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10252" name="Line 8"/>
            <p:cNvSpPr/>
            <p:nvPr/>
          </p:nvSpPr>
          <p:spPr>
            <a:xfrm flipH="1">
              <a:off x="1764" y="3941"/>
              <a:ext cx="187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</p:grpSp>
      <p:sp>
        <p:nvSpPr>
          <p:cNvPr id="10245" name="Text Box 11"/>
          <p:cNvSpPr txBox="1"/>
          <p:nvPr/>
        </p:nvSpPr>
        <p:spPr>
          <a:xfrm>
            <a:off x="3194050" y="3032125"/>
            <a:ext cx="946150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/>
              <a:t>研究生</a:t>
            </a:r>
            <a:endParaRPr lang="zh-CN" altLang="en-US" sz="2000" dirty="0"/>
          </a:p>
        </p:txBody>
      </p:sp>
      <p:sp>
        <p:nvSpPr>
          <p:cNvPr id="10246" name="Text Box 12"/>
          <p:cNvSpPr txBox="1"/>
          <p:nvPr/>
        </p:nvSpPr>
        <p:spPr>
          <a:xfrm>
            <a:off x="5586413" y="3049588"/>
            <a:ext cx="692150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/>
              <a:t>教师</a:t>
            </a:r>
            <a:endParaRPr lang="zh-CN" altLang="en-US" sz="2000" dirty="0"/>
          </a:p>
        </p:txBody>
      </p:sp>
      <p:sp>
        <p:nvSpPr>
          <p:cNvPr id="10247" name="Text Box 13"/>
          <p:cNvSpPr txBox="1"/>
          <p:nvPr/>
        </p:nvSpPr>
        <p:spPr>
          <a:xfrm>
            <a:off x="4048125" y="4633913"/>
            <a:ext cx="1454150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/>
              <a:t>在职研究生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65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065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84313"/>
            <a:ext cx="8229600" cy="9366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支持软件的增量开发。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（版本升级）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这给软件开发和维护带来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便利。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grpSp>
        <p:nvGrpSpPr>
          <p:cNvPr id="11268" name="Group 9"/>
          <p:cNvGrpSpPr/>
          <p:nvPr/>
        </p:nvGrpSpPr>
        <p:grpSpPr>
          <a:xfrm>
            <a:off x="3592513" y="2963863"/>
            <a:ext cx="1771650" cy="3057525"/>
            <a:chOff x="1174" y="2758"/>
            <a:chExt cx="288" cy="874"/>
          </a:xfrm>
        </p:grpSpPr>
        <p:sp>
          <p:nvSpPr>
            <p:cNvPr id="11272" name="Oval 4"/>
            <p:cNvSpPr/>
            <p:nvPr/>
          </p:nvSpPr>
          <p:spPr>
            <a:xfrm>
              <a:off x="1174" y="2758"/>
              <a:ext cx="288" cy="12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  <p:sp>
          <p:nvSpPr>
            <p:cNvPr id="11273" name="Oval 5"/>
            <p:cNvSpPr/>
            <p:nvPr/>
          </p:nvSpPr>
          <p:spPr>
            <a:xfrm>
              <a:off x="1174" y="3133"/>
              <a:ext cx="288" cy="12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  <p:sp>
          <p:nvSpPr>
            <p:cNvPr id="11274" name="Oval 6"/>
            <p:cNvSpPr/>
            <p:nvPr/>
          </p:nvSpPr>
          <p:spPr>
            <a:xfrm>
              <a:off x="1174" y="3507"/>
              <a:ext cx="288" cy="12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  <p:sp>
          <p:nvSpPr>
            <p:cNvPr id="11275" name="Line 7"/>
            <p:cNvSpPr/>
            <p:nvPr/>
          </p:nvSpPr>
          <p:spPr>
            <a:xfrm>
              <a:off x="1318" y="2883"/>
              <a:ext cx="0" cy="25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11276" name="Line 8"/>
            <p:cNvSpPr/>
            <p:nvPr/>
          </p:nvSpPr>
          <p:spPr>
            <a:xfrm>
              <a:off x="1318" y="3258"/>
              <a:ext cx="0" cy="24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</p:grpSp>
      <p:sp>
        <p:nvSpPr>
          <p:cNvPr id="11269" name="Text Box 10"/>
          <p:cNvSpPr txBox="1"/>
          <p:nvPr/>
        </p:nvSpPr>
        <p:spPr>
          <a:xfrm>
            <a:off x="4140200" y="2997200"/>
            <a:ext cx="774700" cy="36988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A_v1</a:t>
            </a:r>
            <a:endParaRPr lang="en-US" altLang="zh-CN" sz="1800" dirty="0"/>
          </a:p>
        </p:txBody>
      </p:sp>
      <p:sp>
        <p:nvSpPr>
          <p:cNvPr id="11270" name="Text Box 11"/>
          <p:cNvSpPr txBox="1"/>
          <p:nvPr/>
        </p:nvSpPr>
        <p:spPr>
          <a:xfrm>
            <a:off x="4086225" y="4308475"/>
            <a:ext cx="773113" cy="36988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A_v2</a:t>
            </a:r>
            <a:endParaRPr lang="en-US" altLang="zh-CN" sz="1800" dirty="0"/>
          </a:p>
        </p:txBody>
      </p:sp>
      <p:sp>
        <p:nvSpPr>
          <p:cNvPr id="11271" name="Text Box 12"/>
          <p:cNvSpPr txBox="1"/>
          <p:nvPr/>
        </p:nvSpPr>
        <p:spPr>
          <a:xfrm>
            <a:off x="4140200" y="5651500"/>
            <a:ext cx="774700" cy="36988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A_v3</a:t>
            </a:r>
            <a:endParaRPr lang="en-US" altLang="zh-CN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0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单继承</a:t>
            </a:r>
            <a:endParaRPr kumimoji="0" lang="zh-CN" altLang="en-US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0960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8529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在定义单继承时，派生类只能有一个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直接基类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，其定义格式如下：</a:t>
            </a:r>
            <a:endParaRPr kumimoji="0" lang="zh-CN" alt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&lt;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派生类名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: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[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&lt;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继承方式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] 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&lt;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基类名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&lt;</a:t>
            </a:r>
            <a:r>
              <a:rPr kumimoji="0" lang="zh-CN" alt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成员说明表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Tx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&lt;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派生类名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为派生类的名字。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&lt;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基类名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为直接基类的名字。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&lt;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成员说明表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是在派生类中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新定义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和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基类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成员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重定义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成员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&lt;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继承方式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用于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指出从基类继承来的成员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在派生类中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对外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的访问控制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062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476250"/>
            <a:ext cx="8229600" cy="59769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A //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基类</a:t>
            </a:r>
            <a:endParaRPr kumimoji="0" lang="zh-CN" altLang="en-GB" sz="32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	</a:t>
            </a:r>
            <a:r>
              <a:rPr kumimoji="0" lang="en-GB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x,y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GB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public:</a:t>
            </a:r>
            <a:endParaRPr kumimoji="0" lang="en-GB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void f();</a:t>
            </a:r>
            <a:endParaRPr kumimoji="0" lang="en-GB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void g();</a:t>
            </a:r>
            <a:endParaRPr kumimoji="0" lang="en-GB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GB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 public A //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派生类</a:t>
            </a:r>
            <a:endParaRPr kumimoji="0" lang="zh-CN" altLang="en-GB" sz="32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	</a:t>
            </a:r>
            <a:r>
              <a:rPr kumimoji="0" lang="en-GB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z; //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新成员</a:t>
            </a:r>
            <a:endParaRPr kumimoji="0" lang="zh-CN" alt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public:</a:t>
            </a:r>
            <a:endParaRPr kumimoji="0" lang="en-GB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void h(); //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新成员</a:t>
            </a:r>
            <a:endParaRPr kumimoji="0" lang="zh-CN" alt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GB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165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5888"/>
            <a:ext cx="8229600" cy="6742113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派生类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除了拥有新定义的成员外，还拥有基类的所有成员（基类的构造函数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、析构函数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和赋值操作符重载函数除外）。例如：</a:t>
            </a:r>
            <a:endParaRPr kumimoji="0" lang="zh-CN" alt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	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         b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b.x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: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b.y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: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b.z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: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b.f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();   //A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类中的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b.g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();  //A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类中的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g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b.h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();  //B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类中的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h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实际上，派生类的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对象包含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了基类的一个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子对象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，该子对象的内存空间位于派生类对象内存空间的前部。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4339" name="Group 7"/>
          <p:cNvGrpSpPr/>
          <p:nvPr/>
        </p:nvGrpSpPr>
        <p:grpSpPr>
          <a:xfrm>
            <a:off x="2068513" y="2565400"/>
            <a:ext cx="990600" cy="1150938"/>
            <a:chOff x="814" y="2693"/>
            <a:chExt cx="216" cy="374"/>
          </a:xfrm>
        </p:grpSpPr>
        <p:sp>
          <p:nvSpPr>
            <p:cNvPr id="14341" name="Rectangle 4"/>
            <p:cNvSpPr/>
            <p:nvPr/>
          </p:nvSpPr>
          <p:spPr>
            <a:xfrm>
              <a:off x="814" y="2693"/>
              <a:ext cx="216" cy="37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  <p:sp>
          <p:nvSpPr>
            <p:cNvPr id="14342" name="Line 5"/>
            <p:cNvSpPr/>
            <p:nvPr/>
          </p:nvSpPr>
          <p:spPr>
            <a:xfrm>
              <a:off x="814" y="2817"/>
              <a:ext cx="2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43" name="Line 6"/>
            <p:cNvSpPr/>
            <p:nvPr/>
          </p:nvSpPr>
          <p:spPr>
            <a:xfrm>
              <a:off x="814" y="2942"/>
              <a:ext cx="2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41696" name="Text Box 0"/>
          <p:cNvSpPr txBox="1">
            <a:spLocks noChangeArrowheads="1"/>
          </p:cNvSpPr>
          <p:nvPr/>
        </p:nvSpPr>
        <p:spPr bwMode="auto">
          <a:xfrm>
            <a:off x="4859338" y="1555750"/>
            <a:ext cx="3722688" cy="38179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/>
          <a:p>
            <a:pPr marR="0" defTabSz="450850" eaLnBrk="1" hangingPunct="1">
              <a:buClrTx/>
              <a:buSzTx/>
              <a:buFontTx/>
              <a:buNone/>
              <a:defRPr/>
            </a:pPr>
            <a:r>
              <a:rPr kumimoji="0" lang="en-GB" altLang="zh-CN" sz="22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class A //</a:t>
            </a:r>
            <a:r>
              <a:rPr kumimoji="0" lang="zh-CN" altLang="en-GB" sz="22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基类</a:t>
            </a:r>
            <a:endParaRPr kumimoji="0" lang="zh-CN" altLang="en-GB" sz="22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450850" eaLnBrk="1" hangingPunct="1">
              <a:buClrTx/>
              <a:buSzTx/>
              <a:buFontTx/>
              <a:buNone/>
              <a:defRPr/>
            </a:pPr>
            <a:r>
              <a:rPr kumimoji="0" lang="en-GB" altLang="zh-CN" sz="22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{		</a:t>
            </a:r>
            <a:r>
              <a:rPr kumimoji="0" lang="en-GB" altLang="zh-CN" sz="2200" kern="1200" cap="none" spc="0" normalizeH="0" baseline="0" noProof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GB" altLang="zh-CN" sz="22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GB" altLang="zh-CN" sz="2200" kern="1200" cap="none" spc="0" normalizeH="0" baseline="0" noProof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x,y</a:t>
            </a:r>
            <a:r>
              <a:rPr kumimoji="0" lang="en-GB" altLang="zh-CN" sz="22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GB" altLang="zh-CN" sz="22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450850" eaLnBrk="1" hangingPunct="1">
              <a:buClrTx/>
              <a:buSzTx/>
              <a:buFontTx/>
              <a:buNone/>
              <a:defRPr/>
            </a:pPr>
            <a:r>
              <a:rPr kumimoji="0" lang="en-GB" altLang="zh-CN" sz="22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	public:</a:t>
            </a:r>
            <a:endParaRPr kumimoji="0" lang="en-GB" altLang="zh-CN" sz="22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450850" eaLnBrk="1" hangingPunct="1">
              <a:buClrTx/>
              <a:buSzTx/>
              <a:buFontTx/>
              <a:buNone/>
              <a:defRPr/>
            </a:pPr>
            <a:r>
              <a:rPr kumimoji="0" lang="en-GB" altLang="zh-CN" sz="22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		void f();</a:t>
            </a:r>
            <a:endParaRPr kumimoji="0" lang="en-GB" altLang="zh-CN" sz="22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450850" eaLnBrk="1" hangingPunct="1">
              <a:buClrTx/>
              <a:buSzTx/>
              <a:buFontTx/>
              <a:buNone/>
              <a:defRPr/>
            </a:pPr>
            <a:r>
              <a:rPr kumimoji="0" lang="en-GB" altLang="zh-CN" sz="22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		void g();</a:t>
            </a:r>
            <a:endParaRPr kumimoji="0" lang="en-GB" altLang="zh-CN" sz="22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450850" eaLnBrk="1" hangingPunct="1">
              <a:buClrTx/>
              <a:buSzTx/>
              <a:buFontTx/>
              <a:buNone/>
              <a:defRPr/>
            </a:pPr>
            <a:r>
              <a:rPr kumimoji="0" lang="en-GB" altLang="zh-CN" sz="22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};</a:t>
            </a:r>
            <a:endParaRPr kumimoji="0" lang="en-GB" altLang="zh-CN" sz="22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450850" eaLnBrk="1" hangingPunct="1">
              <a:buClrTx/>
              <a:buSzTx/>
              <a:buFontTx/>
              <a:buNone/>
              <a:defRPr/>
            </a:pPr>
            <a:r>
              <a:rPr kumimoji="0" lang="en-GB" altLang="zh-CN" sz="22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class B: public A //</a:t>
            </a:r>
            <a:r>
              <a:rPr kumimoji="0" lang="zh-CN" altLang="en-GB" sz="22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派生类</a:t>
            </a:r>
            <a:endParaRPr kumimoji="0" lang="zh-CN" altLang="en-GB" sz="22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450850" eaLnBrk="1" hangingPunct="1">
              <a:buClrTx/>
              <a:buSzTx/>
              <a:buFontTx/>
              <a:buNone/>
              <a:defRPr/>
            </a:pPr>
            <a:r>
              <a:rPr kumimoji="0" lang="en-GB" altLang="zh-CN" sz="22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{		</a:t>
            </a:r>
            <a:r>
              <a:rPr kumimoji="0" lang="en-GB" altLang="zh-CN" sz="2200" kern="1200" cap="none" spc="0" normalizeH="0" baseline="0" noProof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GB" altLang="zh-CN" sz="22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z; //</a:t>
            </a:r>
            <a:r>
              <a:rPr kumimoji="0" lang="zh-CN" altLang="en-GB" sz="22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新成员</a:t>
            </a:r>
            <a:endParaRPr kumimoji="0" lang="zh-CN" altLang="en-GB" sz="22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450850" eaLnBrk="1" hangingPunct="1">
              <a:buClrTx/>
              <a:buSzTx/>
              <a:buFontTx/>
              <a:buNone/>
              <a:defRPr/>
            </a:pPr>
            <a:r>
              <a:rPr kumimoji="0" lang="en-GB" altLang="zh-CN" sz="22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	public:</a:t>
            </a:r>
            <a:endParaRPr kumimoji="0" lang="en-GB" altLang="zh-CN" sz="22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450850" eaLnBrk="1" hangingPunct="1">
              <a:buClrTx/>
              <a:buSzTx/>
              <a:buFontTx/>
              <a:buNone/>
              <a:defRPr/>
            </a:pPr>
            <a:r>
              <a:rPr kumimoji="0" lang="en-GB" altLang="zh-CN" sz="22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		void h(); //</a:t>
            </a:r>
            <a:r>
              <a:rPr kumimoji="0" lang="zh-CN" altLang="en-GB" sz="22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新成员</a:t>
            </a:r>
            <a:endParaRPr kumimoji="0" lang="zh-CN" altLang="en-GB" sz="22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450850" eaLnBrk="1" hangingPunct="1">
              <a:buClrTx/>
              <a:buSzTx/>
              <a:buFontTx/>
              <a:buNone/>
              <a:defRPr/>
            </a:pPr>
            <a:r>
              <a:rPr kumimoji="0" lang="en-GB" altLang="zh-CN" sz="22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};</a:t>
            </a:r>
            <a:endParaRPr kumimoji="0" lang="en-US" altLang="zh-CN" sz="2200" kern="1200" cap="none" spc="0" normalizeH="0" baseline="0" noProof="0" dirty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57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439738"/>
            <a:ext cx="8229600" cy="6157913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定义派生类时一定要见到基类的定义。</a:t>
            </a:r>
            <a:endParaRPr kumimoji="0" lang="zh-CN" alt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A;  //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声明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B: public A  //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Error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 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z;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public: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void h() { g(); }  //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Error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，编译程序不知道基类中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		       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是否有函数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g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以及函数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g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的原型。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 //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Error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，编译无法确定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所需内存空间的大小。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友元：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如果在派生类中没有显式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指出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则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基类的友元不是派生类的友元；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如果基类是另一个类的友元，而该类没有显式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指出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，则派生类不是该类的友元。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6771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341438"/>
            <a:ext cx="8748713" cy="5256213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342900" marR="0" lvl="0" indent="-342900" algn="l" defTabSz="60515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C++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中，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派生类不能直接访问基类的私有成员。</a:t>
            </a:r>
            <a:endParaRPr kumimoji="0" lang="zh-CN" alt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605155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A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0515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	</a:t>
            </a:r>
            <a:r>
              <a:rPr kumimoji="0" lang="en-GB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GB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x,y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0515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public: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0515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void f();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0515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void g() { ... x 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y 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 }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0515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0515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B: public A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0515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	</a:t>
            </a:r>
            <a:r>
              <a:rPr kumimoji="0" lang="en-GB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z;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0515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public: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0515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void h() 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0515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{	... x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y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...  //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Error</a:t>
            </a: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x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y</a:t>
            </a: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为基类的私有成员。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0515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f();  //OK</a:t>
            </a:r>
            <a:endParaRPr kumimoji="0" lang="zh-CN" altLang="en-GB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0515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	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g();  //OK</a:t>
            </a: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，通过函数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g</a:t>
            </a: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访问基类的私有成员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x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和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y</a:t>
            </a: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zh-CN" altLang="en-GB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0515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0515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endParaRPr kumimoji="0" lang="en-US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sp>
        <p:nvSpPr>
          <p:cNvPr id="536576" name="Rectangle 0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GB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在派生类中访问基类成员</a:t>
            </a:r>
            <a:endParaRPr kumimoji="0" lang="zh-CN" altLang="en-US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229600" cy="1012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GB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继承与</a:t>
            </a:r>
            <a:r>
              <a:rPr kumimoji="0" lang="zh-CN" altLang="en-GB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封装</a:t>
            </a:r>
            <a:r>
              <a:rPr kumimoji="0" lang="zh-CN" altLang="en-GB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的矛盾</a:t>
            </a: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0" lang="zh-CN" altLang="en-US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17795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585913"/>
            <a:ext cx="8135938" cy="3571875"/>
          </a:xfrm>
        </p:spPr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在派生类中定义新的成员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函数或对基类已有成员函数重定义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时，往往需要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直接访问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基类的一些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private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成员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（特别是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private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数据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成员），否则新的功能无法实现！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而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类的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private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成员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是不允许外界使用的（数据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封装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）！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这样就带来了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继承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与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封装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的矛盾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66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333375"/>
            <a:ext cx="8229600" cy="6335713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实际上，</a:t>
            </a:r>
            <a:r>
              <a:rPr kumimoji="0" lang="zh-CN" altLang="en-GB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有了继承机制以后，一个类的成员有两种被外界使用的场合：</a:t>
            </a:r>
            <a:endParaRPr kumimoji="0" lang="zh-CN" altLang="en-GB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通过类的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对象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（实例）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使用</a:t>
            </a:r>
            <a:endParaRPr kumimoji="0" lang="zh-CN" altLang="en-GB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在派生类中使用</a:t>
            </a:r>
            <a:endParaRPr kumimoji="0" lang="zh-CN" altLang="en-GB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A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......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B: public A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......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f() { ...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...} 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通过派生类使用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的成员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g()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A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...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a.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... 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通过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的对象（实例）使用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的成员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566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protected</a:t>
            </a: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访问控制</a:t>
            </a:r>
            <a:endParaRPr kumimoji="0" lang="zh-CN" altLang="zh-CN" sz="40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256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781550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C++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中，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除了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public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private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，还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提供了另外一种类成员访问控制：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protected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用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protected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说明的成员不能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通过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对象使用，但可以在派生类中使用。</a:t>
            </a:r>
            <a:endParaRPr kumimoji="0" lang="zh-CN" alt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protected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访问控制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缓解了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封装与继承的矛盾</a:t>
            </a:r>
            <a:endParaRPr kumimoji="0" lang="zh-CN" alt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类向外界提供两种接口：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public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供类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的实例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用户使用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通过对象）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GB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public+protected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供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派生类使用</a:t>
            </a:r>
            <a:endParaRPr kumimoji="0" lang="en-GB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881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60350"/>
            <a:ext cx="8229600" cy="64817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A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protected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x,y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public: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void f();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B: public A //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的派生类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	......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void h()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{	f();  //OK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... x ...  //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OK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... y ...  //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OK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g() //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的实例用户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A 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a.f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  //OK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... 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a.x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...  //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Error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... </a:t>
            </a:r>
            <a:r>
              <a:rPr kumimoji="0" lang="en-GB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a.y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...  //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Error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00563" y="908050"/>
            <a:ext cx="4319588" cy="34163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>
            <a:spAutoFit/>
          </a:bodyPr>
          <a:lstStyle/>
          <a:p>
            <a:pPr marL="342900" marR="0" indent="-342900" defTabSz="914400" eaLnBrk="1" hangingPunct="1"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zh-CN" sz="24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引进</a:t>
            </a:r>
            <a:r>
              <a:rPr kumimoji="0" lang="es-CL" altLang="zh-CN" sz="24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protected</a:t>
            </a:r>
            <a:r>
              <a:rPr kumimoji="0" lang="zh-CN" altLang="zh-CN" sz="24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成员访问控制后，基类的设计者必须要慎重地考虑应该把那些成员声明为</a:t>
            </a:r>
            <a:r>
              <a:rPr kumimoji="0" lang="es-CL" altLang="zh-CN" sz="24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protected</a:t>
            </a:r>
            <a:r>
              <a:rPr kumimoji="0" lang="zh-CN" altLang="zh-CN" sz="24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。</a:t>
            </a:r>
            <a:endParaRPr kumimoji="0" lang="en-US" altLang="zh-CN" sz="2400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 eaLnBrk="1" hangingPunct="1"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zh-CN" sz="24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一般情况下，应该把今后不太可能发生变动的、有可能被派生类使用的、不宜对</a:t>
            </a:r>
            <a:r>
              <a:rPr kumimoji="0" lang="zh-CN" altLang="en-US" sz="24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实例</a:t>
            </a:r>
            <a:r>
              <a:rPr kumimoji="0" lang="zh-CN" altLang="zh-CN" sz="24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用户公开的成员声明为</a:t>
            </a:r>
            <a:r>
              <a:rPr kumimoji="0" lang="en-GB" altLang="zh-CN" sz="24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protected</a:t>
            </a:r>
            <a:r>
              <a:rPr kumimoji="0" lang="zh-CN" altLang="en-US" sz="24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！</a:t>
            </a:r>
            <a:endParaRPr kumimoji="0" lang="zh-CN" altLang="en-US" sz="2400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派生类成员标识符的作用域</a:t>
            </a: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549525"/>
          </a:xfrm>
        </p:spPr>
        <p:txBody>
          <a:bodyPr vert="horz" wrap="square" lIns="91440" tIns="45720" rIns="91440" bIns="45720" numCol="1" anchor="t" anchorCtr="0" compatLnSpc="1">
            <a:normAutofit fontScale="92500" lnSpcReduction="2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派生类对基类成员的访问除了受到基类的访问控制的限制以外，还要受到标识符作用域的限制。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对基类而言，派生类成员标识符的作用域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嵌套在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基类作用域中的。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508" name="Text Box 5"/>
          <p:cNvSpPr txBox="1"/>
          <p:nvPr/>
        </p:nvSpPr>
        <p:spPr>
          <a:xfrm>
            <a:off x="4932363" y="4667250"/>
            <a:ext cx="3527425" cy="19399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class B:public A</a:t>
            </a:r>
            <a:endParaRPr lang="en-US" altLang="zh-CN" sz="2000" dirty="0"/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{ ......</a:t>
            </a:r>
            <a:endParaRPr lang="en-US" altLang="zh-CN" sz="2000" dirty="0"/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public:</a:t>
            </a:r>
            <a:endParaRPr lang="en-US" altLang="zh-CN" sz="2000" dirty="0"/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   void g() { </a:t>
            </a:r>
            <a:r>
              <a:rPr lang="en-US" altLang="zh-CN" sz="2000" dirty="0">
                <a:solidFill>
                  <a:srgbClr val="FFC000"/>
                </a:solidFill>
              </a:rPr>
              <a:t>f();</a:t>
            </a:r>
            <a:r>
              <a:rPr lang="en-US" altLang="zh-CN" sz="2000" dirty="0"/>
              <a:t> } //</a:t>
            </a:r>
            <a:r>
              <a:rPr lang="en-US" altLang="zh-CN" sz="2000" dirty="0">
                <a:solidFill>
                  <a:srgbClr val="FFC000"/>
                </a:solidFill>
              </a:rPr>
              <a:t>OK</a:t>
            </a:r>
            <a:endParaRPr lang="en-US" altLang="zh-CN" sz="2000" dirty="0">
              <a:solidFill>
                <a:srgbClr val="FFC000"/>
              </a:solidFill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}</a:t>
            </a:r>
            <a:endParaRPr lang="en-US" altLang="zh-CN" sz="2000" dirty="0"/>
          </a:p>
        </p:txBody>
      </p:sp>
      <p:sp>
        <p:nvSpPr>
          <p:cNvPr id="21509" name="Text Box 5"/>
          <p:cNvSpPr txBox="1"/>
          <p:nvPr/>
        </p:nvSpPr>
        <p:spPr>
          <a:xfrm>
            <a:off x="395288" y="4292600"/>
            <a:ext cx="3816350" cy="23082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class A</a:t>
            </a:r>
            <a:endParaRPr lang="en-US" altLang="zh-CN" sz="2000" dirty="0"/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{  ......</a:t>
            </a:r>
            <a:endParaRPr lang="en-US" altLang="zh-CN" sz="2000" dirty="0"/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public:</a:t>
            </a:r>
            <a:endParaRPr lang="en-US" altLang="zh-CN" sz="2000" dirty="0"/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    void f() { </a:t>
            </a:r>
            <a:r>
              <a:rPr lang="en-US" altLang="zh-CN" sz="2000" dirty="0">
                <a:solidFill>
                  <a:srgbClr val="FFC000"/>
                </a:solidFill>
              </a:rPr>
              <a:t>g();</a:t>
            </a:r>
            <a:r>
              <a:rPr lang="en-US" altLang="zh-CN" sz="2000" dirty="0"/>
              <a:t> } //</a:t>
            </a:r>
            <a:r>
              <a:rPr lang="en-US" altLang="zh-CN" sz="2000" dirty="0">
                <a:solidFill>
                  <a:srgbClr val="FFC000"/>
                </a:solidFill>
              </a:rPr>
              <a:t>Error!</a:t>
            </a:r>
            <a:endParaRPr lang="en-US" altLang="zh-CN" sz="2000" dirty="0">
              <a:solidFill>
                <a:srgbClr val="FFC000"/>
              </a:solidFill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    ......</a:t>
            </a:r>
            <a:endParaRPr lang="en-US" altLang="zh-CN" sz="2000" dirty="0"/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}</a:t>
            </a:r>
            <a:endParaRPr lang="zh-CN" altLang="en-US" sz="2000" dirty="0"/>
          </a:p>
        </p:txBody>
      </p:sp>
      <p:cxnSp>
        <p:nvCxnSpPr>
          <p:cNvPr id="21510" name="直接箭头连接符 6"/>
          <p:cNvCxnSpPr/>
          <p:nvPr/>
        </p:nvCxnSpPr>
        <p:spPr>
          <a:xfrm flipH="1">
            <a:off x="2051050" y="5262563"/>
            <a:ext cx="2952750" cy="75882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2356" name="Rectangle 4"/>
          <p:cNvSpPr>
            <a:spLocks noGrp="1" noChangeArrowheads="1"/>
          </p:cNvSpPr>
          <p:nvPr>
            <p:ph idx="1"/>
          </p:nvPr>
        </p:nvSpPr>
        <p:spPr>
          <a:xfrm>
            <a:off x="468313" y="404813"/>
            <a:ext cx="8351838" cy="6192838"/>
          </a:xfrm>
        </p:spPr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/>
          <a:p>
            <a:pPr marL="361950" marR="0" lvl="0" indent="-361950" algn="l" defTabSz="611505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如果派生类中定义了与基类同名的成员，则基类的成员名在派生类的作用域内不直接可见（被隐藏，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Hidden</a:t>
            </a:r>
            <a:r>
              <a:rPr kumimoji="0" lang="zh-CN" alt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），访问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基类</a:t>
            </a:r>
            <a:r>
              <a:rPr kumimoji="0" lang="zh-CN" alt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同名的成员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时要用基类名受限。例如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en-US" altLang="zh-CN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584200" marR="0" lvl="0" indent="-361950" algn="l" defTabSz="61150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584200" marR="0" lvl="0" indent="-361950" algn="l" defTabSz="61150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B: public A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584200" marR="0" lvl="0" indent="-361950" algn="l" defTabSz="61150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	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z;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584200" marR="0" lvl="0" indent="-361950" algn="l" defTabSz="61150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public: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584200" marR="0" lvl="0" indent="-361950" algn="l" defTabSz="61150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void 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//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不是重载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！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584200" marR="0" lvl="0" indent="-361950" algn="l" defTabSz="61150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void h()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584200" marR="0" lvl="0" indent="-361950" algn="l" defTabSz="61150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{	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  //B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类中的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584200" marR="0" lvl="0" indent="-361950" algn="l" defTabSz="61150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A::f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  //A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类中的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584200" marR="0" lvl="0" indent="-361950" algn="l" defTabSz="61150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584200" marR="0" lvl="0" indent="-361950" algn="l" defTabSz="61150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61950" marR="0" lvl="0" indent="-361950" algn="l" defTabSz="611505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注意：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类中的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与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类中的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不属于函数名重载，因为它们属于不同的作用域。</a:t>
            </a:r>
            <a:endParaRPr kumimoji="0" lang="en-GB" altLang="zh-CN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584200" marR="0" lvl="0" indent="-361950" algn="l" defTabSz="61150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12357" name="Text Box 5"/>
          <p:cNvSpPr txBox="1">
            <a:spLocks noChangeArrowheads="1"/>
          </p:cNvSpPr>
          <p:nvPr/>
        </p:nvSpPr>
        <p:spPr bwMode="auto">
          <a:xfrm>
            <a:off x="5724525" y="2489200"/>
            <a:ext cx="3025775" cy="23082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/>
          <a:p>
            <a:pPr marR="0" defTabSz="450850" eaLnBrk="1" hangingPunct="1">
              <a:buClrTx/>
              <a:buSzTx/>
              <a:buFontTx/>
              <a:buNone/>
              <a:defRPr/>
            </a:pPr>
            <a:r>
              <a:rPr kumimoji="0" lang="en-GB" altLang="zh-CN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class A //</a:t>
            </a:r>
            <a:r>
              <a:rPr kumimoji="0" lang="zh-CN" altLang="en-GB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基类</a:t>
            </a:r>
            <a:endParaRPr kumimoji="0" lang="zh-CN" altLang="en-GB" sz="24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450850" eaLnBrk="1" hangingPunct="1">
              <a:buClrTx/>
              <a:buSzTx/>
              <a:buFontTx/>
              <a:buNone/>
              <a:defRPr/>
            </a:pPr>
            <a:r>
              <a:rPr kumimoji="0" lang="en-GB" altLang="zh-CN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{		</a:t>
            </a:r>
            <a:r>
              <a:rPr kumimoji="0" lang="en-GB" altLang="zh-CN" sz="2400" kern="1200" cap="none" spc="0" normalizeH="0" baseline="0" noProof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GB" altLang="zh-CN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GB" altLang="zh-CN" sz="2400" kern="1200" cap="none" spc="0" normalizeH="0" baseline="0" noProof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x,y</a:t>
            </a:r>
            <a:r>
              <a:rPr kumimoji="0" lang="en-GB" altLang="zh-CN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GB" altLang="zh-CN" sz="24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450850" eaLnBrk="1" hangingPunct="1">
              <a:buClrTx/>
              <a:buSzTx/>
              <a:buFontTx/>
              <a:buNone/>
              <a:defRPr/>
            </a:pPr>
            <a:r>
              <a:rPr kumimoji="0" lang="en-GB" altLang="zh-CN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	public:</a:t>
            </a:r>
            <a:endParaRPr kumimoji="0" lang="en-GB" altLang="zh-CN" sz="24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450850" eaLnBrk="1" hangingPunct="1">
              <a:buClrTx/>
              <a:buSzTx/>
              <a:buFontTx/>
              <a:buNone/>
              <a:defRPr/>
            </a:pPr>
            <a:r>
              <a:rPr kumimoji="0" lang="en-GB" altLang="zh-CN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		void </a:t>
            </a:r>
            <a:r>
              <a:rPr kumimoji="0" lang="en-GB" altLang="zh-CN" sz="2400" kern="1200" cap="none" spc="0" normalizeH="0" baseline="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f</a:t>
            </a:r>
            <a:r>
              <a:rPr kumimoji="0" lang="en-GB" altLang="zh-CN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();</a:t>
            </a:r>
            <a:endParaRPr kumimoji="0" lang="en-GB" altLang="zh-CN" sz="24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450850" eaLnBrk="1" hangingPunct="1">
              <a:buClrTx/>
              <a:buSzTx/>
              <a:buFontTx/>
              <a:buNone/>
              <a:defRPr/>
            </a:pPr>
            <a:r>
              <a:rPr kumimoji="0" lang="en-GB" altLang="zh-CN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		void g();</a:t>
            </a:r>
            <a:endParaRPr kumimoji="0" lang="en-GB" altLang="zh-CN" sz="24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450850" eaLnBrk="1" hangingPunct="1">
              <a:buClrTx/>
              <a:buSzTx/>
              <a:buFontTx/>
              <a:buNone/>
              <a:defRPr/>
            </a:pPr>
            <a:r>
              <a:rPr kumimoji="0" lang="en-GB" altLang="zh-CN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};</a:t>
            </a:r>
            <a:endParaRPr kumimoji="0" lang="en-US" altLang="zh-CN" sz="2400" kern="1200" cap="none" spc="0" normalizeH="0" baseline="0" noProof="0" dirty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47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476250"/>
            <a:ext cx="8229600" cy="6121400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marR="0" lvl="0" indent="-342900" algn="l" defTabSz="6096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即使派生类中定义了与基类同名但参数不同的成员函数，基类的同名函数在派生类的作用域中也是不直接可见的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，仍然需要用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基类名受限方式来使用之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zh-CN" alt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6096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B: public A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096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	</a:t>
            </a:r>
            <a:r>
              <a:rPr kumimoji="0" lang="en-GB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z;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096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public: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096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void 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f(</a:t>
            </a:r>
            <a:r>
              <a:rPr kumimoji="0" lang="en-GB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 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096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void h() 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096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{	f(1);  //OK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096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	f();  //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Error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096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	A::f();  //OK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096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}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096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sp>
        <p:nvSpPr>
          <p:cNvPr id="607232" name="Text Box 0"/>
          <p:cNvSpPr txBox="1">
            <a:spLocks noChangeArrowheads="1"/>
          </p:cNvSpPr>
          <p:nvPr/>
        </p:nvSpPr>
        <p:spPr bwMode="auto">
          <a:xfrm>
            <a:off x="5794375" y="2560638"/>
            <a:ext cx="3025775" cy="23082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/>
          <a:p>
            <a:pPr marR="0" defTabSz="450850" eaLnBrk="1" hangingPunct="1">
              <a:buClrTx/>
              <a:buSzTx/>
              <a:buFontTx/>
              <a:buNone/>
              <a:defRPr/>
            </a:pPr>
            <a:r>
              <a:rPr kumimoji="0" lang="en-GB" altLang="zh-CN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class A //</a:t>
            </a:r>
            <a:r>
              <a:rPr kumimoji="0" lang="zh-CN" altLang="en-GB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基类</a:t>
            </a:r>
            <a:endParaRPr kumimoji="0" lang="zh-CN" altLang="en-GB" sz="24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450850" eaLnBrk="1" hangingPunct="1">
              <a:buClrTx/>
              <a:buSzTx/>
              <a:buFontTx/>
              <a:buNone/>
              <a:defRPr/>
            </a:pPr>
            <a:r>
              <a:rPr kumimoji="0" lang="en-GB" altLang="zh-CN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{		</a:t>
            </a:r>
            <a:r>
              <a:rPr kumimoji="0" lang="en-GB" altLang="zh-CN" sz="2400" kern="1200" cap="none" spc="0" normalizeH="0" baseline="0" noProof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GB" altLang="zh-CN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GB" altLang="zh-CN" sz="2400" kern="1200" cap="none" spc="0" normalizeH="0" baseline="0" noProof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x,y</a:t>
            </a:r>
            <a:r>
              <a:rPr kumimoji="0" lang="en-GB" altLang="zh-CN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GB" altLang="zh-CN" sz="24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450850" eaLnBrk="1" hangingPunct="1">
              <a:buClrTx/>
              <a:buSzTx/>
              <a:buFontTx/>
              <a:buNone/>
              <a:defRPr/>
            </a:pPr>
            <a:r>
              <a:rPr kumimoji="0" lang="en-GB" altLang="zh-CN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	public:</a:t>
            </a:r>
            <a:endParaRPr kumimoji="0" lang="en-GB" altLang="zh-CN" sz="24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450850" eaLnBrk="1" hangingPunct="1">
              <a:buClrTx/>
              <a:buSzTx/>
              <a:buFontTx/>
              <a:buNone/>
              <a:defRPr/>
            </a:pPr>
            <a:r>
              <a:rPr kumimoji="0" lang="en-GB" altLang="zh-CN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		void </a:t>
            </a:r>
            <a:r>
              <a:rPr kumimoji="0" lang="en-GB" altLang="zh-CN" sz="2400" kern="1200" cap="none" spc="0" normalizeH="0" baseline="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f()</a:t>
            </a:r>
            <a:r>
              <a:rPr kumimoji="0" lang="en-GB" altLang="zh-CN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GB" altLang="zh-CN" sz="24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450850" eaLnBrk="1" hangingPunct="1">
              <a:buClrTx/>
              <a:buSzTx/>
              <a:buFontTx/>
              <a:buNone/>
              <a:defRPr/>
            </a:pPr>
            <a:r>
              <a:rPr kumimoji="0" lang="en-GB" altLang="zh-CN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		void g();</a:t>
            </a:r>
            <a:endParaRPr kumimoji="0" lang="en-GB" altLang="zh-CN" sz="24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450850" eaLnBrk="1" hangingPunct="1">
              <a:buClrTx/>
              <a:buSzTx/>
              <a:buFontTx/>
              <a:buNone/>
              <a:defRPr/>
            </a:pPr>
            <a:r>
              <a:rPr kumimoji="0" lang="en-GB" altLang="zh-CN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};</a:t>
            </a:r>
            <a:endParaRPr kumimoji="0" lang="en-US" altLang="zh-CN" sz="2400" kern="1200" cap="none" spc="0" normalizeH="0" baseline="0" noProof="0" dirty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47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477838"/>
            <a:ext cx="8229600" cy="61912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6096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也可以在派生类中使用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using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声明把基类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中某个的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函数名对派生类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开放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zh-CN" alt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6096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B: public A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096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	</a:t>
            </a:r>
            <a:r>
              <a:rPr kumimoji="0" lang="en-GB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z;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096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public: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096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using A::f;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096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void f(</a:t>
            </a:r>
            <a:r>
              <a:rPr kumimoji="0" lang="en-GB" altLang="zh-CN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 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096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void h() 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096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{	f(1);  //OK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096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	f();  //</a:t>
            </a:r>
            <a:r>
              <a:rPr kumimoji="0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OK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</a:t>
            </a:r>
            <a:r>
              <a:rPr kumimoji="0" lang="zh-CN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等价于</a:t>
            </a:r>
            <a:r>
              <a:rPr kumimoji="0" lang="en-GB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A::f</a:t>
            </a: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();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096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}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6096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GB" altLang="zh-CN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sp>
        <p:nvSpPr>
          <p:cNvPr id="607232" name="Text Box 0"/>
          <p:cNvSpPr txBox="1">
            <a:spLocks noChangeArrowheads="1"/>
          </p:cNvSpPr>
          <p:nvPr/>
        </p:nvSpPr>
        <p:spPr bwMode="auto">
          <a:xfrm>
            <a:off x="6010275" y="1408113"/>
            <a:ext cx="3025775" cy="23082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/>
          <a:p>
            <a:pPr marR="0" defTabSz="450850" eaLnBrk="1" hangingPunct="1">
              <a:buClrTx/>
              <a:buSzTx/>
              <a:buFontTx/>
              <a:buNone/>
              <a:defRPr/>
            </a:pPr>
            <a:r>
              <a:rPr kumimoji="0" lang="en-GB" altLang="zh-CN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class A //</a:t>
            </a:r>
            <a:r>
              <a:rPr kumimoji="0" lang="zh-CN" altLang="en-GB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基类</a:t>
            </a:r>
            <a:endParaRPr kumimoji="0" lang="zh-CN" altLang="en-GB" sz="24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450850" eaLnBrk="1" hangingPunct="1">
              <a:buClrTx/>
              <a:buSzTx/>
              <a:buFontTx/>
              <a:buNone/>
              <a:defRPr/>
            </a:pPr>
            <a:r>
              <a:rPr kumimoji="0" lang="en-GB" altLang="zh-CN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{		</a:t>
            </a:r>
            <a:r>
              <a:rPr kumimoji="0" lang="en-GB" altLang="zh-CN" sz="2400" kern="1200" cap="none" spc="0" normalizeH="0" baseline="0" noProof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GB" altLang="zh-CN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GB" altLang="zh-CN" sz="2400" kern="1200" cap="none" spc="0" normalizeH="0" baseline="0" noProof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x,y</a:t>
            </a:r>
            <a:r>
              <a:rPr kumimoji="0" lang="en-GB" altLang="zh-CN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GB" altLang="zh-CN" sz="24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450850" eaLnBrk="1" hangingPunct="1">
              <a:buClrTx/>
              <a:buSzTx/>
              <a:buFontTx/>
              <a:buNone/>
              <a:defRPr/>
            </a:pPr>
            <a:r>
              <a:rPr kumimoji="0" lang="en-GB" altLang="zh-CN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	public:</a:t>
            </a:r>
            <a:endParaRPr kumimoji="0" lang="en-GB" altLang="zh-CN" sz="24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450850" eaLnBrk="1" hangingPunct="1">
              <a:buClrTx/>
              <a:buSzTx/>
              <a:buFontTx/>
              <a:buNone/>
              <a:defRPr/>
            </a:pPr>
            <a:r>
              <a:rPr kumimoji="0" lang="en-GB" altLang="zh-CN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		void </a:t>
            </a:r>
            <a:r>
              <a:rPr kumimoji="0" lang="en-GB" altLang="zh-CN" sz="2400" kern="1200" cap="none" spc="0" normalizeH="0" baseline="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f</a:t>
            </a:r>
            <a:r>
              <a:rPr kumimoji="0" lang="en-GB" altLang="zh-CN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();</a:t>
            </a:r>
            <a:endParaRPr kumimoji="0" lang="en-GB" altLang="zh-CN" sz="24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450850" eaLnBrk="1" hangingPunct="1">
              <a:buClrTx/>
              <a:buSzTx/>
              <a:buFontTx/>
              <a:buNone/>
              <a:defRPr/>
            </a:pPr>
            <a:r>
              <a:rPr kumimoji="0" lang="en-GB" altLang="zh-CN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		void g();</a:t>
            </a:r>
            <a:endParaRPr kumimoji="0" lang="en-GB" altLang="zh-CN" sz="24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450850" eaLnBrk="1" hangingPunct="1">
              <a:buClrTx/>
              <a:buSzTx/>
              <a:buFontTx/>
              <a:buNone/>
              <a:defRPr/>
            </a:pPr>
            <a:r>
              <a:rPr kumimoji="0" lang="en-GB" altLang="zh-CN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};</a:t>
            </a:r>
            <a:endParaRPr kumimoji="0" lang="en-US" altLang="zh-CN" sz="2400" kern="1200" cap="none" spc="0" normalizeH="0" baseline="0" noProof="0" dirty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2914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44450"/>
            <a:ext cx="8642350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基类成员在派生类中对外的访问控制 </a:t>
            </a:r>
            <a:endParaRPr kumimoji="0" lang="zh-CN" altLang="en-US" sz="40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2291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12875"/>
            <a:ext cx="8229600" cy="15843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C++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中，派生类拥有基类的所有成员。问题是：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基类的成员在派生类中对外的访问控制是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什么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？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即，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派生类的用户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能访问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基类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的哪些成员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？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60363" y="3140075"/>
            <a:ext cx="2482850" cy="352901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</a:ln>
          <a:effectLst/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A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public: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void f();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protected: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void g();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private: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void h();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 </a:t>
            </a: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endParaRPr kumimoji="0" lang="en-GB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    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zh-CN" altLang="en-GB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300788" y="3141663"/>
            <a:ext cx="2519363" cy="31670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//B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用户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</a:t>
            </a:r>
            <a:endParaRPr kumimoji="0" lang="en-GB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</a:t>
            </a:r>
            <a:r>
              <a:rPr kumimoji="0" lang="en-GB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en-GB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 public </a:t>
            </a:r>
            <a:r>
              <a:rPr kumimoji="0" lang="en-GB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9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endParaRPr kumimoji="0" lang="en-GB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rgbClr val="99FF66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public:</a:t>
            </a:r>
            <a:endParaRPr kumimoji="0" lang="en-GB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void r()</a:t>
            </a:r>
            <a:endParaRPr kumimoji="0" lang="en-GB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{	f();  //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?</a:t>
            </a:r>
            <a:endParaRPr kumimoji="0" lang="en-GB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g(); //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?</a:t>
            </a:r>
            <a:endParaRPr kumimoji="0" lang="en-GB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h(); //</a:t>
            </a:r>
            <a:r>
              <a:rPr kumimoji="0" lang="en-GB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?</a:t>
            </a:r>
            <a:endParaRPr kumimoji="0" lang="en-GB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}</a:t>
            </a:r>
            <a:endParaRPr kumimoji="0" lang="en-GB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GB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500438" y="3141663"/>
            <a:ext cx="2295525" cy="2479675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//B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的用户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</a:t>
            </a:r>
            <a:endParaRPr kumimoji="0" lang="en-GB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</a:t>
            </a:r>
            <a:r>
              <a:rPr kumimoji="0" lang="en-GB" altLang="zh-CN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func</a:t>
            </a:r>
            <a:r>
              <a:rPr kumimoji="0" lang="en-GB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</a:t>
            </a:r>
            <a:endParaRPr kumimoji="0" lang="en-GB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</a:t>
            </a:r>
            <a:r>
              <a:rPr kumimoji="0" lang="en-GB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9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en-GB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b;</a:t>
            </a:r>
            <a:endParaRPr kumimoji="0" lang="en-GB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GB" altLang="zh-CN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b.f</a:t>
            </a:r>
            <a:r>
              <a:rPr kumimoji="0" lang="en-GB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  //</a:t>
            </a:r>
            <a:r>
              <a:rPr kumimoji="0" lang="en-GB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?</a:t>
            </a:r>
            <a:endParaRPr kumimoji="0" lang="zh-CN" altLang="en-GB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GB" altLang="zh-CN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b.g</a:t>
            </a:r>
            <a:r>
              <a:rPr kumimoji="0" lang="en-GB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 //</a:t>
            </a:r>
            <a:r>
              <a:rPr kumimoji="0" lang="en-GB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?</a:t>
            </a:r>
            <a:endParaRPr kumimoji="0" lang="zh-CN" altLang="en-GB" sz="2000" b="0" i="0" u="none" strike="noStrike" kern="120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GB" altLang="zh-CN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b.h</a:t>
            </a:r>
            <a:r>
              <a:rPr kumimoji="0" lang="en-GB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 //</a:t>
            </a:r>
            <a:r>
              <a:rPr kumimoji="0" lang="en-GB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?</a:t>
            </a:r>
            <a:endParaRPr kumimoji="0" lang="en-GB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GB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继承方式</a:t>
            </a: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上面的问题由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基类的访问控制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与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派生类的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继承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方式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共同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决定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继承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方式在定义派生类时指定：</a:t>
            </a:r>
            <a:endParaRPr kumimoji="0" lang="zh-CN" altLang="en-GB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&lt;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派生类名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[&lt;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继承方式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&gt;]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&lt;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基类名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&lt;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成员说明表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&gt;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继承方式可以是：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public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private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和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protected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默认的继承方式为：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private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3968" name="Rectangle 3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继承方式的含义</a:t>
            </a:r>
            <a:endParaRPr kumimoji="0" lang="zh-CN" altLang="en-US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23937" name="Group 1"/>
          <p:cNvGraphicFramePr>
            <a:graphicFrameLocks noGrp="1"/>
          </p:cNvGraphicFramePr>
          <p:nvPr>
            <p:ph idx="1"/>
          </p:nvPr>
        </p:nvGraphicFramePr>
        <p:xfrm>
          <a:off x="457200" y="1851025"/>
          <a:ext cx="8229600" cy="4530725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1133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         </a:t>
                      </a: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基类成员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    派生类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继承方式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C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public</a:t>
                      </a:r>
                      <a:endParaRPr kumimoji="0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private</a:t>
                      </a:r>
                      <a:endParaRPr kumimoji="0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protected</a:t>
                      </a:r>
                      <a:endParaRPr kumimoji="0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31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public</a:t>
                      </a:r>
                      <a:endParaRPr kumimoji="0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public</a:t>
                      </a:r>
                      <a:endParaRPr kumimoji="0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不可访问</a:t>
                      </a:r>
                      <a:endParaRPr kumimoji="0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protected</a:t>
                      </a:r>
                      <a:endParaRPr kumimoji="0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33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private</a:t>
                      </a:r>
                      <a:endParaRPr kumimoji="0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private</a:t>
                      </a:r>
                      <a:endParaRPr kumimoji="0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不可访问</a:t>
                      </a:r>
                      <a:endParaRPr kumimoji="0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private</a:t>
                      </a:r>
                      <a:endParaRPr kumimoji="0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31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protected</a:t>
                      </a:r>
                      <a:endParaRPr kumimoji="0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protected</a:t>
                      </a:r>
                      <a:endParaRPr kumimoji="0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不可访问</a:t>
                      </a:r>
                      <a:endParaRPr kumimoji="0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protected</a:t>
                      </a:r>
                      <a:endParaRPr kumimoji="0" lang="en-US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7678" name="Line 34"/>
          <p:cNvSpPr/>
          <p:nvPr/>
        </p:nvSpPr>
        <p:spPr>
          <a:xfrm>
            <a:off x="971550" y="1844675"/>
            <a:ext cx="1512888" cy="11509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79" name="Line 35"/>
          <p:cNvSpPr/>
          <p:nvPr/>
        </p:nvSpPr>
        <p:spPr>
          <a:xfrm flipH="1" flipV="1">
            <a:off x="395288" y="2422525"/>
            <a:ext cx="2089150" cy="5746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5987" name="Rectangle 3"/>
          <p:cNvSpPr>
            <a:spLocks noGrp="1" noChangeArrowheads="1"/>
          </p:cNvSpPr>
          <p:nvPr>
            <p:ph idx="1"/>
          </p:nvPr>
        </p:nvSpPr>
        <p:spPr>
          <a:xfrm>
            <a:off x="215900" y="115888"/>
            <a:ext cx="4356100" cy="6192838"/>
          </a:xfrm>
          <a:solidFill>
            <a:schemeClr val="bg1">
              <a:lumMod val="75000"/>
            </a:schemeClr>
          </a:solidFill>
        </p:spPr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A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public: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void f();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protected: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void g();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private: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void h();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99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protected 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	 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//f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为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protected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	  //g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为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protected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	  //h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为不可访问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public: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void q() 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{ f(); //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?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  g(); //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?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  h(); //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?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}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4860925" y="115888"/>
            <a:ext cx="4103688" cy="659765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</a:t>
            </a: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 public </a:t>
            </a: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9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endParaRPr kumimoji="0" lang="en-GB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rgbClr val="99FF66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public:</a:t>
            </a:r>
            <a:endParaRPr kumimoji="0" lang="en-GB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void r()</a:t>
            </a:r>
            <a:endParaRPr kumimoji="0" lang="en-GB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{	f();  //OK</a:t>
            </a:r>
            <a:endParaRPr kumimoji="0" lang="en-GB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g();  //OK</a:t>
            </a:r>
            <a:endParaRPr kumimoji="0" lang="en-GB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h();  //</a:t>
            </a: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Error</a:t>
            </a:r>
            <a:endParaRPr kumimoji="0" lang="zh-CN" altLang="en-GB" sz="2400" b="0" i="0" u="none" strike="noStrike" kern="120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     </a:t>
            </a: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q</a:t>
            </a:r>
            <a:r>
              <a:rPr kumimoji="0" lang="en-GB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</a:t>
            </a:r>
            <a:r>
              <a:rPr kumimoji="0" lang="en-GB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 </a:t>
            </a: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?</a:t>
            </a:r>
            <a:endParaRPr kumimoji="0" lang="en-GB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}</a:t>
            </a:r>
            <a:endParaRPr kumimoji="0" lang="en-GB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GB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</a:t>
            </a:r>
            <a:r>
              <a:rPr kumimoji="0" lang="en-GB" altLang="zh-CN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func</a:t>
            </a: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</a:t>
            </a:r>
            <a:endParaRPr kumimoji="0" lang="en-GB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</a:t>
            </a: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9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b;</a:t>
            </a:r>
            <a:endParaRPr kumimoji="0" lang="en-GB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GB" altLang="zh-CN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b.f</a:t>
            </a: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  //</a:t>
            </a: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Error</a:t>
            </a:r>
            <a:endParaRPr kumimoji="0" lang="zh-CN" altLang="en-GB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GB" altLang="zh-CN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b.g</a:t>
            </a: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 //</a:t>
            </a: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Error</a:t>
            </a:r>
            <a:endParaRPr kumimoji="0" lang="zh-CN" altLang="en-GB" sz="2400" b="0" i="0" u="none" strike="noStrike" kern="120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GB" altLang="zh-CN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b.h</a:t>
            </a: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 //</a:t>
            </a: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Error</a:t>
            </a:r>
            <a:endParaRPr kumimoji="0" lang="en-GB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GB" altLang="zh-CN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b.</a:t>
            </a:r>
            <a:r>
              <a:rPr kumimoji="0" lang="en-GB" altLang="zh-CN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q</a:t>
            </a:r>
            <a:r>
              <a:rPr kumimoji="0" lang="en-GB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</a:t>
            </a:r>
            <a:r>
              <a:rPr kumimoji="0" lang="en-GB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</a:t>
            </a: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?</a:t>
            </a:r>
            <a:endParaRPr kumimoji="0" lang="en-GB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0825" y="6308725"/>
            <a:ext cx="3335338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C000"/>
                </a:solidFill>
              </a:rPr>
              <a:t>?</a:t>
            </a:r>
            <a:r>
              <a:rPr lang="zh-CN" altLang="en-US" sz="2400" dirty="0">
                <a:solidFill>
                  <a:srgbClr val="FFC000"/>
                </a:solidFill>
              </a:rPr>
              <a:t>跟</a:t>
            </a:r>
            <a:r>
              <a:rPr lang="en-US" altLang="zh-CN" sz="2400" dirty="0">
                <a:solidFill>
                  <a:srgbClr val="FFC000"/>
                </a:solidFill>
              </a:rPr>
              <a:t>B</a:t>
            </a:r>
            <a:r>
              <a:rPr lang="zh-CN" altLang="en-US" sz="2400" dirty="0">
                <a:solidFill>
                  <a:srgbClr val="FFC000"/>
                </a:solidFill>
              </a:rPr>
              <a:t>的继承方式无关！</a:t>
            </a:r>
            <a:endParaRPr lang="zh-CN" altLang="en-US" sz="24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charRg st="177" end="1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5987">
                                            <p:txEl>
                                              <p:charRg st="177" end="19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5987">
                                            <p:txEl>
                                              <p:charRg st="177" end="19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charRg st="190" end="2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25987">
                                            <p:txEl>
                                              <p:charRg st="190" end="20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25987">
                                            <p:txEl>
                                              <p:charRg st="190" end="20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charRg st="204" end="2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25987">
                                            <p:txEl>
                                              <p:charRg st="204" end="2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25987">
                                            <p:txEl>
                                              <p:charRg st="204" end="2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charRg st="218" end="2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25987">
                                            <p:txEl>
                                              <p:charRg st="218" end="2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25987">
                                            <p:txEl>
                                              <p:charRg st="218" end="22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85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charRg st="85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charRg st="85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86" end="2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charRg st="186" end="20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charRg st="186" end="20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charRg st="165" end="1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25987">
                                            <p:txEl>
                                              <p:charRg st="165" end="17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25987">
                                            <p:txEl>
                                              <p:charRg st="165" end="17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8913"/>
            <a:ext cx="8229600" cy="6553200"/>
          </a:xfrm>
        </p:spPr>
        <p:txBody>
          <a:bodyPr vert="horz" wrap="square" lIns="91440" tIns="45720" rIns="91440" bIns="45720" numCol="1" anchor="t" anchorCtr="0" compatLnSpc="1">
            <a:normAutofit fontScale="62500" lnSpcReduction="2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继承方式的调整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A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 public: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void f1();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void f2();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void f3();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protected: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void g1();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void g2();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void g3();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B: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private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A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public: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A::f1;  //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把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f1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调整为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public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A::g1;  //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把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g1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调整为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public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//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是否允许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弱化基类的访问控制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要视具体的实现而定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protected: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A::f2; //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把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f2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调整为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protected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A::g2; //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把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g2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调整为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protected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......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8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public</a:t>
            </a: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继承与</a:t>
            </a: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子类型</a:t>
            </a:r>
            <a:endParaRPr kumimoji="0" lang="zh-CN" altLang="en-US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3488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28775"/>
            <a:ext cx="8229600" cy="4608513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public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继承有特殊的作用，它可以实现类之间的子类型关系：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用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类型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表达的所有程序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，当用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类型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去替换程序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中的所有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的类型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时，程序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的功能不变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，则称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类型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是类型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子类型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C++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中，把类看作类型，把以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public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方式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继承的派生类看作是基类的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子类型：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基类对象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能实施的操作也能作用于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派生类对象。</a:t>
            </a:r>
            <a:endParaRPr kumimoji="0" lang="zh-CN" altLang="en-GB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在需要基类对象的地方可以用派生类对象去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替代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zh-CN" alt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4813"/>
            <a:ext cx="8229600" cy="6264275"/>
          </a:xfrm>
        </p:spPr>
        <p:txBody>
          <a:bodyPr vert="horz" wrap="square" lIns="91440" tIns="45720" rIns="91440" bIns="45720" numCol="1" anchor="t" anchorCtr="0" compatLnSpc="1">
            <a:normAutofit fontScale="925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例如，对于下面的两个类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endParaRPr kumimoji="0" lang="en-GB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</a:t>
            </a: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 //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基类</a:t>
            </a:r>
            <a:endParaRPr kumimoji="0" lang="zh-CN" altLang="en-GB" sz="28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</a:t>
            </a:r>
            <a:r>
              <a:rPr kumimoji="0" lang="en-GB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GB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x,y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GB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public:</a:t>
            </a:r>
            <a:endParaRPr kumimoji="0" lang="en-GB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void </a:t>
            </a: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() { x++; y++; }</a:t>
            </a:r>
            <a:endParaRPr kumimoji="0" lang="en-GB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</a:t>
            </a:r>
            <a:endParaRPr kumimoji="0" lang="en-GB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GB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B: </a:t>
            </a: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public</a:t>
            </a: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A //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派生类</a:t>
            </a:r>
            <a:endParaRPr kumimoji="0" lang="zh-CN" altLang="en-GB" sz="28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z;</a:t>
            </a:r>
            <a:endParaRPr kumimoji="0" lang="zh-CN" altLang="en-GB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public:</a:t>
            </a:r>
            <a:endParaRPr kumimoji="0" lang="en-GB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void g() { z++; } </a:t>
            </a:r>
            <a:endParaRPr kumimoji="0" lang="en-GB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......</a:t>
            </a:r>
            <a:endParaRPr kumimoji="0" lang="zh-CN" altLang="en-GB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GB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8498" name="Rectangle 2"/>
          <p:cNvSpPr>
            <a:spLocks noGrp="1" noChangeArrowheads="1"/>
          </p:cNvSpPr>
          <p:nvPr>
            <p:ph idx="1"/>
          </p:nvPr>
        </p:nvSpPr>
        <p:spPr>
          <a:xfrm>
            <a:off x="179388" y="260350"/>
            <a:ext cx="8713788" cy="6048375"/>
          </a:xfrm>
        </p:spPr>
        <p:txBody>
          <a:bodyPr vert="horz" wrap="square" lIns="91440" tIns="45720" rIns="91440" bIns="45720" numCol="1" anchor="t" anchorCtr="0" compatLnSpc="1">
            <a:normAutofit fontScale="85000" lnSpcReduction="20000"/>
          </a:bodyPr>
          <a:lstStyle/>
          <a:p>
            <a:pPr marL="497205" marR="0" lvl="0" indent="-49720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下面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的操作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合法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的：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622300" marR="0" lvl="1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 </a:t>
            </a:r>
            <a:r>
              <a:rPr kumimoji="0" lang="en-GB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GB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622300" marR="0" lvl="1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 </a:t>
            </a:r>
            <a:r>
              <a:rPr kumimoji="0" lang="en-GB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GB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622300" marR="0" lvl="1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</a:t>
            </a:r>
            <a:r>
              <a:rPr kumimoji="0" lang="en-GB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.f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();    //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OK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，基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类的操作可以实施到派生类对象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622300" marR="0" lvl="1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 = 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  //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OK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，派生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类对象可以赋值给基类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对象，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622300" marR="0" lvl="1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 //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属于派生类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但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不属于基类的数据成员将被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忽略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622300" marR="0" lvl="1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 *p=&amp;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  //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OK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，基类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指针可以指向派生类对象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622300" marR="0" lvl="1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 &amp;a2=b;  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OK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，基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类的引用可以引用派生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类对象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622300" marR="0" lvl="1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622300" marR="0" lvl="1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void func1(A *p); 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622300" marR="0" lvl="1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void func2(A &amp;x);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622300" marR="0" lvl="1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void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func3(A x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622300" marR="0" lvl="1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func1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(&amp;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func2(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func3(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//OK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371600" marR="0" lvl="2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GB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388" y="333375"/>
            <a:ext cx="8713788" cy="5903913"/>
          </a:xfrm>
        </p:spPr>
        <p:txBody>
          <a:bodyPr vert="horz" wrap="square" lIns="91440" tIns="45720" rIns="91440" bIns="45720" numCol="1" anchor="t" anchorCtr="0" compatLnSpc="1">
            <a:normAutofit fontScale="92500"/>
          </a:bodyPr>
          <a:lstStyle/>
          <a:p>
            <a:pPr marL="497205" marR="0" lvl="0" indent="-4400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下面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的操作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不合法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的：</a:t>
            </a:r>
            <a:endParaRPr kumimoji="0" lang="zh-CN" alt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803275" marR="0" lvl="1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 </a:t>
            </a:r>
            <a:r>
              <a:rPr kumimoji="0" lang="en-GB" altLang="zh-CN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en-GB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GB" altLang="zh-CN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03275" marR="0" lvl="1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 </a:t>
            </a:r>
            <a:r>
              <a:rPr kumimoji="0" lang="en-GB" altLang="zh-CN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</a:t>
            </a:r>
            <a:r>
              <a:rPr kumimoji="0" lang="en-GB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GB" altLang="zh-CN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03275" marR="0" lvl="1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a.</a:t>
            </a:r>
            <a:r>
              <a:rPr kumimoji="0" lang="en-US" altLang="zh-CN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g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(); //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Error</a:t>
            </a:r>
            <a:r>
              <a:rPr kumimoji="0" lang="zh-CN" altLang="en-GB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基</a:t>
            </a:r>
            <a:r>
              <a:rPr kumimoji="0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类对象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没有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g</a:t>
            </a:r>
            <a:r>
              <a:rPr kumimoji="0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这个成员函数。</a:t>
            </a:r>
            <a:endParaRPr kumimoji="0" lang="zh-CN" altLang="en-GB" sz="26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03275" marR="0" lvl="1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 = </a:t>
            </a:r>
            <a:r>
              <a:rPr kumimoji="0" lang="en-GB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en-GB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  //</a:t>
            </a:r>
            <a:r>
              <a:rPr kumimoji="0" lang="en-GB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Error</a:t>
            </a:r>
            <a:r>
              <a:rPr kumimoji="0" lang="zh-CN" altLang="en-GB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，它将导致</a:t>
            </a:r>
            <a:r>
              <a:rPr kumimoji="0" lang="en-GB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</a:t>
            </a:r>
            <a:r>
              <a:rPr kumimoji="0" lang="zh-CN" altLang="en-GB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有不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一致</a:t>
            </a:r>
            <a:r>
              <a:rPr kumimoji="0" lang="zh-CN" altLang="en-GB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的成员数据</a:t>
            </a:r>
            <a:endParaRPr kumimoji="0" lang="en-US" altLang="zh-CN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03275" marR="0" lvl="1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      //</a:t>
            </a:r>
            <a:r>
              <a:rPr kumimoji="0" lang="zh-CN" altLang="en-GB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</a:t>
            </a:r>
            <a:r>
              <a:rPr kumimoji="0" lang="en-GB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zh-CN" altLang="en-GB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中没有</a:t>
            </a:r>
            <a:r>
              <a:rPr kumimoji="0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属于派生类的</a:t>
            </a:r>
            <a:r>
              <a:rPr kumimoji="0" lang="zh-CN" altLang="en-GB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数据）。</a:t>
            </a:r>
            <a:endParaRPr kumimoji="0" lang="zh-CN" altLang="en-GB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03275" marR="0" lvl="1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 *q=&amp;</a:t>
            </a:r>
            <a:r>
              <a:rPr kumimoji="0" lang="en-GB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en-GB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  //</a:t>
            </a:r>
            <a:r>
              <a:rPr kumimoji="0" lang="en-GB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Error</a:t>
            </a:r>
            <a:r>
              <a:rPr kumimoji="0" lang="zh-CN" altLang="en-GB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“</a:t>
            </a:r>
            <a:r>
              <a:rPr kumimoji="0" lang="en-GB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q-&gt;g();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”将修改不属于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的数据！</a:t>
            </a:r>
            <a:endParaRPr kumimoji="0" lang="en-US" altLang="zh-CN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03275" marR="0" lvl="1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 &amp;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b2</a:t>
            </a:r>
            <a:r>
              <a:rPr kumimoji="0" lang="en-GB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=</a:t>
            </a:r>
            <a:r>
              <a:rPr kumimoji="0" lang="en-GB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en-GB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  //</a:t>
            </a:r>
            <a:r>
              <a:rPr kumimoji="0" lang="en-GB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Error</a:t>
            </a:r>
            <a:r>
              <a:rPr kumimoji="0" lang="zh-CN" altLang="en-GB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“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b2.g()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r>
              <a:rPr kumimoji="0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”将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修改不属于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的数据！</a:t>
            </a:r>
            <a:endParaRPr kumimoji="0" lang="en-GB" altLang="zh-CN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03275" marR="0" lvl="1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GB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</a:t>
            </a:r>
            <a:endParaRPr kumimoji="0" lang="en-GB" altLang="zh-CN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03275" marR="0" lvl="1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void func1(B *p); </a:t>
            </a:r>
            <a:endParaRPr kumimoji="0" lang="en-US" altLang="zh-CN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03275" marR="0" lvl="1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void func2(B &amp;x);</a:t>
            </a:r>
            <a:endParaRPr kumimoji="0" lang="en-US" altLang="zh-CN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03275" marR="0" lvl="1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void 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func3(B x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</a:t>
            </a: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803275" marR="0" lvl="1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func1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(&amp;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 func2(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 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func3(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 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Error</a:t>
            </a:r>
            <a:endParaRPr kumimoji="0" lang="zh-CN" altLang="en-US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55588"/>
            <a:ext cx="8229600" cy="941388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GB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派生类对象的初始化</a:t>
            </a: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和消亡处理 </a:t>
            </a:r>
            <a:endParaRPr kumimoji="0" lang="zh-CN" altLang="en-US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52963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412875"/>
            <a:ext cx="8397875" cy="5111750"/>
          </a:xfrm>
        </p:spPr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派生类对象的初始化由基类和派生类共同完成：</a:t>
            </a:r>
            <a:endParaRPr kumimoji="0" lang="zh-CN" alt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从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基类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继承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数据成员由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基类的构造函数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初始化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；</a:t>
            </a:r>
            <a:endParaRPr kumimoji="0" lang="zh-CN" alt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派生类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新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数据成员由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派生类的构造函数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初始化。</a:t>
            </a:r>
            <a:endParaRPr kumimoji="0" lang="zh-CN" alt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当创建派生类的对象时，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先执行基类的构造函数，再执行派生类构造函数。</a:t>
            </a:r>
            <a:endParaRPr kumimoji="0" lang="zh-CN" alt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默认情况下，调用基类的默认构造函数，如果要调用基类的非默认构造函数，则必须在派生类构造函数的成员初始化表中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显式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指出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当派生类对象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消亡时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先调用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本身类的析构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函数，执行完后会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去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自动调用基类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的析构函数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3987" name="Rectangle 3"/>
          <p:cNvSpPr>
            <a:spLocks noGrp="1" noChangeArrowheads="1"/>
          </p:cNvSpPr>
          <p:nvPr>
            <p:ph idx="1"/>
          </p:nvPr>
        </p:nvSpPr>
        <p:spPr>
          <a:xfrm>
            <a:off x="71438" y="73025"/>
            <a:ext cx="9037638" cy="66690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A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	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x;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public: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A() { x = 0; }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A(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 { x =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}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B: public A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	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y;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public: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B() { y = 0; }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B(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 { y =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}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B(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j):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A(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{ y = j; }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 b1;  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执行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A::A()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B::B()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b1.x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等于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b1.y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等于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 b2(1);  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执行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A::A()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B::B(int)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b2.x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等于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b2.y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等于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 b3(1,2);  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执行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A::A(int)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B::B(int,int)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b3.x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等于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//b3.y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等于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一个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未提供任何构造函数的类，如果它有基类，编译程序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有时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会隐式地为之提供一个默认构造函数，其作用是负责调用基类的默认构造函数。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对一个未提供析构函数的类，如果它有基类，编译程序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有时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也会隐式地为之提供一个析构函数，其作用是负责调用基类的析构函数。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5011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125538"/>
            <a:ext cx="8686800" cy="45069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如果一个类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既有基类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、又有成员对象类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，则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在创建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类对象时，构造函数的执行次序为：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B-&gt;M-&gt;D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当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类的对象消亡时，析构函数的执行次序为：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D-&gt;M-&gt;B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6035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916113"/>
            <a:ext cx="8507413" cy="4465638"/>
          </a:xfrm>
        </p:spPr>
        <p:txBody>
          <a:bodyPr vert="horz" wrap="square" lIns="91440" tIns="45720" rIns="91440" bIns="45720" numCol="1" anchor="t" anchorCtr="0" compatLnSpc="1">
            <a:normAutofit fontScale="925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派生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类的隐式拷贝构造函数（由编译程序提供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对派生类中新定义的成员进行拷贝初始化外。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调用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基类的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拷贝构造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函数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实现对基类成员的初始化。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派生类自定义的拷贝构造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在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默认情况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下调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用基类的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默认构造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函数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对基类成员初始化。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需要在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</a:rPr>
              <a:t>“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成员初始化表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</a:rPr>
              <a:t>”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中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显式地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指出调用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基类的拷贝构造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函数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来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实现对基类成员的初始化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 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GB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派生类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拷贝构造函数</a:t>
            </a: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5888"/>
            <a:ext cx="8229600" cy="6481763"/>
          </a:xfrm>
        </p:spPr>
        <p:txBody>
          <a:bodyPr vert="horz" wrap="square" lIns="91440" tIns="45720" rIns="91440" bIns="45720" numCol="1" anchor="t" anchorCtr="0" compatLnSpc="1">
            <a:normAutofit fontScale="77500" lnSpcReduction="20000"/>
          </a:bodyPr>
          <a:lstStyle/>
          <a:p>
            <a:pPr marL="342900" marR="0" lvl="0" indent="-342900" algn="l" defTabSz="44958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A 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x; 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...... 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B: public A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	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y;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public: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44958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B() { ...... }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B(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B&amp; b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 //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类的默认构造函数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{	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y =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b.y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//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对派生类新定义的成员进行初始化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......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 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 b1;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 b2(b1); 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276600" y="3357563"/>
            <a:ext cx="5040313" cy="47625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500" kern="1200" cap="none" spc="0" normalizeH="0" baseline="0" noProof="0" dirty="0">
                <a:solidFill>
                  <a:srgbClr val="FFC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:A(b) </a:t>
            </a:r>
            <a:r>
              <a:rPr kumimoji="0" lang="zh-CN" altLang="en-US" sz="2500" kern="1200" cap="none" spc="0" normalizeH="0" baseline="0" noProof="0" dirty="0">
                <a:solidFill>
                  <a:srgbClr val="FFC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500" kern="1200" cap="none" spc="0" normalizeH="0" baseline="0" noProof="0" dirty="0">
                <a:solidFill>
                  <a:srgbClr val="FFC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2500" kern="1200" cap="none" spc="0" normalizeH="0" baseline="0" noProof="0" dirty="0">
                <a:solidFill>
                  <a:srgbClr val="FFC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调用</a:t>
            </a:r>
            <a:r>
              <a:rPr kumimoji="0" lang="en-US" altLang="zh-CN" sz="2500" kern="1200" cap="none" spc="0" normalizeH="0" baseline="0" noProof="0" dirty="0">
                <a:solidFill>
                  <a:srgbClr val="FFC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sz="2500" kern="1200" cap="none" spc="0" normalizeH="0" baseline="0" noProof="0" dirty="0">
                <a:solidFill>
                  <a:srgbClr val="FFC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类的拷贝构造函数</a:t>
            </a:r>
            <a:endParaRPr kumimoji="0" lang="zh-CN" altLang="en-US" sz="2500" kern="1200" cap="none" spc="0" normalizeH="0" baseline="0" noProof="0" dirty="0">
              <a:solidFill>
                <a:srgbClr val="FFC000"/>
              </a:solidFill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GB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派生类对象的赋值</a:t>
            </a: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操作</a:t>
            </a: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派生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隐式的赋值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操作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派生类成员进行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赋值。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调用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基类的赋值操作对基类成员进行赋值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派生类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自定义的赋值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操作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不会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自动调用基类的赋值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操作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需要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在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自定义的赋值操作符重载函数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中显式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地指出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调用基类的赋值操作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7059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333375"/>
            <a:ext cx="8507413" cy="6408738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342900" marR="0" lvl="0" indent="-342900" algn="l" defTabSz="44958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A 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x;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...... 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B: public A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	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y;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public: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B&amp; operator =(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B&amp; b)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{	if (&amp;b == this) return *this;  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防止自身赋值。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*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(A*)this = b;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调用基类的赋值操作符对基类成员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	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进行赋值。也可写成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this-&gt;A::operator =(b); 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y =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b.y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 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对派生类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新定义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的成员赋值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return *this;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 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 b1,b2;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58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b1 = b2;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808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继承的实例</a:t>
            </a:r>
            <a:r>
              <a:rPr kumimoji="0" lang="zh-CN" altLang="en-GB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：一个公司中的职员类</a:t>
            </a:r>
            <a:br>
              <a:rPr kumimoji="0" lang="zh-CN" altLang="en-GB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zh-CN" altLang="en-GB" sz="40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和</a:t>
            </a:r>
            <a:r>
              <a:rPr kumimoji="0" lang="zh-CN" altLang="en-GB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部门经理类的设计。</a:t>
            </a:r>
            <a:r>
              <a:rPr kumimoji="0" lang="zh-CN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0" lang="zh-CN" altLang="en-US" sz="40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5808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50688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tabLst>
                <a:tab pos="620395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Employee 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普通职员类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tabLst>
                <a:tab pos="620395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	String name; //String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为字符串类。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tabLst>
                <a:tab pos="620395" algn="l"/>
              </a:tabLst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salary;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tabLst>
                <a:tab pos="620395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public: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tabLst>
                <a:tab pos="620395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Employee(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char *s,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n=0):name(s) 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tabLst>
                <a:tab pos="620395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{	salary = n; 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tabLst>
                <a:tab pos="620395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tabLst>
                <a:tab pos="620395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void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set_salary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n) { salary = n; 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tabLst>
                <a:tab pos="620395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get_salary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{ return salary; 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tabLst>
                <a:tab pos="620395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......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tabLst>
                <a:tab pos="620395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9107" name="Rectangle 3"/>
          <p:cNvSpPr>
            <a:spLocks noGrp="1" noChangeArrowheads="1"/>
          </p:cNvSpPr>
          <p:nvPr>
            <p:ph idx="1"/>
          </p:nvPr>
        </p:nvSpPr>
        <p:spPr>
          <a:xfrm>
            <a:off x="312738" y="1125538"/>
            <a:ext cx="8507413" cy="5327650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marR="0" lvl="0" indent="-342900" algn="l" defTabSz="62103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MAX_NUM_OF_EMPS=20;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62103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Manager: public Employee 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部门经理类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62103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	Employee *group[MAX_NUM_OF_EMPS];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62103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num_of_emps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62103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public: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62103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Manager(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char *s,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n=0): Employee(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s,n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 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62103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{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num_of_emps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= 0; 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62103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62103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bool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add_employee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(Employee *e);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62103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bool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remove_employee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(Employee *e); 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62103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get_num_of_emps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 { return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num_of_emps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62103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62103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188913"/>
            <a:ext cx="8640763" cy="6597650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创建职员对象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Jack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Jane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Employee e1("Jack",1000),e2("Jane",2000); 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创建经理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对象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Mark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Manager m("Mark",4000); 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把职员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Jack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Jane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纳入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经理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Mark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的管理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m.add_employee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(&amp;e1);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m.add_employee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(&amp;e2);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显示经理</a:t>
            </a:r>
            <a:r>
              <a:rPr kumimoji="0" lang="en-US" altLang="zh-CN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Mark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的工资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&lt;&lt; "Mark's salary is " &lt;&lt;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m.get_salary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 &lt;&lt; '.' 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&lt;&lt;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endl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显示经理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Mark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的管理人数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&lt;&lt; "Number of employees managed by Mark is " 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&lt;&lt;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m.get_num_of_emps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 &lt;&lt; '.' &lt;&lt;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endl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职员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Jack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脱离经理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Mark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管理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m.remove_employee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(&amp;e1); 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obe">
  <a:themeElements>
    <a:clrScheme name="Globe 9">
      <a:dk1>
        <a:srgbClr val="003B76"/>
      </a:dk1>
      <a:lt1>
        <a:srgbClr val="FFFFFF"/>
      </a:lt1>
      <a:dk2>
        <a:srgbClr val="0066CC"/>
      </a:dk2>
      <a:lt2>
        <a:srgbClr val="FFFF66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2075" tIns="46038" rIns="92075" bIns="46038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2075" tIns="46038" rIns="92075" bIns="46038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FF66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0</TotalTime>
  <Words>8105</Words>
  <Application>WPS 演示</Application>
  <PresentationFormat>全屏显示(4:3)</PresentationFormat>
  <Paragraphs>637</Paragraphs>
  <Slides>41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0" baseType="lpstr">
      <vt:lpstr>Arial</vt:lpstr>
      <vt:lpstr>宋体</vt:lpstr>
      <vt:lpstr>Wingdings</vt:lpstr>
      <vt:lpstr>Verdana</vt:lpstr>
      <vt:lpstr>Times New Roman</vt:lpstr>
      <vt:lpstr>微软雅黑</vt:lpstr>
      <vt:lpstr>Arial Unicode MS</vt:lpstr>
      <vt:lpstr>Arial</vt:lpstr>
      <vt:lpstr>Globe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Chapter12   Derived Classes</dc:title>
  <dc:creator>chenjj</dc:creator>
  <cp:lastModifiedBy>Ethereal_YC</cp:lastModifiedBy>
  <cp:revision>847</cp:revision>
  <dcterms:created xsi:type="dcterms:W3CDTF">1999-06-07T07:18:19Z</dcterms:created>
  <dcterms:modified xsi:type="dcterms:W3CDTF">2023-10-29T15:30:12Z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D28D802BF2244B788735BB5BBB58C1F9_13</vt:lpwstr>
  </property>
  <property fmtid="{D5CDD505-2E9C-101B-9397-08002B2CF9AE}" pid="3" name="KSOProductBuildVer">
    <vt:lpwstr>2052-12.1.0.15712</vt:lpwstr>
  </property>
</Properties>
</file>
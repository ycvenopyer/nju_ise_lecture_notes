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98" r:id="rId3"/>
    <p:sldId id="299" r:id="rId4"/>
    <p:sldId id="351" r:id="rId5"/>
    <p:sldId id="257" r:id="rId6"/>
    <p:sldId id="333" r:id="rId7"/>
    <p:sldId id="326" r:id="rId8"/>
    <p:sldId id="327" r:id="rId9"/>
    <p:sldId id="301" r:id="rId10"/>
    <p:sldId id="302" r:id="rId11"/>
    <p:sldId id="352" r:id="rId12"/>
    <p:sldId id="304" r:id="rId13"/>
    <p:sldId id="264" r:id="rId14"/>
    <p:sldId id="270" r:id="rId15"/>
    <p:sldId id="349" r:id="rId16"/>
    <p:sldId id="305" r:id="rId17"/>
    <p:sldId id="272" r:id="rId18"/>
    <p:sldId id="346" r:id="rId19"/>
    <p:sldId id="306" r:id="rId20"/>
    <p:sldId id="271" r:id="rId21"/>
    <p:sldId id="347" r:id="rId22"/>
    <p:sldId id="348" r:id="rId23"/>
    <p:sldId id="336" r:id="rId24"/>
    <p:sldId id="337" r:id="rId25"/>
    <p:sldId id="310" r:id="rId26"/>
    <p:sldId id="275" r:id="rId27"/>
    <p:sldId id="259" r:id="rId28"/>
    <p:sldId id="311" r:id="rId29"/>
    <p:sldId id="266" r:id="rId30"/>
    <p:sldId id="339" r:id="rId31"/>
    <p:sldId id="340" r:id="rId32"/>
    <p:sldId id="341" r:id="rId33"/>
    <p:sldId id="312" r:id="rId34"/>
    <p:sldId id="313" r:id="rId35"/>
    <p:sldId id="320" r:id="rId36"/>
    <p:sldId id="319" r:id="rId37"/>
    <p:sldId id="343" r:id="rId38"/>
    <p:sldId id="329" r:id="rId39"/>
    <p:sldId id="316" r:id="rId40"/>
    <p:sldId id="321" r:id="rId41"/>
    <p:sldId id="314" r:id="rId42"/>
    <p:sldId id="325" r:id="rId43"/>
    <p:sldId id="350" r:id="rId44"/>
    <p:sldId id="342" r:id="rId45"/>
    <p:sldId id="322" r:id="rId46"/>
    <p:sldId id="331" r:id="rId47"/>
    <p:sldId id="332" r:id="rId48"/>
    <p:sldId id="296" r:id="rId49"/>
    <p:sldId id="318" r:id="rId50"/>
  </p:sldIdLst>
  <p:sldSz cx="9144000" cy="6858000" type="screen4x3"/>
  <p:notesSz cx="6858000" cy="9144000"/>
  <p:custDataLst>
    <p:tags r:id="rId54"/>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7092"/>
    <p:restoredTop sz="94660"/>
  </p:normalViewPr>
  <p:slideViewPr>
    <p:cSldViewPr showGuides="1">
      <p:cViewPr varScale="1">
        <p:scale>
          <a:sx n="87" d="100"/>
          <a:sy n="87" d="100"/>
        </p:scale>
        <p:origin x="710" y="5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4" Type="http://schemas.openxmlformats.org/officeDocument/2006/relationships/tags" Target="tags/tag1.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gradFill rotWithShape="0">
          <a:gsLst>
            <a:gs pos="0">
              <a:srgbClr val="003366"/>
            </a:gs>
            <a:gs pos="100000">
              <a:srgbClr val="001D3B"/>
            </a:gs>
          </a:gsLst>
          <a:lin ang="5400000" scaled="1"/>
          <a:tileRect/>
        </a:gradFill>
        <a:effectLst/>
      </p:bgPr>
    </p:bg>
    <p:spTree>
      <p:nvGrpSpPr>
        <p:cNvPr id="1" name=""/>
        <p:cNvGrpSpPr/>
        <p:nvPr/>
      </p:nvGrpSpPr>
      <p:grpSpPr>
        <a:xfrm>
          <a:off x="0" y="0"/>
          <a:ext cx="0" cy="0"/>
          <a:chOff x="0" y="0"/>
          <a:chExt cx="0" cy="0"/>
        </a:xfrm>
      </p:grpSpPr>
      <p:grpSp>
        <p:nvGrpSpPr>
          <p:cNvPr id="2051" name="Group 2"/>
          <p:cNvGrpSpPr/>
          <p:nvPr/>
        </p:nvGrpSpPr>
        <p:grpSpPr>
          <a:xfrm>
            <a:off x="0" y="0"/>
            <a:ext cx="9148763" cy="6851650"/>
            <a:chOff x="1" y="0"/>
            <a:chExt cx="5763" cy="4316"/>
          </a:xfrm>
        </p:grpSpPr>
        <p:sp>
          <p:nvSpPr>
            <p:cNvPr id="45" name="Freeform 3"/>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6" name="Freeform 4"/>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7" name="Freeform 5"/>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nvGrpSpPr>
            <p:cNvPr id="2060" name="Group 6"/>
            <p:cNvGrpSpPr/>
            <p:nvPr/>
          </p:nvGrpSpPr>
          <p:grpSpPr>
            <a:xfrm>
              <a:off x="288" y="0"/>
              <a:ext cx="5098" cy="4316"/>
              <a:chOff x="288" y="0"/>
              <a:chExt cx="5098" cy="4316"/>
            </a:xfrm>
          </p:grpSpPr>
          <p:sp>
            <p:nvSpPr>
              <p:cNvPr id="68" name="Freeform 7"/>
              <p:cNvSpPr/>
              <p:nvPr/>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9" name="Freeform 8"/>
              <p:cNvSpPr/>
              <p:nvPr/>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0" name="Freeform 9"/>
              <p:cNvSpPr/>
              <p:nvPr/>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 name="Freeform 10"/>
              <p:cNvSpPr/>
              <p:nvPr/>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2" name="Freeform 11"/>
              <p:cNvSpPr/>
              <p:nvPr/>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3" name="Freeform 12"/>
              <p:cNvSpPr/>
              <p:nvPr/>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4" name="Freeform 13"/>
              <p:cNvSpPr/>
              <p:nvPr/>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5" name="Freeform 14"/>
              <p:cNvSpPr/>
              <p:nvPr/>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6" name="Freeform 15"/>
              <p:cNvSpPr/>
              <p:nvPr/>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7" name="Freeform 16"/>
              <p:cNvSpPr/>
              <p:nvPr/>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8" name="Freeform 17"/>
              <p:cNvSpPr/>
              <p:nvPr/>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9" name="Freeform 18"/>
              <p:cNvSpPr/>
              <p:nvPr/>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0" name="Freeform 19"/>
              <p:cNvSpPr/>
              <p:nvPr/>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49" name="Freeform 20"/>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0" name="Freeform 21"/>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1" name="Freeform 22"/>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64" name="Freeform 23"/>
            <p:cNvSpPr/>
            <p:nvPr/>
          </p:nvSpPr>
          <p:spPr>
            <a:xfrm>
              <a:off x="5041" y="0"/>
              <a:ext cx="719" cy="845"/>
            </a:xfrm>
            <a:custGeom>
              <a:avLst/>
              <a:gdLst/>
              <a:ahLst/>
              <a:cxnLst>
                <a:cxn ang="0">
                  <a:pos x="912" y="845"/>
                </a:cxn>
                <a:cxn ang="0">
                  <a:pos x="912" y="821"/>
                </a:cxn>
                <a:cxn ang="0">
                  <a:pos x="764" y="605"/>
                </a:cxn>
                <a:cxn ang="0">
                  <a:pos x="501" y="396"/>
                </a:cxn>
                <a:cxn ang="0">
                  <a:pos x="316" y="192"/>
                </a:cxn>
                <a:cxn ang="0">
                  <a:pos x="17" y="0"/>
                </a:cxn>
                <a:cxn ang="0">
                  <a:pos x="0" y="0"/>
                </a:cxn>
                <a:cxn ang="0">
                  <a:pos x="304" y="198"/>
                </a:cxn>
                <a:cxn ang="0">
                  <a:pos x="495" y="408"/>
                </a:cxn>
                <a:cxn ang="0">
                  <a:pos x="758" y="623"/>
                </a:cxn>
                <a:cxn ang="0">
                  <a:pos x="912" y="845"/>
                </a:cxn>
                <a:cxn ang="0">
                  <a:pos x="912" y="845"/>
                </a:cxn>
              </a:cxnLst>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alpha val="100000"/>
              </a:schemeClr>
            </a:solidFill>
            <a:ln w="9525">
              <a:noFill/>
            </a:ln>
          </p:spPr>
          <p:txBody>
            <a:bodyPr/>
            <a:p>
              <a:endParaRPr lang="zh-CN" altLang="en-US"/>
            </a:p>
          </p:txBody>
        </p:sp>
        <p:sp>
          <p:nvSpPr>
            <p:cNvPr id="2065" name="Freeform 24"/>
            <p:cNvSpPr/>
            <p:nvPr/>
          </p:nvSpPr>
          <p:spPr>
            <a:xfrm>
              <a:off x="5352" y="0"/>
              <a:ext cx="408" cy="414"/>
            </a:xfrm>
            <a:custGeom>
              <a:avLst/>
              <a:gdLst/>
              <a:ahLst/>
              <a:cxnLst>
                <a:cxn ang="0">
                  <a:pos x="502" y="414"/>
                </a:cxn>
                <a:cxn ang="0">
                  <a:pos x="502" y="396"/>
                </a:cxn>
                <a:cxn ang="0">
                  <a:pos x="317" y="192"/>
                </a:cxn>
                <a:cxn ang="0">
                  <a:pos x="12" y="0"/>
                </a:cxn>
                <a:cxn ang="0">
                  <a:pos x="0" y="0"/>
                </a:cxn>
                <a:cxn ang="0">
                  <a:pos x="108" y="102"/>
                </a:cxn>
                <a:cxn ang="0">
                  <a:pos x="311" y="204"/>
                </a:cxn>
                <a:cxn ang="0">
                  <a:pos x="502" y="414"/>
                </a:cxn>
                <a:cxn ang="0">
                  <a:pos x="502" y="414"/>
                </a:cxn>
              </a:cxnLst>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alpha val="100000"/>
              </a:schemeClr>
            </a:solidFill>
            <a:ln w="9525">
              <a:noFill/>
            </a:ln>
          </p:spPr>
          <p:txBody>
            <a:bodyPr/>
            <a:p>
              <a:endParaRPr lang="zh-CN" altLang="en-US"/>
            </a:p>
          </p:txBody>
        </p:sp>
        <p:sp>
          <p:nvSpPr>
            <p:cNvPr id="54" name="Freeform 25"/>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67" name="Freeform 26"/>
            <p:cNvSpPr/>
            <p:nvPr/>
          </p:nvSpPr>
          <p:spPr>
            <a:xfrm>
              <a:off x="6" y="0"/>
              <a:ext cx="588" cy="599"/>
            </a:xfrm>
            <a:custGeom>
              <a:avLst/>
              <a:gdLst/>
              <a:ahLst/>
              <a:cxnLst>
                <a:cxn ang="0">
                  <a:pos x="797" y="0"/>
                </a:cxn>
                <a:cxn ang="0">
                  <a:pos x="770" y="0"/>
                </a:cxn>
                <a:cxn ang="0">
                  <a:pos x="564" y="132"/>
                </a:cxn>
                <a:cxn ang="0">
                  <a:pos x="352" y="270"/>
                </a:cxn>
                <a:cxn ang="0">
                  <a:pos x="120" y="420"/>
                </a:cxn>
                <a:cxn ang="0">
                  <a:pos x="0" y="575"/>
                </a:cxn>
                <a:cxn ang="0">
                  <a:pos x="0" y="599"/>
                </a:cxn>
                <a:cxn ang="0">
                  <a:pos x="120" y="432"/>
                </a:cxn>
                <a:cxn ang="0">
                  <a:pos x="352" y="282"/>
                </a:cxn>
                <a:cxn ang="0">
                  <a:pos x="576" y="138"/>
                </a:cxn>
                <a:cxn ang="0">
                  <a:pos x="797" y="0"/>
                </a:cxn>
                <a:cxn ang="0">
                  <a:pos x="797" y="0"/>
                </a:cxn>
              </a:cxnLst>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alpha val="100000"/>
              </a:schemeClr>
            </a:solidFill>
            <a:ln w="9525">
              <a:noFill/>
            </a:ln>
          </p:spPr>
          <p:txBody>
            <a:bodyPr/>
            <a:p>
              <a:endParaRPr lang="zh-CN" altLang="en-US"/>
            </a:p>
          </p:txBody>
        </p:sp>
        <p:sp>
          <p:nvSpPr>
            <p:cNvPr id="2068" name="Freeform 27"/>
            <p:cNvSpPr/>
            <p:nvPr/>
          </p:nvSpPr>
          <p:spPr>
            <a:xfrm>
              <a:off x="6" y="0"/>
              <a:ext cx="270" cy="252"/>
            </a:xfrm>
            <a:custGeom>
              <a:avLst/>
              <a:gdLst/>
              <a:ahLst/>
              <a:cxnLst>
                <a:cxn ang="0">
                  <a:pos x="364" y="0"/>
                </a:cxn>
                <a:cxn ang="0">
                  <a:pos x="346" y="0"/>
                </a:cxn>
                <a:cxn ang="0">
                  <a:pos x="120" y="114"/>
                </a:cxn>
                <a:cxn ang="0">
                  <a:pos x="60" y="174"/>
                </a:cxn>
                <a:cxn ang="0">
                  <a:pos x="0" y="234"/>
                </a:cxn>
                <a:cxn ang="0">
                  <a:pos x="0" y="252"/>
                </a:cxn>
                <a:cxn ang="0">
                  <a:pos x="126" y="120"/>
                </a:cxn>
                <a:cxn ang="0">
                  <a:pos x="364" y="0"/>
                </a:cxn>
                <a:cxn ang="0">
                  <a:pos x="364" y="0"/>
                </a:cxn>
              </a:cxnLst>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alpha val="100000"/>
              </a:schemeClr>
            </a:solidFill>
            <a:ln w="9525">
              <a:noFill/>
            </a:ln>
          </p:spPr>
          <p:txBody>
            <a:bodyPr/>
            <a:p>
              <a:endParaRPr lang="zh-CN" altLang="en-US"/>
            </a:p>
          </p:txBody>
        </p:sp>
        <p:sp>
          <p:nvSpPr>
            <p:cNvPr id="2069" name="Line 28"/>
            <p:cNvSpPr/>
            <p:nvPr/>
          </p:nvSpPr>
          <p:spPr>
            <a:xfrm>
              <a:off x="1" y="2749"/>
              <a:ext cx="5758" cy="0"/>
            </a:xfrm>
            <a:prstGeom prst="line">
              <a:avLst/>
            </a:prstGeom>
            <a:ln w="15875" cap="flat" cmpd="sng">
              <a:solidFill>
                <a:schemeClr val="bg1"/>
              </a:solidFill>
              <a:prstDash val="solid"/>
              <a:headEnd type="none" w="med" len="med"/>
              <a:tailEnd type="none" w="med" len="med"/>
            </a:ln>
          </p:spPr>
        </p:sp>
        <p:sp>
          <p:nvSpPr>
            <p:cNvPr id="2070" name="Line 29"/>
            <p:cNvSpPr/>
            <p:nvPr/>
          </p:nvSpPr>
          <p:spPr>
            <a:xfrm>
              <a:off x="1" y="2356"/>
              <a:ext cx="5758" cy="0"/>
            </a:xfrm>
            <a:prstGeom prst="line">
              <a:avLst/>
            </a:prstGeom>
            <a:ln w="15875" cap="flat" cmpd="sng">
              <a:solidFill>
                <a:schemeClr val="bg1"/>
              </a:solidFill>
              <a:prstDash val="solid"/>
              <a:headEnd type="none" w="med" len="med"/>
              <a:tailEnd type="none" w="med" len="med"/>
            </a:ln>
          </p:spPr>
        </p:sp>
        <p:sp>
          <p:nvSpPr>
            <p:cNvPr id="2071" name="Line 30"/>
            <p:cNvSpPr/>
            <p:nvPr/>
          </p:nvSpPr>
          <p:spPr>
            <a:xfrm>
              <a:off x="1" y="3142"/>
              <a:ext cx="5758" cy="0"/>
            </a:xfrm>
            <a:prstGeom prst="line">
              <a:avLst/>
            </a:prstGeom>
            <a:ln w="15875" cap="flat" cmpd="sng">
              <a:solidFill>
                <a:schemeClr val="bg2"/>
              </a:solidFill>
              <a:prstDash val="solid"/>
              <a:headEnd type="none" w="med" len="med"/>
              <a:tailEnd type="none" w="med" len="med"/>
            </a:ln>
          </p:spPr>
        </p:sp>
        <p:grpSp>
          <p:nvGrpSpPr>
            <p:cNvPr id="2072" name="Group 31"/>
            <p:cNvGrpSpPr/>
            <p:nvPr/>
          </p:nvGrpSpPr>
          <p:grpSpPr>
            <a:xfrm>
              <a:off x="1" y="392"/>
              <a:ext cx="5758" cy="1571"/>
              <a:chOff x="1" y="392"/>
              <a:chExt cx="5758" cy="1571"/>
            </a:xfrm>
          </p:grpSpPr>
          <p:sp>
            <p:nvSpPr>
              <p:cNvPr id="2075" name="Line 32"/>
              <p:cNvSpPr/>
              <p:nvPr userDrawn="1"/>
            </p:nvSpPr>
            <p:spPr>
              <a:xfrm>
                <a:off x="1" y="784"/>
                <a:ext cx="5758" cy="0"/>
              </a:xfrm>
              <a:prstGeom prst="line">
                <a:avLst/>
              </a:prstGeom>
              <a:ln w="15875" cap="flat" cmpd="sng">
                <a:solidFill>
                  <a:schemeClr val="bg1"/>
                </a:solidFill>
                <a:prstDash val="solid"/>
                <a:headEnd type="none" w="med" len="med"/>
                <a:tailEnd type="none" w="med" len="med"/>
              </a:ln>
            </p:spPr>
          </p:sp>
          <p:sp>
            <p:nvSpPr>
              <p:cNvPr id="2076" name="Line 33"/>
              <p:cNvSpPr/>
              <p:nvPr userDrawn="1"/>
            </p:nvSpPr>
            <p:spPr>
              <a:xfrm>
                <a:off x="1" y="1963"/>
                <a:ext cx="5758" cy="0"/>
              </a:xfrm>
              <a:prstGeom prst="line">
                <a:avLst/>
              </a:prstGeom>
              <a:ln w="15875" cap="flat" cmpd="sng">
                <a:solidFill>
                  <a:schemeClr val="bg1"/>
                </a:solidFill>
                <a:prstDash val="solid"/>
                <a:headEnd type="none" w="med" len="med"/>
                <a:tailEnd type="none" w="med" len="med"/>
              </a:ln>
            </p:spPr>
          </p:sp>
          <p:sp>
            <p:nvSpPr>
              <p:cNvPr id="2077" name="Line 34"/>
              <p:cNvSpPr/>
              <p:nvPr userDrawn="1"/>
            </p:nvSpPr>
            <p:spPr>
              <a:xfrm>
                <a:off x="1" y="1570"/>
                <a:ext cx="5758" cy="0"/>
              </a:xfrm>
              <a:prstGeom prst="line">
                <a:avLst/>
              </a:prstGeom>
              <a:ln w="15875" cap="flat" cmpd="sng">
                <a:solidFill>
                  <a:schemeClr val="bg1"/>
                </a:solidFill>
                <a:prstDash val="solid"/>
                <a:headEnd type="none" w="med" len="med"/>
                <a:tailEnd type="none" w="med" len="med"/>
              </a:ln>
            </p:spPr>
          </p:sp>
          <p:sp>
            <p:nvSpPr>
              <p:cNvPr id="2078" name="Line 35"/>
              <p:cNvSpPr/>
              <p:nvPr userDrawn="1"/>
            </p:nvSpPr>
            <p:spPr>
              <a:xfrm>
                <a:off x="1" y="1177"/>
                <a:ext cx="5758" cy="0"/>
              </a:xfrm>
              <a:prstGeom prst="line">
                <a:avLst/>
              </a:prstGeom>
              <a:ln w="15875" cap="flat" cmpd="sng">
                <a:solidFill>
                  <a:schemeClr val="bg1"/>
                </a:solidFill>
                <a:prstDash val="solid"/>
                <a:headEnd type="none" w="med" len="med"/>
                <a:tailEnd type="none" w="med" len="med"/>
              </a:ln>
            </p:spPr>
          </p:sp>
          <p:sp>
            <p:nvSpPr>
              <p:cNvPr id="2079" name="Line 36"/>
              <p:cNvSpPr/>
              <p:nvPr userDrawn="1"/>
            </p:nvSpPr>
            <p:spPr>
              <a:xfrm>
                <a:off x="1" y="392"/>
                <a:ext cx="5758" cy="0"/>
              </a:xfrm>
              <a:prstGeom prst="line">
                <a:avLst/>
              </a:prstGeom>
              <a:ln w="15875" cap="flat" cmpd="sng">
                <a:solidFill>
                  <a:schemeClr val="bg1"/>
                </a:solidFill>
                <a:prstDash val="solid"/>
                <a:headEnd type="none" w="med" len="med"/>
                <a:tailEnd type="none" w="med" len="med"/>
              </a:ln>
            </p:spPr>
          </p:sp>
        </p:grpSp>
        <p:sp>
          <p:nvSpPr>
            <p:cNvPr id="2073" name="Line 37"/>
            <p:cNvSpPr/>
            <p:nvPr/>
          </p:nvSpPr>
          <p:spPr>
            <a:xfrm>
              <a:off x="1" y="3928"/>
              <a:ext cx="5758" cy="0"/>
            </a:xfrm>
            <a:prstGeom prst="line">
              <a:avLst/>
            </a:prstGeom>
            <a:ln w="15875" cap="flat" cmpd="sng">
              <a:solidFill>
                <a:schemeClr val="bg2"/>
              </a:solidFill>
              <a:prstDash val="solid"/>
              <a:headEnd type="none" w="med" len="med"/>
              <a:tailEnd type="none" w="med" len="med"/>
            </a:ln>
          </p:spPr>
        </p:sp>
        <p:sp>
          <p:nvSpPr>
            <p:cNvPr id="2074" name="Line 38"/>
            <p:cNvSpPr/>
            <p:nvPr/>
          </p:nvSpPr>
          <p:spPr>
            <a:xfrm>
              <a:off x="1" y="3535"/>
              <a:ext cx="5758" cy="0"/>
            </a:xfrm>
            <a:prstGeom prst="line">
              <a:avLst/>
            </a:prstGeom>
            <a:ln w="15875" cap="flat" cmpd="sng">
              <a:solidFill>
                <a:schemeClr val="bg2"/>
              </a:solidFill>
              <a:prstDash val="solid"/>
              <a:headEnd type="none" w="med" len="med"/>
              <a:tailEnd type="none" w="med" len="med"/>
            </a:ln>
          </p:spPr>
        </p:sp>
      </p:grpSp>
      <p:sp>
        <p:nvSpPr>
          <p:cNvPr id="5159" name="Rectangle 39"/>
          <p:cNvSpPr>
            <a:spLocks noGrp="1" noChangeArrowheads="1"/>
          </p:cNvSpPr>
          <p:nvPr>
            <p:ph type="ctrTitle" sz="quarter"/>
          </p:nvPr>
        </p:nvSpPr>
        <p:spPr>
          <a:xfrm>
            <a:off x="685800" y="1692275"/>
            <a:ext cx="7772400" cy="1736725"/>
          </a:xfrm>
        </p:spPr>
        <p:txBody>
          <a:bodyPr anchor="b"/>
          <a:lstStyle>
            <a:lvl1pPr>
              <a:defRPr sz="5400"/>
            </a:lvl1pPr>
          </a:lstStyle>
          <a:p>
            <a:r>
              <a:rPr lang="zh-CN" altLang="en-US"/>
              <a:t>单击此处编辑母版标题样式</a:t>
            </a:r>
            <a:endParaRPr lang="zh-CN" altLang="en-US"/>
          </a:p>
        </p:txBody>
      </p:sp>
      <p:sp>
        <p:nvSpPr>
          <p:cNvPr id="5160"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81" name="Rectangle 41"/>
          <p:cNvSpPr>
            <a:spLocks noGrp="1" noChangeArrowheads="1"/>
          </p:cNvSpPr>
          <p:nvPr>
            <p:ph type="dt" sz="quarter" idx="2"/>
          </p:nvPr>
        </p:nvSpPr>
        <p:spPr bwMode="auto">
          <a:xfrm>
            <a:off x="457200" y="6243638"/>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82" name="Rectangle 42"/>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83" name="Rectangle 43"/>
          <p:cNvSpPr>
            <a:spLocks noGrp="1" noChangeArrowheads="1"/>
          </p:cNvSpPr>
          <p:nvPr>
            <p:ph type="sldNum" sz="quarter" idx="4"/>
          </p:nvPr>
        </p:nvSpPr>
        <p:spPr bwMode="auto">
          <a:xfrm>
            <a:off x="6553200" y="6243638"/>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219ABF5-3675-4B49-ABCC-E6548216308E}"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overrideClrMapping bg1="dk2" tx1="lt1" bg2="dk1" tx2="lt2" accent1="accent1" accent2="accent2" accent3="accent3" accent4="accent4" accent5="accent5" accent6="accent6" hlink="hlink" folHlink="folHlink"/>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D98C52-C54B-49E3-BE82-43E0A1AD112C}"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D98C52-C54B-49E3-BE82-43E0A1AD112C}"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D98C52-C54B-49E3-BE82-43E0A1AD112C}"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D98C52-C54B-49E3-BE82-43E0A1AD112C}"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D98C52-C54B-49E3-BE82-43E0A1AD112C}"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D98C52-C54B-49E3-BE82-43E0A1AD112C}"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D98C52-C54B-49E3-BE82-43E0A1AD112C}"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D98C52-C54B-49E3-BE82-43E0A1AD112C}"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D98C52-C54B-49E3-BE82-43E0A1AD112C}"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CD98C52-C54B-49E3-BE82-43E0A1AD112C}"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3366"/>
            </a:gs>
            <a:gs pos="100000">
              <a:srgbClr val="001D3B"/>
            </a:gs>
          </a:gsLst>
          <a:lin ang="5400000" scaled="1"/>
          <a:tileRect/>
        </a:gradFill>
        <a:effectLst/>
      </p:bgPr>
    </p:bg>
    <p:spTree>
      <p:nvGrpSpPr>
        <p:cNvPr id="1" name=""/>
        <p:cNvGrpSpPr/>
        <p:nvPr/>
      </p:nvGrpSpPr>
      <p:grpSpPr/>
      <p:grpSp>
        <p:nvGrpSpPr>
          <p:cNvPr id="1026" name="Group 2"/>
          <p:cNvGrpSpPr/>
          <p:nvPr/>
        </p:nvGrpSpPr>
        <p:grpSpPr>
          <a:xfrm>
            <a:off x="1588" y="0"/>
            <a:ext cx="9148762" cy="6851650"/>
            <a:chOff x="1" y="0"/>
            <a:chExt cx="5763" cy="4316"/>
          </a:xfrm>
        </p:grpSpPr>
        <p:sp>
          <p:nvSpPr>
            <p:cNvPr id="4099" name="Freeform 3"/>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00" name="Freeform 4"/>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01" name="Freeform 5"/>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nvGrpSpPr>
            <p:cNvPr id="1035" name="Group 6"/>
            <p:cNvGrpSpPr/>
            <p:nvPr/>
          </p:nvGrpSpPr>
          <p:grpSpPr>
            <a:xfrm>
              <a:off x="288" y="0"/>
              <a:ext cx="5098" cy="4316"/>
              <a:chOff x="288" y="0"/>
              <a:chExt cx="5098" cy="4316"/>
            </a:xfrm>
          </p:grpSpPr>
          <p:sp>
            <p:nvSpPr>
              <p:cNvPr id="4103" name="Freeform 7"/>
              <p:cNvSpPr/>
              <p:nvPr/>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04" name="Freeform 8"/>
              <p:cNvSpPr/>
              <p:nvPr/>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05" name="Freeform 9"/>
              <p:cNvSpPr/>
              <p:nvPr/>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06" name="Freeform 10"/>
              <p:cNvSpPr/>
              <p:nvPr/>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07" name="Freeform 11"/>
              <p:cNvSpPr/>
              <p:nvPr/>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08" name="Freeform 12"/>
              <p:cNvSpPr/>
              <p:nvPr/>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09" name="Freeform 13"/>
              <p:cNvSpPr/>
              <p:nvPr/>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10" name="Freeform 14"/>
              <p:cNvSpPr/>
              <p:nvPr/>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11" name="Freeform 15"/>
              <p:cNvSpPr/>
              <p:nvPr/>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12" name="Freeform 16"/>
              <p:cNvSpPr/>
              <p:nvPr/>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13" name="Freeform 17"/>
              <p:cNvSpPr/>
              <p:nvPr/>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14" name="Freeform 18"/>
              <p:cNvSpPr/>
              <p:nvPr/>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15" name="Freeform 19"/>
              <p:cNvSpPr/>
              <p:nvPr/>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4116" name="Freeform 20"/>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17" name="Freeform 21"/>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18" name="Freeform 22"/>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9" name="Freeform 23"/>
            <p:cNvSpPr/>
            <p:nvPr/>
          </p:nvSpPr>
          <p:spPr>
            <a:xfrm>
              <a:off x="5041" y="0"/>
              <a:ext cx="719" cy="845"/>
            </a:xfrm>
            <a:custGeom>
              <a:avLst/>
              <a:gdLst/>
              <a:ahLst/>
              <a:cxnLst>
                <a:cxn ang="0">
                  <a:pos x="912" y="845"/>
                </a:cxn>
                <a:cxn ang="0">
                  <a:pos x="912" y="821"/>
                </a:cxn>
                <a:cxn ang="0">
                  <a:pos x="764" y="605"/>
                </a:cxn>
                <a:cxn ang="0">
                  <a:pos x="501" y="396"/>
                </a:cxn>
                <a:cxn ang="0">
                  <a:pos x="316" y="192"/>
                </a:cxn>
                <a:cxn ang="0">
                  <a:pos x="17" y="0"/>
                </a:cxn>
                <a:cxn ang="0">
                  <a:pos x="0" y="0"/>
                </a:cxn>
                <a:cxn ang="0">
                  <a:pos x="304" y="198"/>
                </a:cxn>
                <a:cxn ang="0">
                  <a:pos x="495" y="408"/>
                </a:cxn>
                <a:cxn ang="0">
                  <a:pos x="758" y="623"/>
                </a:cxn>
                <a:cxn ang="0">
                  <a:pos x="912" y="845"/>
                </a:cxn>
                <a:cxn ang="0">
                  <a:pos x="912" y="845"/>
                </a:cxn>
              </a:cxnLst>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alpha val="100000"/>
              </a:schemeClr>
            </a:solidFill>
            <a:ln w="9525">
              <a:noFill/>
            </a:ln>
          </p:spPr>
          <p:txBody>
            <a:bodyPr/>
            <a:p>
              <a:endParaRPr lang="zh-CN" altLang="en-US"/>
            </a:p>
          </p:txBody>
        </p:sp>
        <p:sp>
          <p:nvSpPr>
            <p:cNvPr id="1040" name="Freeform 24"/>
            <p:cNvSpPr/>
            <p:nvPr/>
          </p:nvSpPr>
          <p:spPr>
            <a:xfrm>
              <a:off x="5352" y="0"/>
              <a:ext cx="408" cy="414"/>
            </a:xfrm>
            <a:custGeom>
              <a:avLst/>
              <a:gdLst/>
              <a:ahLst/>
              <a:cxnLst>
                <a:cxn ang="0">
                  <a:pos x="502" y="414"/>
                </a:cxn>
                <a:cxn ang="0">
                  <a:pos x="502" y="396"/>
                </a:cxn>
                <a:cxn ang="0">
                  <a:pos x="317" y="192"/>
                </a:cxn>
                <a:cxn ang="0">
                  <a:pos x="12" y="0"/>
                </a:cxn>
                <a:cxn ang="0">
                  <a:pos x="0" y="0"/>
                </a:cxn>
                <a:cxn ang="0">
                  <a:pos x="108" y="102"/>
                </a:cxn>
                <a:cxn ang="0">
                  <a:pos x="311" y="204"/>
                </a:cxn>
                <a:cxn ang="0">
                  <a:pos x="502" y="414"/>
                </a:cxn>
                <a:cxn ang="0">
                  <a:pos x="502" y="414"/>
                </a:cxn>
              </a:cxnLst>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alpha val="100000"/>
              </a:schemeClr>
            </a:solidFill>
            <a:ln w="9525">
              <a:noFill/>
            </a:ln>
          </p:spPr>
          <p:txBody>
            <a:bodyPr/>
            <a:p>
              <a:endParaRPr lang="zh-CN" altLang="en-US"/>
            </a:p>
          </p:txBody>
        </p:sp>
        <p:sp>
          <p:nvSpPr>
            <p:cNvPr id="4121" name="Freeform 25"/>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2" name="Freeform 26"/>
            <p:cNvSpPr/>
            <p:nvPr/>
          </p:nvSpPr>
          <p:spPr>
            <a:xfrm>
              <a:off x="6" y="0"/>
              <a:ext cx="588" cy="599"/>
            </a:xfrm>
            <a:custGeom>
              <a:avLst/>
              <a:gdLst/>
              <a:ahLst/>
              <a:cxnLst>
                <a:cxn ang="0">
                  <a:pos x="797" y="0"/>
                </a:cxn>
                <a:cxn ang="0">
                  <a:pos x="770" y="0"/>
                </a:cxn>
                <a:cxn ang="0">
                  <a:pos x="564" y="132"/>
                </a:cxn>
                <a:cxn ang="0">
                  <a:pos x="352" y="270"/>
                </a:cxn>
                <a:cxn ang="0">
                  <a:pos x="120" y="420"/>
                </a:cxn>
                <a:cxn ang="0">
                  <a:pos x="0" y="575"/>
                </a:cxn>
                <a:cxn ang="0">
                  <a:pos x="0" y="599"/>
                </a:cxn>
                <a:cxn ang="0">
                  <a:pos x="120" y="432"/>
                </a:cxn>
                <a:cxn ang="0">
                  <a:pos x="352" y="282"/>
                </a:cxn>
                <a:cxn ang="0">
                  <a:pos x="576" y="138"/>
                </a:cxn>
                <a:cxn ang="0">
                  <a:pos x="797" y="0"/>
                </a:cxn>
                <a:cxn ang="0">
                  <a:pos x="797" y="0"/>
                </a:cxn>
              </a:cxnLst>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alpha val="100000"/>
              </a:schemeClr>
            </a:solidFill>
            <a:ln w="9525">
              <a:noFill/>
            </a:ln>
          </p:spPr>
          <p:txBody>
            <a:bodyPr/>
            <a:p>
              <a:endParaRPr lang="zh-CN" altLang="en-US"/>
            </a:p>
          </p:txBody>
        </p:sp>
        <p:sp>
          <p:nvSpPr>
            <p:cNvPr id="1043" name="Freeform 27"/>
            <p:cNvSpPr/>
            <p:nvPr/>
          </p:nvSpPr>
          <p:spPr>
            <a:xfrm>
              <a:off x="6" y="0"/>
              <a:ext cx="270" cy="252"/>
            </a:xfrm>
            <a:custGeom>
              <a:avLst/>
              <a:gdLst/>
              <a:ahLst/>
              <a:cxnLst>
                <a:cxn ang="0">
                  <a:pos x="364" y="0"/>
                </a:cxn>
                <a:cxn ang="0">
                  <a:pos x="346" y="0"/>
                </a:cxn>
                <a:cxn ang="0">
                  <a:pos x="120" y="114"/>
                </a:cxn>
                <a:cxn ang="0">
                  <a:pos x="60" y="174"/>
                </a:cxn>
                <a:cxn ang="0">
                  <a:pos x="0" y="234"/>
                </a:cxn>
                <a:cxn ang="0">
                  <a:pos x="0" y="252"/>
                </a:cxn>
                <a:cxn ang="0">
                  <a:pos x="126" y="120"/>
                </a:cxn>
                <a:cxn ang="0">
                  <a:pos x="364" y="0"/>
                </a:cxn>
                <a:cxn ang="0">
                  <a:pos x="364" y="0"/>
                </a:cxn>
              </a:cxnLst>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alpha val="100000"/>
              </a:schemeClr>
            </a:solidFill>
            <a:ln w="9525">
              <a:noFill/>
            </a:ln>
          </p:spPr>
          <p:txBody>
            <a:bodyPr/>
            <a:p>
              <a:endParaRPr lang="zh-CN" altLang="en-US"/>
            </a:p>
          </p:txBody>
        </p:sp>
        <p:sp>
          <p:nvSpPr>
            <p:cNvPr id="1044" name="Line 28"/>
            <p:cNvSpPr/>
            <p:nvPr/>
          </p:nvSpPr>
          <p:spPr>
            <a:xfrm>
              <a:off x="1" y="2749"/>
              <a:ext cx="5758" cy="0"/>
            </a:xfrm>
            <a:prstGeom prst="line">
              <a:avLst/>
            </a:prstGeom>
            <a:ln w="15875" cap="flat" cmpd="sng">
              <a:solidFill>
                <a:schemeClr val="bg1"/>
              </a:solidFill>
              <a:prstDash val="solid"/>
              <a:headEnd type="none" w="med" len="med"/>
              <a:tailEnd type="none" w="med" len="med"/>
            </a:ln>
          </p:spPr>
        </p:sp>
        <p:sp>
          <p:nvSpPr>
            <p:cNvPr id="1045" name="Line 29"/>
            <p:cNvSpPr/>
            <p:nvPr/>
          </p:nvSpPr>
          <p:spPr>
            <a:xfrm>
              <a:off x="1" y="2356"/>
              <a:ext cx="5758" cy="0"/>
            </a:xfrm>
            <a:prstGeom prst="line">
              <a:avLst/>
            </a:prstGeom>
            <a:ln w="15875" cap="flat" cmpd="sng">
              <a:solidFill>
                <a:schemeClr val="bg1"/>
              </a:solidFill>
              <a:prstDash val="solid"/>
              <a:headEnd type="none" w="med" len="med"/>
              <a:tailEnd type="none" w="med" len="med"/>
            </a:ln>
          </p:spPr>
        </p:sp>
        <p:sp>
          <p:nvSpPr>
            <p:cNvPr id="1046" name="Line 30"/>
            <p:cNvSpPr/>
            <p:nvPr/>
          </p:nvSpPr>
          <p:spPr>
            <a:xfrm>
              <a:off x="1" y="3142"/>
              <a:ext cx="5758" cy="0"/>
            </a:xfrm>
            <a:prstGeom prst="line">
              <a:avLst/>
            </a:prstGeom>
            <a:ln w="15875" cap="flat" cmpd="sng">
              <a:solidFill>
                <a:schemeClr val="bg2"/>
              </a:solidFill>
              <a:prstDash val="solid"/>
              <a:headEnd type="none" w="med" len="med"/>
              <a:tailEnd type="none" w="med" len="med"/>
            </a:ln>
          </p:spPr>
        </p:sp>
        <p:grpSp>
          <p:nvGrpSpPr>
            <p:cNvPr id="1047" name="Group 31"/>
            <p:cNvGrpSpPr/>
            <p:nvPr/>
          </p:nvGrpSpPr>
          <p:grpSpPr>
            <a:xfrm>
              <a:off x="1" y="392"/>
              <a:ext cx="5758" cy="1571"/>
              <a:chOff x="1" y="392"/>
              <a:chExt cx="5758" cy="1571"/>
            </a:xfrm>
          </p:grpSpPr>
          <p:sp>
            <p:nvSpPr>
              <p:cNvPr id="1050" name="Line 32"/>
              <p:cNvSpPr/>
              <p:nvPr userDrawn="1"/>
            </p:nvSpPr>
            <p:spPr>
              <a:xfrm>
                <a:off x="1" y="784"/>
                <a:ext cx="5758" cy="0"/>
              </a:xfrm>
              <a:prstGeom prst="line">
                <a:avLst/>
              </a:prstGeom>
              <a:ln w="15875" cap="flat" cmpd="sng">
                <a:solidFill>
                  <a:schemeClr val="bg1"/>
                </a:solidFill>
                <a:prstDash val="solid"/>
                <a:headEnd type="none" w="med" len="med"/>
                <a:tailEnd type="none" w="med" len="med"/>
              </a:ln>
            </p:spPr>
          </p:sp>
          <p:sp>
            <p:nvSpPr>
              <p:cNvPr id="1051" name="Line 33"/>
              <p:cNvSpPr/>
              <p:nvPr userDrawn="1"/>
            </p:nvSpPr>
            <p:spPr>
              <a:xfrm>
                <a:off x="1" y="1963"/>
                <a:ext cx="5758" cy="0"/>
              </a:xfrm>
              <a:prstGeom prst="line">
                <a:avLst/>
              </a:prstGeom>
              <a:ln w="15875" cap="flat" cmpd="sng">
                <a:solidFill>
                  <a:schemeClr val="bg1"/>
                </a:solidFill>
                <a:prstDash val="solid"/>
                <a:headEnd type="none" w="med" len="med"/>
                <a:tailEnd type="none" w="med" len="med"/>
              </a:ln>
            </p:spPr>
          </p:sp>
          <p:sp>
            <p:nvSpPr>
              <p:cNvPr id="1052" name="Line 34"/>
              <p:cNvSpPr/>
              <p:nvPr userDrawn="1"/>
            </p:nvSpPr>
            <p:spPr>
              <a:xfrm>
                <a:off x="1" y="1570"/>
                <a:ext cx="5758" cy="0"/>
              </a:xfrm>
              <a:prstGeom prst="line">
                <a:avLst/>
              </a:prstGeom>
              <a:ln w="15875" cap="flat" cmpd="sng">
                <a:solidFill>
                  <a:schemeClr val="bg1"/>
                </a:solidFill>
                <a:prstDash val="solid"/>
                <a:headEnd type="none" w="med" len="med"/>
                <a:tailEnd type="none" w="med" len="med"/>
              </a:ln>
            </p:spPr>
          </p:sp>
          <p:sp>
            <p:nvSpPr>
              <p:cNvPr id="1053" name="Line 35"/>
              <p:cNvSpPr/>
              <p:nvPr userDrawn="1"/>
            </p:nvSpPr>
            <p:spPr>
              <a:xfrm>
                <a:off x="1" y="1177"/>
                <a:ext cx="5758" cy="0"/>
              </a:xfrm>
              <a:prstGeom prst="line">
                <a:avLst/>
              </a:prstGeom>
              <a:ln w="15875" cap="flat" cmpd="sng">
                <a:solidFill>
                  <a:schemeClr val="bg1"/>
                </a:solidFill>
                <a:prstDash val="solid"/>
                <a:headEnd type="none" w="med" len="med"/>
                <a:tailEnd type="none" w="med" len="med"/>
              </a:ln>
            </p:spPr>
          </p:sp>
          <p:sp>
            <p:nvSpPr>
              <p:cNvPr id="1054" name="Line 36"/>
              <p:cNvSpPr/>
              <p:nvPr userDrawn="1"/>
            </p:nvSpPr>
            <p:spPr>
              <a:xfrm>
                <a:off x="1" y="392"/>
                <a:ext cx="5758" cy="0"/>
              </a:xfrm>
              <a:prstGeom prst="line">
                <a:avLst/>
              </a:prstGeom>
              <a:ln w="15875" cap="flat" cmpd="sng">
                <a:solidFill>
                  <a:schemeClr val="bg1"/>
                </a:solidFill>
                <a:prstDash val="solid"/>
                <a:headEnd type="none" w="med" len="med"/>
                <a:tailEnd type="none" w="med" len="med"/>
              </a:ln>
            </p:spPr>
          </p:sp>
        </p:grpSp>
        <p:sp>
          <p:nvSpPr>
            <p:cNvPr id="1048" name="Line 37"/>
            <p:cNvSpPr/>
            <p:nvPr/>
          </p:nvSpPr>
          <p:spPr>
            <a:xfrm>
              <a:off x="1" y="3928"/>
              <a:ext cx="5758" cy="0"/>
            </a:xfrm>
            <a:prstGeom prst="line">
              <a:avLst/>
            </a:prstGeom>
            <a:ln w="15875" cap="flat" cmpd="sng">
              <a:solidFill>
                <a:schemeClr val="bg2"/>
              </a:solidFill>
              <a:prstDash val="solid"/>
              <a:headEnd type="none" w="med" len="med"/>
              <a:tailEnd type="none" w="med" len="med"/>
            </a:ln>
          </p:spPr>
        </p:sp>
        <p:sp>
          <p:nvSpPr>
            <p:cNvPr id="1049" name="Line 38"/>
            <p:cNvSpPr/>
            <p:nvPr/>
          </p:nvSpPr>
          <p:spPr>
            <a:xfrm>
              <a:off x="1" y="3535"/>
              <a:ext cx="5758" cy="0"/>
            </a:xfrm>
            <a:prstGeom prst="line">
              <a:avLst/>
            </a:prstGeom>
            <a:ln w="15875" cap="flat" cmpd="sng">
              <a:solidFill>
                <a:schemeClr val="bg2"/>
              </a:solidFill>
              <a:prstDash val="solid"/>
              <a:headEnd type="none" w="med" len="med"/>
              <a:tailEnd type="none" w="med" len="med"/>
            </a:ln>
          </p:spPr>
        </p:sp>
      </p:grpSp>
      <p:sp>
        <p:nvSpPr>
          <p:cNvPr id="4135" name="Rectangle 39"/>
          <p:cNvSpPr>
            <a:spLocks noGrp="1" noChangeArrowheads="1"/>
          </p:cNvSpPr>
          <p:nvPr>
            <p:ph type="title"/>
          </p:nvPr>
        </p:nvSpPr>
        <p:spPr bwMode="auto">
          <a:xfrm>
            <a:off x="457200" y="277813"/>
            <a:ext cx="8229600" cy="1139825"/>
          </a:xfrm>
          <a:prstGeom prst="rect">
            <a:avLst/>
          </a:prstGeom>
          <a:noFill/>
          <a:ln w="9525">
            <a:noFill/>
            <a:miter lim="800000"/>
          </a:ln>
          <a:effectLst/>
        </p:spPr>
        <p:txBody>
          <a:bodyPr vert="horz" wrap="square" lIns="91440" tIns="45720" rIns="91440" bIns="45720" numCol="1" anchor="ctr" anchorCtr="1" compatLnSpc="1"/>
          <a:lstStyle/>
          <a:p>
            <a:pPr lvl="0"/>
            <a:r>
              <a:rPr lang="zh-CN" altLang="en-US" smtClean="0"/>
              <a:t>单击此处编辑母版标题样式</a:t>
            </a:r>
            <a:endParaRPr lang="zh-CN" altLang="en-US" smtClean="0"/>
          </a:p>
        </p:txBody>
      </p:sp>
      <p:sp>
        <p:nvSpPr>
          <p:cNvPr id="4136" name="Rectangle 40"/>
          <p:cNvSpPr>
            <a:spLocks noGrp="1" noChangeArrowheads="1"/>
          </p:cNvSpPr>
          <p:nvPr>
            <p:ph type="dt" sz="half" idx="2"/>
          </p:nvPr>
        </p:nvSpPr>
        <p:spPr bwMode="auto">
          <a:xfrm>
            <a:off x="457200" y="6243638"/>
            <a:ext cx="21336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000">
                <a:effectLst>
                  <a:outerShdw blurRad="38100" dist="38100" dir="2700000" algn="tl">
                    <a:srgbClr val="000000"/>
                  </a:outerShdw>
                </a:effectLs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4137" name="Rectangle 41"/>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000">
                <a:effectLst>
                  <a:outerShdw blurRad="38100" dist="38100" dir="2700000" algn="tl">
                    <a:srgbClr val="000000"/>
                  </a:outerShdw>
                </a:effectLs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4138" name="Rectangle 42"/>
          <p:cNvSpPr>
            <a:spLocks noGrp="1" noChangeArrowheads="1"/>
          </p:cNvSpPr>
          <p:nvPr>
            <p:ph type="sldNum" sz="quarter" idx="4"/>
          </p:nvPr>
        </p:nvSpPr>
        <p:spPr bwMode="auto">
          <a:xfrm>
            <a:off x="6553200" y="6243638"/>
            <a:ext cx="21336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000">
                <a:effectLst>
                  <a:outerShdw blurRad="38100" dist="38100" dir="2700000" algn="tl">
                    <a:srgbClr val="000000"/>
                  </a:outerShdw>
                </a:effectLst>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CD98C52-C54B-49E3-BE82-43E0A1AD112C}"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4139" name="Rectangle 43"/>
          <p:cNvSpPr>
            <a:spLocks noGrp="1" noChangeArrowheads="1"/>
          </p:cNvSpPr>
          <p:nvPr>
            <p:ph type="body" idx="1"/>
          </p:nvPr>
        </p:nvSpPr>
        <p:spPr bwMode="auto">
          <a:xfrm>
            <a:off x="457200" y="1600200"/>
            <a:ext cx="8229600" cy="4530725"/>
          </a:xfrm>
          <a:prstGeom prst="rect">
            <a:avLst/>
          </a:prstGeom>
          <a:noFill/>
          <a:ln w="9525">
            <a:noFill/>
            <a:miter lim="800000"/>
          </a:ln>
          <a:effec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sldNum="0" hdr="0" ftr="0" dt="0"/>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noChangeArrowheads="1"/>
          </p:cNvSpPr>
          <p:nvPr>
            <p:ph type="ctrTitle" sz="quarter"/>
          </p:nvPr>
        </p:nvSpPr>
        <p:spPr/>
        <p:txBody>
          <a:bodyPr vert="horz" wrap="square" lIns="91440" tIns="45720" rIns="91440" bIns="45720" numCol="1" anchor="b"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5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输入</a:t>
            </a:r>
            <a:r>
              <a:rPr kumimoji="0" lang="en-US" altLang="zh-CN" sz="5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US" sz="5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输出</a:t>
            </a:r>
            <a:endPar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9155" name="Rectangle 3"/>
          <p:cNvSpPr>
            <a:spLocks noGrp="1" noChangeArrowheads="1"/>
          </p:cNvSpPr>
          <p:nvPr>
            <p:ph type="subTitle" sz="quarter" idx="1"/>
          </p:nvPr>
        </p:nvSpPr>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面向对象途径</a:t>
            </a:r>
            <a:endParaRPr kumimoji="0" lang="zh-CN"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主要</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内容</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50179"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输入</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输出（</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I/O</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）概述</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面向控制台的</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I/O</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面向文件的</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I/O</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输入</a:t>
            </a: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输出（</a:t>
            </a: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I/O</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）概述</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171" name="Rectangle 3"/>
          <p:cNvSpPr>
            <a:spLocks noGrp="1" noChangeArrowheads="1"/>
          </p:cNvSpPr>
          <p:nvPr>
            <p:ph idx="1"/>
          </p:nvPr>
        </p:nvSpPr>
        <p:spPr>
          <a:xfrm>
            <a:off x="457200" y="1557338"/>
            <a:ext cx="8229600" cy="5111750"/>
          </a:xfrm>
        </p:spPr>
        <p:txBody>
          <a:bodyPr vert="horz" wrap="square" lIns="91440" tIns="45720" rIns="91440" bIns="45720" numCol="1" anchor="t" anchorCtr="0" compatLnSpc="1">
            <a:normAutofit lnSpcReduction="1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输入</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输出（简称</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I/O</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）是程序的一个重要组成部分：</a:t>
            </a:r>
            <a:endPar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程序运行所需要的数据往往要从外设（如：键盘、文件等）得到</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程序的运行结果通常也要输出到外设（如：显示器、打印机、文件等）中去。</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在</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中</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I/O</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操作</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不是语言定义的成分，而是由具体的实现作为</a:t>
            </a:r>
            <a:r>
              <a:rPr kumimoji="0" lang="zh-CN" altLang="en-US"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标准库</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的功能来提供。 </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1" name="Rectangle 3"/>
          <p:cNvSpPr>
            <a:spLocks noGrp="1" noChangeArrowheads="1"/>
          </p:cNvSpPr>
          <p:nvPr>
            <p:ph idx="1"/>
          </p:nvPr>
        </p:nvSpPr>
        <p:spPr>
          <a:xfrm>
            <a:off x="457200" y="404813"/>
            <a:ext cx="8229600" cy="5976938"/>
          </a:xfrm>
        </p:spPr>
        <p:txBody>
          <a:bodyPr vert="horz" wrap="square" lIns="91440" tIns="45720" rIns="91440" bIns="45720" numCol="1" anchor="t" anchorCtr="0" compatLnSpc="1">
            <a:normAutofit fontScale="850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在</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中，输入</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输出是一种基于</a:t>
            </a:r>
            <a:r>
              <a:rPr kumimoji="0" lang="zh-CN" altLang="en-US"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字节流</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的操作：</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在进行输入操作时，可把输入的数据看成</a:t>
            </a:r>
            <a:r>
              <a:rPr kumimoji="0" lang="zh-CN" altLang="en-US"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逐个字节</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地从外设流入到计算机内存。</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在进行输出操作时，则把输出的数据看成</a:t>
            </a:r>
            <a:r>
              <a:rPr kumimoji="0" lang="zh-CN" altLang="en-US"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逐个字节</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地从内存流出到外设。</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的标准库中，</a:t>
            </a:r>
            <a:r>
              <a:rPr kumimoji="0" lang="zh-CN" altLang="en-GB"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提供</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了两大类</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I/O</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操作：</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基于</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字节</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流</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I/O</a:t>
            </a:r>
            <a:r>
              <a:rPr kumimoji="0" lang="zh-CN" altLang="en-GB"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操作</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基于</a:t>
            </a:r>
            <a:r>
              <a:rPr kumimoji="0" lang="en-GB"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C++</a:t>
            </a:r>
            <a:r>
              <a:rPr kumimoji="0" lang="zh-CN" altLang="en-GB"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基本数据类型</a:t>
            </a:r>
            <a:r>
              <a:rPr kumimoji="0" lang="zh-CN" altLang="en-GB"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数据的</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I/O</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操作</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（在</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这些操作的内部实现了基本数据类型与字节流之间的</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转换）</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输入</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输出操作往往是带内存缓冲区的</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输出时，输出的数据先放内存缓冲区中，缓冲区满了之后再实际输出到外设。</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输入时，先从外设输入一大块内容放入内存缓冲区，然后从缓冲区中逐步输入数据。</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C++</a:t>
            </a: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输入输出的实现途径</a:t>
            </a:r>
            <a:endPar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54275" name="Rectangle 3"/>
          <p:cNvSpPr>
            <a:spLocks noGrp="1" noChangeArrowheads="1"/>
          </p:cNvSpPr>
          <p:nvPr>
            <p:ph idx="1"/>
          </p:nvPr>
        </p:nvSpPr>
        <p:spPr/>
        <p:txBody>
          <a:bodyPr vert="horz" wrap="square" lIns="91440" tIns="45720" rIns="91440" bIns="45720" numCol="1" anchor="t" anchorCtr="0" compatLnSpc="1">
            <a:normAutofit fontScale="85000" lnSpcReduction="10000"/>
          </a:bodyPr>
          <a:lstStyle/>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过程式——通过从</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C</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语言保留下来的函数库中的输入</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输出函数来实现</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。如：</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printf</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scanf</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面向对象——通过</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C++</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的</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I/O</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类库中的类</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对象以及重载的操作符“</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&lt;&lt;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”和“</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&gt;&gt;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来实现。</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如：</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o</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stream</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mn-ea"/>
              </a:rPr>
              <a:t>、</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&lt;&lt;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alpha val="43137"/>
                    </a:srgbClr>
                  </a:outerShdw>
                </a:effectLst>
                <a:uLnTx/>
                <a:uFillTx/>
                <a:latin typeface="+mn-lt"/>
                <a:ea typeface="+mn-ea"/>
              </a:rPr>
              <a:t>istream</a:t>
            </a:r>
            <a:r>
              <a:rPr kumimoji="0" lang="zh-CN" altLang="en-US" sz="2800" b="0" i="0" u="none" strike="noStrike" kern="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rPr>
              <a:t>、</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cin</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&gt;&gt;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3" name="Rectangle 3"/>
          <p:cNvSpPr>
            <a:spLocks noGrp="1" noChangeArrowheads="1"/>
          </p:cNvSpPr>
          <p:nvPr>
            <p:ph idx="1"/>
          </p:nvPr>
        </p:nvSpPr>
        <p:spPr>
          <a:xfrm>
            <a:off x="457200" y="1196975"/>
            <a:ext cx="8218488" cy="5472113"/>
          </a:xfrm>
        </p:spPr>
        <p:txBody>
          <a:bodyPr vert="horz" wrap="square" lIns="91440" tIns="45720" rIns="91440" bIns="45720" numCol="1" anchor="t" anchorCtr="0" compatLnSpc="1">
            <a:normAutofit fontScale="55000" lnSpcReduction="20000"/>
          </a:bodyPr>
          <a:lstStyle/>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4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参数个数和类型不固定，编译时刻不能进行严格的参数类型检查（不是强类型</a:t>
            </a:r>
            <a:r>
              <a:rPr kumimoji="0" lang="zh-CN" altLang="en-US" sz="4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），使用不当会</a:t>
            </a:r>
            <a:r>
              <a:rPr kumimoji="0" lang="zh-CN" altLang="en-US" sz="4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导致运行时刻的错误。</a:t>
            </a:r>
            <a:endParaRPr kumimoji="0" lang="en-US" altLang="zh-CN" sz="4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4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需要用一个格式串来指出后面要输出的数据的类型。例如：</a:t>
            </a:r>
            <a:endParaRPr kumimoji="0" lang="en-US" altLang="zh-CN" sz="4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1009650" marR="0" lvl="1" indent="-609600" algn="l" defTabSz="914400" rtl="0" eaLnBrk="0" fontAlgn="base" latinLnBrk="0" hangingPunct="0">
              <a:lnSpc>
                <a:spcPct val="120000"/>
              </a:lnSpc>
              <a:spcBef>
                <a:spcPct val="20000"/>
              </a:spcBef>
              <a:spcAft>
                <a:spcPct val="0"/>
              </a:spcAft>
              <a:buClr>
                <a:schemeClr val="tx1"/>
              </a:buClr>
              <a:buSzTx/>
              <a:buFont typeface="Wingdings" panose="05000000000000000000" pitchFamily="2" charset="2"/>
              <a:buNone/>
              <a:defRPr/>
            </a:pPr>
            <a:r>
              <a:rPr kumimoji="0" lang="en-US" altLang="zh-CN" sz="35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35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35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a:t>
            </a:r>
            <a:r>
              <a:rPr kumimoji="0" lang="en-US" altLang="zh-CN" sz="35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double j;</a:t>
            </a:r>
            <a:endParaRPr kumimoji="0" lang="it-IT" altLang="zh-CN" sz="35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009650" marR="0" lvl="1" indent="-609600" algn="l" defTabSz="914400" rtl="0" eaLnBrk="0" fontAlgn="base" latinLnBrk="0" hangingPunct="0">
              <a:lnSpc>
                <a:spcPct val="120000"/>
              </a:lnSpc>
              <a:spcBef>
                <a:spcPct val="20000"/>
              </a:spcBef>
              <a:spcAft>
                <a:spcPct val="0"/>
              </a:spcAft>
              <a:buClr>
                <a:schemeClr val="tx1"/>
              </a:buClr>
              <a:buSzTx/>
              <a:buFont typeface="Wingdings" panose="05000000000000000000" pitchFamily="2" charset="2"/>
              <a:buNone/>
              <a:defRPr/>
            </a:pPr>
            <a:r>
              <a:rPr kumimoji="0" lang="en-US" altLang="zh-CN" sz="35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scanf</a:t>
            </a:r>
            <a:r>
              <a:rPr kumimoji="0" lang="en-US" altLang="zh-CN" sz="35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35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a:t>
            </a:r>
            <a:r>
              <a:rPr kumimoji="0" lang="en-US" altLang="zh-CN" sz="35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35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35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d</a:t>
            </a:r>
            <a:r>
              <a:rPr kumimoji="0" lang="en-US" altLang="zh-CN" sz="35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,j</a:t>
            </a:r>
            <a:r>
              <a:rPr kumimoji="0" lang="en-US" altLang="zh-CN" sz="35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35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%lf</a:t>
            </a:r>
            <a:r>
              <a:rPr kumimoji="0" lang="en-US" altLang="zh-CN" sz="35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35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&amp;</a:t>
            </a:r>
            <a:r>
              <a:rPr kumimoji="0" lang="en-US" altLang="zh-CN" sz="35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a:t>
            </a:r>
            <a:r>
              <a:rPr kumimoji="0" lang="en-US" altLang="zh-CN" sz="35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35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&amp;</a:t>
            </a:r>
            <a:r>
              <a:rPr kumimoji="0" lang="en-US" altLang="zh-CN" sz="35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j); //</a:t>
            </a:r>
            <a:r>
              <a:rPr kumimoji="0" lang="en-US" altLang="zh-CN" sz="3500" b="0" i="0" u="sng"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a:t>
            </a:r>
            <a:r>
              <a:rPr kumimoji="0" lang="en-US" altLang="zh-CN" sz="3500" b="0" i="0" u="sng"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=12,j=34.5 </a:t>
            </a:r>
            <a:r>
              <a:rPr kumimoji="0" lang="en-US" altLang="zh-CN" sz="35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US" altLang="zh-CN" sz="35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009650" marR="0" lvl="1" indent="-609600" algn="l" defTabSz="914400" rtl="0" eaLnBrk="0" fontAlgn="base" latinLnBrk="0" hangingPunct="0">
              <a:lnSpc>
                <a:spcPct val="120000"/>
              </a:lnSpc>
              <a:spcBef>
                <a:spcPct val="20000"/>
              </a:spcBef>
              <a:spcAft>
                <a:spcPct val="0"/>
              </a:spcAft>
              <a:buClr>
                <a:schemeClr val="tx1"/>
              </a:buClr>
              <a:buSzTx/>
              <a:buFont typeface="Wingdings" panose="05000000000000000000" pitchFamily="2" charset="2"/>
              <a:buNone/>
              <a:defRPr/>
            </a:pPr>
            <a:r>
              <a:rPr kumimoji="0" lang="it-IT" altLang="zh-CN" sz="35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printf("i=</a:t>
            </a:r>
            <a:r>
              <a:rPr kumimoji="0" lang="it-IT" altLang="zh-CN" sz="35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rPr>
              <a:t>%d</a:t>
            </a:r>
            <a:r>
              <a:rPr kumimoji="0" lang="it-IT" altLang="zh-CN" sz="35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j=</a:t>
            </a:r>
            <a:r>
              <a:rPr kumimoji="0" lang="it-IT" altLang="zh-CN" sz="35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rPr>
              <a:t>%f</a:t>
            </a:r>
            <a:r>
              <a:rPr kumimoji="0" lang="it-IT" altLang="zh-CN" sz="35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\n",i,j);  //i=12, j=34.5</a:t>
            </a:r>
            <a:endParaRPr kumimoji="0" lang="it-IT" altLang="zh-CN" sz="35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4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编译时刻一般不对格式</a:t>
            </a:r>
            <a:r>
              <a:rPr kumimoji="0" lang="zh-CN" altLang="en-US" sz="4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串中指定的</a:t>
            </a:r>
            <a:r>
              <a:rPr kumimoji="0" lang="zh-CN" altLang="en-US" sz="4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数据类型和个数与所提供</a:t>
            </a:r>
            <a:r>
              <a:rPr kumimoji="0" lang="zh-CN" altLang="en-US" sz="4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的数据的实际</a:t>
            </a:r>
            <a:r>
              <a:rPr kumimoji="0" lang="zh-CN" altLang="en-US" sz="4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类型和个数之间</a:t>
            </a:r>
            <a:r>
              <a:rPr kumimoji="0" lang="zh-CN" altLang="en-US" sz="4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是否</a:t>
            </a:r>
            <a:r>
              <a:rPr kumimoji="0" lang="zh-CN" altLang="en-US" sz="4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一致进行的检查</a:t>
            </a:r>
            <a:r>
              <a:rPr kumimoji="0" lang="zh-CN" altLang="en-US" sz="4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4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vs2015</a:t>
            </a:r>
            <a:r>
              <a:rPr kumimoji="0" lang="zh-CN" altLang="en-US" sz="4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开始检查了）</a:t>
            </a:r>
            <a:r>
              <a:rPr kumimoji="0" lang="zh-CN" altLang="en-US" sz="4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4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当格式串描述</a:t>
            </a:r>
            <a:r>
              <a:rPr kumimoji="0" lang="zh-CN" altLang="en-US" sz="4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与实际数据</a:t>
            </a:r>
            <a:r>
              <a:rPr kumimoji="0" lang="zh-CN" altLang="en-US" sz="4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不一致时会导致运行时刻的</a:t>
            </a:r>
            <a:r>
              <a:rPr kumimoji="0" lang="zh-CN" altLang="en-US" sz="4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错误。例如：</a:t>
            </a:r>
            <a:endParaRPr kumimoji="0" lang="en-US" altLang="zh-CN" sz="4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1009650" marR="0" lvl="1" indent="-609600" algn="l" defTabSz="914400" rtl="0" eaLnBrk="0" fontAlgn="base" latinLnBrk="0" hangingPunct="0">
              <a:lnSpc>
                <a:spcPct val="120000"/>
              </a:lnSpc>
              <a:spcBef>
                <a:spcPct val="20000"/>
              </a:spcBef>
              <a:spcAft>
                <a:spcPct val="0"/>
              </a:spcAft>
              <a:buClr>
                <a:schemeClr val="tx1"/>
              </a:buClr>
              <a:buSzTx/>
              <a:buFont typeface="Wingdings" panose="05000000000000000000" pitchFamily="2" charset="2"/>
              <a:buNone/>
              <a:defRPr/>
            </a:pPr>
            <a:r>
              <a:rPr kumimoji="0" lang="en-US" altLang="zh-CN" sz="35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scanf</a:t>
            </a:r>
            <a:r>
              <a:rPr kumimoji="0" lang="en-US"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35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35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d,j</a:t>
            </a:r>
            <a:r>
              <a:rPr kumimoji="0" lang="en-US"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35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%d</a:t>
            </a:r>
            <a:r>
              <a:rPr kumimoji="0" lang="en-US"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",&amp;</a:t>
            </a:r>
            <a:r>
              <a:rPr kumimoji="0" lang="en-US" altLang="zh-CN" sz="35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35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&amp;j</a:t>
            </a:r>
            <a:r>
              <a:rPr kumimoji="0" lang="en-US"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类型不一致</a:t>
            </a:r>
            <a:endParaRPr kumimoji="0" lang="en-US"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009650" marR="0" lvl="1" indent="-609600" algn="l" defTabSz="914400" rtl="0" eaLnBrk="0" fontAlgn="base" latinLnBrk="0" hangingPunct="0">
              <a:lnSpc>
                <a:spcPct val="120000"/>
              </a:lnSpc>
              <a:spcBef>
                <a:spcPct val="20000"/>
              </a:spcBef>
              <a:spcAft>
                <a:spcPct val="0"/>
              </a:spcAft>
              <a:buClr>
                <a:schemeClr val="tx1"/>
              </a:buClr>
              <a:buSzTx/>
              <a:buFont typeface="Wingdings" panose="05000000000000000000" pitchFamily="2" charset="2"/>
              <a:buNone/>
              <a:defRPr/>
            </a:pPr>
            <a:r>
              <a:rPr kumimoji="0" lang="it-IT"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printf("i=%d, j=</a:t>
            </a:r>
            <a:r>
              <a:rPr kumimoji="0" lang="it-IT" altLang="zh-CN" sz="35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35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d</a:t>
            </a:r>
            <a:r>
              <a:rPr kumimoji="0" lang="it-IT"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\n",i,</a:t>
            </a:r>
            <a:r>
              <a:rPr kumimoji="0" lang="it-IT" altLang="zh-CN" sz="35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j</a:t>
            </a:r>
            <a:r>
              <a:rPr kumimoji="0" lang="it-IT"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类型不一致</a:t>
            </a:r>
            <a:endParaRPr kumimoji="0" lang="it-IT"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009650" marR="0" lvl="1" indent="-609600" algn="l" defTabSz="914400" rtl="0" eaLnBrk="0" fontAlgn="base" latinLnBrk="0" hangingPunct="0">
              <a:lnSpc>
                <a:spcPct val="120000"/>
              </a:lnSpc>
              <a:spcBef>
                <a:spcPct val="20000"/>
              </a:spcBef>
              <a:spcAft>
                <a:spcPct val="0"/>
              </a:spcAft>
              <a:buClr>
                <a:schemeClr val="tx1"/>
              </a:buClr>
              <a:buSzTx/>
              <a:buFont typeface="Wingdings" panose="05000000000000000000" pitchFamily="2" charset="2"/>
              <a:buNone/>
              <a:defRPr/>
            </a:pPr>
            <a:r>
              <a:rPr kumimoji="0" lang="en-US" altLang="zh-CN" sz="35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scanf</a:t>
            </a:r>
            <a:r>
              <a:rPr kumimoji="0" lang="en-US"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35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=%d",&amp;</a:t>
            </a:r>
            <a:r>
              <a:rPr kumimoji="0" lang="en-US" altLang="zh-CN" sz="35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a:t>
            </a:r>
            <a:r>
              <a:rPr kumimoji="0" lang="en-US"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35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&amp;j</a:t>
            </a:r>
            <a:r>
              <a:rPr kumimoji="0" lang="en-US"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个数不一致</a:t>
            </a:r>
            <a:endParaRPr kumimoji="0" lang="en-US"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009650" marR="0" lvl="1" indent="-609600" algn="l" defTabSz="914400" rtl="0" eaLnBrk="0" fontAlgn="base" latinLnBrk="0" hangingPunct="0">
              <a:lnSpc>
                <a:spcPct val="120000"/>
              </a:lnSpc>
              <a:spcBef>
                <a:spcPct val="20000"/>
              </a:spcBef>
              <a:spcAft>
                <a:spcPct val="0"/>
              </a:spcAft>
              <a:buClr>
                <a:schemeClr val="tx1"/>
              </a:buClr>
              <a:buSzTx/>
              <a:buFont typeface="Wingdings" panose="05000000000000000000" pitchFamily="2" charset="2"/>
              <a:buNone/>
              <a:defRPr/>
            </a:pPr>
            <a:r>
              <a:rPr kumimoji="0" lang="it-IT"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printf("i=%d, j=</a:t>
            </a:r>
            <a:r>
              <a:rPr kumimoji="0" lang="it-IT" altLang="zh-CN" sz="35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US" altLang="zh-CN" sz="35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f</a:t>
            </a:r>
            <a:r>
              <a:rPr kumimoji="0" lang="it-IT"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\n",i);  </a:t>
            </a:r>
            <a:r>
              <a:rPr kumimoji="0" lang="en-US"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个数不一致</a:t>
            </a:r>
            <a:endParaRPr kumimoji="0" lang="en-US" altLang="zh-CN" sz="35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
        <p:nvSpPr>
          <p:cNvPr id="3"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dirty="0" err="1" smtClean="0">
                <a:ln>
                  <a:noFill/>
                </a:ln>
                <a:solidFill>
                  <a:schemeClr val="tx2"/>
                </a:solidFill>
                <a:effectLst>
                  <a:outerShdw blurRad="38100" dist="38100" dir="2700000" algn="tl">
                    <a:srgbClr val="000000"/>
                  </a:outerShdw>
                </a:effectLst>
                <a:uLnTx/>
                <a:uFillTx/>
                <a:latin typeface="+mj-lt"/>
                <a:ea typeface="+mj-ea"/>
                <a:cs typeface="+mj-cs"/>
              </a:rPr>
              <a:t>printf</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r>
              <a:rPr kumimoji="0" lang="en-US" altLang="zh-CN" sz="4400" b="0" i="0" u="none" strike="noStrike" kern="0" cap="none" spc="0" normalizeH="0" baseline="0" noProof="0" dirty="0" err="1" smtClean="0">
                <a:ln>
                  <a:noFill/>
                </a:ln>
                <a:solidFill>
                  <a:schemeClr val="tx2"/>
                </a:solidFill>
                <a:effectLst>
                  <a:outerShdw blurRad="38100" dist="38100" dir="2700000" algn="tl">
                    <a:srgbClr val="000000"/>
                  </a:outerShdw>
                </a:effectLst>
                <a:uLnTx/>
                <a:uFillTx/>
                <a:latin typeface="+mj-lt"/>
                <a:ea typeface="+mj-ea"/>
                <a:cs typeface="+mj-cs"/>
              </a:rPr>
              <a:t>scanf</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的</a:t>
            </a:r>
            <a:r>
              <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缺陷</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1" name="Rectangle 3"/>
          <p:cNvSpPr>
            <a:spLocks noGrp="1" noChangeArrowheads="1"/>
          </p:cNvSpPr>
          <p:nvPr>
            <p:ph idx="1"/>
          </p:nvPr>
        </p:nvSpPr>
        <p:spPr>
          <a:xfrm>
            <a:off x="395288" y="1557338"/>
            <a:ext cx="8640763" cy="4464050"/>
          </a:xfrm>
        </p:spPr>
        <p:txBody>
          <a:bodyPr vert="horz" wrap="square" lIns="91440" tIns="45720" rIns="91440" bIns="45720" numCol="1" anchor="t" anchorCtr="0" compatLnSpc="1">
            <a:normAutofit fontScale="85000" lnSpcReduction="20000"/>
          </a:bodyPr>
          <a:lstStyle/>
          <a:p>
            <a:pPr marL="342900" marR="0" lvl="0" indent="-342900" algn="l" defTabSz="914400" rtl="0" eaLnBrk="1"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不需要单独指定数据的类型和个数，编译时刻根据数据本身来决定操作的类型和个数，这样可避免与类型和个数相关的错误！</a:t>
            </a:r>
            <a:endParaRPr kumimoji="0" lang="en-US" altLang="zh-CN"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1009650" marR="0" lvl="1" indent="-609600" algn="l" defTabSz="914400" rtl="0" eaLnBrk="0" fontAlgn="base" latinLnBrk="0" hangingPunct="0">
              <a:lnSpc>
                <a:spcPct val="110000"/>
              </a:lnSpc>
              <a:spcBef>
                <a:spcPct val="20000"/>
              </a:spcBef>
              <a:spcAft>
                <a:spcPct val="0"/>
              </a:spcAft>
              <a:buClr>
                <a:schemeClr val="tx1"/>
              </a:buClr>
              <a:buSzTx/>
              <a:buFont typeface="Wingdings" panose="05000000000000000000" pitchFamily="2" charset="2"/>
              <a:buNone/>
              <a:defRPr/>
            </a:pPr>
            <a:r>
              <a:rPr kumimoji="0" lang="en-US" altLang="zh-CN" sz="27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7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a:t>
            </a:r>
            <a:r>
              <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009650" marR="0" lvl="1" indent="-609600" algn="l" defTabSz="914400" rtl="0" eaLnBrk="0" fontAlgn="base" latinLnBrk="0" hangingPunct="0">
              <a:lnSpc>
                <a:spcPct val="110000"/>
              </a:lnSpc>
              <a:spcBef>
                <a:spcPct val="20000"/>
              </a:spcBef>
              <a:spcAft>
                <a:spcPct val="0"/>
              </a:spcAft>
              <a:buClr>
                <a:schemeClr val="tx1"/>
              </a:buClr>
              <a:buSzTx/>
              <a:buFont typeface="Wingdings" panose="05000000000000000000" pitchFamily="2" charset="2"/>
              <a:buNone/>
              <a:defRPr/>
            </a:pPr>
            <a:r>
              <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double j;</a:t>
            </a:r>
            <a:endParaRPr kumimoji="0" lang="it-IT"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009650" marR="0" lvl="1" indent="-609600" algn="l" defTabSz="914400" rtl="0" eaLnBrk="0" fontAlgn="base" latinLnBrk="0" hangingPunct="0">
              <a:lnSpc>
                <a:spcPct val="110000"/>
              </a:lnSpc>
              <a:spcBef>
                <a:spcPct val="20000"/>
              </a:spcBef>
              <a:spcAft>
                <a:spcPct val="0"/>
              </a:spcAft>
              <a:buClr>
                <a:schemeClr val="tx1"/>
              </a:buClr>
              <a:buSzTx/>
              <a:buFontTx/>
              <a:buNone/>
              <a:defRPr/>
            </a:pPr>
            <a:r>
              <a:rPr kumimoji="0" lang="en-US" altLang="zh-CN" sz="27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cout</a:t>
            </a:r>
            <a:r>
              <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&lt;&lt; </a:t>
            </a:r>
            <a:r>
              <a:rPr kumimoji="0" lang="en-US" altLang="zh-CN" sz="27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7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i</a:t>
            </a:r>
            <a:r>
              <a:rPr kumimoji="0" lang="en-US" altLang="zh-CN" sz="27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7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009650" marR="0" lvl="1" indent="-609600" algn="l" defTabSz="914400" rtl="0" eaLnBrk="0" fontAlgn="base" latinLnBrk="0" hangingPunct="0">
              <a:lnSpc>
                <a:spcPct val="110000"/>
              </a:lnSpc>
              <a:spcBef>
                <a:spcPct val="20000"/>
              </a:spcBef>
              <a:spcAft>
                <a:spcPct val="0"/>
              </a:spcAft>
              <a:buClr>
                <a:schemeClr val="tx1"/>
              </a:buClr>
              <a:buSzTx/>
              <a:buFontTx/>
              <a:buNone/>
              <a:defRPr/>
            </a:pPr>
            <a:r>
              <a:rPr kumimoji="0" lang="en-US" altLang="zh-CN" sz="27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cin</a:t>
            </a:r>
            <a:r>
              <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&gt;&gt; </a:t>
            </a:r>
            <a:r>
              <a:rPr kumimoji="0" lang="en-US" altLang="zh-CN" sz="27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i</a:t>
            </a:r>
            <a:r>
              <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009650" marR="0" lvl="1" indent="-609600" algn="l" defTabSz="914400" rtl="0" eaLnBrk="0" fontAlgn="base" latinLnBrk="0" hangingPunct="0">
              <a:lnSpc>
                <a:spcPct val="110000"/>
              </a:lnSpc>
              <a:spcBef>
                <a:spcPct val="20000"/>
              </a:spcBef>
              <a:spcAft>
                <a:spcPct val="0"/>
              </a:spcAft>
              <a:buClr>
                <a:schemeClr val="tx1"/>
              </a:buClr>
              <a:buSzTx/>
              <a:buFontTx/>
              <a:buNone/>
              <a:defRPr/>
            </a:pPr>
            <a:r>
              <a:rPr kumimoji="0" lang="en-US" altLang="zh-CN" sz="27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cout</a:t>
            </a:r>
            <a:r>
              <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&lt;&lt; </a:t>
            </a:r>
            <a:r>
              <a:rPr kumimoji="0" lang="en-US" altLang="zh-CN" sz="27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"j</a:t>
            </a:r>
            <a:r>
              <a:rPr kumimoji="0" lang="en-US" altLang="zh-CN" sz="27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009650" marR="0" lvl="1" indent="-609600" algn="l" defTabSz="914400" rtl="0" eaLnBrk="0" fontAlgn="base" latinLnBrk="0" hangingPunct="0">
              <a:lnSpc>
                <a:spcPct val="110000"/>
              </a:lnSpc>
              <a:spcBef>
                <a:spcPct val="20000"/>
              </a:spcBef>
              <a:spcAft>
                <a:spcPct val="0"/>
              </a:spcAft>
              <a:buClr>
                <a:schemeClr val="tx1"/>
              </a:buClr>
              <a:buSzTx/>
              <a:buFontTx/>
              <a:buNone/>
              <a:defRPr/>
            </a:pPr>
            <a:r>
              <a:rPr kumimoji="0" lang="en-US" altLang="zh-CN" sz="27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cin</a:t>
            </a:r>
            <a:r>
              <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&gt;&gt; </a:t>
            </a:r>
            <a:r>
              <a:rPr kumimoji="0" lang="en-US" altLang="zh-CN" sz="27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j</a:t>
            </a:r>
            <a:r>
              <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400050" marR="0" lvl="1" indent="0" algn="l" defTabSz="914400" rtl="0" eaLnBrk="0" fontAlgn="base" latinLnBrk="0" hangingPunct="0">
              <a:lnSpc>
                <a:spcPct val="110000"/>
              </a:lnSpc>
              <a:spcBef>
                <a:spcPct val="20000"/>
              </a:spcBef>
              <a:spcAft>
                <a:spcPct val="0"/>
              </a:spcAft>
              <a:buClr>
                <a:schemeClr val="tx1"/>
              </a:buClr>
              <a:buSzTx/>
              <a:buFont typeface="Wingdings" panose="05000000000000000000" pitchFamily="2" charset="2"/>
              <a:buNone/>
              <a:defRPr/>
            </a:pPr>
            <a:r>
              <a:rPr kumimoji="0" lang="en-US" altLang="zh-CN" sz="27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cout</a:t>
            </a:r>
            <a:r>
              <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&lt;&lt; </a:t>
            </a:r>
            <a:r>
              <a:rPr kumimoji="0" lang="en-US" altLang="zh-CN" sz="27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7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i</a:t>
            </a:r>
            <a:r>
              <a:rPr kumimoji="0" lang="en-US" altLang="zh-CN" sz="27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t>
            </a:r>
            <a:r>
              <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&lt;&lt; </a:t>
            </a:r>
            <a:r>
              <a:rPr kumimoji="0" lang="en-US" altLang="zh-CN" sz="27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i</a:t>
            </a:r>
            <a:r>
              <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&lt;&lt; </a:t>
            </a:r>
            <a:r>
              <a:rPr kumimoji="0" lang="en-US" altLang="zh-CN" sz="27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",j="</a:t>
            </a:r>
            <a:r>
              <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&lt;&lt; </a:t>
            </a:r>
            <a:r>
              <a:rPr kumimoji="0" lang="en-US" altLang="zh-CN" sz="27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j</a:t>
            </a:r>
            <a:r>
              <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&lt;&lt; </a:t>
            </a:r>
            <a:r>
              <a:rPr kumimoji="0" lang="en-US" altLang="zh-CN" sz="27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endl</a:t>
            </a:r>
            <a:r>
              <a:rPr kumimoji="0" lang="en-US" altLang="zh-CN" sz="27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7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p:txBody>
      </p:sp>
      <p:sp>
        <p:nvSpPr>
          <p:cNvPr id="3"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dirty="0" err="1" smtClean="0">
                <a:ln>
                  <a:noFill/>
                </a:ln>
                <a:solidFill>
                  <a:schemeClr val="tx2"/>
                </a:solidFill>
                <a:effectLst>
                  <a:outerShdw blurRad="38100" dist="38100" dir="2700000" algn="tl">
                    <a:srgbClr val="000000"/>
                  </a:outerShdw>
                </a:effectLst>
                <a:uLnTx/>
                <a:uFillTx/>
                <a:latin typeface="+mj-lt"/>
                <a:ea typeface="+mj-ea"/>
                <a:cs typeface="+mj-cs"/>
              </a:rPr>
              <a:t>cout</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r>
              <a:rPr kumimoji="0" lang="en-US" altLang="zh-CN" sz="4400" b="0" i="0" u="none" strike="noStrike" kern="0" cap="none" spc="0" normalizeH="0" baseline="0" noProof="0" dirty="0" err="1" smtClean="0">
                <a:ln>
                  <a:noFill/>
                </a:ln>
                <a:solidFill>
                  <a:schemeClr val="tx2"/>
                </a:solidFill>
                <a:effectLst>
                  <a:outerShdw blurRad="38100" dist="38100" dir="2700000" algn="tl">
                    <a:srgbClr val="000000"/>
                  </a:outerShdw>
                </a:effectLst>
                <a:uLnTx/>
                <a:uFillTx/>
                <a:latin typeface="+mj-lt"/>
                <a:ea typeface="+mj-ea"/>
                <a:cs typeface="+mj-cs"/>
              </a:rPr>
              <a:t>cin</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的优势</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I/O</a:t>
            </a: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的分类</a:t>
            </a:r>
            <a:endPar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52227" name="Rectangle 3"/>
          <p:cNvSpPr>
            <a:spLocks noGrp="1" noChangeArrowheads="1"/>
          </p:cNvSpPr>
          <p:nvPr>
            <p:ph idx="1"/>
          </p:nvPr>
        </p:nvSpPr>
        <p:spPr>
          <a:xfrm>
            <a:off x="457200" y="1600200"/>
            <a:ext cx="8229600" cy="46370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面向</a:t>
            </a:r>
            <a:r>
              <a:rPr kumimoji="0" lang="zh-CN" altLang="en-GB"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控制台的</a:t>
            </a:r>
            <a:r>
              <a:rPr kumimoji="0" lang="en-GB" altLang="zh-CN"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I/O</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从标准输入设备（如：键盘）获得数据</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把程序结果从标准输出设备（如：显示器）输出</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面向</a:t>
            </a:r>
            <a:r>
              <a:rPr kumimoji="0" lang="zh-CN" altLang="en-GB"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文件的</a:t>
            </a:r>
            <a:r>
              <a:rPr kumimoji="0" lang="en-GB" altLang="zh-CN"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I/O</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从外存</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文件</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获得数据</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把程序结果保存到外存</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文件</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中</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面向</a:t>
            </a:r>
            <a:r>
              <a:rPr kumimoji="0" lang="zh-CN" altLang="en-GB"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字符串变量的</a:t>
            </a:r>
            <a:r>
              <a:rPr kumimoji="0" lang="en-GB" altLang="zh-CN"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I/O</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从程序中的字符串变量中获得数据</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把程序结果保存到字符串变量中</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noChangeArrowheads="1"/>
          </p:cNvSpPr>
          <p:nvPr>
            <p:ph type="title"/>
          </p:nvPr>
        </p:nvSpPr>
        <p:spPr>
          <a:xfrm>
            <a:off x="457200" y="115888"/>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GB" altLang="zh-CN"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C++</a:t>
            </a:r>
            <a:r>
              <a:rPr kumimoji="0" lang="zh-CN" altLang="en-GB"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的</a:t>
            </a:r>
            <a:r>
              <a:rPr kumimoji="0" lang="en-GB" altLang="zh-CN"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I/O</a:t>
            </a:r>
            <a:r>
              <a:rPr kumimoji="0" lang="zh-CN" altLang="en-GB"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类库</a:t>
            </a:r>
            <a:r>
              <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中基本的</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类</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53251" name="Rectangle 3"/>
          <p:cNvSpPr>
            <a:spLocks noGrp="1" noChangeArrowheads="1"/>
          </p:cNvSpPr>
          <p:nvPr>
            <p:ph idx="1"/>
          </p:nvPr>
        </p:nvSpPr>
        <p:spPr>
          <a:xfrm>
            <a:off x="217488" y="1557338"/>
            <a:ext cx="8469313" cy="1214438"/>
          </a:xfrm>
        </p:spPr>
        <p:txBody>
          <a:bodyPr vert="horz" wrap="square" lIns="91440" tIns="45720" rIns="91440" bIns="45720" numCol="1" anchor="t" anchorCtr="0" compatLnSpc="1">
            <a:normAutofit fontScale="92500" lnSpcReduction="20000"/>
          </a:bodyPr>
          <a:lstStyle/>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标准类库提供了以下的类来实现各种输入</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输出功能，</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其中</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，面向字符串</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变量的</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I/O</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现在</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已被</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STL</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中的</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string</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替代。</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grpSp>
        <p:nvGrpSpPr>
          <p:cNvPr id="11268" name="Group 0"/>
          <p:cNvGrpSpPr/>
          <p:nvPr/>
        </p:nvGrpSpPr>
        <p:grpSpPr>
          <a:xfrm>
            <a:off x="250825" y="2652713"/>
            <a:ext cx="8882063" cy="3944937"/>
            <a:chOff x="158" y="1927"/>
            <a:chExt cx="5595" cy="2311"/>
          </a:xfrm>
        </p:grpSpPr>
        <p:sp>
          <p:nvSpPr>
            <p:cNvPr id="11269" name="Line 4"/>
            <p:cNvSpPr>
              <a:spLocks noChangeShapeType="1"/>
            </p:cNvSpPr>
            <p:nvPr/>
          </p:nvSpPr>
          <p:spPr bwMode="auto">
            <a:xfrm>
              <a:off x="352" y="2251"/>
              <a:ext cx="0" cy="11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70" name="Line 5"/>
            <p:cNvSpPr>
              <a:spLocks noChangeShapeType="1"/>
            </p:cNvSpPr>
            <p:nvPr/>
          </p:nvSpPr>
          <p:spPr bwMode="auto">
            <a:xfrm>
              <a:off x="352" y="2377"/>
              <a:ext cx="15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71" name="Line 6"/>
            <p:cNvSpPr>
              <a:spLocks noChangeShapeType="1"/>
            </p:cNvSpPr>
            <p:nvPr/>
          </p:nvSpPr>
          <p:spPr bwMode="auto">
            <a:xfrm>
              <a:off x="352" y="3393"/>
              <a:ext cx="15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72" name="Line 7"/>
            <p:cNvSpPr>
              <a:spLocks noChangeShapeType="1"/>
            </p:cNvSpPr>
            <p:nvPr/>
          </p:nvSpPr>
          <p:spPr bwMode="auto">
            <a:xfrm>
              <a:off x="662" y="2503"/>
              <a:ext cx="0" cy="63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73" name="Line 8"/>
            <p:cNvSpPr>
              <a:spLocks noChangeShapeType="1"/>
            </p:cNvSpPr>
            <p:nvPr/>
          </p:nvSpPr>
          <p:spPr bwMode="auto">
            <a:xfrm>
              <a:off x="662" y="2886"/>
              <a:ext cx="15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74" name="Line 9"/>
            <p:cNvSpPr>
              <a:spLocks noChangeShapeType="1"/>
            </p:cNvSpPr>
            <p:nvPr/>
          </p:nvSpPr>
          <p:spPr bwMode="auto">
            <a:xfrm>
              <a:off x="662" y="3138"/>
              <a:ext cx="15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75" name="Line 10"/>
            <p:cNvSpPr>
              <a:spLocks noChangeShapeType="1"/>
            </p:cNvSpPr>
            <p:nvPr/>
          </p:nvSpPr>
          <p:spPr bwMode="auto">
            <a:xfrm>
              <a:off x="662" y="3521"/>
              <a:ext cx="0" cy="63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76" name="Line 11"/>
            <p:cNvSpPr>
              <a:spLocks noChangeShapeType="1"/>
            </p:cNvSpPr>
            <p:nvPr/>
          </p:nvSpPr>
          <p:spPr bwMode="auto">
            <a:xfrm>
              <a:off x="662" y="3902"/>
              <a:ext cx="15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77" name="Line 12"/>
            <p:cNvSpPr>
              <a:spLocks noChangeShapeType="1"/>
            </p:cNvSpPr>
            <p:nvPr/>
          </p:nvSpPr>
          <p:spPr bwMode="auto">
            <a:xfrm>
              <a:off x="662" y="4156"/>
              <a:ext cx="15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78" name="Line 13"/>
            <p:cNvSpPr>
              <a:spLocks noChangeShapeType="1"/>
            </p:cNvSpPr>
            <p:nvPr/>
          </p:nvSpPr>
          <p:spPr bwMode="auto">
            <a:xfrm flipV="1">
              <a:off x="657" y="2614"/>
              <a:ext cx="24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79" name="Line 14"/>
            <p:cNvSpPr>
              <a:spLocks noChangeShapeType="1"/>
            </p:cNvSpPr>
            <p:nvPr/>
          </p:nvSpPr>
          <p:spPr bwMode="auto">
            <a:xfrm>
              <a:off x="657" y="3657"/>
              <a:ext cx="24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80" name="Line 15"/>
            <p:cNvSpPr>
              <a:spLocks noChangeShapeType="1"/>
            </p:cNvSpPr>
            <p:nvPr/>
          </p:nvSpPr>
          <p:spPr bwMode="auto">
            <a:xfrm>
              <a:off x="3113" y="2632"/>
              <a:ext cx="0" cy="50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81" name="Line 16"/>
            <p:cNvSpPr>
              <a:spLocks noChangeShapeType="1"/>
            </p:cNvSpPr>
            <p:nvPr/>
          </p:nvSpPr>
          <p:spPr bwMode="auto">
            <a:xfrm flipV="1">
              <a:off x="3113" y="3267"/>
              <a:ext cx="0" cy="3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82" name="Line 17"/>
            <p:cNvSpPr>
              <a:spLocks noChangeShapeType="1"/>
            </p:cNvSpPr>
            <p:nvPr/>
          </p:nvSpPr>
          <p:spPr bwMode="auto">
            <a:xfrm>
              <a:off x="3113" y="3138"/>
              <a:ext cx="15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83" name="Line 18"/>
            <p:cNvSpPr>
              <a:spLocks noChangeShapeType="1"/>
            </p:cNvSpPr>
            <p:nvPr/>
          </p:nvSpPr>
          <p:spPr bwMode="auto">
            <a:xfrm>
              <a:off x="3113" y="3267"/>
              <a:ext cx="15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84" name="Line 19"/>
            <p:cNvSpPr>
              <a:spLocks noChangeShapeType="1"/>
            </p:cNvSpPr>
            <p:nvPr/>
          </p:nvSpPr>
          <p:spPr bwMode="auto">
            <a:xfrm>
              <a:off x="3496" y="3267"/>
              <a:ext cx="0" cy="3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85" name="Line 20"/>
            <p:cNvSpPr>
              <a:spLocks noChangeShapeType="1"/>
            </p:cNvSpPr>
            <p:nvPr/>
          </p:nvSpPr>
          <p:spPr bwMode="auto">
            <a:xfrm>
              <a:off x="3496" y="3393"/>
              <a:ext cx="15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86" name="Line 21"/>
            <p:cNvSpPr>
              <a:spLocks noChangeShapeType="1"/>
            </p:cNvSpPr>
            <p:nvPr/>
          </p:nvSpPr>
          <p:spPr bwMode="auto">
            <a:xfrm>
              <a:off x="3496" y="3647"/>
              <a:ext cx="15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87" name="Text Box 23"/>
            <p:cNvSpPr txBox="1">
              <a:spLocks noChangeArrowheads="1"/>
            </p:cNvSpPr>
            <p:nvPr/>
          </p:nvSpPr>
          <p:spPr bwMode="auto">
            <a:xfrm>
              <a:off x="158" y="1927"/>
              <a:ext cx="399"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GB"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ios</a:t>
              </a:r>
              <a:r>
                <a:rPr kumimoji="0" lang="en-US"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 </a:t>
              </a:r>
              <a:endParaRPr kumimoji="0" lang="en-US"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88" name="Text Box 24"/>
            <p:cNvSpPr txBox="1">
              <a:spLocks noChangeArrowheads="1"/>
            </p:cNvSpPr>
            <p:nvPr/>
          </p:nvSpPr>
          <p:spPr bwMode="auto">
            <a:xfrm>
              <a:off x="521" y="2231"/>
              <a:ext cx="1897"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GB" altLang="zh-CN" sz="2000" b="0" i="0" u="none" strike="noStrike" kern="1200" cap="none" spc="0" normalizeH="0" baseline="0" noProof="0" dirty="0" err="1"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istream</a:t>
              </a:r>
              <a:r>
                <a:rPr kumimoji="0" lang="zh-CN" altLang="en-GB"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（控制台输入）</a:t>
              </a:r>
              <a:r>
                <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 </a:t>
              </a:r>
              <a:endPar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89" name="Text Box 25"/>
            <p:cNvSpPr txBox="1">
              <a:spLocks noChangeArrowheads="1"/>
            </p:cNvSpPr>
            <p:nvPr/>
          </p:nvSpPr>
          <p:spPr bwMode="auto">
            <a:xfrm>
              <a:off x="521" y="3271"/>
              <a:ext cx="1968"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GB"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ostream</a:t>
              </a:r>
              <a:r>
                <a:rPr kumimoji="0" lang="zh-CN" altLang="en-GB"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（控制台输出）</a:t>
              </a:r>
              <a:r>
                <a:rPr kumimoji="0" lang="zh-CN" altLang="en-US"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 </a:t>
              </a:r>
              <a:endParaRPr kumimoji="0" lang="zh-CN" altLang="en-US"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90" name="Text Box 26"/>
            <p:cNvSpPr txBox="1">
              <a:spLocks noChangeArrowheads="1"/>
            </p:cNvSpPr>
            <p:nvPr/>
          </p:nvSpPr>
          <p:spPr bwMode="auto">
            <a:xfrm>
              <a:off x="838" y="2729"/>
              <a:ext cx="181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GB" altLang="zh-CN" sz="2000" b="0" i="0" u="none" strike="noStrike" kern="1200" cap="none" spc="0" normalizeH="0" baseline="0" noProof="0" dirty="0" err="1"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ifstream</a:t>
              </a:r>
              <a:r>
                <a:rPr kumimoji="0" lang="zh-CN" altLang="en-GB"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（文件输入）</a:t>
              </a:r>
              <a:r>
                <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 </a:t>
              </a:r>
              <a:endPar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91" name="Text Box 27"/>
            <p:cNvSpPr txBox="1">
              <a:spLocks noChangeArrowheads="1"/>
            </p:cNvSpPr>
            <p:nvPr/>
          </p:nvSpPr>
          <p:spPr bwMode="auto">
            <a:xfrm>
              <a:off x="838" y="3002"/>
              <a:ext cx="245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GB"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istrstream</a:t>
              </a:r>
              <a:r>
                <a:rPr kumimoji="0" lang="zh-CN" altLang="en-GB"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（字符串变量输入）</a:t>
              </a:r>
              <a:r>
                <a:rPr kumimoji="0" lang="zh-CN" altLang="en-US"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 </a:t>
              </a:r>
              <a:endParaRPr kumimoji="0" lang="zh-CN" altLang="en-US"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92" name="Text Box 28"/>
            <p:cNvSpPr txBox="1">
              <a:spLocks noChangeArrowheads="1"/>
            </p:cNvSpPr>
            <p:nvPr/>
          </p:nvSpPr>
          <p:spPr bwMode="auto">
            <a:xfrm>
              <a:off x="883" y="3741"/>
              <a:ext cx="1846"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GB"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ofstream</a:t>
              </a:r>
              <a:r>
                <a:rPr kumimoji="0" lang="zh-CN" altLang="en-GB"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（文件输出）</a:t>
              </a:r>
              <a:r>
                <a:rPr kumimoji="0" lang="zh-CN" altLang="en-US"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 </a:t>
              </a:r>
              <a:endParaRPr kumimoji="0" lang="zh-CN" altLang="en-US"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93" name="Text Box 29"/>
            <p:cNvSpPr txBox="1">
              <a:spLocks noChangeArrowheads="1"/>
            </p:cNvSpPr>
            <p:nvPr/>
          </p:nvSpPr>
          <p:spPr bwMode="auto">
            <a:xfrm>
              <a:off x="883" y="4004"/>
              <a:ext cx="2507"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GB"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ostrstream</a:t>
              </a:r>
              <a:r>
                <a:rPr kumimoji="0" lang="zh-CN" altLang="en-GB"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（字符串变量输出）</a:t>
              </a:r>
              <a:r>
                <a:rPr kumimoji="0" lang="zh-CN" altLang="en-US"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 </a:t>
              </a:r>
              <a:endParaRPr kumimoji="0" lang="zh-CN" altLang="en-US"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94" name="Text Box 30"/>
            <p:cNvSpPr txBox="1">
              <a:spLocks noChangeArrowheads="1"/>
            </p:cNvSpPr>
            <p:nvPr/>
          </p:nvSpPr>
          <p:spPr bwMode="auto">
            <a:xfrm>
              <a:off x="3293" y="3015"/>
              <a:ext cx="1907"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GB"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iostream</a:t>
              </a:r>
              <a:r>
                <a:rPr kumimoji="0" lang="zh-CN" altLang="en-GB"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（输入</a:t>
              </a:r>
              <a:r>
                <a:rPr kumimoji="0" lang="en-GB"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a:t>
              </a:r>
              <a:r>
                <a:rPr kumimoji="0" lang="zh-CN" altLang="en-GB"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输出）</a:t>
              </a:r>
              <a:r>
                <a:rPr kumimoji="0" lang="zh-CN" altLang="en-US"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 </a:t>
              </a:r>
              <a:endParaRPr kumimoji="0" lang="zh-CN" altLang="en-US"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95" name="Text Box 31"/>
            <p:cNvSpPr txBox="1">
              <a:spLocks noChangeArrowheads="1"/>
            </p:cNvSpPr>
            <p:nvPr/>
          </p:nvSpPr>
          <p:spPr bwMode="auto">
            <a:xfrm>
              <a:off x="3611" y="3242"/>
              <a:ext cx="214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GB" altLang="zh-CN" sz="2000" b="0" i="0" u="none" strike="noStrike" kern="1200" cap="none" spc="0" normalizeH="0" baseline="0" noProof="0" dirty="0" err="1"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fstream</a:t>
              </a:r>
              <a:r>
                <a:rPr kumimoji="0" lang="zh-CN" altLang="en-GB"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（文件输入</a:t>
              </a:r>
              <a:r>
                <a:rPr kumimoji="0" lang="en-GB"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a:t>
              </a:r>
              <a:r>
                <a:rPr kumimoji="0" lang="zh-CN" altLang="en-GB"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输出）</a:t>
              </a:r>
              <a:r>
                <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 </a:t>
              </a:r>
              <a:endPar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sp>
          <p:nvSpPr>
            <p:cNvPr id="11296" name="Text Box 32"/>
            <p:cNvSpPr txBox="1">
              <a:spLocks noChangeArrowheads="1"/>
            </p:cNvSpPr>
            <p:nvPr/>
          </p:nvSpPr>
          <p:spPr bwMode="auto">
            <a:xfrm>
              <a:off x="3611" y="3514"/>
              <a:ext cx="199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GB"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strstream</a:t>
              </a:r>
              <a:r>
                <a:rPr kumimoji="0" lang="zh-CN" altLang="en-GB"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（字符串变量</a:t>
              </a:r>
              <a:endParaRPr kumimoji="0" lang="zh-CN" altLang="en-GB"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GB"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                 输入</a:t>
              </a:r>
              <a:r>
                <a:rPr kumimoji="0" lang="en-GB"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a:t>
              </a:r>
              <a:r>
                <a:rPr kumimoji="0" lang="zh-CN" altLang="en-GB"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输出）</a:t>
              </a:r>
              <a:r>
                <a:rPr kumimoji="0" lang="zh-CN" altLang="en-US"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rPr>
                <a:t> </a:t>
              </a:r>
              <a:endParaRPr kumimoji="0" lang="zh-CN" altLang="en-US"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endParaRPr>
            </a:p>
          </p:txBody>
        </p:sp>
      </p:grpSp>
      <p:sp>
        <p:nvSpPr>
          <p:cNvPr id="2" name="文本框 1"/>
          <p:cNvSpPr txBox="1"/>
          <p:nvPr/>
        </p:nvSpPr>
        <p:spPr>
          <a:xfrm>
            <a:off x="5076825" y="2636838"/>
            <a:ext cx="3979863" cy="831850"/>
          </a:xfrm>
          <a:prstGeom prst="rect">
            <a:avLst/>
          </a:prstGeom>
          <a:solidFill>
            <a:schemeClr val="bg2">
              <a:lumMod val="50000"/>
            </a:schemeClr>
          </a:solidFill>
        </p:spPr>
        <p:txBody>
          <a:bodyPr wrap="none">
            <a:spAutoFit/>
          </a:bodyPr>
          <a:lstStyle/>
          <a:p>
            <a:pPr marR="0" defTabSz="914400">
              <a:buClrTx/>
              <a:buSzTx/>
              <a:buFontTx/>
              <a:buNone/>
              <a:defRPr/>
            </a:pPr>
            <a:r>
              <a:rPr kumimoji="0" lang="zh-CN" altLang="en-US" sz="2400" kern="1200" cap="none" spc="0" normalizeH="0" baseline="0" noProof="0" dirty="0">
                <a:solidFill>
                  <a:srgbClr val="FFC000"/>
                </a:solidFill>
                <a:latin typeface="Verdana" panose="020B0604030504040204" pitchFamily="34" charset="0"/>
                <a:ea typeface="宋体" panose="02010600030101010101" pitchFamily="2" charset="-122"/>
                <a:cs typeface="+mn-cs"/>
              </a:rPr>
              <a:t>注意：</a:t>
            </a:r>
            <a:r>
              <a:rPr kumimoji="0" lang="en-US" altLang="zh-CN" sz="2400" kern="1200" cap="none" spc="0" normalizeH="0" baseline="0" noProof="0" dirty="0">
                <a:latin typeface="Verdana" panose="020B0604030504040204" pitchFamily="34" charset="0"/>
                <a:ea typeface="宋体" panose="02010600030101010101" pitchFamily="2" charset="-122"/>
                <a:cs typeface="+mn-cs"/>
              </a:rPr>
              <a:t>C++</a:t>
            </a:r>
            <a:r>
              <a:rPr kumimoji="0" lang="zh-CN" altLang="en-US" sz="2400" kern="1200" cap="none" spc="0" normalizeH="0" baseline="0" noProof="0" dirty="0">
                <a:latin typeface="Verdana" panose="020B0604030504040204" pitchFamily="34" charset="0"/>
                <a:ea typeface="宋体" panose="02010600030101010101" pitchFamily="2" charset="-122"/>
                <a:cs typeface="+mn-cs"/>
              </a:rPr>
              <a:t>标准库中的实体</a:t>
            </a:r>
            <a:endParaRPr kumimoji="0" lang="en-US" altLang="zh-CN" sz="2400" kern="1200" cap="none" spc="0" normalizeH="0" baseline="0" noProof="0" dirty="0">
              <a:latin typeface="Verdana" panose="020B0604030504040204" pitchFamily="34" charset="0"/>
              <a:ea typeface="宋体" panose="02010600030101010101" pitchFamily="2" charset="-122"/>
              <a:cs typeface="+mn-cs"/>
            </a:endParaRPr>
          </a:p>
          <a:p>
            <a:pPr marR="0" defTabSz="914400">
              <a:buClrTx/>
              <a:buSzTx/>
              <a:buFontTx/>
              <a:buNone/>
              <a:defRPr/>
            </a:pPr>
            <a:r>
              <a:rPr kumimoji="0" lang="zh-CN" altLang="en-US" sz="2400" kern="1200" cap="none" spc="0" normalizeH="0" baseline="0" noProof="0" dirty="0">
                <a:latin typeface="Verdana" panose="020B0604030504040204" pitchFamily="34" charset="0"/>
                <a:ea typeface="宋体" panose="02010600030101010101" pitchFamily="2" charset="-122"/>
                <a:cs typeface="+mn-cs"/>
              </a:rPr>
              <a:t>是定义在名空间</a:t>
            </a:r>
            <a:r>
              <a:rPr kumimoji="0" lang="en-US" altLang="zh-CN" sz="2400" kern="1200" cap="none" spc="0" normalizeH="0" baseline="0" noProof="0" dirty="0" err="1">
                <a:latin typeface="Verdana" panose="020B0604030504040204" pitchFamily="34" charset="0"/>
                <a:ea typeface="宋体" panose="02010600030101010101" pitchFamily="2" charset="-122"/>
                <a:cs typeface="+mn-cs"/>
              </a:rPr>
              <a:t>std</a:t>
            </a:r>
            <a:r>
              <a:rPr kumimoji="0" lang="zh-CN" altLang="en-US" sz="2400" kern="1200" cap="none" spc="0" normalizeH="0" baseline="0" noProof="0" dirty="0">
                <a:latin typeface="Verdana" panose="020B0604030504040204" pitchFamily="34" charset="0"/>
                <a:ea typeface="宋体" panose="02010600030101010101" pitchFamily="2" charset="-122"/>
                <a:cs typeface="+mn-cs"/>
              </a:rPr>
              <a:t>中的！</a:t>
            </a:r>
            <a:endParaRPr kumimoji="0" lang="zh-CN" altLang="en-US" sz="2400" kern="1200" cap="none" spc="0" normalizeH="0" baseline="0" noProof="0" dirty="0">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88913"/>
            <a:ext cx="8229600" cy="6480175"/>
          </a:xfrm>
        </p:spPr>
        <p:txBody>
          <a:bodyPr vert="horz" wrap="square" lIns="91440" tIns="45720" rIns="91440" bIns="45720" numCol="1" anchor="t" anchorCtr="0" compatLnSpc="1">
            <a:normAutofit fontScale="92500" lnSpcReduction="20000"/>
          </a:bodyPr>
          <a:lstStyle/>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在进行输入</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输出时，首先创建某个</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I/O</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类的对象，然后</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可调用</a:t>
            </a:r>
            <a:r>
              <a:rPr kumimoji="0" lang="zh-CN" altLang="en-US" sz="2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该对象类的</a:t>
            </a:r>
            <a:r>
              <a:rPr kumimoji="0" lang="zh-CN" altLang="en-US" sz="26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成员函数</a:t>
            </a:r>
            <a:r>
              <a:rPr kumimoji="0" lang="zh-CN" altLang="en-US" sz="2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进行基于</a:t>
            </a:r>
            <a:r>
              <a:rPr kumimoji="0" lang="zh-CN" altLang="en-US" sz="26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字节流</a:t>
            </a:r>
            <a:r>
              <a:rPr kumimoji="0" lang="zh-CN" altLang="en-US" sz="2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的输入</a:t>
            </a:r>
            <a:r>
              <a:rPr kumimoji="0" lang="en-US" altLang="zh-CN" sz="2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zh-CN" altLang="en-US" sz="2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输出操作</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。例如：</a:t>
            </a:r>
            <a:endPar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20000"/>
              </a:lnSpc>
              <a:spcBef>
                <a:spcPct val="20000"/>
              </a:spcBef>
              <a:spcAft>
                <a:spcPct val="0"/>
              </a:spcAft>
              <a:buClr>
                <a:schemeClr val="accent2"/>
              </a:buClr>
              <a:buSzPct val="60000"/>
              <a:buFont typeface="Wingdings" panose="05000000000000000000" pitchFamily="2" charset="2"/>
              <a:buChar char="n"/>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输入操作</a:t>
            </a:r>
            <a:endParaRPr kumimoji="0" lang="en-GB"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istream</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in</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in</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get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ch</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读入一个字节，</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ch</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为一个字符变量</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a:t>
            </a:r>
            <a:r>
              <a:rPr kumimoji="0" lang="en-GB"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read</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(p,100);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读入</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100</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个字节，</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是</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内存空间首地址</a:t>
            </a:r>
            <a:endPar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或</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in.get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ch</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).read(p,100); </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10000"/>
              </a:lnSpc>
              <a:spcBef>
                <a:spcPct val="20000"/>
              </a:spcBef>
              <a:spcAft>
                <a:spcPct val="0"/>
              </a:spcAft>
              <a:buClr>
                <a:schemeClr val="accent2"/>
              </a:buClr>
              <a:buSzPct val="60000"/>
              <a:buFont typeface="Wingdings" panose="05000000000000000000" pitchFamily="2" charset="2"/>
              <a:buChar char="n"/>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输出操作</a:t>
            </a:r>
            <a:endPar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ostream</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out</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out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put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ch</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一个</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字节，</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ch</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为一个字符变量</a:t>
            </a:r>
            <a:endPar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out.</a:t>
            </a:r>
            <a:r>
              <a:rPr kumimoji="0" lang="en-GB"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write</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(p,100);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把</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指向的内存中</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100</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个字节输出</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或</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out.put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ch</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).write(p,100);</a:t>
            </a:r>
            <a:endPar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9" name="Rectangle 3"/>
          <p:cNvSpPr>
            <a:spLocks noGrp="1" noChangeArrowheads="1"/>
          </p:cNvSpPr>
          <p:nvPr>
            <p:ph idx="1"/>
          </p:nvPr>
        </p:nvSpPr>
        <p:spPr>
          <a:xfrm>
            <a:off x="250825" y="260350"/>
            <a:ext cx="8686800" cy="6481763"/>
          </a:xfrm>
        </p:spPr>
        <p:txBody>
          <a:bodyPr vert="horz" wrap="square" lIns="91440" tIns="45720" rIns="91440" bIns="45720" numCol="1" anchor="t" anchorCtr="0" compatLnSpc="1">
            <a:normAutofit fontScale="92500" lnSpcReduction="10000"/>
          </a:bodyPr>
          <a:lstStyle/>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GB"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istream</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和</a:t>
            </a:r>
            <a:r>
              <a:rPr kumimoji="0" lang="en-GB"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ostream</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类以及它们的派生类还分别</a:t>
            </a:r>
            <a:r>
              <a:rPr kumimoji="0" lang="zh-CN" altLang="en-GB" sz="26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重载</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了操作符</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rPr>
              <a:t>“</a:t>
            </a:r>
            <a:r>
              <a:rPr kumimoji="0" lang="en-GB" altLang="zh-CN" sz="26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&gt;&gt;</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rPr>
              <a:t>”</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（抽取）</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和</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rPr>
              <a:t>“</a:t>
            </a:r>
            <a:r>
              <a:rPr kumimoji="0" lang="en-GB" altLang="zh-CN" sz="26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&lt;&lt;</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插入</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），用它</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们</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可以进行</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a:t>
            </a:r>
            <a:r>
              <a:rPr kumimoji="0" lang="zh-CN" altLang="en-GB" sz="26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基本类型数据</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的输入</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操作</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（操作</a:t>
            </a:r>
            <a:r>
              <a:rPr kumimoji="0" lang="zh-CN" altLang="en-US" sz="2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内部会进行基本</a:t>
            </a:r>
            <a:r>
              <a:rPr kumimoji="0" lang="zh-CN" altLang="en-US" sz="2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数据类型与字节流之间的转换）</a:t>
            </a:r>
            <a:r>
              <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。例如：</a:t>
            </a:r>
            <a:endParaRPr kumimoji="0" lang="zh-CN" altLang="en-GB"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10000"/>
              </a:lnSpc>
              <a:spcBef>
                <a:spcPct val="20000"/>
              </a:spcBef>
              <a:spcAft>
                <a:spcPct val="0"/>
              </a:spcAft>
              <a:buClr>
                <a:schemeClr val="accent2"/>
              </a:buClr>
              <a:buSzPct val="60000"/>
              <a:buFont typeface="Wingdings" panose="05000000000000000000" pitchFamily="2" charset="2"/>
              <a:buChar char="n"/>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输入操作</a:t>
            </a:r>
            <a:endParaRPr kumimoji="0" lang="en-GB"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istream</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in(...);</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in &gt;&gt; x; //x</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是一个</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基本数据类型的</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变量</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in &gt;&gt; y; //y</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是一个</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基本数据类型的</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变量</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或</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in &gt;&gt; x &gt;&gt; y;</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10000"/>
              </a:lnSpc>
              <a:spcBef>
                <a:spcPct val="20000"/>
              </a:spcBef>
              <a:spcAft>
                <a:spcPct val="0"/>
              </a:spcAft>
              <a:buClr>
                <a:schemeClr val="accent2"/>
              </a:buClr>
              <a:buSzPct val="60000"/>
              <a:buFont typeface="Wingdings" panose="05000000000000000000" pitchFamily="2" charset="2"/>
              <a:buChar char="n"/>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操作</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ostream</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out(...);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out &lt;&lt; e1; //e1</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是一个表达式</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out &lt;&lt; e2; //e2</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是一个表达式</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或</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out &lt;&lt; e1 &lt;&lt; e2;</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noChangeArrowheads="1"/>
          </p:cNvSpPr>
          <p:nvPr>
            <p:ph type="title"/>
          </p:nvPr>
        </p:nvSpPr>
        <p:spPr>
          <a:xfrm>
            <a:off x="457200" y="347663"/>
            <a:ext cx="8229600" cy="560388"/>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Verdana" panose="020B0604030504040204" pitchFamily="34" charset="0"/>
                <a:ea typeface="+mj-ea"/>
                <a:cs typeface="+mj-cs"/>
              </a:rPr>
              <a:t>面向</a:t>
            </a:r>
            <a:r>
              <a:rPr kumimoji="0" lang="zh-CN" altLang="en-GB"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Verdana" panose="020B0604030504040204" pitchFamily="34" charset="0"/>
                <a:ea typeface="+mj-ea"/>
                <a:cs typeface="+mj-cs"/>
              </a:rPr>
              <a:t>控制台</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Verdana" panose="020B0604030504040204" pitchFamily="34" charset="0"/>
                <a:ea typeface="+mj-ea"/>
                <a:cs typeface="+mj-cs"/>
              </a:rPr>
              <a:t>的</a:t>
            </a:r>
            <a:r>
              <a:rPr kumimoji="0" lang="en-GB"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Verdana" panose="020B0604030504040204" pitchFamily="34" charset="0"/>
                <a:ea typeface="+mj-ea"/>
                <a:cs typeface="Times New Roman" panose="02020603050405020304" pitchFamily="18" charset="0"/>
              </a:rPr>
              <a:t>I/O</a:t>
            </a: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 </a:t>
            </a:r>
            <a:endPar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4339" name="Rectangle 3"/>
          <p:cNvSpPr>
            <a:spLocks noGrp="1" noChangeArrowheads="1"/>
          </p:cNvSpPr>
          <p:nvPr>
            <p:ph idx="1"/>
          </p:nvPr>
        </p:nvSpPr>
        <p:spPr>
          <a:xfrm>
            <a:off x="250825" y="1233488"/>
            <a:ext cx="8640763" cy="5291138"/>
          </a:xfrm>
        </p:spPr>
        <p:txBody>
          <a:bodyPr vert="horz" wrap="square" lIns="91440" tIns="45720" rIns="91440" bIns="45720" numCol="1" anchor="t" anchorCtr="0" compatLnSpc="1">
            <a:normAutofit fontScale="92500" lnSpcReduction="10000"/>
          </a:bodyPr>
          <a:lstStyle/>
          <a:p>
            <a:pPr marL="449580" marR="0" lvl="0" indent="-449580" algn="just"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I/O</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类库中预定义了四个</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I/O</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对象</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可以直接</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用来</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进行控制台的输入/输出操作：</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914400" marR="0" lvl="1" indent="-285750" algn="just" defTabSz="914400" rtl="0" eaLnBrk="1" fontAlgn="base" latinLnBrk="0" hangingPunct="1">
              <a:lnSpc>
                <a:spcPct val="110000"/>
              </a:lnSpc>
              <a:spcBef>
                <a:spcPct val="20000"/>
              </a:spcBef>
              <a:spcAft>
                <a:spcPct val="0"/>
              </a:spcAft>
              <a:buClr>
                <a:schemeClr val="tx1"/>
              </a:buClr>
              <a:buSzTx/>
              <a:buFontTx/>
              <a:buChar char="•"/>
              <a:defRPr/>
            </a:pPr>
            <a:r>
              <a:rPr kumimoji="0" lang="en-GB" altLang="zh-CN" sz="2400" b="0" i="0" u="none" strike="noStrike" kern="0" cap="none" spc="0" normalizeH="0" baseline="0" noProof="0" dirty="0" err="1" smtClean="0">
                <a:ln>
                  <a:noFill/>
                </a:ln>
                <a:solidFill>
                  <a:schemeClr val="folHlink"/>
                </a:solidFill>
                <a:effectLst>
                  <a:outerShdw blurRad="38100" dist="38100" dir="2700000" algn="tl">
                    <a:srgbClr val="000000"/>
                  </a:outerShdw>
                </a:effectLst>
                <a:uLnTx/>
                <a:uFillTx/>
                <a:latin typeface="+mn-lt"/>
                <a:ea typeface="+mn-ea"/>
              </a:rPr>
              <a:t>cin</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istream</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类的对象</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对应着计算机系统的标准输入设备</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。（通常为键盘）</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1" indent="-285750" algn="just" defTabSz="914400" rtl="0" eaLnBrk="1" fontAlgn="base" latinLnBrk="0" hangingPunct="1">
              <a:lnSpc>
                <a:spcPct val="110000"/>
              </a:lnSpc>
              <a:spcBef>
                <a:spcPct val="20000"/>
              </a:spcBef>
              <a:spcAft>
                <a:spcPct val="0"/>
              </a:spcAft>
              <a:buClr>
                <a:schemeClr val="tx1"/>
              </a:buClr>
              <a:buSzTx/>
              <a:buFontTx/>
              <a:buChar char="•"/>
              <a:defRPr/>
            </a:pPr>
            <a:r>
              <a:rPr kumimoji="0" lang="en-GB" altLang="zh-CN" sz="2400" b="0" i="0" u="none" strike="noStrike" kern="0" cap="none" spc="0" normalizeH="0" baseline="0" noProof="0" dirty="0" err="1" smtClean="0">
                <a:ln>
                  <a:noFill/>
                </a:ln>
                <a:solidFill>
                  <a:schemeClr val="folHlink"/>
                </a:solidFill>
                <a:effectLst>
                  <a:outerShdw blurRad="38100" dist="38100" dir="2700000" algn="tl">
                    <a:srgbClr val="000000"/>
                  </a:outerShdw>
                </a:effectLst>
                <a:uLnTx/>
                <a:uFillTx/>
                <a:latin typeface="+mn-lt"/>
                <a:ea typeface="+mn-ea"/>
              </a:rPr>
              <a:t>cout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ostream</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类的对象</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对应着计算机系统的标准输出设备</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。（通常为显示器）</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1" indent="-285750" algn="just" defTabSz="914400" rtl="0" eaLnBrk="1" fontAlgn="base" latinLnBrk="0" hangingPunct="1">
              <a:lnSpc>
                <a:spcPct val="110000"/>
              </a:lnSpc>
              <a:spcBef>
                <a:spcPct val="20000"/>
              </a:spcBef>
              <a:spcAft>
                <a:spcPct val="0"/>
              </a:spcAft>
              <a:buClr>
                <a:schemeClr val="tx1"/>
              </a:buClr>
              <a:buSzTx/>
              <a:buFontTx/>
              <a:buChar char="•"/>
              <a:defRPr/>
            </a:pPr>
            <a:r>
              <a:rPr kumimoji="0" lang="en-GB" altLang="zh-CN" sz="2400" b="0" i="0" u="none" strike="noStrike" kern="0" cap="none" spc="0" normalizeH="0" baseline="0" noProof="0" dirty="0" err="1" smtClean="0">
                <a:ln>
                  <a:noFill/>
                </a:ln>
                <a:solidFill>
                  <a:schemeClr val="folHlink"/>
                </a:solidFill>
                <a:effectLst>
                  <a:outerShdw blurRad="38100" dist="38100" dir="2700000" algn="tl">
                    <a:srgbClr val="000000"/>
                  </a:outerShdw>
                </a:effectLst>
                <a:uLnTx/>
                <a:uFillTx/>
                <a:latin typeface="+mn-lt"/>
                <a:ea typeface="+mn-ea"/>
              </a:rPr>
              <a:t>cerr</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和</a:t>
            </a:r>
            <a:r>
              <a:rPr kumimoji="0" lang="en-GB" altLang="zh-CN"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clog</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ostream</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类的对象</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对应着计算机系统用于输出</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特殊信息（如</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程序</a:t>
            </a:r>
            <a:r>
              <a:rPr kumimoji="0" lang="zh-CN" altLang="en-GB"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错误信息</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的设备</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通常</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也</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对应着显示器</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，但</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不</a:t>
            </a:r>
            <a:r>
              <a:rPr kumimoji="0"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受输出重定向</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影响）。</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cerr</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为</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不</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带缓冲的，</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clog</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为带缓冲的。</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49580" marR="0" lvl="0" indent="-449580" algn="just"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在进行控制台输入</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输出时</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程序中需要有下面的包含命令</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400" b="1"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a:t>
            </a:r>
            <a:endParaRPr kumimoji="0" lang="en-US" altLang="zh-CN" sz="2400" b="1"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849630" marR="0" lvl="1" indent="-449580" algn="just"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#include &lt;</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iostream</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&gt;</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p:txBody>
      </p:sp>
      <p:sp>
        <p:nvSpPr>
          <p:cNvPr id="2" name="文本框 1"/>
          <p:cNvSpPr txBox="1"/>
          <p:nvPr/>
        </p:nvSpPr>
        <p:spPr>
          <a:xfrm>
            <a:off x="5292725" y="5540375"/>
            <a:ext cx="3651250" cy="1201738"/>
          </a:xfrm>
          <a:prstGeom prst="rect">
            <a:avLst/>
          </a:prstGeom>
          <a:solidFill>
            <a:schemeClr val="bg2"/>
          </a:solidFill>
        </p:spPr>
        <p:txBody>
          <a:bodyPr wrap="none">
            <a:spAutoFit/>
          </a:bodyPr>
          <a:lstStyle/>
          <a:p>
            <a:pPr marL="285750" marR="0" indent="-285750" defTabSz="914400">
              <a:buClrTx/>
              <a:buSzTx/>
              <a:buFont typeface="Arial" panose="020B0604020202020204" pitchFamily="34" charset="0"/>
              <a:buChar char="•"/>
              <a:defRPr/>
            </a:pPr>
            <a:r>
              <a:rPr kumimoji="0" lang="zh-CN" altLang="en-US" kern="1200" cap="none" spc="0" normalizeH="0" baseline="0" noProof="0" dirty="0">
                <a:solidFill>
                  <a:srgbClr val="FFC000"/>
                </a:solidFill>
                <a:latin typeface="Verdana" panose="020B0604030504040204" pitchFamily="34" charset="0"/>
                <a:ea typeface="宋体" panose="02010600030101010101" pitchFamily="2" charset="-122"/>
                <a:cs typeface="+mn-cs"/>
              </a:rPr>
              <a:t>输入</a:t>
            </a:r>
            <a:r>
              <a:rPr kumimoji="0" lang="en-US" altLang="zh-CN" kern="1200" cap="none" spc="0" normalizeH="0" baseline="0" noProof="0" dirty="0">
                <a:solidFill>
                  <a:srgbClr val="FFC000"/>
                </a:solidFill>
                <a:latin typeface="Verdana" panose="020B0604030504040204" pitchFamily="34" charset="0"/>
                <a:ea typeface="宋体" panose="02010600030101010101" pitchFamily="2" charset="-122"/>
                <a:cs typeface="+mn-cs"/>
              </a:rPr>
              <a:t>/</a:t>
            </a:r>
            <a:r>
              <a:rPr kumimoji="0" lang="zh-CN" altLang="en-US" kern="1200" cap="none" spc="0" normalizeH="0" baseline="0" noProof="0" dirty="0">
                <a:solidFill>
                  <a:srgbClr val="FFC000"/>
                </a:solidFill>
                <a:latin typeface="Verdana" panose="020B0604030504040204" pitchFamily="34" charset="0"/>
                <a:ea typeface="宋体" panose="02010600030101010101" pitchFamily="2" charset="-122"/>
                <a:cs typeface="+mn-cs"/>
              </a:rPr>
              <a:t>输出重定向</a:t>
            </a:r>
            <a:endParaRPr kumimoji="0" lang="en-US" altLang="zh-CN" kern="1200" cap="none" spc="0" normalizeH="0" baseline="0" noProof="0" dirty="0">
              <a:solidFill>
                <a:srgbClr val="FFC000"/>
              </a:solidFill>
              <a:latin typeface="Verdana" panose="020B0604030504040204" pitchFamily="34" charset="0"/>
              <a:ea typeface="宋体" panose="02010600030101010101" pitchFamily="2" charset="-122"/>
              <a:cs typeface="+mn-cs"/>
            </a:endParaRPr>
          </a:p>
          <a:p>
            <a:pPr marR="0" defTabSz="914400">
              <a:buClrTx/>
              <a:buSzTx/>
              <a:buFontTx/>
              <a:buNone/>
              <a:defRPr/>
            </a:pPr>
            <a:r>
              <a:rPr kumimoji="0" lang="en-US" altLang="zh-CN" kern="1200" cap="none" spc="0" normalizeH="0" baseline="0" noProof="0" dirty="0">
                <a:latin typeface="Verdana" panose="020B0604030504040204" pitchFamily="34" charset="0"/>
                <a:ea typeface="宋体" panose="02010600030101010101" pitchFamily="2" charset="-122"/>
                <a:cs typeface="+mn-cs"/>
              </a:rPr>
              <a:t>C&gt;prog.exe </a:t>
            </a:r>
            <a:r>
              <a:rPr kumimoji="0" lang="en-US" altLang="zh-CN" kern="1200" cap="none" spc="0" normalizeH="0" baseline="0" noProof="0" dirty="0">
                <a:solidFill>
                  <a:srgbClr val="FFC000"/>
                </a:solidFill>
                <a:latin typeface="Verdana" panose="020B0604030504040204" pitchFamily="34" charset="0"/>
                <a:ea typeface="宋体" panose="02010600030101010101" pitchFamily="2" charset="-122"/>
                <a:cs typeface="+mn-cs"/>
              </a:rPr>
              <a:t>&lt;</a:t>
            </a:r>
            <a:r>
              <a:rPr kumimoji="0" lang="en-US" altLang="zh-CN" kern="1200" cap="none" spc="0" normalizeH="0" baseline="0" noProof="0" dirty="0">
                <a:latin typeface="Verdana" panose="020B0604030504040204" pitchFamily="34" charset="0"/>
                <a:ea typeface="宋体" panose="02010600030101010101" pitchFamily="2" charset="-122"/>
                <a:cs typeface="+mn-cs"/>
              </a:rPr>
              <a:t>a.txt </a:t>
            </a:r>
            <a:r>
              <a:rPr kumimoji="0" lang="en-US" altLang="zh-CN" kern="1200" cap="none" spc="0" normalizeH="0" baseline="0" noProof="0" dirty="0">
                <a:solidFill>
                  <a:srgbClr val="FFC000"/>
                </a:solidFill>
                <a:latin typeface="Verdana" panose="020B0604030504040204" pitchFamily="34" charset="0"/>
                <a:ea typeface="宋体" panose="02010600030101010101" pitchFamily="2" charset="-122"/>
                <a:cs typeface="+mn-cs"/>
              </a:rPr>
              <a:t>&gt;</a:t>
            </a:r>
            <a:r>
              <a:rPr kumimoji="0" lang="en-US" altLang="zh-CN" kern="1200" cap="none" spc="0" normalizeH="0" baseline="0" noProof="0" dirty="0">
                <a:latin typeface="Verdana" panose="020B0604030504040204" pitchFamily="34" charset="0"/>
                <a:ea typeface="宋体" panose="02010600030101010101" pitchFamily="2" charset="-122"/>
                <a:cs typeface="+mn-cs"/>
              </a:rPr>
              <a:t>b.txt</a:t>
            </a:r>
            <a:endParaRPr kumimoji="0" lang="en-US" altLang="zh-CN" kern="1200" cap="none" spc="0" normalizeH="0" baseline="0" noProof="0" dirty="0">
              <a:latin typeface="Verdana" panose="020B0604030504040204" pitchFamily="34" charset="0"/>
              <a:ea typeface="宋体" panose="02010600030101010101" pitchFamily="2" charset="-122"/>
              <a:cs typeface="+mn-cs"/>
            </a:endParaRPr>
          </a:p>
          <a:p>
            <a:pPr marL="285750" marR="0" indent="-285750" defTabSz="914400">
              <a:buClrTx/>
              <a:buSzTx/>
              <a:buFont typeface="Arial" panose="020B0604020202020204" pitchFamily="34" charset="0"/>
              <a:buChar char="•"/>
              <a:defRPr/>
            </a:pPr>
            <a:r>
              <a:rPr kumimoji="0" lang="zh-CN" altLang="en-US" kern="1200" cap="none" spc="0" normalizeH="0" baseline="0" noProof="0" dirty="0">
                <a:latin typeface="Verdana" panose="020B0604030504040204" pitchFamily="34" charset="0"/>
                <a:ea typeface="宋体" panose="02010600030101010101" pitchFamily="2" charset="-122"/>
                <a:cs typeface="+mn-cs"/>
              </a:rPr>
              <a:t>程序中</a:t>
            </a:r>
            <a:r>
              <a:rPr kumimoji="0" lang="en-US" altLang="zh-CN" kern="1200" cap="none" spc="0" normalizeH="0" baseline="0" noProof="0" dirty="0" err="1">
                <a:latin typeface="Verdana" panose="020B0604030504040204" pitchFamily="34" charset="0"/>
                <a:ea typeface="宋体" panose="02010600030101010101" pitchFamily="2" charset="-122"/>
                <a:cs typeface="+mn-cs"/>
              </a:rPr>
              <a:t>cin</a:t>
            </a:r>
            <a:r>
              <a:rPr kumimoji="0" lang="zh-CN" altLang="en-US" kern="1200" cap="none" spc="0" normalizeH="0" baseline="0" noProof="0" dirty="0">
                <a:latin typeface="Verdana" panose="020B0604030504040204" pitchFamily="34" charset="0"/>
                <a:ea typeface="宋体" panose="02010600030101010101" pitchFamily="2" charset="-122"/>
                <a:cs typeface="+mn-cs"/>
              </a:rPr>
              <a:t>从文件</a:t>
            </a:r>
            <a:r>
              <a:rPr kumimoji="0" lang="en-US" altLang="zh-CN" kern="1200" cap="none" spc="0" normalizeH="0" baseline="0" noProof="0" dirty="0">
                <a:latin typeface="Verdana" panose="020B0604030504040204" pitchFamily="34" charset="0"/>
                <a:ea typeface="宋体" panose="02010600030101010101" pitchFamily="2" charset="-122"/>
                <a:cs typeface="+mn-cs"/>
              </a:rPr>
              <a:t>a.txt</a:t>
            </a:r>
            <a:r>
              <a:rPr kumimoji="0" lang="zh-CN" altLang="en-US" kern="1200" cap="none" spc="0" normalizeH="0" baseline="0" noProof="0" dirty="0">
                <a:latin typeface="Verdana" panose="020B0604030504040204" pitchFamily="34" charset="0"/>
                <a:ea typeface="宋体" panose="02010600030101010101" pitchFamily="2" charset="-122"/>
                <a:cs typeface="+mn-cs"/>
              </a:rPr>
              <a:t>中输入</a:t>
            </a:r>
            <a:endParaRPr kumimoji="0" lang="en-US" altLang="zh-CN" kern="1200" cap="none" spc="0" normalizeH="0" baseline="0" noProof="0" dirty="0">
              <a:latin typeface="Verdana" panose="020B0604030504040204" pitchFamily="34" charset="0"/>
              <a:ea typeface="宋体" panose="02010600030101010101" pitchFamily="2" charset="-122"/>
              <a:cs typeface="+mn-cs"/>
            </a:endParaRPr>
          </a:p>
          <a:p>
            <a:pPr marL="285750" marR="0" indent="-285750" defTabSz="914400">
              <a:buClrTx/>
              <a:buSzTx/>
              <a:buFont typeface="Arial" panose="020B0604020202020204" pitchFamily="34" charset="0"/>
              <a:buChar char="•"/>
              <a:defRPr/>
            </a:pPr>
            <a:r>
              <a:rPr kumimoji="0" lang="zh-CN" altLang="en-US" kern="1200" cap="none" spc="0" normalizeH="0" baseline="0" noProof="0" dirty="0">
                <a:latin typeface="Verdana" panose="020B0604030504040204" pitchFamily="34" charset="0"/>
                <a:ea typeface="宋体" panose="02010600030101010101" pitchFamily="2" charset="-122"/>
                <a:cs typeface="+mn-cs"/>
              </a:rPr>
              <a:t>程序中</a:t>
            </a:r>
            <a:r>
              <a:rPr kumimoji="0" lang="en-US" altLang="zh-CN" kern="1200" cap="none" spc="0" normalizeH="0" baseline="0" noProof="0" dirty="0" err="1">
                <a:latin typeface="Verdana" panose="020B0604030504040204" pitchFamily="34" charset="0"/>
                <a:ea typeface="宋体" panose="02010600030101010101" pitchFamily="2" charset="-122"/>
                <a:cs typeface="+mn-cs"/>
              </a:rPr>
              <a:t>cout</a:t>
            </a:r>
            <a:r>
              <a:rPr kumimoji="0" lang="zh-CN" altLang="en-US" kern="1200" cap="none" spc="0" normalizeH="0" baseline="0" noProof="0" dirty="0">
                <a:latin typeface="Verdana" panose="020B0604030504040204" pitchFamily="34" charset="0"/>
                <a:ea typeface="宋体" panose="02010600030101010101" pitchFamily="2" charset="-122"/>
                <a:cs typeface="+mn-cs"/>
              </a:rPr>
              <a:t>输出到文件</a:t>
            </a:r>
            <a:r>
              <a:rPr kumimoji="0" lang="en-US" altLang="zh-CN" kern="1200" cap="none" spc="0" normalizeH="0" baseline="0" noProof="0" dirty="0">
                <a:latin typeface="Verdana" panose="020B0604030504040204" pitchFamily="34" charset="0"/>
                <a:ea typeface="宋体" panose="02010600030101010101" pitchFamily="2" charset="-122"/>
                <a:cs typeface="+mn-cs"/>
              </a:rPr>
              <a:t>b.txt</a:t>
            </a:r>
            <a:r>
              <a:rPr kumimoji="0" lang="zh-CN" altLang="en-US" kern="1200" cap="none" spc="0" normalizeH="0" baseline="0" noProof="0" dirty="0">
                <a:latin typeface="Verdana" panose="020B0604030504040204" pitchFamily="34" charset="0"/>
                <a:ea typeface="宋体" panose="02010600030101010101" pitchFamily="2" charset="-122"/>
                <a:cs typeface="+mn-cs"/>
              </a:rPr>
              <a:t>中</a:t>
            </a:r>
            <a:endParaRPr kumimoji="0" lang="en-US" altLang="zh-CN" kern="1200" cap="none" spc="0" normalizeH="0" baseline="0" noProof="0" dirty="0">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noChangeArrowheads="1"/>
          </p:cNvSpPr>
          <p:nvPr>
            <p:ph type="title"/>
          </p:nvPr>
        </p:nvSpPr>
        <p:spPr>
          <a:xfrm>
            <a:off x="457200" y="347663"/>
            <a:ext cx="8229600" cy="560388"/>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GB"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mj-cs"/>
              </a:rPr>
              <a:t>控制台输出</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mj-cs"/>
              </a:rPr>
              <a:t>操作</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20483" name="Rectangle 3"/>
          <p:cNvSpPr>
            <a:spLocks noGrp="1" noChangeArrowheads="1"/>
          </p:cNvSpPr>
          <p:nvPr>
            <p:ph idx="1"/>
          </p:nvPr>
        </p:nvSpPr>
        <p:spPr>
          <a:xfrm>
            <a:off x="457200" y="1125538"/>
            <a:ext cx="8578850" cy="5616575"/>
          </a:xfrm>
        </p:spPr>
        <p:txBody>
          <a:bodyPr vert="horz" wrap="square" lIns="91440" tIns="45720" rIns="91440" bIns="45720" numCol="1" anchor="t" anchorCtr="0" compatLnSpc="1">
            <a:normAutofit fontScale="85000" lnSpcReduction="20000"/>
          </a:bodyPr>
          <a:lstStyle/>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用插入操作符（</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&lt;&lt;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）进行</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Courier New" panose="02070309020205020404" pitchFamily="49" charset="0"/>
              </a:rPr>
              <a:t>基本数据类型</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数据的输出。例如：</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#include &lt;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iostream</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&gt;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using namespace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std</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int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x;</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float f;</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char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ch</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int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*p=&amp;x;</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cout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&lt;&lt; x ; //</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输出</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x</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的值。</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cout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&lt;&lt; f; //</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输出</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f</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的值。</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cout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&lt;&lt;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ch</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输出</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ch</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的值。</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cout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&lt;&lt; "hello"; //</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输出字符串</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hello"</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cout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&lt;&lt; p; //</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输出变量</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p</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的值，即，变量</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x</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的地址。</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或</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cout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&lt;&lt; x &lt;&lt; f &lt;&lt;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ch</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&lt;&lt; "hello" &lt;&lt; p;</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normAutofit/>
          </a:bodyPr>
          <a:lstStyle/>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输出指向字符的指针时，并不是输出指针的值，而是输出它指向的字符串。例如：</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char *p;</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p;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指向的字符串</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如果要输出字符指针的值，需要把它转换</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成其它类型</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的指针。例如：</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(void *)p;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的值</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输出格式控制</a:t>
            </a:r>
            <a:endPar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56323"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为了对输出格式进行控制，可以通过输出一些</a:t>
            </a:r>
            <a:r>
              <a:rPr kumimoji="0" lang="zh-CN" altLang="en-GB" sz="28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操纵符</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manipulator</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）来实现</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#include &lt;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iostream</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#include &lt;</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iomanip</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  //</a:t>
            </a:r>
            <a:r>
              <a:rPr kumimoji="0" lang="zh-CN" altLang="en-GB"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操纵符声明的头文件</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using namespace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std</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x=10;</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a:t>
            </a:r>
            <a:r>
              <a:rPr kumimoji="0" lang="en-GB" altLang="zh-CN"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hex</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以十六进制</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后面的值</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x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a:t>
            </a:r>
            <a:r>
              <a:rPr kumimoji="0" lang="en-GB" altLang="zh-CN" sz="2400" b="0" i="0" u="none" strike="noStrike" kern="0" cap="none" spc="0" normalizeH="0" baseline="0" noProof="0" dirty="0" err="1" smtClean="0">
                <a:ln>
                  <a:noFill/>
                </a:ln>
                <a:solidFill>
                  <a:schemeClr val="folHlink"/>
                </a:solidFill>
                <a:effectLst>
                  <a:outerShdw blurRad="38100" dist="38100" dir="2700000" algn="tl">
                    <a:srgbClr val="000000"/>
                  </a:outerShdw>
                </a:effectLst>
                <a:uLnTx/>
                <a:uFillTx/>
                <a:latin typeface="+mn-lt"/>
                <a:ea typeface="+mn-ea"/>
              </a:rPr>
              <a:t>endl</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输出换行符</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2" name="Rectangle 4"/>
          <p:cNvSpPr>
            <a:spLocks noChangeArrowheads="1"/>
          </p:cNvSpPr>
          <p:nvPr/>
        </p:nvSpPr>
        <p:spPr bwMode="auto">
          <a:xfrm>
            <a:off x="682625" y="152400"/>
            <a:ext cx="7242175" cy="579438"/>
          </a:xfrm>
          <a:prstGeom prst="rect">
            <a:avLst/>
          </a:prstGeom>
          <a:noFill/>
          <a:ln w="9525">
            <a:noFill/>
            <a:miter lim="800000"/>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常用输出操纵符</a:t>
            </a:r>
            <a:endParaRPr kumimoji="0" lang="zh-CN" altLang="en-US" sz="3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grpSp>
        <p:nvGrpSpPr>
          <p:cNvPr id="18435" name="Group 55"/>
          <p:cNvGrpSpPr/>
          <p:nvPr/>
        </p:nvGrpSpPr>
        <p:grpSpPr>
          <a:xfrm>
            <a:off x="0" y="1052513"/>
            <a:ext cx="9144000" cy="5545137"/>
            <a:chOff x="-3" y="343"/>
            <a:chExt cx="2842" cy="3349"/>
          </a:xfrm>
        </p:grpSpPr>
        <p:grpSp>
          <p:nvGrpSpPr>
            <p:cNvPr id="18436" name="Group 53"/>
            <p:cNvGrpSpPr/>
            <p:nvPr/>
          </p:nvGrpSpPr>
          <p:grpSpPr>
            <a:xfrm>
              <a:off x="0" y="346"/>
              <a:ext cx="2836" cy="3343"/>
              <a:chOff x="0" y="346"/>
              <a:chExt cx="2836" cy="3343"/>
            </a:xfrm>
          </p:grpSpPr>
          <p:grpSp>
            <p:nvGrpSpPr>
              <p:cNvPr id="18438" name="Group 22"/>
              <p:cNvGrpSpPr/>
              <p:nvPr/>
            </p:nvGrpSpPr>
            <p:grpSpPr>
              <a:xfrm>
                <a:off x="0" y="346"/>
                <a:ext cx="1022" cy="346"/>
                <a:chOff x="0" y="346"/>
                <a:chExt cx="1022" cy="346"/>
              </a:xfrm>
            </p:grpSpPr>
            <p:sp>
              <p:nvSpPr>
                <p:cNvPr id="15412" name="Rectangle 5"/>
                <p:cNvSpPr>
                  <a:spLocks noChangeArrowheads="1"/>
                </p:cNvSpPr>
                <p:nvPr/>
              </p:nvSpPr>
              <p:spPr bwMode="auto">
                <a:xfrm>
                  <a:off x="43" y="346"/>
                  <a:ext cx="93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GB" sz="2000" b="1" i="1"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操纵符</a:t>
                  </a:r>
                  <a:endParaRPr kumimoji="0" lang="zh-CN" altLang="en-US" sz="2000" b="1" i="1"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
              <p:nvSpPr>
                <p:cNvPr id="15413" name="Rectangle 21"/>
                <p:cNvSpPr>
                  <a:spLocks noChangeArrowheads="1"/>
                </p:cNvSpPr>
                <p:nvPr/>
              </p:nvSpPr>
              <p:spPr bwMode="auto">
                <a:xfrm>
                  <a:off x="0" y="346"/>
                  <a:ext cx="1022" cy="34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grpSp>
          <p:grpSp>
            <p:nvGrpSpPr>
              <p:cNvPr id="18439" name="Group 24"/>
              <p:cNvGrpSpPr/>
              <p:nvPr/>
            </p:nvGrpSpPr>
            <p:grpSpPr>
              <a:xfrm>
                <a:off x="1022" y="346"/>
                <a:ext cx="1814" cy="346"/>
                <a:chOff x="1022" y="346"/>
                <a:chExt cx="1814" cy="346"/>
              </a:xfrm>
            </p:grpSpPr>
            <p:sp>
              <p:nvSpPr>
                <p:cNvPr id="15410" name="Rectangle 6"/>
                <p:cNvSpPr>
                  <a:spLocks noChangeArrowheads="1"/>
                </p:cNvSpPr>
                <p:nvPr/>
              </p:nvSpPr>
              <p:spPr bwMode="auto">
                <a:xfrm>
                  <a:off x="1065" y="346"/>
                  <a:ext cx="1728"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GB" sz="2000" b="1" i="1"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含义</a:t>
                  </a:r>
                  <a:endParaRPr kumimoji="0" lang="zh-CN" altLang="en-US" sz="2000" b="1" i="1"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
              <p:nvSpPr>
                <p:cNvPr id="15411" name="Rectangle 23"/>
                <p:cNvSpPr>
                  <a:spLocks noChangeArrowheads="1"/>
                </p:cNvSpPr>
                <p:nvPr/>
              </p:nvSpPr>
              <p:spPr bwMode="auto">
                <a:xfrm>
                  <a:off x="1022" y="346"/>
                  <a:ext cx="1814" cy="34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grpSp>
          <p:grpSp>
            <p:nvGrpSpPr>
              <p:cNvPr id="18440" name="Group 26"/>
              <p:cNvGrpSpPr/>
              <p:nvPr/>
            </p:nvGrpSpPr>
            <p:grpSpPr>
              <a:xfrm>
                <a:off x="0" y="692"/>
                <a:ext cx="1022" cy="346"/>
                <a:chOff x="0" y="692"/>
                <a:chExt cx="1022" cy="346"/>
              </a:xfrm>
            </p:grpSpPr>
            <p:sp>
              <p:nvSpPr>
                <p:cNvPr id="15408" name="Rectangle 7"/>
                <p:cNvSpPr>
                  <a:spLocks noChangeArrowheads="1"/>
                </p:cNvSpPr>
                <p:nvPr/>
              </p:nvSpPr>
              <p:spPr bwMode="auto">
                <a:xfrm>
                  <a:off x="43" y="692"/>
                  <a:ext cx="93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GB"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endl</a:t>
                  </a:r>
                  <a:endParaRPr kumimoji="0" lang="en-US"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
              <p:nvSpPr>
                <p:cNvPr id="15409" name="Rectangle 25"/>
                <p:cNvSpPr>
                  <a:spLocks noChangeArrowheads="1"/>
                </p:cNvSpPr>
                <p:nvPr/>
              </p:nvSpPr>
              <p:spPr bwMode="auto">
                <a:xfrm>
                  <a:off x="0" y="692"/>
                  <a:ext cx="1022" cy="34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grpSp>
          <p:grpSp>
            <p:nvGrpSpPr>
              <p:cNvPr id="18441" name="Group 28"/>
              <p:cNvGrpSpPr/>
              <p:nvPr/>
            </p:nvGrpSpPr>
            <p:grpSpPr>
              <a:xfrm>
                <a:off x="1022" y="692"/>
                <a:ext cx="1814" cy="346"/>
                <a:chOff x="1022" y="692"/>
                <a:chExt cx="1814" cy="346"/>
              </a:xfrm>
            </p:grpSpPr>
            <p:sp>
              <p:nvSpPr>
                <p:cNvPr id="15406" name="Rectangle 8"/>
                <p:cNvSpPr>
                  <a:spLocks noChangeArrowheads="1"/>
                </p:cNvSpPr>
                <p:nvPr/>
              </p:nvSpPr>
              <p:spPr bwMode="auto">
                <a:xfrm>
                  <a:off x="1065" y="692"/>
                  <a:ext cx="1728"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GB"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输出换行符，并执行</a:t>
                  </a:r>
                  <a:r>
                    <a:rPr kumimoji="0" lang="en-GB"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flush</a:t>
                  </a:r>
                  <a:r>
                    <a:rPr kumimoji="0" lang="zh-CN" altLang="en-GB"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操作</a:t>
                  </a:r>
                  <a:endPar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
              <p:nvSpPr>
                <p:cNvPr id="15407" name="Rectangle 27"/>
                <p:cNvSpPr>
                  <a:spLocks noChangeArrowheads="1"/>
                </p:cNvSpPr>
                <p:nvPr/>
              </p:nvSpPr>
              <p:spPr bwMode="auto">
                <a:xfrm>
                  <a:off x="1022" y="692"/>
                  <a:ext cx="1814" cy="34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grpSp>
          <p:grpSp>
            <p:nvGrpSpPr>
              <p:cNvPr id="18442" name="Group 30"/>
              <p:cNvGrpSpPr/>
              <p:nvPr/>
            </p:nvGrpSpPr>
            <p:grpSpPr>
              <a:xfrm>
                <a:off x="0" y="1038"/>
                <a:ext cx="1022" cy="346"/>
                <a:chOff x="0" y="1038"/>
                <a:chExt cx="1022" cy="346"/>
              </a:xfrm>
            </p:grpSpPr>
            <p:sp>
              <p:nvSpPr>
                <p:cNvPr id="15404" name="Rectangle 9"/>
                <p:cNvSpPr>
                  <a:spLocks noChangeArrowheads="1"/>
                </p:cNvSpPr>
                <p:nvPr/>
              </p:nvSpPr>
              <p:spPr bwMode="auto">
                <a:xfrm>
                  <a:off x="43" y="1038"/>
                  <a:ext cx="93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GB"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flush</a:t>
                  </a:r>
                  <a:endParaRPr kumimoji="0" lang="en-US"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
              <p:nvSpPr>
                <p:cNvPr id="15405" name="Rectangle 29"/>
                <p:cNvSpPr>
                  <a:spLocks noChangeArrowheads="1"/>
                </p:cNvSpPr>
                <p:nvPr/>
              </p:nvSpPr>
              <p:spPr bwMode="auto">
                <a:xfrm>
                  <a:off x="0" y="1038"/>
                  <a:ext cx="1022" cy="34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grpSp>
          <p:grpSp>
            <p:nvGrpSpPr>
              <p:cNvPr id="18443" name="Group 32"/>
              <p:cNvGrpSpPr/>
              <p:nvPr/>
            </p:nvGrpSpPr>
            <p:grpSpPr>
              <a:xfrm>
                <a:off x="1022" y="1038"/>
                <a:ext cx="1814" cy="346"/>
                <a:chOff x="1022" y="1038"/>
                <a:chExt cx="1814" cy="346"/>
              </a:xfrm>
            </p:grpSpPr>
            <p:sp>
              <p:nvSpPr>
                <p:cNvPr id="15402" name="Rectangle 10"/>
                <p:cNvSpPr>
                  <a:spLocks noChangeArrowheads="1"/>
                </p:cNvSpPr>
                <p:nvPr/>
              </p:nvSpPr>
              <p:spPr bwMode="auto">
                <a:xfrm>
                  <a:off x="1065" y="1038"/>
                  <a:ext cx="1728"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GB"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使输出缓存中的内容立即输出</a:t>
                  </a:r>
                  <a:endPar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
              <p:nvSpPr>
                <p:cNvPr id="15403" name="Rectangle 31"/>
                <p:cNvSpPr>
                  <a:spLocks noChangeArrowheads="1"/>
                </p:cNvSpPr>
                <p:nvPr/>
              </p:nvSpPr>
              <p:spPr bwMode="auto">
                <a:xfrm>
                  <a:off x="1022" y="1038"/>
                  <a:ext cx="1814" cy="34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grpSp>
          <p:grpSp>
            <p:nvGrpSpPr>
              <p:cNvPr id="18444" name="Group 34"/>
              <p:cNvGrpSpPr/>
              <p:nvPr/>
            </p:nvGrpSpPr>
            <p:grpSpPr>
              <a:xfrm>
                <a:off x="0" y="1384"/>
                <a:ext cx="1022" cy="346"/>
                <a:chOff x="0" y="1384"/>
                <a:chExt cx="1022" cy="346"/>
              </a:xfrm>
            </p:grpSpPr>
            <p:sp>
              <p:nvSpPr>
                <p:cNvPr id="15400" name="Rectangle 11"/>
                <p:cNvSpPr>
                  <a:spLocks noChangeArrowheads="1"/>
                </p:cNvSpPr>
                <p:nvPr/>
              </p:nvSpPr>
              <p:spPr bwMode="auto">
                <a:xfrm>
                  <a:off x="43" y="1384"/>
                  <a:ext cx="93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GB"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dec</a:t>
                  </a:r>
                  <a:endParaRPr kumimoji="0" lang="en-US"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
              <p:nvSpPr>
                <p:cNvPr id="15401" name="Rectangle 33"/>
                <p:cNvSpPr>
                  <a:spLocks noChangeArrowheads="1"/>
                </p:cNvSpPr>
                <p:nvPr/>
              </p:nvSpPr>
              <p:spPr bwMode="auto">
                <a:xfrm>
                  <a:off x="0" y="1384"/>
                  <a:ext cx="1022" cy="34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grpSp>
          <p:grpSp>
            <p:nvGrpSpPr>
              <p:cNvPr id="18445" name="Group 36"/>
              <p:cNvGrpSpPr/>
              <p:nvPr/>
            </p:nvGrpSpPr>
            <p:grpSpPr>
              <a:xfrm>
                <a:off x="1022" y="1384"/>
                <a:ext cx="1814" cy="346"/>
                <a:chOff x="1022" y="1384"/>
                <a:chExt cx="1814" cy="346"/>
              </a:xfrm>
            </p:grpSpPr>
            <p:sp>
              <p:nvSpPr>
                <p:cNvPr id="15398" name="Rectangle 12"/>
                <p:cNvSpPr>
                  <a:spLocks noChangeArrowheads="1"/>
                </p:cNvSpPr>
                <p:nvPr/>
              </p:nvSpPr>
              <p:spPr bwMode="auto">
                <a:xfrm>
                  <a:off x="1065" y="1384"/>
                  <a:ext cx="1728"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GB"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十进制输出</a:t>
                  </a:r>
                  <a:endParaRPr kumimoji="0" lang="zh-CN" altLang="en-US"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
              <p:nvSpPr>
                <p:cNvPr id="15399" name="Rectangle 35"/>
                <p:cNvSpPr>
                  <a:spLocks noChangeArrowheads="1"/>
                </p:cNvSpPr>
                <p:nvPr/>
              </p:nvSpPr>
              <p:spPr bwMode="auto">
                <a:xfrm>
                  <a:off x="1022" y="1384"/>
                  <a:ext cx="1814" cy="34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grpSp>
          <p:grpSp>
            <p:nvGrpSpPr>
              <p:cNvPr id="18446" name="Group 38"/>
              <p:cNvGrpSpPr/>
              <p:nvPr/>
            </p:nvGrpSpPr>
            <p:grpSpPr>
              <a:xfrm>
                <a:off x="0" y="1730"/>
                <a:ext cx="1022" cy="346"/>
                <a:chOff x="0" y="1730"/>
                <a:chExt cx="1022" cy="346"/>
              </a:xfrm>
            </p:grpSpPr>
            <p:sp>
              <p:nvSpPr>
                <p:cNvPr id="15396" name="Rectangle 13"/>
                <p:cNvSpPr>
                  <a:spLocks noChangeArrowheads="1"/>
                </p:cNvSpPr>
                <p:nvPr/>
              </p:nvSpPr>
              <p:spPr bwMode="auto">
                <a:xfrm>
                  <a:off x="43" y="1730"/>
                  <a:ext cx="93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GB"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oct</a:t>
                  </a:r>
                  <a:endParaRPr kumimoji="0" lang="en-US"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
              <p:nvSpPr>
                <p:cNvPr id="15397" name="Rectangle 37"/>
                <p:cNvSpPr>
                  <a:spLocks noChangeArrowheads="1"/>
                </p:cNvSpPr>
                <p:nvPr/>
              </p:nvSpPr>
              <p:spPr bwMode="auto">
                <a:xfrm>
                  <a:off x="0" y="1730"/>
                  <a:ext cx="1022" cy="34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grpSp>
          <p:grpSp>
            <p:nvGrpSpPr>
              <p:cNvPr id="18447" name="Group 40"/>
              <p:cNvGrpSpPr/>
              <p:nvPr/>
            </p:nvGrpSpPr>
            <p:grpSpPr>
              <a:xfrm>
                <a:off x="1022" y="1730"/>
                <a:ext cx="1814" cy="346"/>
                <a:chOff x="1022" y="1730"/>
                <a:chExt cx="1814" cy="346"/>
              </a:xfrm>
            </p:grpSpPr>
            <p:sp>
              <p:nvSpPr>
                <p:cNvPr id="15394" name="Rectangle 14"/>
                <p:cNvSpPr>
                  <a:spLocks noChangeArrowheads="1"/>
                </p:cNvSpPr>
                <p:nvPr/>
              </p:nvSpPr>
              <p:spPr bwMode="auto">
                <a:xfrm>
                  <a:off x="1065" y="1730"/>
                  <a:ext cx="1728"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GB"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八进制输出</a:t>
                  </a:r>
                  <a:endParaRPr kumimoji="0" lang="zh-CN" altLang="en-US"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
              <p:nvSpPr>
                <p:cNvPr id="15395" name="Rectangle 39"/>
                <p:cNvSpPr>
                  <a:spLocks noChangeArrowheads="1"/>
                </p:cNvSpPr>
                <p:nvPr/>
              </p:nvSpPr>
              <p:spPr bwMode="auto">
                <a:xfrm>
                  <a:off x="1022" y="1730"/>
                  <a:ext cx="1814" cy="34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grpSp>
          <p:grpSp>
            <p:nvGrpSpPr>
              <p:cNvPr id="18448" name="Group 42"/>
              <p:cNvGrpSpPr/>
              <p:nvPr/>
            </p:nvGrpSpPr>
            <p:grpSpPr>
              <a:xfrm>
                <a:off x="0" y="2076"/>
                <a:ext cx="1022" cy="346"/>
                <a:chOff x="0" y="2076"/>
                <a:chExt cx="1022" cy="346"/>
              </a:xfrm>
            </p:grpSpPr>
            <p:sp>
              <p:nvSpPr>
                <p:cNvPr id="15392" name="Rectangle 15"/>
                <p:cNvSpPr>
                  <a:spLocks noChangeArrowheads="1"/>
                </p:cNvSpPr>
                <p:nvPr/>
              </p:nvSpPr>
              <p:spPr bwMode="auto">
                <a:xfrm>
                  <a:off x="43" y="2076"/>
                  <a:ext cx="936"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GB"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hex</a:t>
                  </a:r>
                  <a:endParaRPr kumimoji="0" lang="en-US"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
              <p:nvSpPr>
                <p:cNvPr id="15393" name="Rectangle 41"/>
                <p:cNvSpPr>
                  <a:spLocks noChangeArrowheads="1"/>
                </p:cNvSpPr>
                <p:nvPr/>
              </p:nvSpPr>
              <p:spPr bwMode="auto">
                <a:xfrm>
                  <a:off x="0" y="2076"/>
                  <a:ext cx="1022" cy="337"/>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grpSp>
          <p:grpSp>
            <p:nvGrpSpPr>
              <p:cNvPr id="18449" name="Group 44"/>
              <p:cNvGrpSpPr/>
              <p:nvPr/>
            </p:nvGrpSpPr>
            <p:grpSpPr>
              <a:xfrm>
                <a:off x="1022" y="2076"/>
                <a:ext cx="1814" cy="346"/>
                <a:chOff x="1022" y="2076"/>
                <a:chExt cx="1814" cy="346"/>
              </a:xfrm>
            </p:grpSpPr>
            <p:sp>
              <p:nvSpPr>
                <p:cNvPr id="15390" name="Rectangle 16"/>
                <p:cNvSpPr>
                  <a:spLocks noChangeArrowheads="1"/>
                </p:cNvSpPr>
                <p:nvPr/>
              </p:nvSpPr>
              <p:spPr bwMode="auto">
                <a:xfrm>
                  <a:off x="1065" y="2076"/>
                  <a:ext cx="1728"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GB"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十六进制输出</a:t>
                  </a:r>
                  <a:endParaRPr kumimoji="0" lang="zh-CN" altLang="en-US"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20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
              <p:nvSpPr>
                <p:cNvPr id="15391" name="Rectangle 43"/>
                <p:cNvSpPr>
                  <a:spLocks noChangeArrowheads="1"/>
                </p:cNvSpPr>
                <p:nvPr/>
              </p:nvSpPr>
              <p:spPr bwMode="auto">
                <a:xfrm>
                  <a:off x="1022" y="2076"/>
                  <a:ext cx="1814" cy="337"/>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grpSp>
          <p:grpSp>
            <p:nvGrpSpPr>
              <p:cNvPr id="18450" name="Group 46"/>
              <p:cNvGrpSpPr/>
              <p:nvPr/>
            </p:nvGrpSpPr>
            <p:grpSpPr>
              <a:xfrm>
                <a:off x="0" y="2422"/>
                <a:ext cx="1022" cy="461"/>
                <a:chOff x="0" y="2422"/>
                <a:chExt cx="1022" cy="461"/>
              </a:xfrm>
            </p:grpSpPr>
            <p:sp>
              <p:nvSpPr>
                <p:cNvPr id="15388" name="Rectangle 17"/>
                <p:cNvSpPr>
                  <a:spLocks noChangeArrowheads="1"/>
                </p:cNvSpPr>
                <p:nvPr/>
              </p:nvSpPr>
              <p:spPr bwMode="auto">
                <a:xfrm>
                  <a:off x="43" y="2422"/>
                  <a:ext cx="936"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GB" altLang="zh-CN" sz="2000" b="0" i="0" u="none" strike="noStrike" kern="1200" cap="none" spc="0" normalizeH="0" baseline="0" noProof="0" dirty="0" err="1"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setprecision</a:t>
                  </a:r>
                  <a:r>
                    <a:rPr kumimoji="0" lang="en-GB"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a:t>
                  </a:r>
                  <a:r>
                    <a:rPr kumimoji="0" lang="en-GB" altLang="zh-CN" sz="2000" b="0" i="0" u="none" strike="noStrike" kern="1200" cap="none" spc="0" normalizeH="0" baseline="0" noProof="0" dirty="0" err="1"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int</a:t>
                  </a:r>
                  <a:r>
                    <a:rPr kumimoji="0" lang="en-GB"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 n)</a:t>
                  </a:r>
                  <a:endParaRPr kumimoji="0" lang="en-US"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
              <p:nvSpPr>
                <p:cNvPr id="15389" name="Rectangle 45"/>
                <p:cNvSpPr>
                  <a:spLocks noChangeArrowheads="1"/>
                </p:cNvSpPr>
                <p:nvPr/>
              </p:nvSpPr>
              <p:spPr bwMode="auto">
                <a:xfrm>
                  <a:off x="0" y="2422"/>
                  <a:ext cx="1022" cy="461"/>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grpSp>
          <p:grpSp>
            <p:nvGrpSpPr>
              <p:cNvPr id="18451" name="Group 48"/>
              <p:cNvGrpSpPr/>
              <p:nvPr/>
            </p:nvGrpSpPr>
            <p:grpSpPr>
              <a:xfrm>
                <a:off x="1022" y="2422"/>
                <a:ext cx="1814" cy="461"/>
                <a:chOff x="1022" y="2422"/>
                <a:chExt cx="1814" cy="461"/>
              </a:xfrm>
            </p:grpSpPr>
            <p:sp>
              <p:nvSpPr>
                <p:cNvPr id="15386" name="Rectangle 18"/>
                <p:cNvSpPr>
                  <a:spLocks noChangeArrowheads="1"/>
                </p:cNvSpPr>
                <p:nvPr/>
              </p:nvSpPr>
              <p:spPr bwMode="auto">
                <a:xfrm>
                  <a:off x="1065" y="2422"/>
                  <a:ext cx="1728"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设置浮点数的精度（由输出格式决定是有效数字的个数还是小数点后数字的位数）</a:t>
                  </a:r>
                  <a:endPar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
              <p:nvSpPr>
                <p:cNvPr id="15387" name="Rectangle 47"/>
                <p:cNvSpPr>
                  <a:spLocks noChangeArrowheads="1"/>
                </p:cNvSpPr>
                <p:nvPr/>
              </p:nvSpPr>
              <p:spPr bwMode="auto">
                <a:xfrm>
                  <a:off x="1022" y="2422"/>
                  <a:ext cx="1814" cy="461"/>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grpSp>
          <p:grpSp>
            <p:nvGrpSpPr>
              <p:cNvPr id="18452" name="Group 50"/>
              <p:cNvGrpSpPr/>
              <p:nvPr/>
            </p:nvGrpSpPr>
            <p:grpSpPr>
              <a:xfrm>
                <a:off x="0" y="2883"/>
                <a:ext cx="1022" cy="806"/>
                <a:chOff x="0" y="2883"/>
                <a:chExt cx="1022" cy="806"/>
              </a:xfrm>
            </p:grpSpPr>
            <p:sp>
              <p:nvSpPr>
                <p:cNvPr id="22547" name="Rectangle 19"/>
                <p:cNvSpPr>
                  <a:spLocks noChangeArrowheads="1"/>
                </p:cNvSpPr>
                <p:nvPr/>
              </p:nvSpPr>
              <p:spPr bwMode="auto">
                <a:xfrm>
                  <a:off x="43" y="2883"/>
                  <a:ext cx="936" cy="806"/>
                </a:xfrm>
                <a:prstGeom prst="rect">
                  <a:avLst/>
                </a:prstGeom>
                <a:noFill/>
                <a:ln w="9525">
                  <a:noFill/>
                  <a:miter lim="800000"/>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GB" altLang="zh-CN" sz="1800" b="0" i="0" u="none" strike="noStrike" kern="1200" cap="none" spc="0" normalizeH="0" baseline="0" noProof="0" dirty="0" err="1">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setiosflags</a:t>
                  </a:r>
                  <a:r>
                    <a:rPr kumimoji="0" lang="en-GB" altLang="zh-CN" sz="18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(long flags)/</a:t>
                  </a:r>
                  <a:endParaRPr kumimoji="0" lang="en-GB" altLang="zh-CN" sz="18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GB" altLang="zh-CN" sz="1800" b="0" i="0" u="none" strike="noStrike" kern="1200" cap="none" spc="0" normalizeH="0" baseline="0" noProof="0" dirty="0" err="1">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resetiosflags</a:t>
                  </a:r>
                  <a:r>
                    <a:rPr kumimoji="0" lang="en-GB" altLang="zh-CN" sz="18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(long flags)</a:t>
                  </a:r>
                  <a:r>
                    <a:rPr kumimoji="0" lang="en-US" altLang="zh-CN" sz="18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 </a:t>
                  </a:r>
                  <a:endParaRPr kumimoji="0" lang="en-US" altLang="zh-CN" sz="18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
              <p:nvSpPr>
                <p:cNvPr id="15385" name="Rectangle 49"/>
                <p:cNvSpPr>
                  <a:spLocks noChangeArrowheads="1"/>
                </p:cNvSpPr>
                <p:nvPr/>
              </p:nvSpPr>
              <p:spPr bwMode="auto">
                <a:xfrm>
                  <a:off x="0" y="2883"/>
                  <a:ext cx="1022" cy="80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grpSp>
          <p:grpSp>
            <p:nvGrpSpPr>
              <p:cNvPr id="18453" name="Group 52"/>
              <p:cNvGrpSpPr/>
              <p:nvPr/>
            </p:nvGrpSpPr>
            <p:grpSpPr>
              <a:xfrm>
                <a:off x="1022" y="2883"/>
                <a:ext cx="1814" cy="806"/>
                <a:chOff x="1022" y="2883"/>
                <a:chExt cx="1814" cy="806"/>
              </a:xfrm>
            </p:grpSpPr>
            <p:sp>
              <p:nvSpPr>
                <p:cNvPr id="15382" name="Rectangle 20"/>
                <p:cNvSpPr>
                  <a:spLocks noChangeArrowheads="1"/>
                </p:cNvSpPr>
                <p:nvPr/>
              </p:nvSpPr>
              <p:spPr bwMode="auto">
                <a:xfrm>
                  <a:off x="1065" y="2883"/>
                  <a:ext cx="1728" cy="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GB"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设置</a:t>
                  </a:r>
                  <a:r>
                    <a:rPr kumimoji="0" lang="en-GB"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a:t>
                  </a:r>
                  <a:r>
                    <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重置</a:t>
                  </a:r>
                  <a:r>
                    <a:rPr kumimoji="0" lang="zh-CN" altLang="en-GB"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输出格式，</a:t>
                  </a:r>
                  <a:r>
                    <a:rPr kumimoji="0" lang="en-GB"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flags</a:t>
                  </a:r>
                  <a:r>
                    <a:rPr kumimoji="0" lang="zh-CN" altLang="en-GB"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的取值可以是：</a:t>
                  </a:r>
                  <a:endParaRPr kumimoji="0" lang="zh-CN" altLang="en-GB"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GB" altLang="zh-CN" sz="2000" b="0" i="0" u="none" strike="noStrike" kern="1200" cap="none" spc="0" normalizeH="0" baseline="0" noProof="0" dirty="0" err="1"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ios</a:t>
                  </a:r>
                  <a:r>
                    <a:rPr kumimoji="0" lang="en-GB"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::scientific</a:t>
                  </a:r>
                  <a:r>
                    <a:rPr kumimoji="0" lang="zh-CN" altLang="en-GB"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（以指数形式显示浮点数），</a:t>
                  </a:r>
                  <a:endParaRPr kumimoji="0" lang="zh-CN" altLang="en-GB"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GB" altLang="zh-CN" sz="2000" b="0" i="0" u="none" strike="noStrike" kern="1200" cap="none" spc="0" normalizeH="0" baseline="0" noProof="0" dirty="0" err="1"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ios</a:t>
                  </a:r>
                  <a:r>
                    <a:rPr kumimoji="0" lang="en-GB" altLang="zh-CN"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::fixed</a:t>
                  </a:r>
                  <a:r>
                    <a:rPr kumimoji="0" lang="zh-CN" altLang="en-GB"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rPr>
                    <a:t>（以小数形式显示浮点数），等等</a:t>
                  </a:r>
                  <a:endParaRPr kumimoji="0" lang="zh-CN" altLang="en-US" sz="2000" b="0"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sp>
              <p:nvSpPr>
                <p:cNvPr id="15383" name="Rectangle 51"/>
                <p:cNvSpPr>
                  <a:spLocks noChangeArrowheads="1"/>
                </p:cNvSpPr>
                <p:nvPr/>
              </p:nvSpPr>
              <p:spPr bwMode="auto">
                <a:xfrm>
                  <a:off x="1022" y="2883"/>
                  <a:ext cx="1814" cy="80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grpSp>
        </p:grpSp>
        <p:sp>
          <p:nvSpPr>
            <p:cNvPr id="15365" name="Rectangle 54"/>
            <p:cNvSpPr>
              <a:spLocks noChangeArrowheads="1"/>
            </p:cNvSpPr>
            <p:nvPr/>
          </p:nvSpPr>
          <p:spPr bwMode="auto">
            <a:xfrm>
              <a:off x="-3" y="343"/>
              <a:ext cx="2842" cy="3349"/>
            </a:xfrm>
            <a:prstGeom prst="rect">
              <a:avLst/>
            </a:prstGeom>
            <a:noFill/>
            <a:ln w="9525">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eaLnBrk="0" hangingPunct="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mn-lt"/>
                <a:ea typeface="宋体" panose="02010600030101010101" pitchFamily="2" charset="-122"/>
                <a:cs typeface="+mn-c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97283" name="Rectangle 3"/>
          <p:cNvSpPr>
            <a:spLocks noGrp="1" noChangeArrowheads="1"/>
          </p:cNvSpPr>
          <p:nvPr>
            <p:ph idx="1"/>
          </p:nvPr>
        </p:nvSpPr>
        <p:spPr>
          <a:xfrm>
            <a:off x="179388" y="1600200"/>
            <a:ext cx="8507413" cy="453072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对于浮点数（</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float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double</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和</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long double</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当输出格式为</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ios</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::scientific</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或</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ios</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::fixed</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时，操纵符</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setprecision</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用于设置浮点数小数点后面的位数；</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当输出格式</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为自动方式（</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既不</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是</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ios</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::scientific</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也不</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是</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ios</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::fixed</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，或两者都</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设了）</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时，操纵符</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setprecision</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用于设置浮点数有效数字的个数，这时的输出格式根据有效数字自动确定。</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7" name="Rectangle 3"/>
          <p:cNvSpPr>
            <a:spLocks noGrp="1" noChangeArrowheads="1"/>
          </p:cNvSpPr>
          <p:nvPr>
            <p:ph idx="1"/>
          </p:nvPr>
        </p:nvSpPr>
        <p:spPr>
          <a:xfrm>
            <a:off x="314325" y="692150"/>
            <a:ext cx="8578850" cy="5545138"/>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除了用</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插入</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操作符（</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&lt;&lt;</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）进行</a:t>
            </a:r>
            <a:r>
              <a:rPr kumimoji="0" lang="zh-CN" altLang="en-US"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Courier New" panose="02070309020205020404" pitchFamily="49" charset="0"/>
              </a:rPr>
              <a:t>基本数据类型</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数据的输出外，还可以</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用</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ostream</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a:t>
            </a:r>
            <a:r>
              <a:rPr kumimoji="0" lang="zh-CN" altLang="en-GB"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成员</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函数进行</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基于</a:t>
            </a:r>
            <a:r>
              <a:rPr kumimoji="0" lang="zh-CN" altLang="en-GB"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字节</a:t>
            </a:r>
            <a:r>
              <a:rPr kumimoji="0" lang="zh-CN" altLang="en-GB"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的输出</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操作。</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输出一个字</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节</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ostream</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&amp;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ostream</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put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(char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ch</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cout.put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所指向的内存空间中</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count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个字节。</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ostream</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&amp;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ostream</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write</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const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char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p,int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count);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char info[100];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n;</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cout.write</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info,n</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noChangeArrowheads="1"/>
          </p:cNvSpPr>
          <p:nvPr>
            <p:ph type="title"/>
          </p:nvPr>
        </p:nvSpPr>
        <p:spPr>
          <a:xfrm>
            <a:off x="457200" y="430213"/>
            <a:ext cx="8229600" cy="712788"/>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GB"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mj-cs"/>
              </a:rPr>
              <a:t>控制台输入</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mj-cs"/>
              </a:rPr>
              <a:t>操作</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21507" name="Rectangle 3"/>
          <p:cNvSpPr>
            <a:spLocks noGrp="1" noChangeArrowheads="1"/>
          </p:cNvSpPr>
          <p:nvPr>
            <p:ph idx="1"/>
          </p:nvPr>
        </p:nvSpPr>
        <p:spPr>
          <a:xfrm>
            <a:off x="457200" y="1524000"/>
            <a:ext cx="8229600" cy="5000625"/>
          </a:xfrm>
        </p:spPr>
        <p:txBody>
          <a:bodyPr vert="horz" wrap="square" lIns="91440" tIns="45720" rIns="91440" bIns="45720" numCol="1" anchor="t" anchorCtr="0" compatLnSpc="1">
            <a:normAutofit fontScale="925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用抽取操作符（</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&gt;&gt;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）进行</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Courier New" panose="02070309020205020404" pitchFamily="49" charset="0"/>
              </a:rPr>
              <a:t>基本数据类型</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数据的输入。例如：</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#include &lt;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iostream</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&gt;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using namespace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std</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fr-FR"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fr-FR"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int x;</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fr-FR"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double y;</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fr-FR"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char str[10];</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fr-FR"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cin &gt;&gt; x; cin &gt;&gt; y; cin &gt;&gt; str;</a:t>
            </a:r>
            <a:endParaRPr kumimoji="0" lang="fr-FR"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zh-CN" altLang="fr-FR"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或者</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cin</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&gt;&gt; x &gt;&gt; y &gt;&gt;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str</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1" name="Rectangle 3"/>
          <p:cNvSpPr>
            <a:spLocks noGrp="1" noChangeArrowheads="1"/>
          </p:cNvSpPr>
          <p:nvPr>
            <p:ph idx="1"/>
          </p:nvPr>
        </p:nvSpPr>
        <p:spPr>
          <a:xfrm>
            <a:off x="322263" y="909638"/>
            <a:ext cx="8570913" cy="5614988"/>
          </a:xfrm>
        </p:spPr>
        <p:txBody>
          <a:bodyPr vert="horz" wrap="square" lIns="91440" tIns="45720" rIns="91440" bIns="45720" numCol="1" anchor="t" anchorCtr="0" compatLnSpc="1"/>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GB" sz="3200" b="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在</a:t>
            </a:r>
            <a:r>
              <a:rPr kumimoji="0" lang="zh-CN" altLang="en-GB" sz="3200" b="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输入</a:t>
            </a:r>
            <a:r>
              <a:rPr kumimoji="0" lang="zh-CN" altLang="en-US" sz="3200" b="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时，</a:t>
            </a:r>
            <a:r>
              <a:rPr kumimoji="0" lang="zh-CN" altLang="en-GB" sz="3200" b="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各个</a:t>
            </a:r>
            <a:r>
              <a:rPr kumimoji="0" lang="zh-CN" altLang="en-GB" sz="3200" b="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数据</a:t>
            </a:r>
            <a:r>
              <a:rPr kumimoji="0" lang="zh-CN" altLang="en-GB" sz="3200" b="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之间</a:t>
            </a:r>
            <a:r>
              <a:rPr kumimoji="0" lang="zh-CN" altLang="en-US" sz="3200" b="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一般要</a:t>
            </a:r>
            <a:r>
              <a:rPr kumimoji="0" lang="zh-CN" altLang="en-GB" sz="3200" b="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用</a:t>
            </a:r>
            <a:r>
              <a:rPr kumimoji="0" lang="zh-CN" altLang="en-GB" sz="3200" b="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Courier New" panose="02070309020205020404" pitchFamily="49" charset="0"/>
              </a:rPr>
              <a:t>空白符</a:t>
            </a:r>
            <a:r>
              <a:rPr kumimoji="0" lang="zh-CN" altLang="en-US" sz="3200" b="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（空格、</a:t>
            </a:r>
            <a:r>
              <a:rPr kumimoji="0" lang="en-US" altLang="zh-CN" sz="3200" b="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\t</a:t>
            </a:r>
            <a:r>
              <a:rPr kumimoji="0" lang="zh-CN" altLang="en-US" sz="3200" b="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r>
              <a:rPr kumimoji="0" lang="en-US" altLang="zh-CN" sz="3200" b="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\n</a:t>
            </a:r>
            <a:r>
              <a:rPr kumimoji="0" lang="zh-CN" altLang="en-US" sz="3200" b="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r>
              <a:rPr kumimoji="0" lang="zh-CN" altLang="en-GB" sz="3200" b="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分开</a:t>
            </a:r>
            <a:r>
              <a:rPr kumimoji="0" lang="zh-CN" altLang="en-US" sz="3200" b="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endParaRPr kumimoji="0" lang="en-US" altLang="zh-CN" sz="3200" b="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600" b="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输入一个数据前</a:t>
            </a:r>
            <a:r>
              <a:rPr kumimoji="0" lang="zh-CN" altLang="en-US" sz="2600" b="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zh-CN" altLang="en-US" sz="2600" b="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先</a:t>
            </a:r>
            <a:r>
              <a:rPr kumimoji="0" lang="zh-CN" altLang="en-US" sz="2600" b="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跳过空白符 </a:t>
            </a:r>
            <a:endParaRPr kumimoji="0" lang="zh-CN" altLang="en-US" sz="2600" b="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600" b="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输入一个数据的过程中，碰到</a:t>
            </a:r>
            <a:r>
              <a:rPr kumimoji="0" lang="zh-CN" altLang="en-US" sz="2600" b="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空白符或当前数据类型不允许的</a:t>
            </a:r>
            <a:r>
              <a:rPr kumimoji="0" lang="zh-CN" altLang="en-US" sz="2600" b="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字符时结束当前数据的输入</a:t>
            </a:r>
            <a:endParaRPr kumimoji="0" lang="en-US" altLang="zh-CN" sz="2600" b="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可以通过一些</a:t>
            </a:r>
            <a:r>
              <a:rPr kumimoji="0" lang="zh-CN" altLang="en-GB" sz="3200" b="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操纵符</a:t>
            </a:r>
            <a:r>
              <a:rPr kumimoji="0" lang="zh-CN" altLang="en-GB" sz="3200" b="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来控制输入的行为，例如</a:t>
            </a:r>
            <a:r>
              <a:rPr kumimoji="0" lang="en-GB" altLang="zh-CN" sz="3200" b="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char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str</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[10];</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cin</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&gt;&gt; </a:t>
            </a:r>
            <a:r>
              <a:rPr kumimoji="0" lang="en-GB"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setw</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(10) &gt;&gt;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str</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把输入的字符</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串</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和一个</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'\0'</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放入</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str</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中</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，最多输入</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9</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个字符</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23850" y="260350"/>
            <a:ext cx="8640763" cy="6481763"/>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除了</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用</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抽取操作符（</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&gt;&gt;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进行</a:t>
            </a:r>
            <a:r>
              <a:rPr kumimoji="0" lang="zh-CN" altLang="en-US"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Courier New" panose="02070309020205020404" pitchFamily="49" charset="0"/>
              </a:rPr>
              <a:t>基本数据类型</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数据的</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输入外</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，还可以</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用</a:t>
            </a:r>
            <a:r>
              <a:rPr kumimoji="0" lang="en-GB"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istream</a:t>
            </a:r>
            <a:r>
              <a:rPr kumimoji="0" lang="zh-CN" altLang="en-GB"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类</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a:t>
            </a:r>
            <a:r>
              <a:rPr kumimoji="0" lang="zh-CN" altLang="en-GB"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成员</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函数进行基于</a:t>
            </a:r>
            <a:r>
              <a:rPr kumimoji="0" lang="zh-CN" altLang="en-GB"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字节</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的输入</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操作。</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r>
              <a:rPr kumimoji="0" lang="zh-CN" altLang="en-GB"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GB"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输入一个字</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节</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a:ln>
                  <a:noFill/>
                </a:ln>
                <a:solidFill>
                  <a:schemeClr val="tx1"/>
                </a:solidFill>
                <a:effectLst/>
                <a:uLnTx/>
                <a:uFillTx/>
                <a:latin typeface="+mn-lt"/>
                <a:ea typeface="+mn-ea"/>
              </a:rPr>
              <a:t>istream</a:t>
            </a:r>
            <a:r>
              <a:rPr kumimoji="0" lang="en-US" altLang="zh-CN" sz="2400" b="0" i="0" u="none" strike="noStrike" kern="0" cap="none" spc="0" normalizeH="0" baseline="0" noProof="0" dirty="0" smtClean="0">
                <a:ln>
                  <a:noFill/>
                </a:ln>
                <a:solidFill>
                  <a:schemeClr val="tx1"/>
                </a:solidFill>
                <a:effectLst/>
                <a:uLnTx/>
                <a:uFillTx/>
                <a:latin typeface="+mn-lt"/>
                <a:ea typeface="+mn-ea"/>
              </a:rPr>
              <a:t>&amp;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istream</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GB"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get</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(char &amp;</a:t>
            </a:r>
            <a:r>
              <a:rPr kumimoji="0" lang="en-GB"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ch</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入</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count</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个字</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节</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至</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所指向的内存空间中。</a:t>
            </a:r>
            <a:endPar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a:ln>
                  <a:noFill/>
                </a:ln>
                <a:solidFill>
                  <a:schemeClr val="tx1"/>
                </a:solidFill>
                <a:effectLst/>
                <a:uLnTx/>
                <a:uFillTx/>
                <a:latin typeface="+mn-lt"/>
                <a:ea typeface="+mn-ea"/>
              </a:rPr>
              <a:t>istream</a:t>
            </a:r>
            <a:r>
              <a:rPr kumimoji="0" lang="en-US" altLang="zh-CN" sz="2400" b="0" i="0" u="none" strike="noStrike" kern="0" cap="none" spc="0" normalizeH="0" baseline="0" noProof="0" dirty="0">
                <a:ln>
                  <a:noFill/>
                </a:ln>
                <a:solidFill>
                  <a:schemeClr val="tx1"/>
                </a:solidFill>
                <a:effectLst/>
                <a:uLnTx/>
                <a:uFillTx/>
                <a:latin typeface="+mn-lt"/>
                <a:ea typeface="+mn-ea"/>
              </a:rPr>
              <a:t>&amp; </a:t>
            </a:r>
            <a:r>
              <a:rPr kumimoji="0" lang="en-GB"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istream</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GB"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read</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(char *</a:t>
            </a:r>
            <a:r>
              <a:rPr kumimoji="0" lang="en-GB"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p,int</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count);</a:t>
            </a:r>
            <a:endPar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输入一个</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字符串</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。输入过程</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直到</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输入了</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count-1</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个字符</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或</a:t>
            </a:r>
            <a:endPar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遇到</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delim</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指定的字符为止，并自动加上一个</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'\0'</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字符。</a:t>
            </a:r>
            <a:endPar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a:ln>
                  <a:noFill/>
                </a:ln>
                <a:solidFill>
                  <a:schemeClr val="tx1"/>
                </a:solidFill>
                <a:effectLst/>
                <a:uLnTx/>
                <a:uFillTx/>
                <a:latin typeface="+mn-lt"/>
                <a:ea typeface="+mn-ea"/>
              </a:rPr>
              <a:t>istream</a:t>
            </a:r>
            <a:r>
              <a:rPr kumimoji="0" lang="en-US" altLang="zh-CN" sz="2400" b="0" i="0" u="none" strike="noStrike" kern="0" cap="none" spc="0" normalizeH="0" baseline="0" noProof="0" dirty="0" smtClean="0">
                <a:ln>
                  <a:noFill/>
                </a:ln>
                <a:solidFill>
                  <a:schemeClr val="tx1"/>
                </a:solidFill>
                <a:effectLst/>
                <a:uLnTx/>
                <a:uFillTx/>
                <a:latin typeface="+mn-lt"/>
                <a:ea typeface="+mn-ea"/>
              </a:rPr>
              <a:t>&amp;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istream</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GB"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getline</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(char *p, </a:t>
            </a:r>
            <a:r>
              <a:rPr kumimoji="0" lang="en-GB"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count,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char </a:t>
            </a:r>
            <a:r>
              <a:rPr kumimoji="0" lang="en-GB"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delim</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 </a:t>
            </a:r>
            <a:endPar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用上述函数可以输入空白符！例如，</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1" indent="0" algn="l" defTabSz="914400" rtl="0" eaLnBrk="1" fontAlgn="base" latinLnBrk="0" hangingPunct="1">
              <a:lnSpc>
                <a:spcPct val="100000"/>
              </a:lnSpc>
              <a:spcBef>
                <a:spcPct val="20000"/>
              </a:spcBef>
              <a:spcAft>
                <a:spcPct val="0"/>
              </a:spcAft>
              <a:buClr>
                <a:schemeClr val="hlink"/>
              </a:buClr>
              <a:buSzPct val="60000"/>
              <a:buFontTx/>
              <a:buNone/>
              <a:defRPr/>
            </a:pPr>
            <a:r>
              <a:rPr kumimoji="0" lang="fr-FR"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a:t>
            </a:r>
            <a:r>
              <a:rPr kumimoji="0" lang="fr-FR"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char </a:t>
            </a:r>
            <a:r>
              <a:rPr kumimoji="0" lang="fr-FR"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str[10</a:t>
            </a:r>
            <a:r>
              <a:rPr kumimoji="0" lang="fr-FR"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endParaRPr kumimoji="0" lang="fr-FR"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0" marR="0" lvl="1" indent="0" algn="l" defTabSz="914400" rtl="0" eaLnBrk="1" fontAlgn="base" latinLnBrk="0" hangingPunct="1">
              <a:lnSpc>
                <a:spcPct val="100000"/>
              </a:lnSpc>
              <a:spcBef>
                <a:spcPct val="20000"/>
              </a:spcBef>
              <a:spcAft>
                <a:spcPct val="0"/>
              </a:spcAft>
              <a:buClr>
                <a:schemeClr val="hlink"/>
              </a:buClr>
              <a:buSzPct val="60000"/>
              <a:buFontTx/>
              <a:buNone/>
              <a:defRPr/>
            </a:pPr>
            <a:r>
              <a:rPr kumimoji="0" lang="fr-FR"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a:t>
            </a:r>
            <a:r>
              <a:rPr kumimoji="0" lang="fr-FR"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cin.getline(str,10);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可以输入带空格的字符串</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noChangeArrowheads="1"/>
          </p:cNvSpPr>
          <p:nvPr>
            <p:ph type="title"/>
          </p:nvPr>
        </p:nvSpPr>
        <p:spPr>
          <a:xfrm>
            <a:off x="250825" y="277813"/>
            <a:ext cx="8435975"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GB" sz="36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操作符“</a:t>
            </a:r>
            <a:r>
              <a:rPr kumimoji="0" lang="en-GB" altLang="zh-CN" sz="36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&gt;&gt;</a:t>
            </a:r>
            <a:r>
              <a:rPr kumimoji="0" lang="zh-CN" altLang="en-US" sz="36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GB" sz="36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和“</a:t>
            </a:r>
            <a:r>
              <a:rPr kumimoji="0" lang="en-GB" altLang="zh-CN" sz="36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&lt;&lt;</a:t>
            </a:r>
            <a:r>
              <a:rPr kumimoji="0" lang="zh-CN" altLang="en-US" sz="36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GB" sz="36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的重载</a:t>
            </a:r>
            <a:r>
              <a:rPr kumimoji="0" lang="zh-CN" altLang="en-US" sz="36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 </a:t>
            </a:r>
            <a:endParaRPr kumimoji="0" lang="zh-CN" altLang="en-US" sz="36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90115"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标准库中重载的</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操作符</a:t>
            </a:r>
            <a:r>
              <a:rPr kumimoji="0" lang="zh-CN" altLang="en-GB"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GB"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&gt;&gt;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GB"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和“</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&lt;&lt;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”只能对</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基本数据类型</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的数据进行输入</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输出。</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可以针对自定义的类</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进一步</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重载</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操作符</a:t>
            </a:r>
            <a:r>
              <a:rPr kumimoji="0" lang="zh-CN" altLang="en-GB"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&gt;&gt;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和</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en-GB"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&lt;&lt;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”，从而实现</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对</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某个</a:t>
            </a:r>
            <a:r>
              <a:rPr kumimoji="0" lang="zh-CN" altLang="en-GB"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类</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的对象进行输入</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输出操作。</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例：</a:t>
            </a:r>
            <a:r>
              <a:rPr kumimoji="0" lang="zh-CN" altLang="en-GB"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插入操作符“</a:t>
            </a:r>
            <a:r>
              <a:rPr kumimoji="0" lang="en-GB"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&lt;&lt;</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a:t>
            </a:r>
            <a:r>
              <a:rPr kumimoji="0" lang="zh-CN" altLang="en-GB"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的重载</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 </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91139" name="Rectangle 3"/>
          <p:cNvSpPr>
            <a:spLocks noGrp="1" noChangeArrowheads="1"/>
          </p:cNvSpPr>
          <p:nvPr>
            <p:ph idx="1"/>
          </p:nvPr>
        </p:nvSpPr>
        <p:spPr>
          <a:xfrm>
            <a:off x="250825" y="1341438"/>
            <a:ext cx="8713788" cy="5327650"/>
          </a:xfrm>
        </p:spPr>
        <p:txBody>
          <a:bodyPr vert="horz" wrap="square" lIns="91440" tIns="45720" rIns="91440" bIns="45720" numCol="1" anchor="t" anchorCtr="0" compatLnSpc="1">
            <a:normAutofit fontScale="85000" lnSpcReduction="20000"/>
          </a:bodyPr>
          <a:lstStyle/>
          <a:p>
            <a:pPr marL="342900" marR="0" lvl="0" indent="-342900" algn="l" defTabSz="61468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针对类</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重载操作符“</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&lt;&lt;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”，可实现</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类对象的输出：</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1468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class A</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1468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x,y</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1468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public:</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1468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1468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friend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ostream</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&amp; operator &lt;&lt;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ostream</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&amp; out,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const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 &amp;a)</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1468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1468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err="1" smtClean="0">
                <a:ln>
                  <a:noFill/>
                </a:ln>
                <a:solidFill>
                  <a:schemeClr val="folHlink"/>
                </a:solidFill>
                <a:effectLst>
                  <a:outerShdw blurRad="38100" dist="38100" dir="2700000" algn="tl">
                    <a:srgbClr val="000000"/>
                  </a:outerShdw>
                </a:effectLst>
                <a:uLnTx/>
                <a:uFillTx/>
                <a:latin typeface="+mn-lt"/>
                <a:ea typeface="+mn-ea"/>
                <a:cs typeface="+mn-cs"/>
              </a:rPr>
              <a:t>ostream</a:t>
            </a:r>
            <a:r>
              <a:rPr kumimoji="0" lang="en-GB" altLang="zh-CN"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cs typeface="+mn-cs"/>
              </a:rPr>
              <a:t>&amp;</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operator </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&lt;&lt;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ostream</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&amp;</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out,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const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 &amp;a)</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1468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out &lt;&lt;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a.x</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 &lt;&lt;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a.y</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1468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return out;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1468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1468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1468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 a1,a2;</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61468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cout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&lt;&lt;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a1 &lt;&lt;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endl</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&lt;&lt;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a2 &lt;&lt;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endl</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面向文件的</a:t>
            </a: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I/O</a:t>
            </a:r>
            <a:endPar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92163" name="Rectangle 3"/>
          <p:cNvSpPr>
            <a:spLocks noGrp="1" noChangeArrowheads="1"/>
          </p:cNvSpPr>
          <p:nvPr>
            <p:ph idx="1"/>
          </p:nvPr>
        </p:nvSpPr>
        <p:spPr>
          <a:xfrm>
            <a:off x="277813" y="1268413"/>
            <a:ext cx="8686800" cy="5400675"/>
          </a:xfrm>
        </p:spPr>
        <p:txBody>
          <a:bodyPr vert="horz" wrap="square" lIns="91440" tIns="45720" rIns="91440" bIns="45720" numCol="1" anchor="t" anchorCtr="0" compatLnSpc="1">
            <a:normAutofit fontScale="850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需求：</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程序运行结果有时需要</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永久性</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地保存起来，以供其它程序或本程序下一次运行时使用。</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程序运行所需要的数据也常常要从其它程序或本程序上一次运行所保存的数据中获得。</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用于永久性保存数据的设备称为</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外部存储器</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（简称：外存），如：</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磁盘、磁带、光盘等。</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在外存中保存数据的方式通常有两种：</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文件</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数据库</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本课程只介绍以</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文件</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方式来永久性地保存数据。</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noChangeArrowheads="1"/>
          </p:cNvSpPr>
          <p:nvPr>
            <p:ph type="title"/>
          </p:nvPr>
        </p:nvSpPr>
        <p:spPr>
          <a:xfrm>
            <a:off x="457200" y="76200"/>
            <a:ext cx="8229600" cy="788988"/>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GB"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mj-cs"/>
              </a:rPr>
              <a:t>文件数据的存储方式</a:t>
            </a: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 </a:t>
            </a:r>
            <a:endPar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25603" name="Rectangle 3"/>
          <p:cNvSpPr>
            <a:spLocks noGrp="1" noChangeArrowheads="1"/>
          </p:cNvSpPr>
          <p:nvPr>
            <p:ph idx="1"/>
          </p:nvPr>
        </p:nvSpPr>
        <p:spPr>
          <a:xfrm>
            <a:off x="323850" y="1125538"/>
            <a:ext cx="8569325" cy="5562600"/>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Times New Roman" panose="02020603050405020304" pitchFamily="18" charset="0"/>
                <a:ea typeface="+mn-ea"/>
                <a:cs typeface="+mn-cs"/>
              </a:rPr>
              <a:t>文本方式</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text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只包含</a:t>
            </a:r>
            <a:r>
              <a:rPr kumimoji="0" lang="zh-CN" altLang="en-GB"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Times New Roman" panose="02020603050405020304" pitchFamily="18" charset="0"/>
                <a:ea typeface="+mn-ea"/>
              </a:rPr>
              <a:t>可显示</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的</a:t>
            </a:r>
            <a:r>
              <a:rPr kumimoji="0" lang="zh-CN" altLang="en-GB"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Times New Roman" panose="02020603050405020304" pitchFamily="18" charset="0"/>
                <a:ea typeface="+mn-ea"/>
              </a:rPr>
              <a:t>字符</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和有限的几个</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Times New Roman" panose="02020603050405020304" pitchFamily="18" charset="0"/>
                <a:ea typeface="+mn-ea"/>
              </a:rPr>
              <a:t>控制字符</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（如：</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'\r'</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\n'</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等）的</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Times New Roman" panose="02020603050405020304" pitchFamily="18" charset="0"/>
                <a:ea typeface="+mn-ea"/>
              </a:rPr>
              <a:t>编码</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一般用于存储具有“</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Times New Roman" panose="02020603050405020304" pitchFamily="18" charset="0"/>
                <a:ea typeface="+mn-ea"/>
              </a:rPr>
              <a:t>行</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”结构的</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Times New Roman" panose="02020603050405020304" pitchFamily="18" charset="0"/>
                <a:ea typeface="+mn-ea"/>
              </a:rPr>
              <a:t>文字</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数据，数据可用记事本等软件打开察看。</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Times New Roman" panose="02020603050405020304" pitchFamily="18" charset="0"/>
                <a:ea typeface="+mn-ea"/>
                <a:cs typeface="+mn-cs"/>
              </a:rPr>
              <a:t>二进制方式</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binary</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包含任意的</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Times New Roman" panose="02020603050405020304" pitchFamily="18" charset="0"/>
                <a:ea typeface="+mn-ea"/>
              </a:rPr>
              <a:t>没有显式含义</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的</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Times New Roman" panose="02020603050405020304" pitchFamily="18" charset="0"/>
                <a:ea typeface="+mn-ea"/>
              </a:rPr>
              <a:t>纯二进制字节</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一般用于存储</a:t>
            </a:r>
            <a:r>
              <a:rPr kumimoji="0"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Times New Roman" panose="02020603050405020304" pitchFamily="18" charset="0"/>
                <a:ea typeface="+mn-ea"/>
              </a:rPr>
              <a:t>任意结构</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的数据</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，数据由</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使用它的应用程序来</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解释。</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例如，对于一个整数</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1234567</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文本方式</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存储</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：按</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Times New Roman" panose="02020603050405020304" pitchFamily="18" charset="0"/>
                <a:ea typeface="+mn-ea"/>
              </a:rPr>
              <a:t>字符串</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依次</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把</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字符</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1</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2</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3</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4</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5</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6</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7</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的</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ASCII</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码写入</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文件</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（共</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7</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个字节）</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二进制方式存储：按整型数</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宋体" panose="02010600030101010101" pitchFamily="2" charset="-122"/>
                <a:ea typeface="+mn-ea"/>
              </a:rPr>
              <a:t>1234567</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宋体" panose="02010600030101010101" pitchFamily="2" charset="-122"/>
                <a:ea typeface="+mn-ea"/>
              </a:rPr>
              <a:t>的</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宋体" panose="02010600030101010101" pitchFamily="2" charset="-122"/>
                <a:ea typeface="+mn-ea"/>
              </a:rPr>
              <a:t>int</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宋体" panose="02010600030101010101" pitchFamily="2" charset="-122"/>
                <a:ea typeface="+mn-ea"/>
              </a:rPr>
              <a:t>型</a:t>
            </a:r>
            <a:r>
              <a:rPr kumimoji="0"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Times New Roman" panose="02020603050405020304" pitchFamily="18" charset="0"/>
                <a:ea typeface="+mn-ea"/>
              </a:rPr>
              <a:t>机内</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Times New Roman" panose="02020603050405020304" pitchFamily="18" charset="0"/>
                <a:ea typeface="+mn-ea"/>
              </a:rPr>
              <a:t>表示</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0x00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12 D6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87</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）把它逐个字节依次</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写入文件</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（共</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宋体" panose="02010600030101010101" pitchFamily="2" charset="-122"/>
                <a:ea typeface="+mn-ea"/>
              </a:rPr>
              <a:t>4</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个字节）</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noChangeArrowheads="1"/>
          </p:cNvSpPr>
          <p:nvPr>
            <p:ph type="title"/>
          </p:nvPr>
        </p:nvSpPr>
        <p:spPr>
          <a:xfrm>
            <a:off x="381000" y="152400"/>
            <a:ext cx="8229600" cy="8350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文件的读写过程</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9219" name="Rectangle 3"/>
          <p:cNvSpPr>
            <a:spLocks noGrp="1" noChangeArrowheads="1"/>
          </p:cNvSpPr>
          <p:nvPr>
            <p:ph idx="1"/>
          </p:nvPr>
        </p:nvSpPr>
        <p:spPr>
          <a:xfrm>
            <a:off x="381000" y="1570038"/>
            <a:ext cx="8229600" cy="4954588"/>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在外存（如磁盘）中，每个文件都有一个名字（文件名）（操作系统一般采用树型的目录结构来管理外存中的文件）。</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对</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文件数据进行读写的过程：</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Times New Roman" panose="02020603050405020304" pitchFamily="18" charset="0"/>
                <a:ea typeface="+mn-ea"/>
              </a:rPr>
              <a:t>打开文件</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：把程序</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内部的一个表示文件的变量</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对象与外部的一</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个实际文件关联起来，并创建内存缓冲区。</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Times New Roman" panose="02020603050405020304" pitchFamily="18" charset="0"/>
                <a:ea typeface="+mn-ea"/>
              </a:rPr>
              <a:t>文件读</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Times New Roman" panose="02020603050405020304" pitchFamily="18" charset="0"/>
                <a:ea typeface="+mn-ea"/>
              </a:rPr>
              <a:t>/</a:t>
            </a:r>
            <a:r>
              <a:rPr kumimoji="0"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Times New Roman" panose="02020603050405020304" pitchFamily="18" charset="0"/>
                <a:ea typeface="+mn-ea"/>
              </a:rPr>
              <a:t>写</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：存取文件中的内容。</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Times New Roman" panose="02020603050405020304" pitchFamily="18" charset="0"/>
                <a:ea typeface="+mn-ea"/>
              </a:rPr>
              <a:t>关闭文件</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：把暂存在内存缓冲区中的内容写入到文件中，并归还打开文件时申请的内存</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资源（包括</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内存缓冲区</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2"/>
          <p:cNvSpPr>
            <a:spLocks noGrp="1" noChangeArrowheads="1"/>
          </p:cNvSpPr>
          <p:nvPr>
            <p:ph type="title"/>
          </p:nvPr>
        </p:nvSpPr>
        <p:spPr>
          <a:xfrm>
            <a:off x="457200" y="115888"/>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文件的位置指针</a:t>
            </a:r>
            <a:endParaRPr kumimoji="0" lang="zh-CN"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93187" name="Rectangle 3"/>
          <p:cNvSpPr>
            <a:spLocks noGrp="1" noChangeArrowheads="1"/>
          </p:cNvSpPr>
          <p:nvPr>
            <p:ph idx="1"/>
          </p:nvPr>
        </p:nvSpPr>
        <p:spPr>
          <a:xfrm>
            <a:off x="457200" y="1412875"/>
            <a:ext cx="8229600" cy="3240088"/>
          </a:xfrm>
        </p:spPr>
        <p:txBody>
          <a:bodyPr vert="horz" wrap="square" lIns="91440" tIns="45720" rIns="91440" bIns="45720" numCol="1" anchor="t" anchorCtr="0" compatLnSpc="1">
            <a:normAutofit fontScale="850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在</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C++</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中，把文件看成是由一系列字节所构成的</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Times New Roman" panose="02020603050405020304" pitchFamily="18" charset="0"/>
                <a:ea typeface="+mn-ea"/>
                <a:cs typeface="+mn-cs"/>
              </a:rPr>
              <a:t>字节串</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，对文件中数据的操作（输入</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输出）通常是逐个字节</a:t>
            </a:r>
            <a:r>
              <a:rPr kumimoji="0" lang="zh-CN" altLang="en-US" sz="32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Times New Roman" panose="02020603050405020304" pitchFamily="18" charset="0"/>
                <a:ea typeface="+mn-ea"/>
                <a:cs typeface="+mn-cs"/>
              </a:rPr>
              <a:t>顺序</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进行，因此称为</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Times New Roman" panose="02020603050405020304" pitchFamily="18" charset="0"/>
                <a:ea typeface="+mn-ea"/>
                <a:cs typeface="+mn-cs"/>
              </a:rPr>
              <a:t>流式文件</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每个打开的文件都有一个内部（隐藏）的</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Times New Roman" panose="02020603050405020304" pitchFamily="18" charset="0"/>
                <a:ea typeface="+mn-ea"/>
                <a:cs typeface="+mn-cs"/>
              </a:rPr>
              <a:t>位置指针</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，它指出文件的当前读写位置。</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进行读</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写操作时，每读入</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写出一个字节，文件位置指针会</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自动</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往后移动一个字节的位置。 </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grpSp>
        <p:nvGrpSpPr>
          <p:cNvPr id="29700" name="Group 10"/>
          <p:cNvGrpSpPr/>
          <p:nvPr/>
        </p:nvGrpSpPr>
        <p:grpSpPr>
          <a:xfrm>
            <a:off x="1698625" y="4911725"/>
            <a:ext cx="4818063" cy="1109663"/>
            <a:chOff x="571" y="3942"/>
            <a:chExt cx="1368" cy="278"/>
          </a:xfrm>
        </p:grpSpPr>
        <p:sp>
          <p:nvSpPr>
            <p:cNvPr id="29702" name="Rectangle 4"/>
            <p:cNvSpPr/>
            <p:nvPr/>
          </p:nvSpPr>
          <p:spPr>
            <a:xfrm>
              <a:off x="571" y="3942"/>
              <a:ext cx="1368" cy="12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29703" name="Line 5"/>
            <p:cNvSpPr/>
            <p:nvPr/>
          </p:nvSpPr>
          <p:spPr>
            <a:xfrm>
              <a:off x="715" y="3942"/>
              <a:ext cx="0" cy="125"/>
            </a:xfrm>
            <a:prstGeom prst="line">
              <a:avLst/>
            </a:prstGeom>
            <a:ln w="9525" cap="flat" cmpd="sng">
              <a:solidFill>
                <a:schemeClr val="tx1"/>
              </a:solidFill>
              <a:prstDash val="solid"/>
              <a:headEnd type="none" w="med" len="med"/>
              <a:tailEnd type="none" w="med" len="med"/>
            </a:ln>
          </p:spPr>
        </p:sp>
        <p:sp>
          <p:nvSpPr>
            <p:cNvPr id="29704" name="Line 6"/>
            <p:cNvSpPr/>
            <p:nvPr/>
          </p:nvSpPr>
          <p:spPr>
            <a:xfrm>
              <a:off x="859" y="3942"/>
              <a:ext cx="0" cy="125"/>
            </a:xfrm>
            <a:prstGeom prst="line">
              <a:avLst/>
            </a:prstGeom>
            <a:ln w="9525" cap="flat" cmpd="sng">
              <a:solidFill>
                <a:schemeClr val="tx1"/>
              </a:solidFill>
              <a:prstDash val="solid"/>
              <a:headEnd type="none" w="med" len="med"/>
              <a:tailEnd type="none" w="med" len="med"/>
            </a:ln>
          </p:spPr>
        </p:sp>
        <p:sp>
          <p:nvSpPr>
            <p:cNvPr id="29705" name="Line 7"/>
            <p:cNvSpPr/>
            <p:nvPr/>
          </p:nvSpPr>
          <p:spPr>
            <a:xfrm>
              <a:off x="1003" y="3942"/>
              <a:ext cx="0" cy="125"/>
            </a:xfrm>
            <a:prstGeom prst="line">
              <a:avLst/>
            </a:prstGeom>
            <a:ln w="9525" cap="flat" cmpd="sng">
              <a:solidFill>
                <a:schemeClr val="tx1"/>
              </a:solidFill>
              <a:prstDash val="solid"/>
              <a:headEnd type="none" w="med" len="med"/>
              <a:tailEnd type="none" w="med" len="med"/>
            </a:ln>
          </p:spPr>
        </p:sp>
        <p:sp>
          <p:nvSpPr>
            <p:cNvPr id="29706" name="Line 8"/>
            <p:cNvSpPr/>
            <p:nvPr/>
          </p:nvSpPr>
          <p:spPr>
            <a:xfrm>
              <a:off x="1147" y="3942"/>
              <a:ext cx="0" cy="125"/>
            </a:xfrm>
            <a:prstGeom prst="line">
              <a:avLst/>
            </a:prstGeom>
            <a:ln w="9525" cap="flat" cmpd="sng">
              <a:solidFill>
                <a:schemeClr val="tx1"/>
              </a:solidFill>
              <a:prstDash val="solid"/>
              <a:headEnd type="none" w="med" len="med"/>
              <a:tailEnd type="none" w="med" len="med"/>
            </a:ln>
          </p:spPr>
        </p:sp>
        <p:sp>
          <p:nvSpPr>
            <p:cNvPr id="29707" name="Line 9"/>
            <p:cNvSpPr/>
            <p:nvPr/>
          </p:nvSpPr>
          <p:spPr>
            <a:xfrm flipV="1">
              <a:off x="1219" y="4096"/>
              <a:ext cx="0" cy="124"/>
            </a:xfrm>
            <a:prstGeom prst="line">
              <a:avLst/>
            </a:prstGeom>
            <a:ln w="9525" cap="flat" cmpd="sng">
              <a:solidFill>
                <a:schemeClr val="tx1"/>
              </a:solidFill>
              <a:prstDash val="solid"/>
              <a:headEnd type="none" w="med" len="med"/>
              <a:tailEnd type="triangle" w="med" len="med"/>
            </a:ln>
          </p:spPr>
        </p:sp>
      </p:grpSp>
      <p:sp>
        <p:nvSpPr>
          <p:cNvPr id="29701" name="Text Box 11"/>
          <p:cNvSpPr txBox="1"/>
          <p:nvPr/>
        </p:nvSpPr>
        <p:spPr>
          <a:xfrm>
            <a:off x="3400425" y="6086475"/>
            <a:ext cx="1179513"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r>
              <a:rPr lang="zh-CN" altLang="en-US" sz="1800" dirty="0"/>
              <a:t>位置指针 </a:t>
            </a:r>
            <a:endParaRPr lang="zh-CN" alt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noChangeArrowheads="1"/>
          </p:cNvSpPr>
          <p:nvPr>
            <p:ph type="title"/>
          </p:nvPr>
        </p:nvSpPr>
        <p:spPr>
          <a:xfrm>
            <a:off x="381000" y="201613"/>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Times New Roman" panose="02020603050405020304" pitchFamily="18" charset="0"/>
              </a:rPr>
              <a:t> </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Times New Roman" panose="02020603050405020304" pitchFamily="18" charset="0"/>
            </a:endParaRPr>
          </a:p>
        </p:txBody>
      </p:sp>
      <p:sp>
        <p:nvSpPr>
          <p:cNvPr id="16387" name="Rectangle 3"/>
          <p:cNvSpPr>
            <a:spLocks noGrp="1" noChangeArrowheads="1"/>
          </p:cNvSpPr>
          <p:nvPr>
            <p:ph idx="1"/>
          </p:nvPr>
        </p:nvSpPr>
        <p:spPr>
          <a:xfrm>
            <a:off x="250825" y="1484313"/>
            <a:ext cx="8497888" cy="4703763"/>
          </a:xfrm>
        </p:spPr>
        <p:txBody>
          <a:bodyPr vert="horz" wrap="square" lIns="91440" tIns="45720" rIns="91440" bIns="45720" numCol="1" anchor="t" anchorCtr="0" compatLnSpc="1">
            <a:normAutofit/>
          </a:bodyPr>
          <a:lstStyle/>
          <a:p>
            <a:pPr marL="446405" marR="0" lvl="0" indent="-446405" algn="just"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在利用</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I/O</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类库中的类进行文件的输入/输出时，</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程序中需要包含下面的头文件：</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76708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#include &lt;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iostream</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&gt;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76708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#include &lt;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fstream</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&gt;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noChangeArrowheads="1"/>
          </p:cNvSpPr>
          <p:nvPr>
            <p:ph type="title"/>
          </p:nvPr>
        </p:nvSpPr>
        <p:spPr>
          <a:xfrm>
            <a:off x="3810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mj-cs"/>
              </a:rPr>
              <a:t>文件的</a:t>
            </a:r>
            <a:r>
              <a:rPr kumimoji="0" lang="zh-CN" altLang="en-GB"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mj-cs"/>
              </a:rPr>
              <a:t>输出</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mj-cs"/>
              </a:rPr>
              <a:t>操作</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Times New Roman" panose="02020603050405020304" pitchFamily="18" charset="0"/>
              </a:rPr>
              <a:t> </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Times New Roman" panose="02020603050405020304" pitchFamily="18" charset="0"/>
            </a:endParaRPr>
          </a:p>
        </p:txBody>
      </p:sp>
      <p:sp>
        <p:nvSpPr>
          <p:cNvPr id="16387" name="Rectangle 3"/>
          <p:cNvSpPr>
            <a:spLocks noGrp="1" noChangeArrowheads="1"/>
          </p:cNvSpPr>
          <p:nvPr>
            <p:ph idx="1"/>
          </p:nvPr>
        </p:nvSpPr>
        <p:spPr>
          <a:xfrm>
            <a:off x="304800" y="1268413"/>
            <a:ext cx="8686800" cy="5184775"/>
          </a:xfrm>
        </p:spPr>
        <p:txBody>
          <a:bodyPr vert="horz" wrap="square" lIns="91440" tIns="45720" rIns="91440" bIns="45720" numCol="1" anchor="t" anchorCtr="0" compatLnSpc="1">
            <a:normAutofit/>
          </a:bodyPr>
          <a:lstStyle/>
          <a:p>
            <a:pPr marL="36703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打开文件</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创建一个</a:t>
            </a:r>
            <a:r>
              <a:rPr kumimoji="0" lang="en-GB" altLang="zh-CN" sz="32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Times New Roman" panose="02020603050405020304" pitchFamily="18" charset="0"/>
              </a:rPr>
              <a:t>ofstream</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类的对象</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，并建立</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与外部</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某个</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文件之间的联系</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6708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直接方式</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38530" marR="0" lvl="2"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defRPr/>
            </a:pPr>
            <a:r>
              <a:rPr kumimoji="0" lang="en-GB"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ofstream</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out_file</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Courier New" panose="02070309020205020404" pitchFamily="49" charset="0"/>
              </a:rPr>
              <a: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&lt;</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文件名</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&gt;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r>
              <a:rPr kumimoji="0" lang="zh-CN" altLang="en-GB"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Courier New" panose="02070309020205020404" pitchFamily="49" charset="0"/>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&lt;</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打开方式</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&gt;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r>
              <a:rPr kumimoji="0" lang="zh-CN" altLang="en-GB"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Courier New" panose="02070309020205020404" pitchFamily="49" charset="0"/>
              </a:rPr>
              <a:t>);</a:t>
            </a:r>
            <a:endPar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Courier New" panose="02070309020205020404" pitchFamily="49" charset="0"/>
            </a:endParaRPr>
          </a:p>
          <a:p>
            <a:pPr marL="809625" marR="0" lvl="2"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例如：</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938530" marR="0" lvl="2"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ofstream</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a:t>
            </a:r>
            <a:r>
              <a:rPr kumimoji="0" lang="en-GB"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out_file</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("d:\\myfile.txt",</a:t>
            </a:r>
            <a:r>
              <a:rPr kumimoji="0" lang="en-GB"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ios</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::out);</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6708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间接方式</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97255" marR="0" lvl="0" indent="14605"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ofstream</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out_file</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897255" marR="0" lvl="0" indent="14605"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	</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out_file.</a:t>
            </a:r>
            <a:r>
              <a:rPr kumimoji="0" lang="en-GB"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Times New Roman" panose="02020603050405020304" pitchFamily="18" charset="0"/>
              </a:rPr>
              <a:t>open</a:t>
            </a:r>
            <a:r>
              <a:rPr kumimoji="0" lang="en-GB"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Times New Roman" panose="02020603050405020304" pitchFamily="18" charset="0"/>
              </a:rPr>
              <a:t>(</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&lt;</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文件名</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&gt;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a:t>
            </a:r>
            <a:r>
              <a:rPr kumimoji="0" lang="zh-CN" altLang="en-GB"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Times New Roman" panose="02020603050405020304" pitchFamily="18" charset="0"/>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&lt;</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打开方式</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&gt;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a:t>
            </a:r>
            <a:r>
              <a:rPr kumimoji="0" lang="zh-CN" altLang="en-GB"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Times New Roman" panose="02020603050405020304" pitchFamily="18" charset="0"/>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endParaRPr>
          </a:p>
          <a:p>
            <a:pPr marL="809625" marR="0" lvl="0" indent="14605"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例如：</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endParaRPr>
          </a:p>
          <a:p>
            <a:pPr marL="938530" marR="0" lvl="2"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out_file.open</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("d:\\myfile.txt",</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ios</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::out);</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alpha val="43137"/>
                  </a:srgbClr>
                </a:outerShdw>
              </a:effectLst>
              <a:uLnTx/>
              <a:uFillTx/>
              <a:latin typeface="+mj-lt"/>
              <a:ea typeface="+mj-ea"/>
              <a:cs typeface="+mj-cs"/>
            </a:endParaRPr>
          </a:p>
        </p:txBody>
      </p:sp>
      <p:sp>
        <p:nvSpPr>
          <p:cNvPr id="38915" name="Rectangle 3"/>
          <p:cNvSpPr>
            <a:spLocks noGrp="1" noChangeArrowheads="1"/>
          </p:cNvSpPr>
          <p:nvPr>
            <p:ph idx="1"/>
          </p:nvPr>
        </p:nvSpPr>
        <p:spPr>
          <a:xfrm>
            <a:off x="250825" y="1268413"/>
            <a:ext cx="8497888" cy="5473700"/>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打开方式</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ios</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::out</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endParaRPr>
          </a:p>
          <a:p>
            <a:pPr marL="1143000" marR="0" lvl="2" indent="-228600" algn="l" defTabSz="914400" rtl="0" eaLnBrk="1" fontAlgn="base" latinLnBrk="0" hangingPunct="1">
              <a:lnSpc>
                <a:spcPct val="110000"/>
              </a:lnSpc>
              <a:spcBef>
                <a:spcPct val="20000"/>
              </a:spcBef>
              <a:spcAft>
                <a:spcPct val="0"/>
              </a:spcAft>
              <a:buClr>
                <a:schemeClr val="accent2"/>
              </a:buClr>
              <a:buSzPct val="60000"/>
              <a:buFont typeface="Wingdings" panose="05000000000000000000" pitchFamily="2" charset="2"/>
              <a:buChar char="n"/>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打开一个外部文件用于写操作</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文件</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位置</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指针处于文件的头</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10000"/>
              </a:lnSpc>
              <a:spcBef>
                <a:spcPct val="20000"/>
              </a:spcBef>
              <a:spcAft>
                <a:spcPct val="0"/>
              </a:spcAft>
              <a:buClr>
                <a:schemeClr val="accent2"/>
              </a:buClr>
              <a:buSzPct val="60000"/>
              <a:buFont typeface="Wingdings" panose="05000000000000000000" pitchFamily="2" charset="2"/>
              <a:buChar char="n"/>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如果外部文件已存在</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则首先把它的内容清除；否则，先创建该外部文件。</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10000"/>
              </a:lnSpc>
              <a:spcBef>
                <a:spcPct val="20000"/>
              </a:spcBef>
              <a:spcAft>
                <a:spcPct val="0"/>
              </a:spcAft>
              <a:buClr>
                <a:schemeClr val="accent2"/>
              </a:buClr>
              <a:buSzPct val="60000"/>
              <a:buFont typeface="Wingdings" panose="05000000000000000000" pitchFamily="2" charset="2"/>
              <a:buChar char="n"/>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ios</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out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是默认打开方式。</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ios</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::app</a:t>
            </a:r>
            <a:endPar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endParaRPr>
          </a:p>
          <a:p>
            <a:pPr marL="1143000" marR="0" lvl="2" indent="-228600" algn="l" defTabSz="914400" rtl="0" eaLnBrk="1" fontAlgn="base" latinLnBrk="0" hangingPunct="1">
              <a:lnSpc>
                <a:spcPct val="110000"/>
              </a:lnSpc>
              <a:spcBef>
                <a:spcPct val="20000"/>
              </a:spcBef>
              <a:spcAft>
                <a:spcPct val="0"/>
              </a:spcAft>
              <a:buClr>
                <a:schemeClr val="accent2"/>
              </a:buClr>
              <a:buSzPct val="60000"/>
              <a:buFont typeface="Wingdings" panose="05000000000000000000" pitchFamily="2" charset="2"/>
              <a:buChar char="n"/>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打开一个外部文件用于添加操作。（</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不清除文件内容，</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文件</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位置</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指针处于文件</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末尾</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10000"/>
              </a:lnSpc>
              <a:spcBef>
                <a:spcPct val="20000"/>
              </a:spcBef>
              <a:spcAft>
                <a:spcPct val="0"/>
              </a:spcAft>
              <a:buClr>
                <a:schemeClr val="accent2"/>
              </a:buClr>
              <a:buSzPct val="60000"/>
              <a:buFont typeface="Wingdings" panose="05000000000000000000" pitchFamily="2" charset="2"/>
              <a:buChar char="n"/>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如果外部文件不存在</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则先创建该外部文件。</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323850" y="1600200"/>
            <a:ext cx="8424863" cy="4530725"/>
          </a:xfrm>
        </p:spPr>
        <p:txBody>
          <a:bodyPr vert="horz" wrap="square" lIns="91440" tIns="45720" rIns="91440" bIns="45720" numCol="1" anchor="t" anchorCtr="0" compatLnSpc="1"/>
          <a:lstStyle/>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ios</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out |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ios</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binary </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或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ios</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::app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 </a:t>
            </a:r>
            <a:r>
              <a:rPr kumimoji="0" lang="en-US"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ios</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::binary</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endParaRPr>
          </a:p>
          <a:p>
            <a:pPr marL="1143000" marR="0" lvl="2" indent="-228600" algn="l" defTabSz="914400" rtl="0" eaLnBrk="1" fontAlgn="base" latinLnBrk="0" hangingPunct="1">
              <a:lnSpc>
                <a:spcPct val="110000"/>
              </a:lnSpc>
              <a:spcBef>
                <a:spcPct val="20000"/>
              </a:spcBef>
              <a:spcAft>
                <a:spcPct val="0"/>
              </a:spcAft>
              <a:buClr>
                <a:schemeClr val="accent2"/>
              </a:buClr>
              <a:buSzPct val="60000"/>
              <a:buFont typeface="Wingdings" panose="05000000000000000000" pitchFamily="2" charset="2"/>
              <a:buChar char="n"/>
              <a:defRPr/>
            </a:pP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按</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二进制方式打开文件</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默认的是文本方式</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endParaRPr>
          </a:p>
          <a:p>
            <a:pPr marL="1143000" marR="0" lvl="2" indent="-228600" algn="l" defTabSz="914400" rtl="0" eaLnBrk="1" fontAlgn="base" latinLnBrk="0" hangingPunct="1">
              <a:lnSpc>
                <a:spcPct val="11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用文本方式与二进制方式打开文件的区别：</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600200" marR="0" lvl="3" indent="-228600" algn="l" defTabSz="914400" rtl="0" eaLnBrk="1" fontAlgn="base" latinLnBrk="0" hangingPunct="1">
              <a:lnSpc>
                <a:spcPct val="110000"/>
              </a:lnSpc>
              <a:spcBef>
                <a:spcPct val="20000"/>
              </a:spcBef>
              <a:spcAft>
                <a:spcPct val="0"/>
              </a:spcAft>
              <a:buClr>
                <a:schemeClr val="tx2"/>
              </a:buClr>
              <a:buSzTx/>
              <a:buFontTx/>
              <a:buChar char="•"/>
              <a:defRPr/>
            </a:pP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对</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以文本方式打开的文件，当输出的字符为</a:t>
            </a:r>
            <a:r>
              <a:rPr kumimoji="0" lang="en-US" altLang="zh-CN" sz="20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'\n'</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时，在某些平台上（如：</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DOS</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和</a:t>
            </a:r>
            <a:r>
              <a:rPr kumimoji="0"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Windows</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平台）将</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自动把它转换成</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'\r'</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和</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a:t>
            </a:r>
            <a:r>
              <a:rPr kumimoji="0" lang="zh-CN" altLang="en-US"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两个</a:t>
            </a:r>
            <a:r>
              <a:rPr kumimoji="0" lang="zh-CN" altLang="en-US" sz="20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字符</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写入外部文件。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600200" marR="0" lvl="3" indent="-228600" algn="l" defTabSz="914400" rtl="0" eaLnBrk="1" fontAlgn="base" latinLnBrk="0" hangingPunct="1">
              <a:lnSpc>
                <a:spcPct val="110000"/>
              </a:lnSpc>
              <a:spcBef>
                <a:spcPct val="20000"/>
              </a:spcBef>
              <a:spcAft>
                <a:spcPct val="0"/>
              </a:spcAft>
              <a:buClr>
                <a:schemeClr val="tx2"/>
              </a:buClr>
              <a:buSzTx/>
              <a:buFontTx/>
              <a:buChar char="•"/>
              <a:defRPr/>
            </a:pP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对</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以二进制方式</a:t>
            </a:r>
            <a:r>
              <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打开的文件</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，对输出的字节不做任何转换，原样输出。</a:t>
            </a:r>
            <a:endParaRPr kumimoji="0" lang="zh-CN" altLang="en-US"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宋体" panose="02010600030101010101" pitchFamily="2" charset="-122"/>
              <a:ea typeface="+mn-ea"/>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判断打开操作是否成功</a:t>
            </a:r>
            <a:endParaRPr kumimoji="0" lang="zh-CN"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94211"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打开文件时，必须要对文件打开操作的成功与否进行判断。</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判断文件是否成功打开可以采用以下方式</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7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if (</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out_file.is_open</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或</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out_file.fail</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或：</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Courier New" panose="02070309020205020404" pitchFamily="49" charset="0"/>
              </a:rPr>
              <a:t>!</a:t>
            </a:r>
            <a:r>
              <a:rPr kumimoji="0" lang="en-US"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Courier New" panose="02070309020205020404" pitchFamily="49" charset="0"/>
              </a:rPr>
              <a:t>out_file</a:t>
            </a:r>
            <a:endPar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Courier New" panose="02070309020205020404" pitchFamily="49" charset="0"/>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失败处理</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5" name="Rectangle 3"/>
          <p:cNvSpPr>
            <a:spLocks noGrp="1" noChangeArrowheads="1"/>
          </p:cNvSpPr>
          <p:nvPr>
            <p:ph idx="1"/>
          </p:nvPr>
        </p:nvSpPr>
        <p:spPr>
          <a:xfrm>
            <a:off x="250825" y="1052513"/>
            <a:ext cx="8686800" cy="5616575"/>
          </a:xfrm>
        </p:spPr>
        <p:txBody>
          <a:bodyPr vert="horz" wrap="square" lIns="91440" tIns="45720" rIns="91440" bIns="45720" numCol="1" anchor="t" anchorCtr="0" compatLnSpc="1">
            <a:normAutofit fontScale="850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文件成功打开后</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可以使用插入操作符</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&lt;&lt;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或</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ofstream</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类的一些成员函数来进行文件</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数据的</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输出操作</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 </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x</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=12</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double y</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=12.3</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zh-CN" sz="26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以文本方式输出数据</a:t>
            </a:r>
            <a:endParaRPr kumimoji="0" lang="en-US" altLang="zh-CN" sz="26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ofstream</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out_file</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("d:\\myfile.txt",</a:t>
            </a:r>
            <a:r>
              <a:rPr kumimoji="0" lang="en-GB"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ios</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::out);</a:t>
            </a:r>
            <a:endParaRPr kumimoji="0" lang="zh-CN"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if (!</a:t>
            </a:r>
            <a:r>
              <a:rPr kumimoji="0" lang="en-US"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out_file</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exit(-1);</a:t>
            </a:r>
            <a:endParaRPr kumimoji="0" lang="zh-CN"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out_file</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x &lt;&lt; ' ' &lt;&lt; y &lt;&lt; </a:t>
            </a:r>
            <a:r>
              <a:rPr kumimoji="0" lang="en-GB"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endl</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12 12.3</a:t>
            </a:r>
            <a:endParaRPr kumimoji="0" lang="en-US" altLang="zh-CN" sz="2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2857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zh-CN"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或</a:t>
            </a:r>
            <a:endParaRPr kumimoji="0" lang="zh-CN"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zh-CN" sz="26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以二进制方式输出数据</a:t>
            </a:r>
            <a:endParaRPr kumimoji="0" lang="en-US" altLang="zh-CN" sz="26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ofstream</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out_file</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("d:\\myfile.</a:t>
            </a:r>
            <a:r>
              <a:rPr kumimoji="0" lang="en-GB"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dat</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GB"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ios</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GB"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out|</a:t>
            </a:r>
            <a:r>
              <a:rPr kumimoji="0" lang="en-GB" altLang="zh-CN" sz="26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ios</a:t>
            </a:r>
            <a:r>
              <a:rPr kumimoji="0" lang="en-GB" altLang="zh-CN" sz="26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::binary</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if (!</a:t>
            </a:r>
            <a:r>
              <a:rPr kumimoji="0" lang="en-US"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out_file</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exit(-1);</a:t>
            </a:r>
            <a:endParaRPr kumimoji="0" lang="zh-CN"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out_file.write</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((char *)&amp;</a:t>
            </a:r>
            <a:r>
              <a:rPr kumimoji="0" lang="en-GB"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x,sizeof</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 </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a:t>
            </a:r>
            <a:r>
              <a:rPr kumimoji="0" lang="en-US"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4</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个字节</a:t>
            </a:r>
            <a:endParaRPr kumimoji="0" lang="zh-CN"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out_file.write</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((char *)&amp;</a:t>
            </a:r>
            <a:r>
              <a:rPr kumimoji="0" lang="en-GB" altLang="zh-CN" sz="26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y,sizeof</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(y)); //</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a:t>
            </a:r>
            <a:r>
              <a:rPr kumimoji="0" lang="en-GB"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8</a:t>
            </a:r>
            <a:r>
              <a:rPr kumimoji="0" lang="zh-CN" altLang="en-US"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个字节</a:t>
            </a:r>
            <a:endParaRPr kumimoji="0" lang="zh-CN" altLang="zh-CN" sz="2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
        <p:nvSpPr>
          <p:cNvPr id="3" name="Rectangle 2"/>
          <p:cNvSpPr>
            <a:spLocks noGrp="1" noChangeArrowheads="1"/>
          </p:cNvSpPr>
          <p:nvPr>
            <p:ph type="title"/>
          </p:nvPr>
        </p:nvSpPr>
        <p:spPr>
          <a:xfrm>
            <a:off x="457200" y="571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输出</a:t>
            </a:r>
            <a:r>
              <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数据</a:t>
            </a:r>
            <a:endParaRPr kumimoji="0" lang="zh-CN"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23850" y="260350"/>
            <a:ext cx="8434388" cy="6553200"/>
          </a:xfrm>
        </p:spPr>
        <p:txBody>
          <a:bodyPr vert="horz" wrap="square" lIns="91440" tIns="45720" rIns="91440" bIns="45720" numCol="1" anchor="t" anchorCtr="0" compatLnSpc="1">
            <a:normAutofit fontScale="70000" lnSpcReduction="20000"/>
          </a:bodyPr>
          <a:lstStyle/>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struct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Student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no;</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char name[10];</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scores[5];</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s1={161220042,"</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张三</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",{90,95,85,75,95}};</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以文本方式输出数据</a:t>
            </a:r>
            <a:endPar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ofstream</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out_file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("d:\\students.txt",</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ios</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::out);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if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out_file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exit(-1);</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out_file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s1.no &lt;&lt; ' ' &lt;&lt; s1.name;</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for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=0;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&lt;5;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out_file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 '&lt;&lt; s1.scores[</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out_file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&lt;&lt;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endl</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以</a:t>
            </a:r>
            <a:r>
              <a:rPr kumimoji="0" lang="zh-CN" altLang="en-US"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二进制</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方式输出数据</a:t>
            </a:r>
            <a:endPar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ofstream</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1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out_file</a:t>
            </a:r>
            <a:r>
              <a:rPr kumimoji="0" lang="en-US" altLang="zh-CN" sz="31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("d:\\students.</a:t>
            </a:r>
            <a:r>
              <a:rPr kumimoji="0" lang="en-US" altLang="zh-CN" sz="31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dat</a:t>
            </a:r>
            <a:r>
              <a:rPr kumimoji="0" lang="en-US" altLang="zh-CN" sz="31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1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ios</a:t>
            </a:r>
            <a:r>
              <a:rPr kumimoji="0" lang="en-US" altLang="zh-CN" sz="31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1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out|</a:t>
            </a:r>
            <a:r>
              <a:rPr kumimoji="0" lang="en-US" altLang="zh-CN" sz="31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cs typeface="+mn-cs"/>
              </a:rPr>
              <a:t>ios</a:t>
            </a:r>
            <a:r>
              <a:rPr kumimoji="0" lang="en-US" altLang="zh-CN" sz="31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::binary</a:t>
            </a:r>
            <a:r>
              <a:rPr kumimoji="0" lang="en-US" altLang="zh-CN" sz="31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1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if (!</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out_file</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exit(-1);</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GB"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out_file.write</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((char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&amp;s1</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GB"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sizeof</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(s1));</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文件输出操作结束时，要使用</a:t>
            </a:r>
            <a:r>
              <a:rPr kumimoji="0" lang="en-GB"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ofstream</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的成员函数</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close</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关闭文件：</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out_file.close</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关闭文件的</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目的：</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把</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文件内存缓冲区的内容写</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到磁盘文件</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中！</a:t>
            </a:r>
            <a:endPar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程序正常结束时，系统也会自动关闭打开的文件。</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程序中为什么要显式关闭文件？</a:t>
            </a:r>
            <a:endPar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noChangeArrowheads="1"/>
          </p:cNvSpPr>
          <p:nvPr>
            <p:ph type="title"/>
          </p:nvPr>
        </p:nvSpPr>
        <p:spPr>
          <a:xfrm>
            <a:off x="381000" y="152400"/>
            <a:ext cx="8229600" cy="685800"/>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mj-cs"/>
              </a:rPr>
              <a:t>文件的</a:t>
            </a:r>
            <a:r>
              <a:rPr kumimoji="0" lang="zh-CN" altLang="en-GB"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mj-cs"/>
              </a:rPr>
              <a:t>输入</a:t>
            </a:r>
            <a:r>
              <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mj-cs"/>
              </a:rPr>
              <a:t>操作</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4035" name="Rectangle 3"/>
          <p:cNvSpPr>
            <a:spLocks noGrp="1" noChangeArrowheads="1"/>
          </p:cNvSpPr>
          <p:nvPr>
            <p:ph idx="1"/>
          </p:nvPr>
        </p:nvSpPr>
        <p:spPr>
          <a:xfrm>
            <a:off x="228600" y="1341438"/>
            <a:ext cx="8763000" cy="5156200"/>
          </a:xfrm>
        </p:spPr>
        <p:txBody>
          <a:bodyPr vert="horz" wrap="square" lIns="91440" tIns="45720" rIns="91440" bIns="45720" numCol="1" anchor="t" anchorCtr="0" compatLnSpc="1"/>
          <a:lstStyle/>
          <a:p>
            <a:pPr marL="441325" marR="0" lvl="0" indent="-441325"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打开文件</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创建一个</a:t>
            </a:r>
            <a:r>
              <a:rPr kumimoji="0" lang="en-GB" altLang="zh-CN" sz="32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Times New Roman" panose="02020603050405020304" pitchFamily="18" charset="0"/>
              </a:rPr>
              <a:t>ifstream</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类的对象</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并与外部文件建立联系。</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841375" marR="0" lvl="1" indent="-441325"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直接方式</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627380" marR="0" lvl="1" indent="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 </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ifstream</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 </a:t>
            </a:r>
            <a:r>
              <a:rPr kumimoji="0" lang="en-GB" altLang="zh-CN" sz="28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in_file</a:t>
            </a:r>
            <a:r>
              <a:rPr kumimoji="0" lang="en-GB" altLang="zh-CN"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Times New Roman" panose="02020603050405020304" pitchFamily="18" charset="0"/>
              </a:rPr>
              <a:t>(</a:t>
            </a:r>
            <a:r>
              <a:rPr kumimoji="0" lang="en-GB"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&lt;</a:t>
            </a:r>
            <a:r>
              <a:rPr kumimoji="0" lang="zh-CN" altLang="en-GB"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文件名</a:t>
            </a:r>
            <a:r>
              <a:rPr kumimoji="0" lang="zh-CN" altLang="en-GB"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&gt; </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a:t>
            </a:r>
            <a:r>
              <a:rPr kumimoji="0" lang="zh-CN" altLang="en-GB"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Times New Roman" panose="02020603050405020304" pitchFamily="18" charset="0"/>
              </a:rPr>
              <a:t>,</a:t>
            </a:r>
            <a:r>
              <a:rPr kumimoji="0" lang="zh-CN" altLang="en-GB"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&lt;</a:t>
            </a:r>
            <a:r>
              <a:rPr kumimoji="0" lang="zh-CN" altLang="en-GB"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打开方式</a:t>
            </a:r>
            <a:r>
              <a:rPr kumimoji="0" lang="zh-CN" altLang="en-GB"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&gt;</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Times New Roman" panose="02020603050405020304" pitchFamily="18" charset="0"/>
              </a:rPr>
              <a:t>]</a:t>
            </a:r>
            <a:r>
              <a:rPr kumimoji="0" lang="zh-CN" altLang="en-GB"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Times New Roman" panose="02020603050405020304" pitchFamily="18" charset="0"/>
              </a:rPr>
              <a:t>)</a:t>
            </a:r>
            <a:r>
              <a:rPr kumimoji="0" lang="zh-CN" altLang="en-GB"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Times New Roman" panose="02020603050405020304" pitchFamily="18" charset="0"/>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841375" marR="0" lvl="1" indent="-441325"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间接</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方式</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071880" marR="0" lvl="1" indent="-35560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ifstream</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 </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in_file</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rPr>
              <a:t>;</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Courier New" panose="02070309020205020404" pitchFamily="49" charset="0"/>
            </a:endParaRPr>
          </a:p>
          <a:p>
            <a:pPr marL="1071880" marR="0" lvl="1" indent="-35560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in_file.</a:t>
            </a:r>
            <a:r>
              <a:rPr kumimoji="0" lang="en-GB" altLang="zh-CN" sz="28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open</a:t>
            </a:r>
            <a:r>
              <a:rPr kumimoji="0" lang="en-GB"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文件名&gt; </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&lt;打开方式&gt;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GB"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836613"/>
            <a:ext cx="8229600" cy="5545138"/>
          </a:xfrm>
        </p:spPr>
        <p:txBody>
          <a:bodyPr vert="horz" wrap="square" lIns="91440" tIns="45720" rIns="91440" bIns="45720" numCol="1" anchor="t" anchorCtr="0" compatLnSpc="1">
            <a:normAutofit lnSpcReduction="10000"/>
          </a:bodyPr>
          <a:lstStyle/>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打开方式</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ios</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::in</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打开一个外部文件用于读操作。（默认）</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ios</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in |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ios</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::binary</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1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按</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二进制</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方式</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打开文件。（默认为文本方式）</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1" fontAlgn="base" latinLnBrk="0" hangingPunct="1">
              <a:lnSpc>
                <a:spcPct val="11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对以文本方式打开的文件，当读入的字符为</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连续的</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'\r'</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和</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两个字符</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时，在某些平台上（如：</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DOS</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和</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Windows</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平台）将自动转换成</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一个字符</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'\n'</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1143000" marR="0" lvl="2" indent="-228600" algn="l" defTabSz="914400" rtl="0" eaLnBrk="0" fontAlgn="base" latinLnBrk="0" hangingPunct="0">
              <a:lnSpc>
                <a:spcPct val="110000"/>
              </a:lnSpc>
              <a:spcBef>
                <a:spcPct val="20000"/>
              </a:spcBef>
              <a:spcAft>
                <a:spcPct val="0"/>
              </a:spcAft>
              <a:buClr>
                <a:schemeClr val="accent2"/>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以</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二进制方式打开的文件，对</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输入的</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字节不做任何转换，原样</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输入。</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rPr>
              <a:t>打开文件时要判断打开是否成功。</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rPr>
              <a:t>判断方式与文件输出打开操作的判断一样。</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7" name="Rectangle 3"/>
          <p:cNvSpPr>
            <a:spLocks noGrp="1" noChangeArrowheads="1"/>
          </p:cNvSpPr>
          <p:nvPr>
            <p:ph idx="1"/>
          </p:nvPr>
        </p:nvSpPr>
        <p:spPr>
          <a:xfrm>
            <a:off x="457200" y="260350"/>
            <a:ext cx="8229600" cy="6337300"/>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文件成功打开后</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可以使用抽取操作符</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&gt;&gt;</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或</a:t>
            </a: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ifstream</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类的一些成员函数来进行文件</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输</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入</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操作</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r>
              <a:rPr kumimoji="0" lang="zh-CN" altLang="en-GB"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Arial" panose="020B0604020202020204"/>
                <a:ea typeface="+mn-ea"/>
                <a:cs typeface="+mn-cs"/>
              </a:rPr>
              <a:t> </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fr-FR"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int x;</a:t>
            </a:r>
            <a:endParaRPr kumimoji="0" lang="zh-CN"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fr-FR"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double y;</a:t>
            </a:r>
            <a:endParaRPr kumimoji="0" lang="zh-CN"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以文本方式输入数据</a:t>
            </a:r>
            <a:endParaRPr kumimoji="0" lang="zh-CN"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ifstream</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in_file</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("D:\\myfile.txt",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ios</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::in);</a:t>
            </a:r>
            <a:endParaRPr kumimoji="0" lang="zh-CN"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if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in_file</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exit(-1);</a:t>
            </a:r>
            <a:endParaRPr kumimoji="0" lang="zh-CN"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in_file</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&gt;&gt; x &gt;&gt; y;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以二进制方式输入数据</a:t>
            </a:r>
            <a:endPar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ifstream</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in_file</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("D:\\myfile.</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dat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ios</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a:t>
            </a:r>
            <a:r>
              <a:rPr kumimoji="0" lang="en-US"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ios</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::binary</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if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in_file</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exit(-1);</a:t>
            </a:r>
            <a:endParaRPr kumimoji="0" lang="zh-CN"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in_file.read</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((char *)&amp;</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x,sizeof</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 </a:t>
            </a:r>
            <a:endParaRPr kumimoji="0" lang="zh-CN"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in_file.read</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((char *)&amp;</a:t>
            </a:r>
            <a:r>
              <a:rPr kumimoji="0" lang="en-GB"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y,sizeof</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(y)); </a:t>
            </a:r>
            <a:endParaRPr kumimoji="0" lang="zh-CN"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
        <p:nvSpPr>
          <p:cNvPr id="2" name="TextBox 1"/>
          <p:cNvSpPr txBox="1"/>
          <p:nvPr/>
        </p:nvSpPr>
        <p:spPr>
          <a:xfrm>
            <a:off x="5795963" y="1557338"/>
            <a:ext cx="3097213" cy="1476375"/>
          </a:xfrm>
          <a:prstGeom prst="rect">
            <a:avLst/>
          </a:prstGeom>
          <a:solidFill>
            <a:schemeClr val="bg1">
              <a:lumMod val="50000"/>
            </a:schemeClr>
          </a:solidFill>
        </p:spPr>
        <p:txBody>
          <a:bodyPr>
            <a:spAutoFit/>
          </a:bodyPr>
          <a:lstStyle/>
          <a:p>
            <a:pPr marR="0" defTabSz="914400" eaLnBrk="1" hangingPunct="1">
              <a:buClrTx/>
              <a:buSzTx/>
              <a:buFontTx/>
              <a:buNone/>
              <a:defRPr/>
            </a:pPr>
            <a:r>
              <a:rPr kumimoji="0" lang="zh-CN" altLang="en-US" sz="2400" kern="1200" cap="none" spc="0" normalizeH="0" baseline="0" noProof="0" dirty="0">
                <a:solidFill>
                  <a:srgbClr val="FFC000"/>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注意</a:t>
            </a:r>
            <a:r>
              <a:rPr kumimoji="0" lang="zh-CN" altLang="en-US" sz="24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rPr>
              <a:t>：从文件输入必须要知道文件中数据的存储方式和格式！</a:t>
            </a:r>
            <a:endParaRPr kumimoji="0" lang="zh-CN" altLang="en-US" sz="2400" kern="1200" cap="none" spc="0" normalizeH="0" baseline="0" noProof="0" dirty="0">
              <a:effectLst>
                <a:outerShdw blurRad="38100" dist="38100" dir="2700000" algn="tl">
                  <a:srgbClr val="000000">
                    <a:alpha val="43137"/>
                  </a:srgbClr>
                </a:outerShdw>
              </a:effectLst>
              <a:latin typeface="Verdana" panose="020B0604030504040204" pitchFamily="34" charset="0"/>
              <a:ea typeface="宋体" panose="02010600030101010101" pitchFamily="2" charset="-122"/>
              <a:cs typeface="+mn-cs"/>
            </a:endParaRPr>
          </a:p>
          <a:p>
            <a:pPr marR="0" defTabSz="914400" eaLnBrk="1" hangingPunct="1">
              <a:buClrTx/>
              <a:buSzTx/>
              <a:buFontTx/>
              <a:buNone/>
              <a:defRPr/>
            </a:pPr>
            <a:endParaRPr kumimoji="0" lang="zh-CN" altLang="en-US" kern="1200" cap="none" spc="0" normalizeH="0" baseline="0" noProof="0" dirty="0">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260350"/>
            <a:ext cx="8229600" cy="6481763"/>
          </a:xfrm>
        </p:spPr>
        <p:txBody>
          <a:bodyPr vert="horz" wrap="square" lIns="91440" tIns="45720" rIns="91440" bIns="45720" numCol="1" anchor="t" anchorCtr="0" compatLnSpc="1">
            <a:normAutofit fontScale="70000" lnSpcReduction="20000"/>
          </a:bodyPr>
          <a:lstStyle/>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struct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Student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no;</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char name[10];</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scores[5];</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s1;</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以文本方式输入数据</a:t>
            </a:r>
            <a:endPar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ifstream</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("d:\\students.txt",</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ios</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::in);</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if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exit(-1);</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&gt;&gt; s1.no &gt;&gt; s1.name;</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for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=0;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&lt;5;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&gt;&gt; s1.scores[</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以二进制方式输入数据</a:t>
            </a:r>
            <a:endPar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ifstream</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("d:\\students.</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dat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ios</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a:t>
            </a:r>
            <a:r>
              <a:rPr kumimoji="0" lang="en-US" altLang="zh-CN" sz="32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cs typeface="+mn-cs"/>
              </a:rPr>
              <a:t>ios</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::binary</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if (!</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in_file</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exit(-1</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GB"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in_file.read</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((char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&amp;s1</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GB"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sizeof</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(s1));</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9" name="Rectangle 3"/>
          <p:cNvSpPr>
            <a:spLocks noGrp="1" noChangeArrowheads="1"/>
          </p:cNvSpPr>
          <p:nvPr>
            <p:ph idx="1"/>
          </p:nvPr>
        </p:nvSpPr>
        <p:spPr>
          <a:xfrm>
            <a:off x="457200" y="1412875"/>
            <a:ext cx="8229600" cy="5111750"/>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读取数据过程中有时需要判断是否正确读入了数据（尤其是在文件末尾处）。</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判断</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是否正确读入了数据，</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可以调用</a:t>
            </a:r>
            <a:r>
              <a:rPr kumimoji="0" lang="en-GB"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ios</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类的成员函数</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fail</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来实现：</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bool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ios</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::fail()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const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该函数返回</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true</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表示文件操作失败；返回</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false</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表示操作成功。 </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115888"/>
            <a:ext cx="8229600" cy="1139825"/>
          </a:xfrm>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例：从文件读入一系列整型数</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 name="内容占位符 5"/>
          <p:cNvSpPr>
            <a:spLocks noGrp="1"/>
          </p:cNvSpPr>
          <p:nvPr>
            <p:ph idx="1"/>
          </p:nvPr>
        </p:nvSpPr>
        <p:spPr>
          <a:xfrm>
            <a:off x="468313" y="1412875"/>
            <a:ext cx="8229600" cy="4968875"/>
          </a:xfrm>
        </p:spPr>
        <p:txBody>
          <a:bodyPr vert="horz" wrap="square" lIns="91440" tIns="45720" rIns="91440" bIns="45720" numCol="1" anchor="t" anchorCtr="0" compatLnSpc="1">
            <a:normAutofit fontScale="85000" lnSpcReduction="20000"/>
          </a:bodyPr>
          <a:lstStyle/>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ifstream</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in_file</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("d:\\myfile.txt",</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ios</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::in);</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if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exit(-1);</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x; </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&gt;&gt; x;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读入第一个整型数</a:t>
            </a:r>
            <a:b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b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while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in_file.fail</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b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b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使用</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x</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的值</a:t>
            </a:r>
            <a:b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b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&gt;&gt; x; </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读入下一</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个整型数</a:t>
            </a:r>
            <a:b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b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in_file.close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4" name="内容占位符 2"/>
          <p:cNvSpPr txBox="1"/>
          <p:nvPr/>
        </p:nvSpPr>
        <p:spPr bwMode="auto">
          <a:xfrm>
            <a:off x="6588125" y="2924175"/>
            <a:ext cx="2520950" cy="3744913"/>
          </a:xfrm>
          <a:prstGeom prst="rect">
            <a:avLst/>
          </a:prstGeom>
          <a:solidFill>
            <a:schemeClr val="bg1"/>
          </a:solidFill>
          <a:ln w="9525">
            <a:noFill/>
            <a:miter lim="800000"/>
          </a:ln>
          <a:effectLst/>
        </p:spPr>
        <p:txBody>
          <a:bodyPr>
            <a:normAutofit fontScale="55000" lnSpcReduction="20000"/>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180975" marR="0" lvl="0" indent="-180975"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文件中的数据形式</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endPar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 2 3 4\n</a:t>
            </a:r>
            <a:b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b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1\n</a:t>
            </a:r>
            <a:b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b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2\n</a:t>
            </a:r>
            <a:b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b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3\n</a:t>
            </a:r>
            <a:b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b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4\n</a:t>
            </a:r>
            <a:b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b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b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b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1 2 3 4</a:t>
            </a:r>
            <a:b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b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1\n</a:t>
            </a:r>
            <a:b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b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2\n</a:t>
            </a:r>
            <a:b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b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3\n</a:t>
            </a:r>
            <a:b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b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4</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471613"/>
            <a:ext cx="8229600" cy="5197475"/>
          </a:xfrm>
        </p:spPr>
        <p:txBody>
          <a:bodyPr vert="horz" wrap="square" lIns="91440" tIns="45720" rIns="91440" bIns="45720" numCol="1" anchor="t" anchorCtr="0" compatLnSpc="1">
            <a:normAutofit fontScale="62500" lnSpcReduction="20000"/>
          </a:bodyPr>
          <a:lstStyle/>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struct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Student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no;</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char name[10];</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scores[5];</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s1;</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ifstream</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("d:\\students.txt",</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ios</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::in);</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if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exit(-1);</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&gt;&gt; s1.no;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读入第一个学号</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while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in_file.fail</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&gt;&gt; s1.name;</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for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=0;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&lt;5;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&gt;&gt; s1.scores[</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使用</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s1</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中读入的</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当前</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学生数据</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in_file</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&gt;&gt; s1.no</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读入下一个学号</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in_file.close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4" name="标题 1"/>
          <p:cNvSpPr>
            <a:spLocks noGrp="1"/>
          </p:cNvSpPr>
          <p:nvPr>
            <p:ph type="title"/>
          </p:nvPr>
        </p:nvSpPr>
        <p:spPr>
          <a:xfrm>
            <a:off x="457200" y="115888"/>
            <a:ext cx="8229600" cy="1139825"/>
          </a:xfrm>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例：从文件读入一系列学生数据</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5" name="内容占位符 2"/>
          <p:cNvSpPr txBox="1"/>
          <p:nvPr/>
        </p:nvSpPr>
        <p:spPr bwMode="auto">
          <a:xfrm>
            <a:off x="5651500" y="3500438"/>
            <a:ext cx="3457575" cy="2016125"/>
          </a:xfrm>
          <a:prstGeom prst="rect">
            <a:avLst/>
          </a:prstGeom>
          <a:solidFill>
            <a:schemeClr val="bg1"/>
          </a:solidFill>
          <a:ln w="9525">
            <a:noFill/>
            <a:miter lim="800000"/>
          </a:ln>
          <a:effectLst/>
        </p:spPr>
        <p:txBody>
          <a:bodyPr>
            <a:normAutofit fontScale="55000" lnSpcReduction="20000"/>
          </a:bodyPr>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a:lstStyle>
          <a:p>
            <a:pPr marL="180975" marR="0" lvl="0" indent="-180975"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文件中的数据形式</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endPar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1001 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张三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92 88 70 90 85</a:t>
            </a: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a:t>
            </a:r>
            <a:b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b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1002</a:t>
            </a:r>
            <a:r>
              <a:rPr kumimoji="0" lang="pt-BR"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李四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90 80 90 95 88</a:t>
            </a: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a:t>
            </a:r>
            <a:endPar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1003</a:t>
            </a:r>
            <a:r>
              <a:rPr kumimoji="0" lang="pt-BR"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王五</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95 85 80 92 80</a:t>
            </a: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a:t>
            </a:r>
            <a:endPar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pt-BR"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9" name="Rectangle 3"/>
          <p:cNvSpPr>
            <a:spLocks noGrp="1" noChangeArrowheads="1"/>
          </p:cNvSpPr>
          <p:nvPr>
            <p:ph idx="1"/>
          </p:nvPr>
        </p:nvSpPr>
        <p:spPr>
          <a:xfrm>
            <a:off x="457200" y="765175"/>
            <a:ext cx="8229600" cy="5759450"/>
          </a:xfrm>
        </p:spPr>
        <p:txBody>
          <a:bodyPr vert="horz" wrap="square" lIns="91440" tIns="45720" rIns="91440" bIns="45720" numCol="1" anchor="t" anchorCtr="0" compatLnSpc="1">
            <a:normAutofit/>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文件输</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入</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操作结束</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后</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，要使用</a:t>
            </a:r>
            <a:r>
              <a:rPr kumimoji="0" lang="en-GB"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ifstream</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的一个成员函数</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close</a:t>
            </a:r>
            <a:r>
              <a:rPr kumimoji="0" lang="zh-CN" altLang="en-GB"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关闭文件：</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in_file.close</a:t>
            </a:r>
            <a:r>
              <a:rPr kumimoji="0" lang="en-GB"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115888"/>
            <a:ext cx="8229600" cy="1139825"/>
          </a:xfrm>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有关文件读写的几点注意</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57200" y="1412875"/>
            <a:ext cx="8229600" cy="3960813"/>
          </a:xfrm>
        </p:spPr>
        <p:txBody>
          <a:bodyPr vert="horz" wrap="square" lIns="91440" tIns="45720" rIns="91440" bIns="45720" numCol="1" anchor="t" anchorCtr="0" compatLnSpc="1">
            <a:normAutofit fontScale="92500" lnSpcReduction="10000"/>
          </a:bodyPr>
          <a:lstStyle/>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4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以文本方式输出的文件要以文本方式输入；以二进制方式输出的文件要以二进制方式输入！</a:t>
            </a:r>
            <a:endParaRPr kumimoji="0" lang="en-US" altLang="zh-CN" sz="4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4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以文本方式读写的文件要以文本方式打开；以二进制方式</a:t>
            </a:r>
            <a:r>
              <a:rPr kumimoji="0" lang="zh-CN" altLang="en-US" sz="4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读写的文件要</a:t>
            </a:r>
            <a:r>
              <a:rPr kumimoji="0" lang="zh-CN" altLang="en-US" sz="4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以二进制方式打开！</a:t>
            </a:r>
            <a:endParaRPr kumimoji="0" lang="en-US" altLang="zh-CN" sz="4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412875"/>
            <a:ext cx="8229600" cy="5111750"/>
          </a:xfrm>
        </p:spPr>
        <p:txBody>
          <a:bodyPr vert="horz" wrap="square" lIns="91440" tIns="45720" rIns="91440" bIns="45720" numCol="1" anchor="t" anchorCtr="0" compatLnSpc="1">
            <a:normAutofit fontScale="70000" lnSpcReduction="20000"/>
          </a:bodyPr>
          <a:lstStyle/>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x=658763,y;</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ofstream</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out_file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("d:\\myfile.</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dat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ios</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out|ios</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::binary);</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out_file.write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((char *)&amp;</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x,sizeof</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(x));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out_file.close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20000"/>
              </a:lnSpc>
              <a:spcBef>
                <a:spcPct val="20000"/>
              </a:spcBef>
              <a:spcAft>
                <a:spcPct val="0"/>
              </a:spcAft>
              <a:buClr>
                <a:schemeClr val="hlink"/>
              </a:buClr>
              <a:buSzPct val="60000"/>
              <a:buFont typeface="Wingdings" panose="05000000000000000000" pitchFamily="2" charset="2"/>
              <a:buNone/>
              <a:defRPr/>
            </a:pP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ifstream</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in_file</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("d:\\</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myfile.</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dat</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cs typeface="+mn-cs"/>
              </a:rPr>
              <a:t>ios</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in|ios</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::binary</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GB"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in_file.read</a:t>
            </a:r>
            <a:r>
              <a:rPr kumimoji="0" lang="en-GB"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((char </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*)&amp;</a:t>
            </a:r>
            <a:r>
              <a:rPr kumimoji="0" lang="en-GB"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y,sizeof</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(y)); //y=658763</a:t>
            </a:r>
            <a:endPar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r>
              <a:rPr kumimoji="0" lang="en-GB"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in_file.close</a:t>
            </a:r>
            <a:r>
              <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None/>
              <a:defRPr/>
            </a:pPr>
            <a:endParaRPr kumimoji="0" lang="zh-CN"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(658763)</a:t>
            </a:r>
            <a:r>
              <a:rPr kumimoji="0" lang="en-US" altLang="zh-CN" sz="3200" b="0" i="0" u="none" strike="noStrike" kern="0" cap="none" spc="0" normalizeH="0" baseline="-25000" noProof="0" dirty="0" smtClean="0">
                <a:ln>
                  <a:noFill/>
                </a:ln>
                <a:solidFill>
                  <a:schemeClr val="tx1"/>
                </a:solidFill>
                <a:effectLst>
                  <a:outerShdw blurRad="38100" dist="38100" dir="2700000" algn="tl">
                    <a:srgbClr val="000000"/>
                  </a:outerShdw>
                </a:effectLst>
                <a:uLnTx/>
                <a:uFillTx/>
                <a:latin typeface="+mn-lt"/>
                <a:ea typeface="+mn-ea"/>
                <a:cs typeface="+mn-cs"/>
              </a:rPr>
              <a:t>10</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 (0x000a0d4b)</a:t>
            </a:r>
            <a:r>
              <a:rPr kumimoji="0" lang="en-US" altLang="zh-CN" sz="3200" b="0" i="0" u="none" strike="noStrike" kern="0" cap="none" spc="0" normalizeH="0" baseline="-25000" noProof="0" dirty="0" smtClean="0">
                <a:ln>
                  <a:noFill/>
                </a:ln>
                <a:solidFill>
                  <a:schemeClr val="tx1"/>
                </a:solidFill>
                <a:effectLst>
                  <a:outerShdw blurRad="38100" dist="38100" dir="2700000" algn="tl">
                    <a:srgbClr val="000000"/>
                  </a:outerShdw>
                </a:effectLst>
                <a:uLnTx/>
                <a:uFillTx/>
                <a:latin typeface="+mn-lt"/>
                <a:ea typeface="+mn-ea"/>
                <a:cs typeface="+mn-cs"/>
              </a:rPr>
              <a:t> 16</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0a = '\n'  0d = '\r'</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0d</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0a</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被合并成一个字节，因此只读入了三个字节！</a:t>
            </a:r>
            <a:endPar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r>
              <a:rPr kumimoji="0" lang="en-US" altLang="zh-CN"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y</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没有得到正确的值</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4" name="TextBox 3"/>
          <p:cNvSpPr txBox="1"/>
          <p:nvPr/>
        </p:nvSpPr>
        <p:spPr>
          <a:xfrm>
            <a:off x="6026150" y="3419475"/>
            <a:ext cx="2722563" cy="431800"/>
          </a:xfrm>
          <a:prstGeom prst="rect">
            <a:avLst/>
          </a:prstGeom>
          <a:solidFill>
            <a:schemeClr val="bg2">
              <a:lumMod val="75000"/>
            </a:schemeClr>
          </a:solidFill>
        </p:spPr>
        <p:txBody>
          <a:bodyPr wrap="none">
            <a:spAutoFit/>
          </a:bodyPr>
          <a:lstStyle/>
          <a:p>
            <a:pPr marR="0" defTabSz="914400" eaLnBrk="1" hangingPunct="1">
              <a:buClrTx/>
              <a:buSzTx/>
              <a:buFontTx/>
              <a:buNone/>
              <a:defRPr/>
            </a:pPr>
            <a:r>
              <a:rPr kumimoji="0" lang="en-US" altLang="zh-CN" sz="2200" kern="1200" cap="none" spc="0" normalizeH="0" baseline="0" noProof="0" dirty="0">
                <a:latin typeface="Verdana" panose="020B0604030504040204" pitchFamily="34" charset="0"/>
                <a:ea typeface="宋体" panose="02010600030101010101" pitchFamily="2" charset="-122"/>
                <a:cs typeface="+mn-cs"/>
              </a:rPr>
              <a:t>); //</a:t>
            </a:r>
            <a:r>
              <a:rPr kumimoji="0" lang="en-US" altLang="zh-CN" sz="2200" kern="1200" cap="none" spc="0" normalizeH="0" baseline="0" noProof="0" dirty="0">
                <a:solidFill>
                  <a:srgbClr val="FFC000"/>
                </a:solidFill>
                <a:latin typeface="Verdana" panose="020B0604030504040204" pitchFamily="34" charset="0"/>
                <a:ea typeface="宋体" panose="02010600030101010101" pitchFamily="2" charset="-122"/>
                <a:cs typeface="+mn-cs"/>
              </a:rPr>
              <a:t>|</a:t>
            </a:r>
            <a:r>
              <a:rPr kumimoji="0" lang="en-US" altLang="zh-CN" sz="2200" kern="1200" cap="none" spc="0" normalizeH="0" baseline="0" noProof="0" dirty="0" err="1">
                <a:solidFill>
                  <a:srgbClr val="FFC000"/>
                </a:solidFill>
                <a:latin typeface="Verdana" panose="020B0604030504040204" pitchFamily="34" charset="0"/>
                <a:ea typeface="宋体" panose="02010600030101010101" pitchFamily="2" charset="-122"/>
                <a:cs typeface="+mn-cs"/>
              </a:rPr>
              <a:t>ios</a:t>
            </a:r>
            <a:r>
              <a:rPr kumimoji="0" lang="en-US" altLang="zh-CN" sz="2200" kern="1200" cap="none" spc="0" normalizeH="0" baseline="0" noProof="0" dirty="0">
                <a:solidFill>
                  <a:srgbClr val="FFC000"/>
                </a:solidFill>
                <a:latin typeface="Verdana" panose="020B0604030504040204" pitchFamily="34" charset="0"/>
                <a:ea typeface="宋体" panose="02010600030101010101" pitchFamily="2" charset="-122"/>
                <a:cs typeface="+mn-cs"/>
              </a:rPr>
              <a:t>::binary);</a:t>
            </a:r>
            <a:endParaRPr kumimoji="0" lang="zh-CN" altLang="en-US" sz="2200" kern="1200" cap="none" spc="0" normalizeH="0" baseline="0" noProof="0" dirty="0">
              <a:latin typeface="Verdana" panose="020B0604030504040204" pitchFamily="34" charset="0"/>
              <a:ea typeface="宋体" panose="02010600030101010101" pitchFamily="2" charset="-122"/>
              <a:cs typeface="+mn-cs"/>
            </a:endParaRPr>
          </a:p>
        </p:txBody>
      </p:sp>
      <p:sp>
        <p:nvSpPr>
          <p:cNvPr id="5" name="TextBox 4"/>
          <p:cNvSpPr txBox="1"/>
          <p:nvPr/>
        </p:nvSpPr>
        <p:spPr>
          <a:xfrm>
            <a:off x="5338763" y="3852863"/>
            <a:ext cx="2025650" cy="430213"/>
          </a:xfrm>
          <a:prstGeom prst="rect">
            <a:avLst/>
          </a:prstGeom>
          <a:solidFill>
            <a:schemeClr val="bg2">
              <a:lumMod val="75000"/>
            </a:schemeClr>
          </a:solidFill>
        </p:spPr>
        <p:txBody>
          <a:bodyPr wrap="none">
            <a:spAutoFit/>
          </a:bodyPr>
          <a:lstStyle/>
          <a:p>
            <a:pPr marR="0" defTabSz="914400" eaLnBrk="1" hangingPunct="1">
              <a:buClrTx/>
              <a:buSzTx/>
              <a:buFontTx/>
              <a:buNone/>
              <a:defRPr/>
            </a:pPr>
            <a:r>
              <a:rPr kumimoji="0" lang="en-GB" altLang="zh-CN" sz="2200" kern="1200" cap="none" spc="0" normalizeH="0" baseline="0" noProof="0" dirty="0">
                <a:latin typeface="Verdana" panose="020B0604030504040204" pitchFamily="34" charset="0"/>
                <a:ea typeface="宋体" panose="02010600030101010101" pitchFamily="2" charset="-122"/>
                <a:cs typeface="+mn-cs"/>
              </a:rPr>
              <a:t>//</a:t>
            </a:r>
            <a:r>
              <a:rPr kumimoji="0" lang="en-GB" altLang="zh-CN" sz="2200" kern="1200" cap="none" spc="0" normalizeH="0" baseline="0" noProof="0" dirty="0">
                <a:solidFill>
                  <a:srgbClr val="FFC000"/>
                </a:solidFill>
                <a:latin typeface="Verdana" panose="020B0604030504040204" pitchFamily="34" charset="0"/>
                <a:ea typeface="宋体" panose="02010600030101010101" pitchFamily="2" charset="-122"/>
                <a:cs typeface="+mn-cs"/>
              </a:rPr>
              <a:t>y=?   </a:t>
            </a:r>
            <a:r>
              <a:rPr kumimoji="0" lang="en-GB" altLang="zh-CN" kern="1200" cap="none" spc="0" normalizeH="0" baseline="0" noProof="0" dirty="0">
                <a:solidFill>
                  <a:srgbClr val="FFC000"/>
                </a:solidFill>
                <a:latin typeface="Verdana" panose="020B0604030504040204" pitchFamily="34" charset="0"/>
                <a:ea typeface="宋体" panose="02010600030101010101" pitchFamily="2" charset="-122"/>
                <a:cs typeface="+mn-cs"/>
              </a:rPr>
              <a:t>         </a:t>
            </a:r>
            <a:endParaRPr kumimoji="0" lang="zh-CN" altLang="en-US" kern="1200" cap="none" spc="0" normalizeH="0" baseline="0" noProof="0" dirty="0">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charRg st="253" end="306"/>
                                            </p:txEl>
                                          </p:spTgt>
                                        </p:tgtEl>
                                        <p:attrNameLst>
                                          <p:attrName>style.visibility</p:attrName>
                                        </p:attrNameLst>
                                      </p:cBhvr>
                                      <p:to>
                                        <p:strVal val="visible"/>
                                      </p:to>
                                    </p:set>
                                    <p:anim calcmode="lin" valueType="num">
                                      <p:cBhvr additive="base">
                                        <p:cTn id="17" dur="500" fill="hold"/>
                                        <p:tgtEl>
                                          <p:spTgt spid="3">
                                            <p:txEl>
                                              <p:charRg st="253" end="30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charRg st="253" end="306"/>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charRg st="307" end="333"/>
                                            </p:txEl>
                                          </p:spTgt>
                                        </p:tgtEl>
                                        <p:attrNameLst>
                                          <p:attrName>style.visibility</p:attrName>
                                        </p:attrNameLst>
                                      </p:cBhvr>
                                      <p:to>
                                        <p:strVal val="visible"/>
                                      </p:to>
                                    </p:set>
                                    <p:anim calcmode="lin" valueType="num">
                                      <p:cBhvr additive="base">
                                        <p:cTn id="23" dur="500" fill="hold"/>
                                        <p:tgtEl>
                                          <p:spTgt spid="3">
                                            <p:txEl>
                                              <p:charRg st="307" end="33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charRg st="307" end="33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charRg st="333" end="344"/>
                                            </p:txEl>
                                          </p:spTgt>
                                        </p:tgtEl>
                                        <p:attrNameLst>
                                          <p:attrName>style.visibility</p:attrName>
                                        </p:attrNameLst>
                                      </p:cBhvr>
                                      <p:to>
                                        <p:strVal val="visible"/>
                                      </p:to>
                                    </p:set>
                                    <p:anim calcmode="lin" valueType="num">
                                      <p:cBhvr additive="base">
                                        <p:cTn id="29" dur="500" fill="hold"/>
                                        <p:tgtEl>
                                          <p:spTgt spid="3">
                                            <p:txEl>
                                              <p:charRg st="333" end="34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charRg st="333" end="34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981075"/>
            <a:ext cx="8229600" cy="4968875"/>
          </a:xfrm>
        </p:spPr>
        <p:txBody>
          <a:bodyPr vert="horz" wrap="square" lIns="91440" tIns="45720" rIns="91440" bIns="45720" numCol="1" anchor="t" anchorCtr="0" compatLnSpc="1">
            <a:normAutofit fontScale="775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4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以二进制方式存取文件不利于程序的兼容性和可移植性。例如，</a:t>
            </a:r>
            <a:endParaRPr kumimoji="0" lang="en-US" altLang="zh-CN" sz="4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在不同计算机</a:t>
            </a:r>
            <a:r>
              <a:rPr kumimoji="0" lang="zh-CN" altLang="en-US"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平台</a:t>
            </a:r>
            <a:r>
              <a:rPr kumimoji="0" lang="zh-CN" altLang="en-US"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上</a:t>
            </a:r>
            <a:r>
              <a:rPr kumimoji="0" lang="zh-CN" altLang="en-US"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，整型数的各</a:t>
            </a:r>
            <a:r>
              <a:rPr kumimoji="0" lang="zh-CN" altLang="en-US"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字节在内存中的存储次序可能不一样（先存高位字节或低位字节），因此，写到文件中的次序也不一样。</a:t>
            </a:r>
            <a:endPar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在不同</a:t>
            </a:r>
            <a:r>
              <a:rPr kumimoji="0" lang="zh-CN" altLang="en-US"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的编译环境下</a:t>
            </a:r>
            <a:r>
              <a:rPr kumimoji="0" lang="zh-CN" altLang="en-US"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同样的结构类型</a:t>
            </a:r>
            <a:r>
              <a:rPr kumimoji="0" lang="zh-CN" altLang="en-US"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数据的尺寸</a:t>
            </a:r>
            <a:r>
              <a:rPr kumimoji="0" lang="zh-CN" altLang="en-US"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（字节数</a:t>
            </a:r>
            <a:r>
              <a:rPr kumimoji="0" lang="zh-CN" altLang="en-US"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）可能不一样（根据对成员地址对齐的不同要求），因此，</a:t>
            </a:r>
            <a:r>
              <a:rPr kumimoji="0" lang="zh-CN" altLang="en-US"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写到文件中</a:t>
            </a:r>
            <a:r>
              <a:rPr kumimoji="0" lang="zh-CN" altLang="en-US"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的字节数也</a:t>
            </a:r>
            <a:r>
              <a:rPr kumimoji="0" lang="zh-CN" altLang="en-US"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不一样。 </a:t>
            </a:r>
            <a:r>
              <a:rPr kumimoji="0" lang="zh-CN" altLang="en-US" sz="36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20000"/>
              </a:lnSpc>
              <a:spcBef>
                <a:spcPct val="20000"/>
              </a:spcBef>
              <a:spcAft>
                <a:spcPct val="0"/>
              </a:spcAft>
              <a:buClr>
                <a:schemeClr val="tx1"/>
              </a:buClr>
              <a:buSzTx/>
              <a:buFontTx/>
              <a:buChar char="•"/>
              <a:defRPr/>
            </a:pPr>
            <a:r>
              <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36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noChangeArrowheads="1"/>
          </p:cNvSpPr>
          <p:nvPr>
            <p:ph type="title"/>
          </p:nvPr>
        </p:nvSpPr>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mj-cs"/>
              </a:rPr>
              <a:t>既能输入、又能输出的文件</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 </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7107" name="Rectangle 3"/>
          <p:cNvSpPr>
            <a:spLocks noGrp="1" noChangeArrowheads="1"/>
          </p:cNvSpPr>
          <p:nvPr>
            <p:ph idx="1"/>
          </p:nvPr>
        </p:nvSpPr>
        <p:spPr>
          <a:xfrm>
            <a:off x="457200" y="1600200"/>
            <a:ext cx="8229600" cy="4852988"/>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宋体" panose="02010600030101010101" pitchFamily="2" charset="-122"/>
                <a:ea typeface="+mn-ea"/>
                <a:cs typeface="+mn-cs"/>
              </a:rPr>
              <a:t>如果需要打开一个既能读入数据、也能输出数据的文件，则需要创建一个</a:t>
            </a:r>
            <a:r>
              <a:rPr kumimoji="0" lang="en-US" altLang="zh-CN" sz="32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fstream</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宋体" panose="02010600030101010101" pitchFamily="2" charset="-122"/>
                <a:ea typeface="+mn-ea"/>
                <a:cs typeface="+mn-cs"/>
              </a:rPr>
              <a:t>类的对象。</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 </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文件内部有两个位置指针，一个用于读，另一个用于写。</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宋体" panose="02010600030101010101" pitchFamily="2" charset="-122"/>
                <a:ea typeface="+mn-ea"/>
                <a:cs typeface="+mn-cs"/>
              </a:rPr>
              <a:t>在创建</a:t>
            </a:r>
            <a:r>
              <a:rPr kumimoji="0" lang="en-US" altLang="zh-CN" sz="3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fstream</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宋体" panose="02010600030101010101" pitchFamily="2" charset="-122"/>
                <a:ea typeface="+mn-ea"/>
                <a:cs typeface="+mn-cs"/>
              </a:rPr>
              <a:t>类的对象并建立与外部文件的联系时，文件打开方式应为下面之一：</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宋体" panose="02010600030101010101" pitchFamily="2" charset="-122"/>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ios</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in|ios</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::out</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宋体" panose="02010600030101010101" pitchFamily="2" charset="-122"/>
                <a:ea typeface="+mn-ea"/>
              </a:rPr>
              <a:t>（可在文件任意位置写）</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宋体" panose="02010600030101010101" pitchFamily="2" charset="-122"/>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ios</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in|ios</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Times New Roman" panose="02020603050405020304" pitchFamily="18" charset="0"/>
                <a:ea typeface="+mn-ea"/>
                <a:cs typeface="Times New Roman" panose="02020603050405020304" pitchFamily="18" charset="0"/>
              </a:rPr>
              <a:t>::app</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宋体" panose="02010600030101010101" pitchFamily="2" charset="-122"/>
                <a:ea typeface="+mn-ea"/>
              </a:rPr>
              <a:t>（只能在文件末尾写）</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GB"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mj-cs"/>
              </a:rPr>
              <a:t>文件</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mj-cs"/>
              </a:rPr>
              <a:t>的</a:t>
            </a:r>
            <a:r>
              <a:rPr kumimoji="0" lang="zh-CN" altLang="en-GB"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mj-cs"/>
              </a:rPr>
              <a:t>随机存取</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Times New Roman" panose="02020603050405020304" pitchFamily="18" charset="0"/>
              <a:ea typeface="+mj-ea"/>
              <a:cs typeface="+mj-cs"/>
            </a:endParaRPr>
          </a:p>
        </p:txBody>
      </p:sp>
      <p:sp>
        <p:nvSpPr>
          <p:cNvPr id="101379" name="Rectangle 3"/>
          <p:cNvSpPr>
            <a:spLocks noGrp="1" noChangeArrowheads="1"/>
          </p:cNvSpPr>
          <p:nvPr>
            <p:ph idx="1"/>
          </p:nvPr>
        </p:nvSpPr>
        <p:spPr>
          <a:xfrm>
            <a:off x="142875" y="1184275"/>
            <a:ext cx="8893175" cy="562927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对于流式文件，要读入</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写出第</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个字节，一般需要先</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读入</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写出前</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n-1</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个字节。</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为了能够随机读写文件中的数据，可以显示地指出读写的位置。</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下面的操作用来指定文件内部</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读指针</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的位置： </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istream</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&amp;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istream</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seekg</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位置</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指定绝对位置</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istream</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&amp;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istream</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seekg</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偏移量</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&gt;,&lt;</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参照位置</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指定相对位置</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streampos</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istream</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tellg</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获得读操作的指针位置</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下面的操作来指定文件内部</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写指针</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的位置： </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ostream</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&amp;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ostream</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seekp</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位置</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指定绝对位置</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ostream</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&amp;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ostream</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seekp</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(&lt;</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偏移量</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&gt;,&lt;</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参照位置</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&gt;); //</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指定相对位置</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streampos</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ostream</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tellp</a:t>
            </a:r>
            <a:r>
              <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0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rPr>
              <a:t>获得写操作的指针</a:t>
            </a:r>
            <a:r>
              <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位置 </a:t>
            </a:r>
            <a:endParaRPr kumimoji="0"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&lt;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参照位置</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&gt;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可以是：</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ios</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::beg</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（文件头），</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ios</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::cur</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（当前位置）和</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cs typeface="+mn-cs"/>
              </a:rPr>
              <a:t>ios</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::end</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（文件尾）。</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文件的随机存取一般用于以二进制方式存贮的文件。</a:t>
            </a:r>
            <a:endPar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tags/tag1.xml><?xml version="1.0" encoding="utf-8"?>
<p:tagLst xmlns:p="http://schemas.openxmlformats.org/presentationml/2006/main">
  <p:tag name="commondata" val="eyJoZGlkIjoiMGMwOGI0MDFlOGUxOGFhOGQ1Y2FmODNlN2E0MWRhYjIifQ=="/>
</p:tagLst>
</file>

<file path=ppt/theme/theme1.xml><?xml version="1.0" encoding="utf-8"?>
<a:theme xmlns:a="http://schemas.openxmlformats.org/drawingml/2006/main" name="Globe">
  <a:themeElements>
    <a:clrScheme name="Globe 11">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CC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10">
        <a:dk1>
          <a:srgbClr val="003B76"/>
        </a:dk1>
        <a:lt1>
          <a:srgbClr val="FFFFFF"/>
        </a:lt1>
        <a:dk2>
          <a:srgbClr val="0066CC"/>
        </a:dk2>
        <a:lt2>
          <a:srgbClr val="FFD72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11">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Globe</Template>
  <TotalTime>0</TotalTime>
  <Words>10630</Words>
  <Application>WPS 演示</Application>
  <PresentationFormat>全屏显示(4:3)</PresentationFormat>
  <Paragraphs>592</Paragraphs>
  <Slides>48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48</vt:i4>
      </vt:variant>
    </vt:vector>
  </HeadingPairs>
  <TitlesOfParts>
    <vt:vector size="60" baseType="lpstr">
      <vt:lpstr>Arial</vt:lpstr>
      <vt:lpstr>宋体</vt:lpstr>
      <vt:lpstr>Wingdings</vt:lpstr>
      <vt:lpstr>Verdana</vt:lpstr>
      <vt:lpstr>Times New Roman</vt:lpstr>
      <vt:lpstr>微软雅黑</vt:lpstr>
      <vt:lpstr>Arial Unicode MS</vt:lpstr>
      <vt:lpstr>Calibri</vt:lpstr>
      <vt:lpstr>Arial</vt:lpstr>
      <vt:lpstr>Courier New</vt:lpstr>
      <vt:lpstr>黑体</vt:lpstr>
      <vt:lpstr>Globe</vt:lpstr>
      <vt:lpstr>输入/输出</vt:lpstr>
      <vt:lpstr>主要内容</vt:lpstr>
      <vt:lpstr>输入/输出（I/O）概述</vt:lpstr>
      <vt:lpstr>PowerPoint 演示文稿</vt:lpstr>
      <vt:lpstr>C++输入输出的实现途径</vt:lpstr>
      <vt:lpstr>printf、scanf的缺陷</vt:lpstr>
      <vt:lpstr>cout、cin的优势</vt:lpstr>
      <vt:lpstr>I/O的分类</vt:lpstr>
      <vt:lpstr>C++的I/O类库中基本的类</vt:lpstr>
      <vt:lpstr>PowerPoint 演示文稿</vt:lpstr>
      <vt:lpstr>PowerPoint 演示文稿</vt:lpstr>
      <vt:lpstr>面向控制台的I/O </vt:lpstr>
      <vt:lpstr>控制台输出操作</vt:lpstr>
      <vt:lpstr>PowerPoint 演示文稿</vt:lpstr>
      <vt:lpstr>输出格式控制</vt:lpstr>
      <vt:lpstr>PowerPoint 演示文稿</vt:lpstr>
      <vt:lpstr>PowerPoint 演示文稿</vt:lpstr>
      <vt:lpstr>PowerPoint 演示文稿</vt:lpstr>
      <vt:lpstr>控制台输入操作</vt:lpstr>
      <vt:lpstr>PowerPoint 演示文稿</vt:lpstr>
      <vt:lpstr>PowerPoint 演示文稿</vt:lpstr>
      <vt:lpstr>操作符“&gt;&gt;”和“&lt;&lt;”的重载 </vt:lpstr>
      <vt:lpstr>例：插入操作符“&lt;&lt;”的重载 </vt:lpstr>
      <vt:lpstr>面向文件的I/O</vt:lpstr>
      <vt:lpstr>文件数据的存储方式 </vt:lpstr>
      <vt:lpstr>文件的读写过程</vt:lpstr>
      <vt:lpstr>文件的位置指针</vt:lpstr>
      <vt:lpstr> </vt:lpstr>
      <vt:lpstr>文件的输出操作 </vt:lpstr>
      <vt:lpstr>PowerPoint 演示文稿</vt:lpstr>
      <vt:lpstr>PowerPoint 演示文稿</vt:lpstr>
      <vt:lpstr>判断打开操作是否成功</vt:lpstr>
      <vt:lpstr>输出数据</vt:lpstr>
      <vt:lpstr>PowerPoint 演示文稿</vt:lpstr>
      <vt:lpstr>PowerPoint 演示文稿</vt:lpstr>
      <vt:lpstr>文件的输入操作</vt:lpstr>
      <vt:lpstr>PowerPoint 演示文稿</vt:lpstr>
      <vt:lpstr>PowerPoint 演示文稿</vt:lpstr>
      <vt:lpstr>PowerPoint 演示文稿</vt:lpstr>
      <vt:lpstr>PowerPoint 演示文稿</vt:lpstr>
      <vt:lpstr>例：从文件读入一系列整型数</vt:lpstr>
      <vt:lpstr>例：从文件读入一系列学生数据</vt:lpstr>
      <vt:lpstr>PowerPoint 演示文稿</vt:lpstr>
      <vt:lpstr>有关文件读写的几点注意</vt:lpstr>
      <vt:lpstr>PowerPoint 演示文稿</vt:lpstr>
      <vt:lpstr>PowerPoint 演示文稿</vt:lpstr>
      <vt:lpstr>既能输入、又能输出的文件 </vt:lpstr>
      <vt:lpstr>文件的随机存取</vt:lpstr>
    </vt:vector>
  </TitlesOfParts>
  <Company>Nanjing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第十章 输入/输出</dc:title>
  <dc:creator>chenjiajun</dc:creator>
  <cp:lastModifiedBy>Ethereal_YC</cp:lastModifiedBy>
  <cp:revision>423</cp:revision>
  <dcterms:created xsi:type="dcterms:W3CDTF">2005-01-07T00:34:00Z</dcterms:created>
  <dcterms:modified xsi:type="dcterms:W3CDTF">2023-11-23T15:45:31Z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B6C958F7B6594416A0A1A2B6D08C9477_13</vt:lpwstr>
  </property>
  <property fmtid="{D5CDD505-2E9C-101B-9397-08002B2CF9AE}" pid="3" name="KSOProductBuildVer">
    <vt:lpwstr>2052-12.1.0.15990</vt:lpwstr>
  </property>
</Properties>
</file>
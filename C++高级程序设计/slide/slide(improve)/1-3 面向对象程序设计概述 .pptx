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4"/>
  </p:handoutMasterIdLst>
  <p:sldIdLst>
    <p:sldId id="931" r:id="rId3"/>
    <p:sldId id="994" r:id="rId4"/>
    <p:sldId id="1018" r:id="rId6"/>
    <p:sldId id="1017" r:id="rId7"/>
    <p:sldId id="1019" r:id="rId8"/>
    <p:sldId id="1020" r:id="rId9"/>
    <p:sldId id="1021" r:id="rId10"/>
    <p:sldId id="932" r:id="rId11"/>
    <p:sldId id="992" r:id="rId12"/>
    <p:sldId id="927" r:id="rId13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00"/>
    <a:srgbClr val="00FFFF"/>
    <a:srgbClr val="85EDA0"/>
    <a:srgbClr val="00CCFF"/>
    <a:srgbClr val="FFFF99"/>
    <a:srgbClr val="FDAFB5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2273"/>
    <p:restoredTop sz="88873"/>
  </p:normalViewPr>
  <p:slideViewPr>
    <p:cSldViewPr showGuides="1">
      <p:cViewPr varScale="1">
        <p:scale>
          <a:sx n="90" d="100"/>
          <a:sy n="90" d="100"/>
        </p:scale>
        <p:origin x="883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75" d="100"/>
        <a:sy n="75" d="100"/>
      </p:scale>
      <p:origin x="0" y="213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8A9B96-6B45-4BD4-9626-984850E00441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BDAC8A-F749-43DB-89F7-5897E54AA5E3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17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buChar char="•"/>
            </a:pPr>
            <a:r>
              <a:rPr lang="zh-CN" altLang="en-US" sz="2000" dirty="0"/>
              <a:t>面向对象的观点：认为自然界是由一组彼此相关并能相互通信的实体（对象）所组成。</a:t>
            </a:r>
            <a:endParaRPr lang="zh-CN" altLang="en-US" sz="2000" dirty="0"/>
          </a:p>
          <a:p>
            <a:pPr lvl="0" eaLnBrk="1" hangingPunct="1">
              <a:buChar char="•"/>
            </a:pPr>
            <a:r>
              <a:rPr lang="zh-CN" altLang="en-US" sz="2000" dirty="0"/>
              <a:t>面向对象的程序设计方法：使用面向对象的观点来描述现实问题，然后用计算机语言来模仿并处理该问题。</a:t>
            </a:r>
            <a:endParaRPr lang="zh-CN" altLang="en-US" sz="2000" dirty="0"/>
          </a:p>
          <a:p>
            <a:pPr lvl="0" eaLnBrk="1" hangingPunct="1">
              <a:buChar char="•"/>
            </a:pPr>
            <a:r>
              <a:rPr lang="zh-CN" altLang="en-US" sz="2000" dirty="0"/>
              <a:t>要求：描述或处理问题时应高度概括、分类、和抽象。</a:t>
            </a:r>
            <a:endParaRPr lang="zh-CN" altLang="en-US" sz="2000" dirty="0"/>
          </a:p>
          <a:p>
            <a:pPr lvl="0" eaLnBrk="1" hangingPunct="1">
              <a:buChar char="•"/>
            </a:pPr>
            <a:r>
              <a:rPr lang="zh-CN" altLang="en-US" sz="2000" dirty="0"/>
              <a:t>目的：实现软件设计的产业化。</a:t>
            </a:r>
            <a:endParaRPr lang="zh-CN" altLang="en-US" sz="2000" dirty="0"/>
          </a:p>
          <a:p>
            <a:pPr lvl="0" eaLnBrk="1" hangingPunct="1">
              <a:buChar char="•"/>
            </a:pPr>
            <a:endParaRPr lang="en-US" altLang="zh-CN" sz="20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1" name="Group 2"/>
          <p:cNvGrpSpPr/>
          <p:nvPr/>
        </p:nvGrpSpPr>
        <p:grpSpPr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45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60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68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6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7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8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0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9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4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1020" y="845"/>
                </a:cxn>
                <a:cxn ang="0">
                  <a:pos x="1020" y="821"/>
                </a:cxn>
                <a:cxn ang="0">
                  <a:pos x="836" y="605"/>
                </a:cxn>
                <a:cxn ang="0">
                  <a:pos x="537" y="396"/>
                </a:cxn>
                <a:cxn ang="0">
                  <a:pos x="352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40" y="198"/>
                </a:cxn>
                <a:cxn ang="0">
                  <a:pos x="531" y="408"/>
                </a:cxn>
                <a:cxn ang="0">
                  <a:pos x="830" y="623"/>
                </a:cxn>
                <a:cxn ang="0">
                  <a:pos x="1020" y="845"/>
                </a:cxn>
                <a:cxn ang="0">
                  <a:pos x="1020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38" y="414"/>
                </a:cxn>
                <a:cxn ang="0">
                  <a:pos x="538" y="396"/>
                </a:cxn>
                <a:cxn ang="0">
                  <a:pos x="353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47" y="204"/>
                </a:cxn>
                <a:cxn ang="0">
                  <a:pos x="538" y="414"/>
                </a:cxn>
                <a:cxn ang="0">
                  <a:pos x="538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7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905" y="0"/>
                </a:cxn>
                <a:cxn ang="0">
                  <a:pos x="878" y="0"/>
                </a:cxn>
                <a:cxn ang="0">
                  <a:pos x="636" y="132"/>
                </a:cxn>
                <a:cxn ang="0">
                  <a:pos x="388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88" y="282"/>
                </a:cxn>
                <a:cxn ang="0">
                  <a:pos x="648" y="138"/>
                </a:cxn>
                <a:cxn ang="0">
                  <a:pos x="905" y="0"/>
                </a:cxn>
                <a:cxn ang="0">
                  <a:pos x="905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400" y="0"/>
                </a:cxn>
                <a:cxn ang="0">
                  <a:pos x="382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400" y="0"/>
                </a:cxn>
                <a:cxn ang="0">
                  <a:pos x="400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0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1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72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075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6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7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8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9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73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4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6570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26570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1" name="Rectangle 41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" name="Rectangle 4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" name="Rectangle 4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29B5FFB-6F84-4FAD-AB9D-D3D964A5C4BE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1F29C9-173E-41E4-9B8D-774EDF4611DB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1F29C9-173E-41E4-9B8D-774EDF4611DB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1F29C9-173E-41E4-9B8D-774EDF4611DB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1F29C9-173E-41E4-9B8D-774EDF4611DB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1F29C9-173E-41E4-9B8D-774EDF4611DB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1F29C9-173E-41E4-9B8D-774EDF4611DB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1F29C9-173E-41E4-9B8D-774EDF4611DB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1F29C9-173E-41E4-9B8D-774EDF4611DB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1F29C9-173E-41E4-9B8D-774EDF4611DB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1F29C9-173E-41E4-9B8D-774EDF4611DB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1">
                <a:lumMod val="5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1264643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44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45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5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264647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48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49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0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1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2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3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4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5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6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7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8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9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264660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61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62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1020" y="845"/>
                </a:cxn>
                <a:cxn ang="0">
                  <a:pos x="1020" y="821"/>
                </a:cxn>
                <a:cxn ang="0">
                  <a:pos x="836" y="605"/>
                </a:cxn>
                <a:cxn ang="0">
                  <a:pos x="537" y="396"/>
                </a:cxn>
                <a:cxn ang="0">
                  <a:pos x="352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40" y="198"/>
                </a:cxn>
                <a:cxn ang="0">
                  <a:pos x="531" y="408"/>
                </a:cxn>
                <a:cxn ang="0">
                  <a:pos x="830" y="623"/>
                </a:cxn>
                <a:cxn ang="0">
                  <a:pos x="1020" y="845"/>
                </a:cxn>
                <a:cxn ang="0">
                  <a:pos x="1020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38" y="414"/>
                </a:cxn>
                <a:cxn ang="0">
                  <a:pos x="538" y="396"/>
                </a:cxn>
                <a:cxn ang="0">
                  <a:pos x="353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47" y="204"/>
                </a:cxn>
                <a:cxn ang="0">
                  <a:pos x="538" y="414"/>
                </a:cxn>
                <a:cxn ang="0">
                  <a:pos x="538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64665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2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905" y="0"/>
                </a:cxn>
                <a:cxn ang="0">
                  <a:pos x="878" y="0"/>
                </a:cxn>
                <a:cxn ang="0">
                  <a:pos x="636" y="132"/>
                </a:cxn>
                <a:cxn ang="0">
                  <a:pos x="388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88" y="282"/>
                </a:cxn>
                <a:cxn ang="0">
                  <a:pos x="648" y="138"/>
                </a:cxn>
                <a:cxn ang="0">
                  <a:pos x="905" y="0"/>
                </a:cxn>
                <a:cxn ang="0">
                  <a:pos x="905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400" y="0"/>
                </a:cxn>
                <a:cxn ang="0">
                  <a:pos x="382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400" y="0"/>
                </a:cxn>
                <a:cxn ang="0">
                  <a:pos x="400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6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047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1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2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3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4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48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64679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1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264680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4681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4682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1F29C9-173E-41E4-9B8D-774EDF4611DB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4683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7714" name="Rectangle 2"/>
          <p:cNvSpPr>
            <a:spLocks noGrp="1" noChangeArrowheads="1"/>
          </p:cNvSpPr>
          <p:nvPr>
            <p:ph type="ctrTitle" sz="quarter"/>
          </p:nvPr>
        </p:nvSpPr>
        <p:spPr/>
        <p:txBody>
          <a:bodyPr vert="horz" wrap="square" lIns="91440" tIns="45720" rIns="91440" bIns="45720" numCol="1" anchor="b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面向对象程序设计概述</a:t>
            </a:r>
            <a:endParaRPr kumimoji="0" lang="zh-CN" altLang="en-US" sz="5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67715" name="Rectangle 3"/>
          <p:cNvSpPr>
            <a:spLocks noGrp="1" noChangeArrowheads="1"/>
          </p:cNvSpPr>
          <p:nvPr>
            <p:ph type="subTitle" sz="quarter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9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301750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什么是</a:t>
            </a:r>
            <a:r>
              <a:rPr kumimoji="0" lang="zh-CN" altLang="en-GB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面向对象程序设计</a:t>
            </a:r>
            <a:r>
              <a:rPr kumimoji="0" lang="zh-CN" altLang="en-GB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91619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557338"/>
            <a:ext cx="8496300" cy="5040313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面向对象程序设计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Object-oriented Programming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）具有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以下几个特征：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程序由若干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组成，每个对象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是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由一些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数据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以及对这些数据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所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能实施的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所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构成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封装体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；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对数据的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是通过向包含数据的对象发送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消息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（调用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对外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接口中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的操作）来实现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，体现了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数据抽象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；</a:t>
            </a:r>
            <a:endParaRPr kumimoji="0" lang="zh-CN" altLang="en-GB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的特征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包含哪些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数据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与操作）由相应的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来描述；</a:t>
            </a:r>
            <a:endParaRPr kumimoji="0" lang="zh-CN" altLang="en-GB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一个类所描述的对象特征可以从其它的类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继承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（获得）。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注意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：如果没有“继承”，则称为：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基于对象的程序设计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Object-based Programming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在面向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基于对象的程序设计中，对象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类体现了数据抽象与封装！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194" name="Group 0"/>
          <p:cNvGrpSpPr/>
          <p:nvPr/>
        </p:nvGrpSpPr>
        <p:grpSpPr>
          <a:xfrm>
            <a:off x="1330325" y="1557338"/>
            <a:ext cx="6121400" cy="4827587"/>
            <a:chOff x="3185" y="799"/>
            <a:chExt cx="2280" cy="2224"/>
          </a:xfrm>
        </p:grpSpPr>
        <p:grpSp>
          <p:nvGrpSpPr>
            <p:cNvPr id="8196" name="Group 44"/>
            <p:cNvGrpSpPr/>
            <p:nvPr/>
          </p:nvGrpSpPr>
          <p:grpSpPr>
            <a:xfrm>
              <a:off x="3333" y="880"/>
              <a:ext cx="2132" cy="2143"/>
              <a:chOff x="1346" y="1514"/>
              <a:chExt cx="1296" cy="1061"/>
            </a:xfrm>
          </p:grpSpPr>
          <p:sp>
            <p:nvSpPr>
              <p:cNvPr id="8198" name="Oval 0"/>
              <p:cNvSpPr/>
              <p:nvPr/>
            </p:nvSpPr>
            <p:spPr>
              <a:xfrm>
                <a:off x="1346" y="1764"/>
                <a:ext cx="144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8199" name="Rectangle 1"/>
              <p:cNvSpPr/>
              <p:nvPr/>
            </p:nvSpPr>
            <p:spPr>
              <a:xfrm>
                <a:off x="1346" y="1889"/>
                <a:ext cx="144" cy="6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8200" name="Rectangle 2"/>
              <p:cNvSpPr/>
              <p:nvPr/>
            </p:nvSpPr>
            <p:spPr>
              <a:xfrm>
                <a:off x="1346" y="2014"/>
                <a:ext cx="144" cy="6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8201" name="Line 3"/>
              <p:cNvSpPr/>
              <p:nvPr/>
            </p:nvSpPr>
            <p:spPr>
              <a:xfrm flipV="1">
                <a:off x="1418" y="1702"/>
                <a:ext cx="0" cy="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02" name="Line 4"/>
              <p:cNvSpPr/>
              <p:nvPr/>
            </p:nvSpPr>
            <p:spPr>
              <a:xfrm>
                <a:off x="1418" y="1702"/>
                <a:ext cx="2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03" name="Line 5"/>
              <p:cNvSpPr/>
              <p:nvPr/>
            </p:nvSpPr>
            <p:spPr>
              <a:xfrm>
                <a:off x="1634" y="1702"/>
                <a:ext cx="0" cy="4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04" name="Line 6"/>
              <p:cNvSpPr/>
              <p:nvPr/>
            </p:nvSpPr>
            <p:spPr>
              <a:xfrm flipH="1">
                <a:off x="1418" y="2138"/>
                <a:ext cx="2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05" name="Line 7"/>
              <p:cNvSpPr/>
              <p:nvPr/>
            </p:nvSpPr>
            <p:spPr>
              <a:xfrm flipV="1">
                <a:off x="1418" y="2076"/>
                <a:ext cx="0" cy="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06" name="Line 8"/>
              <p:cNvSpPr/>
              <p:nvPr/>
            </p:nvSpPr>
            <p:spPr>
              <a:xfrm flipV="1">
                <a:off x="1418" y="1951"/>
                <a:ext cx="0" cy="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07" name="Line 9"/>
              <p:cNvSpPr/>
              <p:nvPr/>
            </p:nvSpPr>
            <p:spPr>
              <a:xfrm flipV="1">
                <a:off x="1418" y="1826"/>
                <a:ext cx="0" cy="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08" name="Oval 10"/>
              <p:cNvSpPr/>
              <p:nvPr/>
            </p:nvSpPr>
            <p:spPr>
              <a:xfrm>
                <a:off x="1850" y="1577"/>
                <a:ext cx="144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8209" name="Rectangle 11"/>
              <p:cNvSpPr/>
              <p:nvPr/>
            </p:nvSpPr>
            <p:spPr>
              <a:xfrm>
                <a:off x="1850" y="1702"/>
                <a:ext cx="144" cy="6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8210" name="Rectangle 12"/>
              <p:cNvSpPr/>
              <p:nvPr/>
            </p:nvSpPr>
            <p:spPr>
              <a:xfrm>
                <a:off x="1850" y="1826"/>
                <a:ext cx="144" cy="6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8211" name="Line 13"/>
              <p:cNvSpPr/>
              <p:nvPr/>
            </p:nvSpPr>
            <p:spPr>
              <a:xfrm flipV="1">
                <a:off x="1922" y="1514"/>
                <a:ext cx="0" cy="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12" name="Line 14"/>
              <p:cNvSpPr/>
              <p:nvPr/>
            </p:nvSpPr>
            <p:spPr>
              <a:xfrm>
                <a:off x="1922" y="1514"/>
                <a:ext cx="2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13" name="Line 15"/>
              <p:cNvSpPr/>
              <p:nvPr/>
            </p:nvSpPr>
            <p:spPr>
              <a:xfrm>
                <a:off x="2138" y="1514"/>
                <a:ext cx="0" cy="43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14" name="Line 16"/>
              <p:cNvSpPr/>
              <p:nvPr/>
            </p:nvSpPr>
            <p:spPr>
              <a:xfrm flipH="1">
                <a:off x="1922" y="1951"/>
                <a:ext cx="2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15" name="Line 17"/>
              <p:cNvSpPr/>
              <p:nvPr/>
            </p:nvSpPr>
            <p:spPr>
              <a:xfrm flipV="1">
                <a:off x="1922" y="1889"/>
                <a:ext cx="0" cy="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16" name="Line 18"/>
              <p:cNvSpPr/>
              <p:nvPr/>
            </p:nvSpPr>
            <p:spPr>
              <a:xfrm flipV="1">
                <a:off x="1922" y="1764"/>
                <a:ext cx="0" cy="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17" name="Line 19"/>
              <p:cNvSpPr/>
              <p:nvPr/>
            </p:nvSpPr>
            <p:spPr>
              <a:xfrm flipV="1">
                <a:off x="1922" y="1639"/>
                <a:ext cx="0" cy="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18" name="Oval 20"/>
              <p:cNvSpPr/>
              <p:nvPr/>
            </p:nvSpPr>
            <p:spPr>
              <a:xfrm>
                <a:off x="1850" y="2201"/>
                <a:ext cx="144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8219" name="Rectangle 21"/>
              <p:cNvSpPr/>
              <p:nvPr/>
            </p:nvSpPr>
            <p:spPr>
              <a:xfrm>
                <a:off x="1850" y="2326"/>
                <a:ext cx="144" cy="6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8220" name="Rectangle 22"/>
              <p:cNvSpPr/>
              <p:nvPr/>
            </p:nvSpPr>
            <p:spPr>
              <a:xfrm>
                <a:off x="1850" y="2450"/>
                <a:ext cx="144" cy="6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8221" name="Line 23"/>
              <p:cNvSpPr/>
              <p:nvPr/>
            </p:nvSpPr>
            <p:spPr>
              <a:xfrm flipV="1">
                <a:off x="1922" y="2138"/>
                <a:ext cx="0" cy="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22" name="Line 24"/>
              <p:cNvSpPr/>
              <p:nvPr/>
            </p:nvSpPr>
            <p:spPr>
              <a:xfrm>
                <a:off x="1922" y="2138"/>
                <a:ext cx="2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23" name="Line 25"/>
              <p:cNvSpPr/>
              <p:nvPr/>
            </p:nvSpPr>
            <p:spPr>
              <a:xfrm>
                <a:off x="2138" y="2138"/>
                <a:ext cx="0" cy="43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24" name="Line 26"/>
              <p:cNvSpPr/>
              <p:nvPr/>
            </p:nvSpPr>
            <p:spPr>
              <a:xfrm flipH="1">
                <a:off x="1922" y="2575"/>
                <a:ext cx="2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25" name="Line 27"/>
              <p:cNvSpPr/>
              <p:nvPr/>
            </p:nvSpPr>
            <p:spPr>
              <a:xfrm flipV="1">
                <a:off x="1922" y="2513"/>
                <a:ext cx="0" cy="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26" name="Line 28"/>
              <p:cNvSpPr/>
              <p:nvPr/>
            </p:nvSpPr>
            <p:spPr>
              <a:xfrm flipV="1">
                <a:off x="1922" y="2388"/>
                <a:ext cx="0" cy="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27" name="Line 29"/>
              <p:cNvSpPr/>
              <p:nvPr/>
            </p:nvSpPr>
            <p:spPr>
              <a:xfrm flipV="1">
                <a:off x="1922" y="2263"/>
                <a:ext cx="0" cy="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28" name="Oval 30"/>
              <p:cNvSpPr/>
              <p:nvPr/>
            </p:nvSpPr>
            <p:spPr>
              <a:xfrm>
                <a:off x="2354" y="1764"/>
                <a:ext cx="144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8229" name="Rectangle 31"/>
              <p:cNvSpPr/>
              <p:nvPr/>
            </p:nvSpPr>
            <p:spPr>
              <a:xfrm>
                <a:off x="2354" y="1889"/>
                <a:ext cx="144" cy="6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8230" name="Rectangle 32"/>
              <p:cNvSpPr/>
              <p:nvPr/>
            </p:nvSpPr>
            <p:spPr>
              <a:xfrm>
                <a:off x="2354" y="2014"/>
                <a:ext cx="144" cy="6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8231" name="Line 33"/>
              <p:cNvSpPr/>
              <p:nvPr/>
            </p:nvSpPr>
            <p:spPr>
              <a:xfrm flipV="1">
                <a:off x="2426" y="1702"/>
                <a:ext cx="0" cy="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32" name="Line 34"/>
              <p:cNvSpPr/>
              <p:nvPr/>
            </p:nvSpPr>
            <p:spPr>
              <a:xfrm>
                <a:off x="2426" y="1702"/>
                <a:ext cx="2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33" name="Line 35"/>
              <p:cNvSpPr/>
              <p:nvPr/>
            </p:nvSpPr>
            <p:spPr>
              <a:xfrm>
                <a:off x="2642" y="1702"/>
                <a:ext cx="0" cy="4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34" name="Line 36"/>
              <p:cNvSpPr/>
              <p:nvPr/>
            </p:nvSpPr>
            <p:spPr>
              <a:xfrm flipH="1">
                <a:off x="2426" y="2138"/>
                <a:ext cx="2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35" name="Line 37"/>
              <p:cNvSpPr/>
              <p:nvPr/>
            </p:nvSpPr>
            <p:spPr>
              <a:xfrm flipV="1">
                <a:off x="2426" y="2076"/>
                <a:ext cx="0" cy="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36" name="Line 38"/>
              <p:cNvSpPr/>
              <p:nvPr/>
            </p:nvSpPr>
            <p:spPr>
              <a:xfrm flipV="1">
                <a:off x="2426" y="1951"/>
                <a:ext cx="0" cy="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37" name="Line 39"/>
              <p:cNvSpPr/>
              <p:nvPr/>
            </p:nvSpPr>
            <p:spPr>
              <a:xfrm flipV="1">
                <a:off x="2426" y="1826"/>
                <a:ext cx="0" cy="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38" name="Line 40"/>
              <p:cNvSpPr/>
              <p:nvPr/>
            </p:nvSpPr>
            <p:spPr>
              <a:xfrm flipV="1">
                <a:off x="1562" y="1514"/>
                <a:ext cx="360" cy="37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239" name="Line 41"/>
              <p:cNvSpPr/>
              <p:nvPr/>
            </p:nvSpPr>
            <p:spPr>
              <a:xfrm>
                <a:off x="1562" y="1955"/>
                <a:ext cx="360" cy="18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240" name="Line 42"/>
              <p:cNvSpPr/>
              <p:nvPr/>
            </p:nvSpPr>
            <p:spPr>
              <a:xfrm flipV="1">
                <a:off x="2066" y="1702"/>
                <a:ext cx="360" cy="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241" name="Line 43"/>
              <p:cNvSpPr/>
              <p:nvPr/>
            </p:nvSpPr>
            <p:spPr>
              <a:xfrm flipH="1">
                <a:off x="1922" y="1893"/>
                <a:ext cx="648" cy="24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8197" name="Text Box 46"/>
            <p:cNvSpPr txBox="1"/>
            <p:nvPr/>
          </p:nvSpPr>
          <p:spPr>
            <a:xfrm>
              <a:off x="3185" y="799"/>
              <a:ext cx="662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Objects</a:t>
              </a:r>
              <a:endParaRPr lang="en-US" altLang="zh-CN" sz="1800" dirty="0"/>
            </a:p>
          </p:txBody>
        </p:sp>
      </p:grpSp>
      <p:sp>
        <p:nvSpPr>
          <p:cNvPr id="2" name="矩形 1"/>
          <p:cNvSpPr/>
          <p:nvPr/>
        </p:nvSpPr>
        <p:spPr>
          <a:xfrm>
            <a:off x="395288" y="301625"/>
            <a:ext cx="7632700" cy="6826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面向对象程序的构成：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GB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面向对象程序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的执行过程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413"/>
            <a:ext cx="8229600" cy="5329238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对象构成了面向对象程序的基本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计算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单位，程序的执行体现为对象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间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的一系列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消息传递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从程序外部向程序中的某个对象发送第一条消息启动计算过程；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该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对象在处理这条消息的过程中，又向程序中的其它对象发送消息，从而引起进一步的计算；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消息处理可分为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两种方式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同步消息处理：消息发送者必须等待消息处理完才能继续执行其它操作（顺序执行）。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异步消息处理：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消息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发送者不必等待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消息处理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完就能继续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执行其它操作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（并发执行）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本课程只涉及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同步消息处理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584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27100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GB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面向对象程序设计的基本内容 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58499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268413"/>
            <a:ext cx="8605838" cy="5329238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441325" marR="0" lvl="0" indent="-44132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对象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GB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Object&amp;Class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802005" marR="0" lvl="1" indent="-36385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是由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数据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及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能对其实施的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所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构成的封装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体。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02005" marR="0" lvl="1" indent="-36385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描述了对象的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特征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包含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什么类型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的数据和哪些操作），实现数据抽象。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02005" marR="0" lvl="1" indent="-36385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属于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值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范畴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，是程序运行时刻的实体；类则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属于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类型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范畴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，是编译时刻的实体。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41325" marR="0" lvl="0" indent="-44132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继承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(Inheritance)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93775" marR="0" lvl="1" indent="-36385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在定义一个新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类（子类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派生类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）时，可以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把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已有类（父类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基类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）的一些特征描述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先包含进来，然后再添加新的特征描述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993775" marR="0" lvl="1" indent="-36385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单继承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与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多继承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76931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404813"/>
            <a:ext cx="8686800" cy="6264275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消息的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多态与动态绑定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多态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(Polymorphism)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：某一论域中的一个元素存在多种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形式和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解释。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在程序中，多态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通常体现为：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一名多用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buFontTx/>
              <a:buChar char="•"/>
              <a:defRPr/>
            </a:pP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函数名重载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buFontTx/>
              <a:buChar char="•"/>
              <a:defRPr/>
            </a:pP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操作符重载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（语言预定义和用户自定义） 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类属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buFontTx/>
              <a:buChar char="•"/>
              <a:defRPr/>
            </a:pP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类属函数：一个函数能对多种类型的数据进行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相同的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操作。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buFontTx/>
              <a:buChar char="•"/>
              <a:defRPr/>
            </a:pP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类属类：一个类可以描述多种类型的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对象。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面向对象程序特有的多态（继承机制带来的）：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buFontTx/>
              <a:buChar char="•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对象类型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的多态：子类对象既属于子类，也属于父类。 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buFontTx/>
              <a:buChar char="•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对象标识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的多态：父类的引用或指针可以引用或指向父类对象，也可以引用或指向子类对象。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buFontTx/>
              <a:buChar char="•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消息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的多态：发给父类对象的消息也可以发给子类对象，父类与子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类可以给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出不同的解释（处理）。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77955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404813"/>
            <a:ext cx="8686800" cy="5976938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绑定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(Binding)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：确定对多态元素的某个使用是多态元素的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哪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一种形式。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可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分为静态绑定和动态绑定：</a:t>
            </a:r>
            <a:endParaRPr kumimoji="0" lang="zh-CN" altLang="en-GB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静态绑定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Static Binding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在编译时刻确定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动态绑定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Dynamic Binding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）：在运行时刻确定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大多数形式的多态可采用静态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绑定。如函数名重载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由于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存在对象标识的多态和消息的多态，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消息处理有时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要采用动态绑定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！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buFontTx/>
              <a:buChar char="•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通过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父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类的引用或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指针向对象发送消息，消息处理函数需要到运行时刻决定（属于父类还是子类）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多态带来的好处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使得程序功能扩充变得容易：程序上层代码不变，只要增加底层的多态元素即可。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增强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语言的可扩充性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，如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操作符重载等。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87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41388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面向对象程序设计带来的好处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68739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341438"/>
            <a:ext cx="8569325" cy="4895850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一个方法的优劣主要看它是否能提高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软件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开发效率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保证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软件质量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！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影响软件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开发</a:t>
            </a: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效率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和软件质量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的因素主要包括：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抽象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控制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复杂度）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封装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（保护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信息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模块化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（组织和管理大型程序）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软件复用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（缩短开发周期）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可维护性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（延长软件寿命）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软件模型的自然度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缩小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解题空间与问题空间之间的语义间隙，实现从问题到解决方案的自然过渡）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41388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过程式程序设计的特点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87523" name="Rectangle 3"/>
          <p:cNvSpPr>
            <a:spLocks noGrp="1" noChangeArrowheads="1"/>
          </p:cNvSpPr>
          <p:nvPr>
            <p:ph idx="1"/>
          </p:nvPr>
        </p:nvSpPr>
        <p:spPr>
          <a:xfrm>
            <a:off x="4932363" y="1341438"/>
            <a:ext cx="3960813" cy="53736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以功能为中心，强调过程（功能）抽象，但数据与操作分离，二者联系松散。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实现了操作的封装，但数据表示是公开的，数据缺乏保护。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按子程序划分模块，模块边界模糊。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子程序往往针对某个程序的具体功能而设计，这使得程序难以复用。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功能易变，程序维护困难。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基于子程序的解题方式与问题空间缺乏对应。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4340" name="Group 4"/>
          <p:cNvGrpSpPr/>
          <p:nvPr/>
        </p:nvGrpSpPr>
        <p:grpSpPr>
          <a:xfrm>
            <a:off x="250825" y="1622425"/>
            <a:ext cx="4681538" cy="4605338"/>
            <a:chOff x="158" y="935"/>
            <a:chExt cx="2960" cy="3154"/>
          </a:xfrm>
        </p:grpSpPr>
        <p:grpSp>
          <p:nvGrpSpPr>
            <p:cNvPr id="14341" name="Group 5"/>
            <p:cNvGrpSpPr/>
            <p:nvPr/>
          </p:nvGrpSpPr>
          <p:grpSpPr>
            <a:xfrm>
              <a:off x="170" y="1029"/>
              <a:ext cx="2948" cy="2677"/>
              <a:chOff x="742" y="2528"/>
              <a:chExt cx="2376" cy="1792"/>
            </a:xfrm>
          </p:grpSpPr>
          <p:sp>
            <p:nvSpPr>
              <p:cNvPr id="14344" name="Oval 6"/>
              <p:cNvSpPr/>
              <p:nvPr/>
            </p:nvSpPr>
            <p:spPr>
              <a:xfrm>
                <a:off x="1030" y="2528"/>
                <a:ext cx="1872" cy="606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4345" name="Rectangle 7"/>
              <p:cNvSpPr/>
              <p:nvPr/>
            </p:nvSpPr>
            <p:spPr>
              <a:xfrm>
                <a:off x="1822" y="3544"/>
                <a:ext cx="288" cy="169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4346" name="Line 8"/>
              <p:cNvSpPr/>
              <p:nvPr/>
            </p:nvSpPr>
            <p:spPr>
              <a:xfrm>
                <a:off x="742" y="3339"/>
                <a:ext cx="2376" cy="0"/>
              </a:xfrm>
              <a:prstGeom prst="line">
                <a:avLst/>
              </a:prstGeom>
              <a:ln w="19050" cap="rnd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4347" name="Rectangle 9"/>
              <p:cNvSpPr/>
              <p:nvPr/>
            </p:nvSpPr>
            <p:spPr>
              <a:xfrm>
                <a:off x="1822" y="3838"/>
                <a:ext cx="288" cy="17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4348" name="Rectangle 10"/>
              <p:cNvSpPr/>
              <p:nvPr/>
            </p:nvSpPr>
            <p:spPr>
              <a:xfrm>
                <a:off x="1102" y="4150"/>
                <a:ext cx="288" cy="17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4349" name="Rectangle 11"/>
              <p:cNvSpPr/>
              <p:nvPr/>
            </p:nvSpPr>
            <p:spPr>
              <a:xfrm>
                <a:off x="2326" y="3838"/>
                <a:ext cx="288" cy="17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4350" name="Rectangle 12"/>
              <p:cNvSpPr/>
              <p:nvPr/>
            </p:nvSpPr>
            <p:spPr>
              <a:xfrm>
                <a:off x="1318" y="3838"/>
                <a:ext cx="288" cy="17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4351" name="Rectangle 13"/>
              <p:cNvSpPr/>
              <p:nvPr/>
            </p:nvSpPr>
            <p:spPr>
              <a:xfrm>
                <a:off x="1606" y="4150"/>
                <a:ext cx="288" cy="17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4352" name="Line 14"/>
              <p:cNvSpPr/>
              <p:nvPr/>
            </p:nvSpPr>
            <p:spPr>
              <a:xfrm>
                <a:off x="1966" y="3713"/>
                <a:ext cx="0" cy="12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4353" name="Line 15"/>
              <p:cNvSpPr/>
              <p:nvPr/>
            </p:nvSpPr>
            <p:spPr>
              <a:xfrm flipH="1">
                <a:off x="1462" y="3713"/>
                <a:ext cx="504" cy="12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4354" name="Line 16"/>
              <p:cNvSpPr/>
              <p:nvPr/>
            </p:nvSpPr>
            <p:spPr>
              <a:xfrm>
                <a:off x="1966" y="3713"/>
                <a:ext cx="504" cy="12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4355" name="Line 17"/>
              <p:cNvSpPr/>
              <p:nvPr/>
            </p:nvSpPr>
            <p:spPr>
              <a:xfrm flipH="1">
                <a:off x="1246" y="4025"/>
                <a:ext cx="216" cy="12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4356" name="Line 18"/>
              <p:cNvSpPr/>
              <p:nvPr/>
            </p:nvSpPr>
            <p:spPr>
              <a:xfrm>
                <a:off x="1462" y="4025"/>
                <a:ext cx="288" cy="12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4357" name="Freeform 19"/>
              <p:cNvSpPr/>
              <p:nvPr/>
            </p:nvSpPr>
            <p:spPr>
              <a:xfrm>
                <a:off x="1246" y="2902"/>
                <a:ext cx="676" cy="692"/>
              </a:xfrm>
              <a:custGeom>
                <a:avLst/>
                <a:gdLst>
                  <a:gd name="txL" fmla="*/ 0 w 1800"/>
                  <a:gd name="txT" fmla="*/ 0 h 2028"/>
                  <a:gd name="txR" fmla="*/ 1800 w 1800"/>
                  <a:gd name="txB" fmla="*/ 2028 h 2028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800" h="2028">
                    <a:moveTo>
                      <a:pt x="1800" y="2028"/>
                    </a:moveTo>
                    <a:cubicBezTo>
                      <a:pt x="1410" y="1885"/>
                      <a:pt x="1020" y="1742"/>
                      <a:pt x="720" y="1404"/>
                    </a:cubicBezTo>
                    <a:cubicBezTo>
                      <a:pt x="420" y="1066"/>
                      <a:pt x="60" y="286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dash"/>
                <a:round/>
                <a:headEnd type="arrow" w="med" len="med"/>
                <a:tailEnd type="arrow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4358" name="Freeform 20"/>
              <p:cNvSpPr/>
              <p:nvPr/>
            </p:nvSpPr>
            <p:spPr>
              <a:xfrm>
                <a:off x="2470" y="2902"/>
                <a:ext cx="360" cy="999"/>
              </a:xfrm>
              <a:custGeom>
                <a:avLst/>
                <a:gdLst>
                  <a:gd name="txL" fmla="*/ 0 w 720"/>
                  <a:gd name="txT" fmla="*/ 0 h 2964"/>
                  <a:gd name="txR" fmla="*/ 720 w 720"/>
                  <a:gd name="txB" fmla="*/ 2964 h 2964"/>
                </a:gdLst>
                <a:ahLst/>
                <a:cxnLst>
                  <a:cxn ang="0">
                    <a:pos x="0" y="0"/>
                  </a:cxn>
                  <a:cxn ang="0">
                    <a:pos x="1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720" h="2964">
                    <a:moveTo>
                      <a:pt x="0" y="2964"/>
                    </a:moveTo>
                    <a:cubicBezTo>
                      <a:pt x="360" y="2509"/>
                      <a:pt x="720" y="2054"/>
                      <a:pt x="720" y="1560"/>
                    </a:cubicBezTo>
                    <a:cubicBezTo>
                      <a:pt x="720" y="1066"/>
                      <a:pt x="120" y="234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dash"/>
                <a:round/>
                <a:headEnd type="arrow" w="med" len="med"/>
                <a:tailEnd type="arrow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4359" name="Freeform 21"/>
              <p:cNvSpPr/>
              <p:nvPr/>
            </p:nvSpPr>
            <p:spPr>
              <a:xfrm>
                <a:off x="1894" y="2653"/>
                <a:ext cx="432" cy="1248"/>
              </a:xfrm>
              <a:custGeom>
                <a:avLst/>
                <a:gdLst>
                  <a:gd name="txL" fmla="*/ 0 w 1680"/>
                  <a:gd name="txT" fmla="*/ 0 h 2808"/>
                  <a:gd name="txR" fmla="*/ 1680 w 1680"/>
                  <a:gd name="txB" fmla="*/ 2808 h 2808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680" h="2808">
                    <a:moveTo>
                      <a:pt x="360" y="2808"/>
                    </a:moveTo>
                    <a:cubicBezTo>
                      <a:pt x="1020" y="2652"/>
                      <a:pt x="1680" y="2496"/>
                      <a:pt x="1620" y="2028"/>
                    </a:cubicBezTo>
                    <a:cubicBezTo>
                      <a:pt x="1560" y="1560"/>
                      <a:pt x="300" y="260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dash"/>
                <a:round/>
                <a:headEnd type="none" w="med" len="med"/>
                <a:tailEnd type="arrow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4360" name="Freeform 22"/>
              <p:cNvSpPr/>
              <p:nvPr/>
            </p:nvSpPr>
            <p:spPr>
              <a:xfrm>
                <a:off x="1318" y="2840"/>
                <a:ext cx="576" cy="1061"/>
              </a:xfrm>
              <a:custGeom>
                <a:avLst/>
                <a:gdLst>
                  <a:gd name="txL" fmla="*/ 0 w 1860"/>
                  <a:gd name="txT" fmla="*/ 0 h 3276"/>
                  <a:gd name="txR" fmla="*/ 1860 w 1860"/>
                  <a:gd name="txB" fmla="*/ 3276 h 3276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860" h="3276">
                    <a:moveTo>
                      <a:pt x="420" y="3276"/>
                    </a:moveTo>
                    <a:cubicBezTo>
                      <a:pt x="210" y="2847"/>
                      <a:pt x="0" y="2418"/>
                      <a:pt x="240" y="1872"/>
                    </a:cubicBezTo>
                    <a:cubicBezTo>
                      <a:pt x="480" y="1326"/>
                      <a:pt x="1470" y="260"/>
                      <a:pt x="186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dash"/>
                <a:round/>
                <a:headEnd type="none" w="med" len="med"/>
                <a:tailEnd type="arrow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4361" name="Freeform 23"/>
              <p:cNvSpPr/>
              <p:nvPr/>
            </p:nvSpPr>
            <p:spPr>
              <a:xfrm>
                <a:off x="1030" y="2715"/>
                <a:ext cx="1440" cy="1498"/>
              </a:xfrm>
              <a:custGeom>
                <a:avLst/>
                <a:gdLst>
                  <a:gd name="txL" fmla="*/ 0 w 3930"/>
                  <a:gd name="txT" fmla="*/ 0 h 4056"/>
                  <a:gd name="txR" fmla="*/ 3930 w 3930"/>
                  <a:gd name="txB" fmla="*/ 4056 h 4056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3930" h="4056">
                    <a:moveTo>
                      <a:pt x="870" y="4056"/>
                    </a:moveTo>
                    <a:cubicBezTo>
                      <a:pt x="435" y="3692"/>
                      <a:pt x="0" y="3328"/>
                      <a:pt x="510" y="2652"/>
                    </a:cubicBezTo>
                    <a:cubicBezTo>
                      <a:pt x="1020" y="1976"/>
                      <a:pt x="2475" y="988"/>
                      <a:pt x="393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dash"/>
                <a:round/>
                <a:headEnd type="arrow" w="med" len="med"/>
                <a:tailEnd type="arrow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4362" name="Freeform 24"/>
              <p:cNvSpPr/>
              <p:nvPr/>
            </p:nvSpPr>
            <p:spPr>
              <a:xfrm>
                <a:off x="1606" y="2715"/>
                <a:ext cx="144" cy="1498"/>
              </a:xfrm>
              <a:custGeom>
                <a:avLst/>
                <a:gdLst>
                  <a:gd name="txL" fmla="*/ 0 w 720"/>
                  <a:gd name="txT" fmla="*/ 0 h 4056"/>
                  <a:gd name="txR" fmla="*/ 720 w 720"/>
                  <a:gd name="txB" fmla="*/ 4056 h 4056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720" h="4056">
                    <a:moveTo>
                      <a:pt x="720" y="4056"/>
                    </a:moveTo>
                    <a:cubicBezTo>
                      <a:pt x="600" y="3614"/>
                      <a:pt x="480" y="3172"/>
                      <a:pt x="360" y="2496"/>
                    </a:cubicBezTo>
                    <a:cubicBezTo>
                      <a:pt x="240" y="1820"/>
                      <a:pt x="120" y="910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dash"/>
                <a:round/>
                <a:headEnd type="none" w="med" len="med"/>
                <a:tailEnd type="arrow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4342" name="Text Box 25"/>
            <p:cNvSpPr txBox="1"/>
            <p:nvPr/>
          </p:nvSpPr>
          <p:spPr>
            <a:xfrm>
              <a:off x="158" y="935"/>
              <a:ext cx="458" cy="25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Data</a:t>
              </a:r>
              <a:endParaRPr lang="en-US" altLang="zh-CN" sz="1800" dirty="0"/>
            </a:p>
          </p:txBody>
        </p:sp>
        <p:sp>
          <p:nvSpPr>
            <p:cNvPr id="14343" name="Text Box 26"/>
            <p:cNvSpPr txBox="1"/>
            <p:nvPr/>
          </p:nvSpPr>
          <p:spPr>
            <a:xfrm>
              <a:off x="200" y="3838"/>
              <a:ext cx="1154" cy="25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Sub-programs</a:t>
              </a:r>
              <a:endParaRPr lang="en-US" altLang="zh-CN" sz="18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0547" name="Rectangle 3"/>
          <p:cNvSpPr>
            <a:spLocks noGrp="1" noChangeArrowheads="1"/>
          </p:cNvSpPr>
          <p:nvPr>
            <p:ph idx="1"/>
          </p:nvPr>
        </p:nvSpPr>
        <p:spPr>
          <a:xfrm>
            <a:off x="4932363" y="1341438"/>
            <a:ext cx="4032250" cy="54006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以数据为中心，强调数据抽象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操作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依附于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，二者联系紧密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实现了数据的封装，加强了数据的保护。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按对象类划分模块，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模块边界清晰。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对象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往往具有通用性，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再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加上继承机制，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使得程序容易复用。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对象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相对稳定，有利于程序维护。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基于对象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及其交互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的解题方式与问题空间有很好的对应。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5363" name="Group 0"/>
          <p:cNvGrpSpPr/>
          <p:nvPr/>
        </p:nvGrpSpPr>
        <p:grpSpPr>
          <a:xfrm>
            <a:off x="250825" y="1698625"/>
            <a:ext cx="3619500" cy="3530600"/>
            <a:chOff x="3185" y="799"/>
            <a:chExt cx="2280" cy="2224"/>
          </a:xfrm>
        </p:grpSpPr>
        <p:grpSp>
          <p:nvGrpSpPr>
            <p:cNvPr id="15365" name="Group 44"/>
            <p:cNvGrpSpPr/>
            <p:nvPr/>
          </p:nvGrpSpPr>
          <p:grpSpPr>
            <a:xfrm>
              <a:off x="3333" y="880"/>
              <a:ext cx="2132" cy="2143"/>
              <a:chOff x="1346" y="1514"/>
              <a:chExt cx="1296" cy="1061"/>
            </a:xfrm>
          </p:grpSpPr>
          <p:sp>
            <p:nvSpPr>
              <p:cNvPr id="15367" name="Oval 0"/>
              <p:cNvSpPr/>
              <p:nvPr/>
            </p:nvSpPr>
            <p:spPr>
              <a:xfrm>
                <a:off x="1346" y="1764"/>
                <a:ext cx="144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5368" name="Rectangle 1"/>
              <p:cNvSpPr/>
              <p:nvPr/>
            </p:nvSpPr>
            <p:spPr>
              <a:xfrm>
                <a:off x="1346" y="1889"/>
                <a:ext cx="144" cy="6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5369" name="Rectangle 2"/>
              <p:cNvSpPr/>
              <p:nvPr/>
            </p:nvSpPr>
            <p:spPr>
              <a:xfrm>
                <a:off x="1346" y="2014"/>
                <a:ext cx="144" cy="6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5370" name="Line 3"/>
              <p:cNvSpPr/>
              <p:nvPr/>
            </p:nvSpPr>
            <p:spPr>
              <a:xfrm flipV="1">
                <a:off x="1418" y="1702"/>
                <a:ext cx="0" cy="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71" name="Line 4"/>
              <p:cNvSpPr/>
              <p:nvPr/>
            </p:nvSpPr>
            <p:spPr>
              <a:xfrm>
                <a:off x="1418" y="1702"/>
                <a:ext cx="2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72" name="Line 5"/>
              <p:cNvSpPr/>
              <p:nvPr/>
            </p:nvSpPr>
            <p:spPr>
              <a:xfrm>
                <a:off x="1634" y="1702"/>
                <a:ext cx="0" cy="4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73" name="Line 6"/>
              <p:cNvSpPr/>
              <p:nvPr/>
            </p:nvSpPr>
            <p:spPr>
              <a:xfrm flipH="1">
                <a:off x="1418" y="2138"/>
                <a:ext cx="2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74" name="Line 7"/>
              <p:cNvSpPr/>
              <p:nvPr/>
            </p:nvSpPr>
            <p:spPr>
              <a:xfrm flipV="1">
                <a:off x="1418" y="2076"/>
                <a:ext cx="0" cy="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75" name="Line 8"/>
              <p:cNvSpPr/>
              <p:nvPr/>
            </p:nvSpPr>
            <p:spPr>
              <a:xfrm flipV="1">
                <a:off x="1418" y="1951"/>
                <a:ext cx="0" cy="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76" name="Line 9"/>
              <p:cNvSpPr/>
              <p:nvPr/>
            </p:nvSpPr>
            <p:spPr>
              <a:xfrm flipV="1">
                <a:off x="1418" y="1826"/>
                <a:ext cx="0" cy="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77" name="Oval 10"/>
              <p:cNvSpPr/>
              <p:nvPr/>
            </p:nvSpPr>
            <p:spPr>
              <a:xfrm>
                <a:off x="1850" y="1577"/>
                <a:ext cx="144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5378" name="Rectangle 11"/>
              <p:cNvSpPr/>
              <p:nvPr/>
            </p:nvSpPr>
            <p:spPr>
              <a:xfrm>
                <a:off x="1850" y="1702"/>
                <a:ext cx="144" cy="6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5379" name="Rectangle 12"/>
              <p:cNvSpPr/>
              <p:nvPr/>
            </p:nvSpPr>
            <p:spPr>
              <a:xfrm>
                <a:off x="1850" y="1826"/>
                <a:ext cx="144" cy="6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5380" name="Line 13"/>
              <p:cNvSpPr/>
              <p:nvPr/>
            </p:nvSpPr>
            <p:spPr>
              <a:xfrm flipV="1">
                <a:off x="1922" y="1514"/>
                <a:ext cx="0" cy="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81" name="Line 14"/>
              <p:cNvSpPr/>
              <p:nvPr/>
            </p:nvSpPr>
            <p:spPr>
              <a:xfrm>
                <a:off x="1922" y="1514"/>
                <a:ext cx="2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82" name="Line 15"/>
              <p:cNvSpPr/>
              <p:nvPr/>
            </p:nvSpPr>
            <p:spPr>
              <a:xfrm>
                <a:off x="2138" y="1514"/>
                <a:ext cx="0" cy="43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83" name="Line 16"/>
              <p:cNvSpPr/>
              <p:nvPr/>
            </p:nvSpPr>
            <p:spPr>
              <a:xfrm flipH="1">
                <a:off x="1922" y="1951"/>
                <a:ext cx="2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84" name="Line 17"/>
              <p:cNvSpPr/>
              <p:nvPr/>
            </p:nvSpPr>
            <p:spPr>
              <a:xfrm flipV="1">
                <a:off x="1922" y="1889"/>
                <a:ext cx="0" cy="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85" name="Line 18"/>
              <p:cNvSpPr/>
              <p:nvPr/>
            </p:nvSpPr>
            <p:spPr>
              <a:xfrm flipV="1">
                <a:off x="1922" y="1764"/>
                <a:ext cx="0" cy="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86" name="Line 19"/>
              <p:cNvSpPr/>
              <p:nvPr/>
            </p:nvSpPr>
            <p:spPr>
              <a:xfrm flipV="1">
                <a:off x="1922" y="1639"/>
                <a:ext cx="0" cy="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87" name="Oval 20"/>
              <p:cNvSpPr/>
              <p:nvPr/>
            </p:nvSpPr>
            <p:spPr>
              <a:xfrm>
                <a:off x="1850" y="2201"/>
                <a:ext cx="144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5388" name="Rectangle 21"/>
              <p:cNvSpPr/>
              <p:nvPr/>
            </p:nvSpPr>
            <p:spPr>
              <a:xfrm>
                <a:off x="1850" y="2326"/>
                <a:ext cx="144" cy="6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5389" name="Rectangle 22"/>
              <p:cNvSpPr/>
              <p:nvPr/>
            </p:nvSpPr>
            <p:spPr>
              <a:xfrm>
                <a:off x="1850" y="2450"/>
                <a:ext cx="144" cy="6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5390" name="Line 23"/>
              <p:cNvSpPr/>
              <p:nvPr/>
            </p:nvSpPr>
            <p:spPr>
              <a:xfrm flipV="1">
                <a:off x="1922" y="2138"/>
                <a:ext cx="0" cy="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91" name="Line 24"/>
              <p:cNvSpPr/>
              <p:nvPr/>
            </p:nvSpPr>
            <p:spPr>
              <a:xfrm>
                <a:off x="1922" y="2138"/>
                <a:ext cx="2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92" name="Line 25"/>
              <p:cNvSpPr/>
              <p:nvPr/>
            </p:nvSpPr>
            <p:spPr>
              <a:xfrm>
                <a:off x="2138" y="2138"/>
                <a:ext cx="0" cy="43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93" name="Line 26"/>
              <p:cNvSpPr/>
              <p:nvPr/>
            </p:nvSpPr>
            <p:spPr>
              <a:xfrm flipH="1">
                <a:off x="1922" y="2575"/>
                <a:ext cx="2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94" name="Line 27"/>
              <p:cNvSpPr/>
              <p:nvPr/>
            </p:nvSpPr>
            <p:spPr>
              <a:xfrm flipV="1">
                <a:off x="1922" y="2513"/>
                <a:ext cx="0" cy="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95" name="Line 28"/>
              <p:cNvSpPr/>
              <p:nvPr/>
            </p:nvSpPr>
            <p:spPr>
              <a:xfrm flipV="1">
                <a:off x="1922" y="2388"/>
                <a:ext cx="0" cy="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96" name="Line 29"/>
              <p:cNvSpPr/>
              <p:nvPr/>
            </p:nvSpPr>
            <p:spPr>
              <a:xfrm flipV="1">
                <a:off x="1922" y="2263"/>
                <a:ext cx="0" cy="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97" name="Oval 30"/>
              <p:cNvSpPr/>
              <p:nvPr/>
            </p:nvSpPr>
            <p:spPr>
              <a:xfrm>
                <a:off x="2354" y="1764"/>
                <a:ext cx="144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5398" name="Rectangle 31"/>
              <p:cNvSpPr/>
              <p:nvPr/>
            </p:nvSpPr>
            <p:spPr>
              <a:xfrm>
                <a:off x="2354" y="1889"/>
                <a:ext cx="144" cy="6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5399" name="Rectangle 32"/>
              <p:cNvSpPr/>
              <p:nvPr/>
            </p:nvSpPr>
            <p:spPr>
              <a:xfrm>
                <a:off x="2354" y="2014"/>
                <a:ext cx="144" cy="6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15400" name="Line 33"/>
              <p:cNvSpPr/>
              <p:nvPr/>
            </p:nvSpPr>
            <p:spPr>
              <a:xfrm flipV="1">
                <a:off x="2426" y="1702"/>
                <a:ext cx="0" cy="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01" name="Line 34"/>
              <p:cNvSpPr/>
              <p:nvPr/>
            </p:nvSpPr>
            <p:spPr>
              <a:xfrm>
                <a:off x="2426" y="1702"/>
                <a:ext cx="2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02" name="Line 35"/>
              <p:cNvSpPr/>
              <p:nvPr/>
            </p:nvSpPr>
            <p:spPr>
              <a:xfrm>
                <a:off x="2642" y="1702"/>
                <a:ext cx="0" cy="4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03" name="Line 36"/>
              <p:cNvSpPr/>
              <p:nvPr/>
            </p:nvSpPr>
            <p:spPr>
              <a:xfrm flipH="1">
                <a:off x="2426" y="2138"/>
                <a:ext cx="2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04" name="Line 37"/>
              <p:cNvSpPr/>
              <p:nvPr/>
            </p:nvSpPr>
            <p:spPr>
              <a:xfrm flipV="1">
                <a:off x="2426" y="2076"/>
                <a:ext cx="0" cy="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05" name="Line 38"/>
              <p:cNvSpPr/>
              <p:nvPr/>
            </p:nvSpPr>
            <p:spPr>
              <a:xfrm flipV="1">
                <a:off x="2426" y="1951"/>
                <a:ext cx="0" cy="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06" name="Line 39"/>
              <p:cNvSpPr/>
              <p:nvPr/>
            </p:nvSpPr>
            <p:spPr>
              <a:xfrm flipV="1">
                <a:off x="2426" y="1826"/>
                <a:ext cx="0" cy="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407" name="Line 40"/>
              <p:cNvSpPr/>
              <p:nvPr/>
            </p:nvSpPr>
            <p:spPr>
              <a:xfrm flipV="1">
                <a:off x="1562" y="1514"/>
                <a:ext cx="360" cy="37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5408" name="Line 41"/>
              <p:cNvSpPr/>
              <p:nvPr/>
            </p:nvSpPr>
            <p:spPr>
              <a:xfrm>
                <a:off x="1562" y="1955"/>
                <a:ext cx="360" cy="18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5409" name="Line 42"/>
              <p:cNvSpPr/>
              <p:nvPr/>
            </p:nvSpPr>
            <p:spPr>
              <a:xfrm flipV="1">
                <a:off x="2066" y="1702"/>
                <a:ext cx="360" cy="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5410" name="Line 43"/>
              <p:cNvSpPr/>
              <p:nvPr/>
            </p:nvSpPr>
            <p:spPr>
              <a:xfrm flipH="1">
                <a:off x="1922" y="1893"/>
                <a:ext cx="648" cy="24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15366" name="Text Box 46"/>
            <p:cNvSpPr txBox="1"/>
            <p:nvPr/>
          </p:nvSpPr>
          <p:spPr>
            <a:xfrm>
              <a:off x="3185" y="799"/>
              <a:ext cx="662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/>
                <a:t>Objects</a:t>
              </a:r>
              <a:endParaRPr lang="en-US" altLang="zh-CN" sz="1800" dirty="0"/>
            </a:p>
          </p:txBody>
        </p:sp>
      </p:grpSp>
      <p:sp>
        <p:nvSpPr>
          <p:cNvPr id="1388544" name="Rectangle 1024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41388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面</a:t>
            </a:r>
            <a:r>
              <a:rPr kumimoji="0" lang="zh-CN" altLang="en-GB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向对象程序设计的特点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e">
  <a:themeElements>
    <a:clrScheme name="Globe 11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CC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0">
        <a:dk1>
          <a:srgbClr val="003B76"/>
        </a:dk1>
        <a:lt1>
          <a:srgbClr val="FFFFFF"/>
        </a:lt1>
        <a:dk2>
          <a:srgbClr val="0066CC"/>
        </a:dk2>
        <a:lt2>
          <a:srgbClr val="FFCC66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1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0</TotalTime>
  <Words>1745</Words>
  <Application>WPS 演示</Application>
  <PresentationFormat>全屏显示(4:3)</PresentationFormat>
  <Paragraphs>97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Verdana</vt:lpstr>
      <vt:lpstr>Times New Roman</vt:lpstr>
      <vt:lpstr>微软雅黑</vt:lpstr>
      <vt:lpstr>Arial Unicode MS</vt:lpstr>
      <vt:lpstr>Globe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chenjj</dc:creator>
  <cp:lastModifiedBy>tattit</cp:lastModifiedBy>
  <cp:revision>620</cp:revision>
  <dcterms:created xsi:type="dcterms:W3CDTF">1999-05-22T12:40:20Z</dcterms:created>
  <dcterms:modified xsi:type="dcterms:W3CDTF">2023-09-18T05:55:25Z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2052-11.8.2.8875</vt:lpwstr>
  </property>
</Properties>
</file>
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931" r:id="rId3"/>
    <p:sldId id="843" r:id="rId5"/>
    <p:sldId id="1028" r:id="rId6"/>
    <p:sldId id="850" r:id="rId7"/>
    <p:sldId id="980" r:id="rId8"/>
    <p:sldId id="981" r:id="rId9"/>
    <p:sldId id="982" r:id="rId10"/>
    <p:sldId id="983" r:id="rId11"/>
    <p:sldId id="984" r:id="rId12"/>
    <p:sldId id="985" r:id="rId13"/>
    <p:sldId id="987" r:id="rId14"/>
    <p:sldId id="988" r:id="rId15"/>
    <p:sldId id="991" r:id="rId16"/>
    <p:sldId id="989" r:id="rId17"/>
    <p:sldId id="990" r:id="rId18"/>
  </p:sldIdLst>
  <p:sldSz cx="9144000" cy="6858000" type="screen4x3"/>
  <p:notesSz cx="6858000" cy="9144000"/>
  <p:custDataLst>
    <p:tags r:id="rId2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00FFFF"/>
    <a:srgbClr val="85EDA0"/>
    <a:srgbClr val="00CCFF"/>
    <a:srgbClr val="FFFF99"/>
    <a:srgbClr val="FDAFB5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273"/>
    <p:restoredTop sz="95449"/>
  </p:normalViewPr>
  <p:slideViewPr>
    <p:cSldViewPr showGuides="1">
      <p:cViewPr varScale="1">
        <p:scale>
          <a:sx n="87" d="100"/>
          <a:sy n="87" d="100"/>
        </p:scale>
        <p:origin x="907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213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C7C5B9-C365-43FC-9803-C8A689130C9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CEAB64-2E9D-4C98-A511-91C1951143B4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计算机</a:t>
            </a:r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19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2"/>
          <p:cNvGrpSpPr/>
          <p:nvPr/>
        </p:nvGrpSpPr>
        <p:grpSpPr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0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8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1026" y="845"/>
                </a:cxn>
                <a:cxn ang="0">
                  <a:pos x="1026" y="821"/>
                </a:cxn>
                <a:cxn ang="0">
                  <a:pos x="840" y="605"/>
                </a:cxn>
                <a:cxn ang="0">
                  <a:pos x="540" y="396"/>
                </a:cxn>
                <a:cxn ang="0">
                  <a:pos x="354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42" y="198"/>
                </a:cxn>
                <a:cxn ang="0">
                  <a:pos x="533" y="408"/>
                </a:cxn>
                <a:cxn ang="0">
                  <a:pos x="834" y="623"/>
                </a:cxn>
                <a:cxn ang="0">
                  <a:pos x="1026" y="845"/>
                </a:cxn>
                <a:cxn ang="0">
                  <a:pos x="1026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40" y="414"/>
                </a:cxn>
                <a:cxn ang="0">
                  <a:pos x="540" y="396"/>
                </a:cxn>
                <a:cxn ang="0">
                  <a:pos x="355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49" y="204"/>
                </a:cxn>
                <a:cxn ang="0">
                  <a:pos x="540" y="414"/>
                </a:cxn>
                <a:cxn ang="0">
                  <a:pos x="540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7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911" y="0"/>
                </a:cxn>
                <a:cxn ang="0">
                  <a:pos x="884" y="0"/>
                </a:cxn>
                <a:cxn ang="0">
                  <a:pos x="640" y="132"/>
                </a:cxn>
                <a:cxn ang="0">
                  <a:pos x="390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90" y="282"/>
                </a:cxn>
                <a:cxn ang="0">
                  <a:pos x="652" y="138"/>
                </a:cxn>
                <a:cxn ang="0">
                  <a:pos x="911" y="0"/>
                </a:cxn>
                <a:cxn ang="0">
                  <a:pos x="911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402" y="0"/>
                </a:cxn>
                <a:cxn ang="0">
                  <a:pos x="384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402" y="0"/>
                </a:cxn>
                <a:cxn ang="0">
                  <a:pos x="402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0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1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72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075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6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7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8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9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73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4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570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6570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1" name="Rectangle 4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Rectangle 4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Rectangle 4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B91246-1859-4601-AAA2-3FD59B0DF02D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49057F-C400-4CEC-8206-670B288D19D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49057F-C400-4CEC-8206-670B288D19D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49057F-C400-4CEC-8206-670B288D19D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49057F-C400-4CEC-8206-670B288D19D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49057F-C400-4CEC-8206-670B288D19D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49057F-C400-4CEC-8206-670B288D19D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49057F-C400-4CEC-8206-670B288D19D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49057F-C400-4CEC-8206-670B288D19D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49057F-C400-4CEC-8206-670B288D19D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49057F-C400-4CEC-8206-670B288D19D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264643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44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45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5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264647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48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49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0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1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2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3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4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5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6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7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8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9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64660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61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62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1026" y="845"/>
                </a:cxn>
                <a:cxn ang="0">
                  <a:pos x="1026" y="821"/>
                </a:cxn>
                <a:cxn ang="0">
                  <a:pos x="840" y="605"/>
                </a:cxn>
                <a:cxn ang="0">
                  <a:pos x="540" y="396"/>
                </a:cxn>
                <a:cxn ang="0">
                  <a:pos x="354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42" y="198"/>
                </a:cxn>
                <a:cxn ang="0">
                  <a:pos x="533" y="408"/>
                </a:cxn>
                <a:cxn ang="0">
                  <a:pos x="834" y="623"/>
                </a:cxn>
                <a:cxn ang="0">
                  <a:pos x="1026" y="845"/>
                </a:cxn>
                <a:cxn ang="0">
                  <a:pos x="1026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40" y="414"/>
                </a:cxn>
                <a:cxn ang="0">
                  <a:pos x="540" y="396"/>
                </a:cxn>
                <a:cxn ang="0">
                  <a:pos x="355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49" y="204"/>
                </a:cxn>
                <a:cxn ang="0">
                  <a:pos x="540" y="414"/>
                </a:cxn>
                <a:cxn ang="0">
                  <a:pos x="540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64665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911" y="0"/>
                </a:cxn>
                <a:cxn ang="0">
                  <a:pos x="884" y="0"/>
                </a:cxn>
                <a:cxn ang="0">
                  <a:pos x="640" y="132"/>
                </a:cxn>
                <a:cxn ang="0">
                  <a:pos x="390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90" y="282"/>
                </a:cxn>
                <a:cxn ang="0">
                  <a:pos x="652" y="138"/>
                </a:cxn>
                <a:cxn ang="0">
                  <a:pos x="911" y="0"/>
                </a:cxn>
                <a:cxn ang="0">
                  <a:pos x="911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402" y="0"/>
                </a:cxn>
                <a:cxn ang="0">
                  <a:pos x="384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402" y="0"/>
                </a:cxn>
                <a:cxn ang="0">
                  <a:pos x="402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6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47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1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2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3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4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48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467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26468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49057F-C400-4CEC-8206-670B288D19D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7714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友</a:t>
            </a: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元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67715" name="Rectangle 3"/>
          <p:cNvSpPr>
            <a:spLocks noGrp="1" noChangeArrowheads="1"/>
          </p:cNvSpPr>
          <p:nvPr>
            <p:ph type="subTitle" sz="quarter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zh-CN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9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88913"/>
            <a:ext cx="7315200" cy="7461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友元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69411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196975"/>
            <a:ext cx="8853488" cy="5472113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根据数据封装的要求：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类中定义的数据成员不能在外界直接访问，必须要通过类中定义的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public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成员函数来访问。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在有些情况下，这种对数据的访问方式效率不高！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为了提高在类的外部对类的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非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访问效率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中，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ts val="25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可以指定某些与一个类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密切相关的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、又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不适合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作为该类成员的程序实体能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直接访问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该类的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非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public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，这些程序实体称为该类的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友元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ts val="25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友元是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数据保护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数据访问效率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之间的一种折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中方案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3375"/>
            <a:ext cx="8229600" cy="6119813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元需要在类中用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friend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显式指出，它们可以是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全局函数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其它类的所有成员函数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其它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某个成员函数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例如：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endParaRPr kumimoji="0" lang="en-GB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......</a:t>
            </a:r>
            <a:endParaRPr kumimoji="0" lang="en-GB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friend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void </a:t>
            </a:r>
            <a:r>
              <a:rPr kumimoji="0" lang="en-GB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func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  //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全局</a:t>
            </a:r>
            <a:r>
              <a:rPr kumimoji="0" lang="zh-CN" altLang="en-GB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func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可访问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</a:t>
            </a:r>
            <a:endParaRPr kumimoji="0" lang="zh-CN" altLang="en-GB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GB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friend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class 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 //</a:t>
            </a:r>
            <a:r>
              <a:rPr kumimoji="0" lang="zh-CN" altLang="en-GB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的所有成员函数可访问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</a:t>
            </a:r>
            <a:endParaRPr kumimoji="0" lang="zh-CN" altLang="en-GB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GB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friend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void 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C::f()</a:t>
            </a: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 //</a:t>
            </a:r>
            <a:r>
              <a:rPr kumimoji="0" lang="zh-CN" altLang="en-GB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GB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可访问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private: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x;</a:t>
            </a:r>
            <a:endParaRPr kumimoji="0" lang="zh-CN" altLang="en-GB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16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关于友元的几点说明</a:t>
            </a:r>
            <a:endParaRPr kumimoji="0" lang="zh-CN" altLang="en-US" sz="40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8169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773238"/>
            <a:ext cx="8382000" cy="4319588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友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元不是一个类的成员。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友元关系具有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不对称性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。例如：假设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的友元，如果没有显式指出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的友元，则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不是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的友元。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友元也不具有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传递性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。例如：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假设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的友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的友元，如果没有显式指出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的友元，则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不是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的友元。 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例：实现矩阵与向量相乘操作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742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9600" cy="558800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539750" rtl="0" eaLnBrk="1" fontAlgn="base" latinLnBrk="0" hangingPunct="1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矩阵类的定义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397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Matrix 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矩阵类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397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*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p_data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表示矩阵数据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397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row,col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表示矩阵的行数和列数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397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public: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397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Matrix(int r, int c) 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397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if (r &lt;= 0 || c &lt;= 0)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397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{	cerr &lt;&lt; "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矩阵尺寸不合法</a:t>
            </a:r>
            <a:r>
              <a:rPr kumimoji="0" lang="zh-CN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！</a:t>
            </a: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\n";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397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exit(-1);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397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}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397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row = r;	col = c;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397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p_data = new int[row*col];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397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for (int i=0; i&lt;row*col; i++) p_data[i] = 0;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397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397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~Matrix() 	{ delete []p_data; }		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5235" name="Rectangle 3"/>
          <p:cNvSpPr>
            <a:spLocks noGrp="1" noChangeArrowheads="1"/>
          </p:cNvSpPr>
          <p:nvPr>
            <p:ph idx="1"/>
          </p:nvPr>
        </p:nvSpPr>
        <p:spPr>
          <a:xfrm>
            <a:off x="446088" y="476250"/>
            <a:ext cx="8229600" cy="60483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37655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int &amp;</a:t>
            </a: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element</a:t>
            </a: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(int i, int j)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访问矩阵元素。</a:t>
            </a:r>
            <a:endParaRPr kumimoji="0" lang="zh-CN" altLang="fr-FR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37655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if (i &lt; 0 || i &gt;= row || j &lt; 0 || j &gt;= col)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37655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{	cerr &lt;&lt; "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矩阵下标越界</a:t>
            </a: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\n";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37655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exit(-1);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37655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}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37655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return *(p_data+i*col+j);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37655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37655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int </a:t>
            </a: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element</a:t>
            </a: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(int i, int j) </a:t>
            </a: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重载的特殊情况！</a:t>
            </a:r>
            <a:endParaRPr kumimoji="0" lang="fr-FR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37655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     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访问矩阵元素</a:t>
            </a:r>
            <a:r>
              <a:rPr kumimoji="0" lang="zh-CN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为常量对象而提供</a:t>
            </a:r>
            <a:r>
              <a:rPr kumimoji="0" lang="zh-CN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fr-FR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37655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fr-F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it-IT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if (i &lt; 0 || i &gt;= row || j &lt; 0 || j &gt;= col)</a:t>
            </a:r>
            <a:endParaRPr kumimoji="0" lang="it-IT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37655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it-IT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{	cerr &lt;&lt; "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矩阵下标越界</a:t>
            </a:r>
            <a:r>
              <a:rPr kumimoji="0" lang="it-IT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\n";</a:t>
            </a:r>
            <a:endParaRPr kumimoji="0" lang="it-IT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37655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it-IT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exit(-1);</a:t>
            </a:r>
            <a:endParaRPr kumimoji="0" lang="it-IT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37655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it-IT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}</a:t>
            </a:r>
            <a:endParaRPr kumimoji="0" lang="it-IT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37655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it-IT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return *(p_data+i*col+j);</a:t>
            </a:r>
            <a:endParaRPr kumimoji="0" lang="it-IT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37655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it-IT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it-IT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75236" name="Text Box 4"/>
          <p:cNvSpPr txBox="1"/>
          <p:nvPr/>
        </p:nvSpPr>
        <p:spPr>
          <a:xfrm>
            <a:off x="6429375" y="1355725"/>
            <a:ext cx="2679700" cy="1465263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Matrix m(10,10);</a:t>
            </a:r>
            <a:endParaRPr lang="en-US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......</a:t>
            </a:r>
            <a:endParaRPr lang="en-US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m.</a:t>
            </a:r>
            <a:r>
              <a:rPr lang="en-US" altLang="zh-CN" sz="1800" dirty="0">
                <a:solidFill>
                  <a:srgbClr val="92D050"/>
                </a:solidFill>
              </a:rPr>
              <a:t>element</a:t>
            </a:r>
            <a:r>
              <a:rPr lang="en-US" altLang="zh-CN" sz="1800" dirty="0"/>
              <a:t>(1,2) = </a:t>
            </a:r>
            <a:endParaRPr lang="en-US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 m.</a:t>
            </a:r>
            <a:r>
              <a:rPr lang="en-US" altLang="zh-CN" sz="1800" dirty="0">
                <a:solidFill>
                  <a:srgbClr val="92D050"/>
                </a:solidFill>
              </a:rPr>
              <a:t>element</a:t>
            </a:r>
            <a:r>
              <a:rPr lang="en-US" altLang="zh-CN" sz="1800" dirty="0"/>
              <a:t>(1,2)+1;</a:t>
            </a:r>
            <a:endParaRPr lang="en-US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</p:txBody>
      </p:sp>
      <p:sp>
        <p:nvSpPr>
          <p:cNvPr id="1375237" name="Text Box 5"/>
          <p:cNvSpPr txBox="1"/>
          <p:nvPr/>
        </p:nvSpPr>
        <p:spPr>
          <a:xfrm>
            <a:off x="5829300" y="4652963"/>
            <a:ext cx="3279775" cy="173990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zh-CN" sz="1800" dirty="0"/>
              <a:t>void f(</a:t>
            </a:r>
            <a:r>
              <a:rPr lang="fr-FR" altLang="zh-CN" sz="1800" dirty="0">
                <a:solidFill>
                  <a:srgbClr val="FFC000"/>
                </a:solidFill>
              </a:rPr>
              <a:t>const</a:t>
            </a:r>
            <a:r>
              <a:rPr lang="fr-FR" altLang="zh-CN" sz="1800" dirty="0"/>
              <a:t> Matrix&amp; m)</a:t>
            </a:r>
            <a:endParaRPr lang="fr-FR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zh-CN" sz="1800" dirty="0"/>
              <a:t>{ int x;</a:t>
            </a:r>
            <a:endParaRPr lang="fr-FR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zh-CN" sz="1800" dirty="0"/>
              <a:t>   x = </a:t>
            </a:r>
            <a:endParaRPr lang="fr-FR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zh-CN" sz="1800" dirty="0"/>
              <a:t>     m.</a:t>
            </a:r>
            <a:r>
              <a:rPr lang="fr-FR" altLang="zh-CN" sz="1800" dirty="0">
                <a:solidFill>
                  <a:srgbClr val="FFC000"/>
                </a:solidFill>
              </a:rPr>
              <a:t>element</a:t>
            </a:r>
            <a:r>
              <a:rPr lang="fr-FR" altLang="zh-CN" sz="1800" dirty="0"/>
              <a:t>(1,2)*10+1;</a:t>
            </a:r>
            <a:endParaRPr lang="fr-FR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zh-CN" sz="1800" dirty="0"/>
              <a:t>}</a:t>
            </a:r>
            <a:endParaRPr lang="fr-FR" altLang="zh-CN" sz="18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5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5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75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75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5236" grpId="0" animBg="1"/>
      <p:bldP spid="13752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62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60363"/>
            <a:ext cx="8229600" cy="630872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it-IT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int dimension_row() const //</a:t>
            </a:r>
            <a:r>
              <a:rPr kumimoji="0" lang="zh-CN" altLang="en-US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获得矩阵的行数。</a:t>
            </a:r>
            <a:endParaRPr kumimoji="0" lang="zh-CN" altLang="it-IT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it-IT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it-IT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return row;</a:t>
            </a:r>
            <a:endParaRPr kumimoji="0" lang="it-IT" altLang="zh-CN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it-IT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it-IT" altLang="zh-CN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it-IT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int dimension_column() const //</a:t>
            </a:r>
            <a:r>
              <a:rPr kumimoji="0" lang="zh-CN" altLang="en-US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获得矩阵的列数。</a:t>
            </a:r>
            <a:endParaRPr kumimoji="0" lang="zh-CN" altLang="it-IT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it-IT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it-IT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return col;</a:t>
            </a:r>
            <a:endParaRPr kumimoji="0" lang="it-IT" altLang="zh-CN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it-IT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it-IT" altLang="zh-CN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it-IT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input_data() //</a:t>
            </a:r>
            <a:r>
              <a:rPr kumimoji="0" lang="zh-CN" altLang="en-US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输入矩阵数据</a:t>
            </a:r>
            <a:endParaRPr kumimoji="0" lang="en-US" altLang="zh-CN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for (int i=0; i&lt;row*col; i++)	cin &gt;&gt; p_data[i];</a:t>
            </a:r>
            <a:endParaRPr kumimoji="0" lang="en-US" altLang="zh-CN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it-IT" altLang="zh-CN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it-IT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void display() const //</a:t>
            </a:r>
            <a:r>
              <a:rPr kumimoji="0" lang="zh-CN" altLang="en-US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显示矩阵元素。</a:t>
            </a:r>
            <a:endParaRPr kumimoji="0" lang="zh-CN" altLang="it-IT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it-IT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int *p=p_data; </a:t>
            </a:r>
            <a:endParaRPr kumimoji="0" lang="en-US" altLang="zh-CN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for (int i=0; i&lt;row; i++)</a:t>
            </a:r>
            <a:endParaRPr kumimoji="0" lang="en-US" altLang="zh-CN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{	for (int j=0; j&lt;col; j++)</a:t>
            </a:r>
            <a:endParaRPr kumimoji="0" lang="en-US" altLang="zh-CN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{ cout &lt;&lt; *p &lt;&lt; ' ';</a:t>
            </a:r>
            <a:endParaRPr kumimoji="0" lang="en-US" altLang="zh-CN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   p++;</a:t>
            </a:r>
            <a:endParaRPr kumimoji="0" lang="en-US" altLang="zh-CN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}</a:t>
            </a:r>
            <a:endParaRPr kumimoji="0" lang="en-US" altLang="zh-CN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cout &lt;&lt; endl;</a:t>
            </a:r>
            <a:endParaRPr kumimoji="0" lang="en-US" altLang="zh-CN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}</a:t>
            </a:r>
            <a:endParaRPr kumimoji="0" lang="en-US" altLang="zh-CN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55625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72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8913"/>
            <a:ext cx="8229600" cy="6335713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向量类的定义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Vector 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向量类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*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p_data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num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Vector(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n)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if (n &lt;= 0)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{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cerr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向量尺寸不合法！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\n";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exit(-1);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num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n;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p_data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new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num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fr-FR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(int i=0; i&lt;num; i++) p_data[i] = 0;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~Vector()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delete []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p_data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83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93700"/>
            <a:ext cx="8229600" cy="61309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52387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int &amp;element(int i) //</a:t>
            </a:r>
            <a:r>
              <a: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访问向量元素。</a:t>
            </a:r>
            <a:endParaRPr kumimoji="0" lang="zh-CN" altLang="en-US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if (i &lt; 0 || i &gt;= num)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{	cerr &lt;&lt; "</a:t>
            </a:r>
            <a:r>
              <a: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向量下标越界！</a:t>
            </a: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\n";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exit(-1);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}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return p_data[i];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int element(int i) const 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    //</a:t>
            </a:r>
            <a:r>
              <a: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访问向量元素（为常量对象而提供）。</a:t>
            </a:r>
            <a:endParaRPr kumimoji="0" lang="zh-CN" altLang="en-US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if (i &lt; 0 || i &gt;= num)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{	cerr &lt;&lt; "</a:t>
            </a:r>
            <a:r>
              <a: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向量下标越界！</a:t>
            </a: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\n";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exit(-1);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}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return p_data[i];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93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655638"/>
            <a:ext cx="8229600" cy="5510213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dimension()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返回向量的尺寸。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return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num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void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input_data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输入向量数据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{	for (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num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cin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&gt;&gt;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p_data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];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display()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显示向量元素。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*p=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p_data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for (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=0;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num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++,p++)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*p &lt;&lt; ' ';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endl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13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620713"/>
            <a:ext cx="8229600" cy="55451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矩阵与向量对象的创建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row,column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矩阵的行数、列数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cin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&gt;&gt; row &gt;&gt; column;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Matrix m(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row,column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创建矩阵对象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m.input_data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输入矩阵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的数据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m.display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显示矩阵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的数据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dim;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向量元素个数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cin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&gt;&gt; dim;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Vector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v(dim);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创建向量对象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v.input_data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输入向量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的数据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v.display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显示向量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的数据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435975" cy="5068888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52387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编写一个函数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multiply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，实现矩阵与向量相乘的操作：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void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multiply(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Matrix &amp;m, 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	 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Vector &amp;v,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	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Vector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&amp;r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	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参数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：用于相乘的矩阵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参数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：用于相乘的向量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参数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：相乘的结果向量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5474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9600" cy="5732463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l" defTabSz="523875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multiply(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Matrix &amp;m,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Vector &amp;v,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	Vector &amp;r)//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矩阵与向量相乘。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if 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m.dimension_column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 !=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v.dimension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 ||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m.dimension_row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 !=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r.dimension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())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{ 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cerr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矩阵和向量的尺寸不匹配！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exit(-1);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row=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m.dimension_row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(),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col=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m.dimension_column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for 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=0;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&lt;row;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{ 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r.element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= 0;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for 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j=0; j&lt;col; j++)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计算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r[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r.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element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+=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m.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element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i,j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v.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element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(j);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3875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由于频繁地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通过调用成员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element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来访问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矩阵和向量的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元素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，每一次调用中都要检查下标的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合法性，因此效率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不高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！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85475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9366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multiply</a:t>
            </a: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的实现</a:t>
            </a:r>
            <a:r>
              <a:rPr kumimoji="0" lang="en-US" altLang="zh-CN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（非友元）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474">
                                            <p:txEl>
                                              <p:charRg st="412" end="4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5474">
                                            <p:txEl>
                                              <p:charRg st="412" end="46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5474">
                                            <p:txEl>
                                              <p:charRg st="412" end="46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multiply</a:t>
            </a: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的实现</a:t>
            </a:r>
            <a:r>
              <a:rPr kumimoji="0" lang="en-US" altLang="zh-CN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（友元）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83427" name="Rectangle 3"/>
          <p:cNvSpPr>
            <a:spLocks noGrp="1" noChangeArrowheads="1"/>
          </p:cNvSpPr>
          <p:nvPr>
            <p:ph idx="1"/>
          </p:nvPr>
        </p:nvSpPr>
        <p:spPr>
          <a:xfrm>
            <a:off x="287338" y="1600200"/>
            <a:ext cx="8748713" cy="45656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把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multiply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说明成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Matrix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Vector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的友元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Vector; //Vector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的声明（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由于在定义它前需要用到它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Matrix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......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friend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void multiply(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Matrix &amp;m,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Vector &amp;v, 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Vector &amp;r); //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这里提前用到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Vector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2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Vector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......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friend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void multiply(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Matrix &amp;m,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Vector &amp;v, 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Vector &amp;r);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4451" name="Rectangle 3"/>
          <p:cNvSpPr>
            <a:spLocks noGrp="1" noChangeArrowheads="1"/>
          </p:cNvSpPr>
          <p:nvPr>
            <p:ph idx="1"/>
          </p:nvPr>
        </p:nvSpPr>
        <p:spPr>
          <a:xfrm>
            <a:off x="303213" y="260350"/>
            <a:ext cx="8229600" cy="64531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42862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multiply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中直接访问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Matrix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Vector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的私有数据成员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2862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multiply(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Matrix &amp;m,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Vector &amp;v,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2862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	    Vector &amp;r)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2862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if (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m.col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!=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v.num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||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m.row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!=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r.num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2862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{	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cerr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矩阵和向量的尺寸不匹配！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2862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exit(-1);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2862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2862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*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p_m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m.p_data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,*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p_r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r.p_data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,*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p_v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2862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for (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=0;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m.row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2862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{	*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p_r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0;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2862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p_v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v.p_data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2862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for (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j=0; j&lt;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m.col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j++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2862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{	*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p_r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+= (*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p_m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)*(*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p_v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2862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p_m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2862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p_v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2862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}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2862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p_r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2862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2862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940425" y="4221163"/>
            <a:ext cx="3097213" cy="144462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4" name="矩形 3"/>
          <p:cNvSpPr/>
          <p:nvPr/>
        </p:nvSpPr>
        <p:spPr>
          <a:xfrm>
            <a:off x="5940425" y="5013325"/>
            <a:ext cx="863600" cy="144463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5" name="矩形 4"/>
          <p:cNvSpPr/>
          <p:nvPr/>
        </p:nvSpPr>
        <p:spPr>
          <a:xfrm>
            <a:off x="5940425" y="5805488"/>
            <a:ext cx="1008063" cy="144462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3" name="TextBox 2"/>
          <p:cNvSpPr txBox="1"/>
          <p:nvPr/>
        </p:nvSpPr>
        <p:spPr>
          <a:xfrm>
            <a:off x="5795963" y="3716338"/>
            <a:ext cx="517525" cy="2778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none" lIns="0" tIns="0" rIns="0" bIns="0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1800" kern="1200" cap="none" spc="0" normalizeH="0" baseline="0" noProof="0" dirty="0" err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p_m</a:t>
            </a:r>
            <a:endParaRPr kumimoji="0" lang="zh-CN" altLang="en-US" sz="1800" kern="1200" cap="none" spc="0" normalizeH="0" baseline="0" noProof="0" dirty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5976938" y="3994150"/>
            <a:ext cx="0" cy="227013"/>
          </a:xfrm>
          <a:prstGeom prst="straightConnector1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arrow" w="med" len="med"/>
          </a:ln>
        </p:spPr>
      </p:cxnSp>
      <p:sp>
        <p:nvSpPr>
          <p:cNvPr id="11" name="TextBox 10"/>
          <p:cNvSpPr txBox="1"/>
          <p:nvPr/>
        </p:nvSpPr>
        <p:spPr>
          <a:xfrm>
            <a:off x="5795963" y="4508500"/>
            <a:ext cx="428625" cy="2778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none" lIns="0" tIns="0" rIns="0" bIns="0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1800" kern="1200" cap="none" spc="0" normalizeH="0" baseline="0" noProof="0" dirty="0" err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p_v</a:t>
            </a:r>
            <a:endParaRPr kumimoji="0" lang="zh-CN" altLang="en-US" sz="1800" kern="1200" cap="none" spc="0" normalizeH="0" baseline="0" noProof="0" dirty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5976938" y="4786313"/>
            <a:ext cx="0" cy="227012"/>
          </a:xfrm>
          <a:prstGeom prst="straightConnector1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arrow" w="med" len="med"/>
          </a:ln>
        </p:spPr>
      </p:cxnSp>
      <p:sp>
        <p:nvSpPr>
          <p:cNvPr id="13" name="TextBox 12"/>
          <p:cNvSpPr txBox="1"/>
          <p:nvPr/>
        </p:nvSpPr>
        <p:spPr>
          <a:xfrm>
            <a:off x="5795963" y="5300663"/>
            <a:ext cx="390525" cy="2778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none" lIns="0" tIns="0" rIns="0" bIns="0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1800" kern="1200" cap="none" spc="0" normalizeH="0" baseline="0" noProof="0" dirty="0" err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p_r</a:t>
            </a:r>
            <a:endParaRPr kumimoji="0" lang="zh-CN" altLang="en-US" sz="1800" kern="1200" cap="none" spc="0" normalizeH="0" baseline="0" noProof="0" dirty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5976938" y="5578475"/>
            <a:ext cx="0" cy="227013"/>
          </a:xfrm>
          <a:prstGeom prst="straightConnector1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arrow" w="med" len="med"/>
          </a:ln>
        </p:spPr>
      </p:cxnSp>
      <p:cxnSp>
        <p:nvCxnSpPr>
          <p:cNvPr id="15" name="直接连接符 14"/>
          <p:cNvCxnSpPr/>
          <p:nvPr/>
        </p:nvCxnSpPr>
        <p:spPr>
          <a:xfrm>
            <a:off x="6804025" y="4221163"/>
            <a:ext cx="0" cy="144462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17" name="直接连接符 16"/>
          <p:cNvCxnSpPr/>
          <p:nvPr/>
        </p:nvCxnSpPr>
        <p:spPr>
          <a:xfrm>
            <a:off x="7669213" y="4221163"/>
            <a:ext cx="0" cy="144462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3" grpId="0" animBg="1"/>
      <p:bldP spid="11" grpId="0" animBg="1"/>
      <p:bldP spid="13" grpId="0" animBg="1"/>
    </p:bldLst>
  </p:timing>
</p:sld>
</file>

<file path=ppt/tags/tag1.xml><?xml version="1.0" encoding="utf-8"?>
<p:tagLst xmlns:p="http://schemas.openxmlformats.org/presentationml/2006/main">
  <p:tag name="commondata" val="eyJoZGlkIjoiMGMwOGI0MDFlOGUxOGFhOGQ1Y2FmODNlN2E0MWRhYjIifQ=="/>
</p:tagLst>
</file>

<file path=ppt/theme/theme1.xml><?xml version="1.0" encoding="utf-8"?>
<a:theme xmlns:a="http://schemas.openxmlformats.org/drawingml/2006/main" name="Globe">
  <a:themeElements>
    <a:clrScheme name="Globe 11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CC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0">
        <a:dk1>
          <a:srgbClr val="003B76"/>
        </a:dk1>
        <a:lt1>
          <a:srgbClr val="FFFFFF"/>
        </a:lt1>
        <a:dk2>
          <a:srgbClr val="0066CC"/>
        </a:dk2>
        <a:lt2>
          <a:srgbClr val="FFCC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1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4006</Words>
  <Application>WPS 演示</Application>
  <PresentationFormat>全屏显示(4:3)</PresentationFormat>
  <Paragraphs>230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Verdana</vt:lpstr>
      <vt:lpstr>Times New Roman</vt:lpstr>
      <vt:lpstr>微软雅黑</vt:lpstr>
      <vt:lpstr>Arial Unicode MS</vt:lpstr>
      <vt:lpstr>Globe</vt:lpstr>
      <vt:lpstr>友元</vt:lpstr>
      <vt:lpstr>友元</vt:lpstr>
      <vt:lpstr>PowerPoint 演示文稿</vt:lpstr>
      <vt:lpstr>关于友元的几点说明</vt:lpstr>
      <vt:lpstr>例：实现矩阵与向量相乘操作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multiply的实现1（非友元）</vt:lpstr>
      <vt:lpstr>multiply的实现2（友元）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chenjj</dc:creator>
  <cp:lastModifiedBy>Ethereal_YC</cp:lastModifiedBy>
  <cp:revision>600</cp:revision>
  <dcterms:created xsi:type="dcterms:W3CDTF">1999-05-22T12:40:00Z</dcterms:created>
  <dcterms:modified xsi:type="dcterms:W3CDTF">2024-01-09T03:18:55Z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16BDF5120E364ABD8272C0BAA05D6CA8_12</vt:lpwstr>
  </property>
</Properties>
</file>
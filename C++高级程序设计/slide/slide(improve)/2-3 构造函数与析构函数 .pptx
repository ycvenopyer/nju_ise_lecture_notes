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931" r:id="rId3"/>
    <p:sldId id="787" r:id="rId4"/>
    <p:sldId id="952" r:id="rId5"/>
    <p:sldId id="953" r:id="rId6"/>
    <p:sldId id="954" r:id="rId7"/>
    <p:sldId id="1021" r:id="rId8"/>
    <p:sldId id="1020" r:id="rId9"/>
    <p:sldId id="789" r:id="rId10"/>
    <p:sldId id="790" r:id="rId11"/>
    <p:sldId id="674" r:id="rId12"/>
    <p:sldId id="969" r:id="rId13"/>
    <p:sldId id="1013" r:id="rId14"/>
    <p:sldId id="997" r:id="rId15"/>
    <p:sldId id="1023" r:id="rId16"/>
    <p:sldId id="1024" r:id="rId17"/>
    <p:sldId id="1025" r:id="rId18"/>
    <p:sldId id="1026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88873"/>
  </p:normalViewPr>
  <p:slideViewPr>
    <p:cSldViewPr showGuides="1">
      <p:cViewPr varScale="1">
        <p:scale>
          <a:sx n="90" d="100"/>
          <a:sy n="90" d="100"/>
        </p:scale>
        <p:origin x="1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89C87A-551A-4708-ABD3-C81DFF07422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9C0FB3-5B68-4FB1-90EF-A25B66896B84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3" y="845"/>
                </a:cxn>
                <a:cxn ang="0">
                  <a:pos x="1023" y="821"/>
                </a:cxn>
                <a:cxn ang="0">
                  <a:pos x="838" y="605"/>
                </a:cxn>
                <a:cxn ang="0">
                  <a:pos x="538" y="396"/>
                </a:cxn>
                <a:cxn ang="0">
                  <a:pos x="353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1" y="198"/>
                </a:cxn>
                <a:cxn ang="0">
                  <a:pos x="532" y="408"/>
                </a:cxn>
                <a:cxn ang="0">
                  <a:pos x="832" y="623"/>
                </a:cxn>
                <a:cxn ang="0">
                  <a:pos x="1023" y="845"/>
                </a:cxn>
                <a:cxn ang="0">
                  <a:pos x="1023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9" y="414"/>
                </a:cxn>
                <a:cxn ang="0">
                  <a:pos x="539" y="396"/>
                </a:cxn>
                <a:cxn ang="0">
                  <a:pos x="354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8" y="204"/>
                </a:cxn>
                <a:cxn ang="0">
                  <a:pos x="539" y="414"/>
                </a:cxn>
                <a:cxn ang="0">
                  <a:pos x="539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08" y="0"/>
                </a:cxn>
                <a:cxn ang="0">
                  <a:pos x="881" y="0"/>
                </a:cxn>
                <a:cxn ang="0">
                  <a:pos x="638" y="132"/>
                </a:cxn>
                <a:cxn ang="0">
                  <a:pos x="389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9" y="282"/>
                </a:cxn>
                <a:cxn ang="0">
                  <a:pos x="650" y="138"/>
                </a:cxn>
                <a:cxn ang="0">
                  <a:pos x="908" y="0"/>
                </a:cxn>
                <a:cxn ang="0">
                  <a:pos x="908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1" y="0"/>
                </a:cxn>
                <a:cxn ang="0">
                  <a:pos x="383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1" y="0"/>
                </a:cxn>
                <a:cxn ang="0">
                  <a:pos x="401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EC714A-5E79-4A2F-8D96-34B2B9A1434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3" y="845"/>
                </a:cxn>
                <a:cxn ang="0">
                  <a:pos x="1023" y="821"/>
                </a:cxn>
                <a:cxn ang="0">
                  <a:pos x="838" y="605"/>
                </a:cxn>
                <a:cxn ang="0">
                  <a:pos x="538" y="396"/>
                </a:cxn>
                <a:cxn ang="0">
                  <a:pos x="353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1" y="198"/>
                </a:cxn>
                <a:cxn ang="0">
                  <a:pos x="532" y="408"/>
                </a:cxn>
                <a:cxn ang="0">
                  <a:pos x="832" y="623"/>
                </a:cxn>
                <a:cxn ang="0">
                  <a:pos x="1023" y="845"/>
                </a:cxn>
                <a:cxn ang="0">
                  <a:pos x="1023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9" y="414"/>
                </a:cxn>
                <a:cxn ang="0">
                  <a:pos x="539" y="396"/>
                </a:cxn>
                <a:cxn ang="0">
                  <a:pos x="354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8" y="204"/>
                </a:cxn>
                <a:cxn ang="0">
                  <a:pos x="539" y="414"/>
                </a:cxn>
                <a:cxn ang="0">
                  <a:pos x="539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08" y="0"/>
                </a:cxn>
                <a:cxn ang="0">
                  <a:pos x="881" y="0"/>
                </a:cxn>
                <a:cxn ang="0">
                  <a:pos x="638" y="132"/>
                </a:cxn>
                <a:cxn ang="0">
                  <a:pos x="389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9" y="282"/>
                </a:cxn>
                <a:cxn ang="0">
                  <a:pos x="650" y="138"/>
                </a:cxn>
                <a:cxn ang="0">
                  <a:pos x="908" y="0"/>
                </a:cxn>
                <a:cxn ang="0">
                  <a:pos x="908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1" y="0"/>
                </a:cxn>
                <a:cxn ang="0">
                  <a:pos x="383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1" y="0"/>
                </a:cxn>
                <a:cxn ang="0">
                  <a:pos x="401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62173-EA34-4619-AC4C-85A0C351C90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构造函数与析构函数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838200" marR="0" lvl="0" indent="-838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对象的初始化</a:t>
            </a:r>
            <a:r>
              <a:rPr kumimoji="0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--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构造函数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88515" name="Rectangle 3"/>
          <p:cNvSpPr>
            <a:spLocks noGrp="1" noChangeArrowheads="1"/>
          </p:cNvSpPr>
          <p:nvPr>
            <p:ph idx="1"/>
          </p:nvPr>
        </p:nvSpPr>
        <p:spPr>
          <a:xfrm>
            <a:off x="252413" y="1196975"/>
            <a:ext cx="8640763" cy="5661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当一个对象创建时，它将获得一块存储空间，该存储空间用于存储对象的数据成员。在使用对象前，需要对对象存储空间中的数据成员进行初始化。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提供了一种对象初始化的机制：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构造函数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它是类的特殊成员函数，名字与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类名相同、无返回值类型。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创建对象时，构造函数会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被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自动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调用。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例如：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A()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{ x = 0; y = 0; }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构造函数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创建对象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：为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分配内存空间，然后调用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的构造函数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A()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grpSp>
        <p:nvGrpSpPr>
          <p:cNvPr id="6148" name="组合 8"/>
          <p:cNvGrpSpPr/>
          <p:nvPr/>
        </p:nvGrpSpPr>
        <p:grpSpPr>
          <a:xfrm>
            <a:off x="6804025" y="4076700"/>
            <a:ext cx="1655763" cy="1296988"/>
            <a:chOff x="5796136" y="1340768"/>
            <a:chExt cx="1656184" cy="1296144"/>
          </a:xfrm>
        </p:grpSpPr>
        <p:sp>
          <p:nvSpPr>
            <p:cNvPr id="6149" name="TextBox 2"/>
            <p:cNvSpPr txBox="1"/>
            <p:nvPr/>
          </p:nvSpPr>
          <p:spPr>
            <a:xfrm>
              <a:off x="6819322" y="1340768"/>
              <a:ext cx="369106" cy="461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6150" name="矩形 3"/>
            <p:cNvSpPr/>
            <p:nvPr/>
          </p:nvSpPr>
          <p:spPr>
            <a:xfrm>
              <a:off x="6588224" y="1844824"/>
              <a:ext cx="864096" cy="792088"/>
            </a:xfrm>
            <a:prstGeom prst="rect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   0</a:t>
              </a:r>
              <a:endParaRPr lang="en-US" altLang="zh-CN" sz="1800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   0 </a:t>
              </a:r>
              <a:endParaRPr lang="zh-CN" altLang="en-US" sz="1800" dirty="0"/>
            </a:p>
          </p:txBody>
        </p:sp>
        <p:cxnSp>
          <p:nvCxnSpPr>
            <p:cNvPr id="6151" name="直接连接符 5"/>
            <p:cNvCxnSpPr>
              <a:stCxn id="6150" idx="1"/>
              <a:endCxn id="6150" idx="3"/>
            </p:cNvCxnSpPr>
            <p:nvPr/>
          </p:nvCxnSpPr>
          <p:spPr>
            <a:xfrm rot="-10800000" flipH="1">
              <a:off x="6588224" y="2240868"/>
              <a:ext cx="86409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cxnSp>
        <p:sp>
          <p:nvSpPr>
            <p:cNvPr id="6152" name="TextBox 6"/>
            <p:cNvSpPr txBox="1"/>
            <p:nvPr/>
          </p:nvSpPr>
          <p:spPr>
            <a:xfrm>
              <a:off x="5796136" y="1804754"/>
              <a:ext cx="633668" cy="3998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  x:</a:t>
              </a:r>
              <a:endParaRPr lang="zh-CN" altLang="en-US" sz="2000" dirty="0"/>
            </a:p>
          </p:txBody>
        </p:sp>
        <p:sp>
          <p:nvSpPr>
            <p:cNvPr id="6153" name="TextBox 7"/>
            <p:cNvSpPr txBox="1"/>
            <p:nvPr/>
          </p:nvSpPr>
          <p:spPr>
            <a:xfrm>
              <a:off x="5796136" y="2204864"/>
              <a:ext cx="633668" cy="3998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  y:</a:t>
              </a:r>
              <a:endParaRPr lang="zh-CN" altLang="en-US" sz="2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396875"/>
            <a:ext cx="8497888" cy="62007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构造函数可以重载，其中，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不带参数的（或所有参数都有默认值的）构造函数被称为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默认构造函数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A()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默认构造函数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x = y = 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A(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x1)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x = x1; y = 0;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A(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x1,int y1)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x = x1; y = y1;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51435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932363" y="1471613"/>
            <a:ext cx="4140200" cy="37861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51435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defTabSz="5143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5143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51435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5143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也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可以写成功能等价的形式：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public: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A(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x1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=0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y1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=0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{	x = x1; y = y1;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}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......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391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在创建对象时，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没有指定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对象类中哪一个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构造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函数，则调用默认构造函数初始化。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也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可以显式地指定调用对象类的某个构造函数。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229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333375"/>
            <a:ext cx="8677275" cy="61198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......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A();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A(char *p);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1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a1;   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调用默认构造函数。也可写成：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a1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A(); 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但不能写成：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a1();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a2(1);   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。也可写成：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a2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A(1); 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a2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1;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a3("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abcd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");   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A(char *)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。也可写成：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a3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A("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abcd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  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a3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abcd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";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a[4];   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调用对象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a[0]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a[1]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a[2]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a[3]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的默认构造函数。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b[5]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{A(),A(1),A("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abcd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"),2,"xyz"};    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b[0]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//b[1]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b[2]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A(char *)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//b[3]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b[4]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A(char *)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20963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*p1=new A;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//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调用默认构造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*p2=new A(2);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//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*p3=new A("xyz");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//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A(char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*)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*p4=new A[20];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//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动态对象数组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只能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各对象的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默认构造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在程序中也可以通过类的构造函数来创建一些临时对象。例如：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f(A a);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A(10)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创建一个临时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给函数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：对象创建后，不能再调用构造函数！例如：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(1)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//Error!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18488" cy="8683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838200" marR="0" lvl="0" indent="-838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常量和引用数据成员的初始化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9056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96975"/>
            <a:ext cx="8229600" cy="5589588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常量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引用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数据成员，</a:t>
            </a:r>
            <a:r>
              <a:rPr kumimoji="0" lang="en-US" altLang="zh-CN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旧版本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不能在说明它们时初始化，也不能采用赋值操作</a:t>
            </a:r>
            <a:r>
              <a:rPr kumimoji="0" lang="zh-CN" alt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在构造函数中</a:t>
            </a:r>
            <a:r>
              <a:rPr kumimoji="0" lang="zh-CN" altLang="en-GB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对它们初始化。例如：</a:t>
            </a:r>
            <a:r>
              <a:rPr kumimoji="0" lang="en-GB" altLang="zh-CN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GB" altLang="zh-CN" sz="33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 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1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</a:t>
            </a:r>
            <a:r>
              <a:rPr kumimoji="1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1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y=1;  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//Error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</a:t>
            </a:r>
            <a:r>
              <a:rPr kumimoji="1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z=x;    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//Error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public: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A()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{ x = 0;    //OK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  y = 1;   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//Error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  z = &amp;x; 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//Error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  z =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1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</a:t>
            </a:r>
            <a:r>
              <a:rPr kumimoji="1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//Error</a:t>
            </a:r>
            <a:r>
              <a:rPr kumimoji="1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}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那在哪儿对它们初始化呢？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charRg st="261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3">
                                            <p:txEl>
                                              <p:charRg st="261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3">
                                            <p:txEl>
                                              <p:charRg st="261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363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125538"/>
            <a:ext cx="82296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可以在构造函数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函数头和函数体之间加入一个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成员初始化表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来对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常量和引用数据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成员进行初始化。例如：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{  </a:t>
            </a:r>
            <a:r>
              <a:rPr kumimoji="1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  </a:t>
            </a:r>
            <a:r>
              <a:rPr kumimoji="1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1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y;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  </a:t>
            </a:r>
            <a:r>
              <a:rPr kumimoji="1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&amp; z;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public: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  A(): 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z(x),y(1)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  //</a:t>
            </a:r>
            <a:r>
              <a:rPr kumimoji="1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成员初始化表</a:t>
            </a:r>
            <a:endParaRPr kumimoji="1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  </a:t>
            </a: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{ x = 0;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	  }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19455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1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1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初始化表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，成员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书写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次序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并不决定它们的初始化次序，它们的初始化次序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由它们在类定义中的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描述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次序来决定。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18488" cy="8683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838200" marR="0" lvl="0" indent="-838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成员初始化表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12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96925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析构函数</a:t>
            </a:r>
            <a:endParaRPr kumimoji="0" lang="en-US" altLang="zh-CN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21253" name="Rectangle 5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362950" cy="5400675"/>
          </a:xfrm>
        </p:spPr>
        <p:txBody>
          <a:bodyPr vert="horz" wrap="square" lIns="92075" tIns="46038" rIns="92075" bIns="46038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在类中可以定义一个特殊的成员函数：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析构函数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它的名字为“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~&lt;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没有返回类型、不带参数、不能被重载。例如：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 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~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析构函数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一个对象消亡时，系统在收回它的内存空间之前，将会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自动调用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类中的析构函数。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在析构函数中完成对象被删除前的一些清理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工作。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一般情况下，类中不需要自定义析构函数，但如果对象创建后，自己又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额外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申请了资源（如：额外申请了内存空间），则可以自定义析构函数来归还它们。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680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88913"/>
            <a:ext cx="8229600" cy="652462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例如，系统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为对象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分配的内存空间只包含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（指针）本身所需的空间，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所指向的空间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不是由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分配和归还的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，而是由对象作为资源自己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申请和归还的：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String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   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len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char *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public: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String(char* s)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len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strlen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(s);</a:t>
            </a:r>
            <a:endParaRPr kumimoji="1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new char[len+1]; //</a:t>
            </a: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申请额外的内存空间</a:t>
            </a:r>
            <a:endParaRPr kumimoji="1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strcpy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s);</a:t>
            </a:r>
            <a:endParaRPr kumimoji="1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 </a:t>
            </a:r>
            <a:endParaRPr kumimoji="1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~String()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delete[]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归还额外申请的空间</a:t>
            </a:r>
            <a:endParaRPr kumimoji="1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len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0; </a:t>
            </a:r>
            <a:r>
              <a:rPr kumimoji="1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NULL; 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1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有必要吗？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438275" marR="0" lvl="3" indent="-22860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f()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String s1("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abcd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");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的构造函数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ts val="3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的析构函数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6156325" y="3724275"/>
            <a:ext cx="1655763" cy="1296988"/>
            <a:chOff x="5796136" y="1340768"/>
            <a:chExt cx="1656184" cy="1296144"/>
          </a:xfrm>
        </p:grpSpPr>
        <p:sp>
          <p:nvSpPr>
            <p:cNvPr id="15368" name="TextBox 2"/>
            <p:cNvSpPr txBox="1"/>
            <p:nvPr/>
          </p:nvSpPr>
          <p:spPr>
            <a:xfrm>
              <a:off x="6819322" y="1340768"/>
              <a:ext cx="540670" cy="461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/>
                <a:t>s1</a:t>
              </a:r>
              <a:endParaRPr lang="zh-CN" altLang="en-US" sz="2400" dirty="0"/>
            </a:p>
          </p:txBody>
        </p:sp>
        <p:sp>
          <p:nvSpPr>
            <p:cNvPr id="15369" name="矩形 3"/>
            <p:cNvSpPr/>
            <p:nvPr/>
          </p:nvSpPr>
          <p:spPr>
            <a:xfrm>
              <a:off x="6588224" y="1844824"/>
              <a:ext cx="864096" cy="792088"/>
            </a:xfrm>
            <a:prstGeom prst="rect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cxnSp>
          <p:nvCxnSpPr>
            <p:cNvPr id="15370" name="直接连接符 5"/>
            <p:cNvCxnSpPr>
              <a:stCxn id="15369" idx="1"/>
              <a:endCxn id="15369" idx="3"/>
            </p:cNvCxnSpPr>
            <p:nvPr/>
          </p:nvCxnSpPr>
          <p:spPr>
            <a:xfrm rot="-10800000" flipH="1">
              <a:off x="6588224" y="2240868"/>
              <a:ext cx="86409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cxnSp>
        <p:sp>
          <p:nvSpPr>
            <p:cNvPr id="15371" name="TextBox 6"/>
            <p:cNvSpPr txBox="1"/>
            <p:nvPr/>
          </p:nvSpPr>
          <p:spPr>
            <a:xfrm>
              <a:off x="5796136" y="1804754"/>
              <a:ext cx="686406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len:</a:t>
              </a:r>
              <a:endParaRPr lang="zh-CN" altLang="en-US" sz="2000" dirty="0"/>
            </a:p>
          </p:txBody>
        </p:sp>
        <p:sp>
          <p:nvSpPr>
            <p:cNvPr id="15372" name="TextBox 7"/>
            <p:cNvSpPr txBox="1"/>
            <p:nvPr/>
          </p:nvSpPr>
          <p:spPr>
            <a:xfrm>
              <a:off x="5796136" y="2204864"/>
              <a:ext cx="64472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str:</a:t>
              </a:r>
              <a:endParaRPr lang="zh-CN" altLang="en-US" sz="2000" dirty="0"/>
            </a:p>
          </p:txBody>
        </p:sp>
      </p:grpSp>
      <p:grpSp>
        <p:nvGrpSpPr>
          <p:cNvPr id="3" name="组合 13"/>
          <p:cNvGrpSpPr/>
          <p:nvPr/>
        </p:nvGrpSpPr>
        <p:grpSpPr>
          <a:xfrm>
            <a:off x="7248525" y="4229100"/>
            <a:ext cx="1716088" cy="792163"/>
            <a:chOff x="7248164" y="3140968"/>
            <a:chExt cx="1716324" cy="792088"/>
          </a:xfrm>
        </p:grpSpPr>
        <p:sp>
          <p:nvSpPr>
            <p:cNvPr id="15365" name="TextBox 9"/>
            <p:cNvSpPr txBox="1"/>
            <p:nvPr/>
          </p:nvSpPr>
          <p:spPr>
            <a:xfrm>
              <a:off x="7248164" y="3140968"/>
              <a:ext cx="348220" cy="4000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4</a:t>
              </a:r>
              <a:endParaRPr lang="zh-CN" altLang="en-US" sz="2000" dirty="0"/>
            </a:p>
          </p:txBody>
        </p:sp>
        <p:cxnSp>
          <p:nvCxnSpPr>
            <p:cNvPr id="15366" name="直接箭头连接符 11"/>
            <p:cNvCxnSpPr/>
            <p:nvPr/>
          </p:nvCxnSpPr>
          <p:spPr>
            <a:xfrm>
              <a:off x="7380312" y="3717032"/>
              <a:ext cx="720080" cy="1588"/>
            </a:xfrm>
            <a:prstGeom prst="straightConnector1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cxnSp>
        <p:sp>
          <p:nvSpPr>
            <p:cNvPr id="15367" name="矩形 12"/>
            <p:cNvSpPr/>
            <p:nvPr/>
          </p:nvSpPr>
          <p:spPr>
            <a:xfrm>
              <a:off x="8172400" y="3573016"/>
              <a:ext cx="792088" cy="360040"/>
            </a:xfrm>
            <a:prstGeom prst="rect">
              <a:avLst/>
            </a:prstGeom>
            <a:solidFill>
              <a:srgbClr val="C00000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abcd</a:t>
              </a: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15888"/>
            <a:ext cx="8362950" cy="6697663"/>
          </a:xfrm>
        </p:spPr>
        <p:txBody>
          <a:bodyPr vert="horz" wrap="square" lIns="91440" tIns="45720" rIns="91440" bIns="45720" numCol="1" anchor="t" anchorCtr="0" compatLnSpc="1">
            <a:normAutofit fontScale="40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5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再例如：用链表实现的栈类，由于链表中的结点空间</a:t>
            </a:r>
            <a:r>
              <a:rPr kumimoji="0" lang="zh-CN" altLang="en-US" sz="5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5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push</a:t>
            </a:r>
            <a:r>
              <a:rPr kumimoji="0" lang="zh-CN" altLang="en-US" sz="5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操作申请</a:t>
            </a:r>
            <a:r>
              <a:rPr kumimoji="0" lang="zh-CN" altLang="en-US" sz="5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5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，如果</a:t>
            </a:r>
            <a:r>
              <a:rPr kumimoji="0" lang="en-US" altLang="zh-CN" sz="5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pop</a:t>
            </a:r>
            <a:r>
              <a:rPr kumimoji="0" lang="zh-CN" altLang="en-US" sz="5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操作数量不够，则对象消亡时要在析构函数中归还</a:t>
            </a:r>
            <a:r>
              <a:rPr kumimoji="0" lang="zh-CN" altLang="en-US" sz="5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它们！</a:t>
            </a:r>
            <a:endParaRPr kumimoji="0" lang="en-GB" altLang="zh-CN" sz="5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Stack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zh-CN" altLang="en-GB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Stack() { top = NULL; 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4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~Stack()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45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析构函数</a:t>
            </a:r>
            <a:endParaRPr kumimoji="0" lang="en-GB" altLang="zh-CN" sz="45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{ while (top != NULL)</a:t>
            </a:r>
            <a:endParaRPr kumimoji="0" lang="en-GB" altLang="zh-CN" sz="4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{ Node *p=top;   top = top-&gt;next;</a:t>
            </a:r>
            <a:endParaRPr kumimoji="0" lang="en-GB" altLang="zh-CN" sz="4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   delete p;</a:t>
            </a:r>
            <a:endParaRPr kumimoji="0" lang="en-GB" altLang="zh-CN" sz="4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}  </a:t>
            </a:r>
            <a:endParaRPr kumimoji="0" lang="en-GB" altLang="zh-CN" sz="4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push(</a:t>
            </a:r>
            <a:r>
              <a:rPr kumimoji="0" lang="en-GB" altLang="zh-CN" sz="4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4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pop(</a:t>
            </a:r>
            <a:r>
              <a:rPr kumimoji="0" lang="en-GB" altLang="zh-CN" sz="45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GB" altLang="zh-CN" sz="4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private:</a:t>
            </a:r>
            <a:endParaRPr kumimoji="0" lang="en-US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4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Node</a:t>
            </a:r>
            <a:endParaRPr kumimoji="0" lang="en-US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 </a:t>
            </a:r>
            <a:r>
              <a:rPr kumimoji="0" lang="en-US" altLang="zh-CN" sz="45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content</a:t>
            </a: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Node *next;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 *top;</a:t>
            </a:r>
            <a:endParaRPr kumimoji="0" lang="en-GB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4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4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11175"/>
            <a:ext cx="8362950" cy="587057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析构函数可以显式调用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，这时并不是让对象消亡，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而是暂时归还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对象额外申请的资源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String s1("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abcd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");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s1.~String()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把字符串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清空，对象并未消亡！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s1 ...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仍然可以使用对象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Stack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st.push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... 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st.pop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...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.~Stack()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清空栈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st.push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...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st.pop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//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仍然可以使用栈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6375"/>
            <a:ext cx="8229600" cy="7747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成员对象的初始化和消亡处理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9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435975" cy="5329238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如果创建的对象包含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成员对象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，那么，成员对象如何进行初始化和消亡处理？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在创建包含成员对象的对象时，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会自动调用本身类的构造函数外，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自动去调用成员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对象类的构造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通常是调用成员对象类的默认构造函数。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如果要调用成员对象类的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非默认构造函数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，需要在包含成员对象的对象类的构造函数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成员初始化表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中显式指出！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包含成员对象的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对象消亡时，除了会自动调用本身类的析构函数外，还会自动去调用成员对象类的析构函数。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3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3315">
                                            <p:txEl>
                                              <p:charRg st="3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3315">
                                            <p:txEl>
                                              <p:charRg st="3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85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93315">
                                            <p:txEl>
                                              <p:charRg st="85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3315">
                                            <p:txEl>
                                              <p:charRg st="85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104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93315">
                                            <p:txEl>
                                              <p:charRg st="104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93315">
                                            <p:txEl>
                                              <p:charRg st="104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154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3315">
                                            <p:txEl>
                                              <p:charRg st="154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3315">
                                            <p:txEl>
                                              <p:charRg st="154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9091" name="Rectangle 3"/>
          <p:cNvSpPr>
            <a:spLocks noGrp="1" noChangeArrowheads="1"/>
          </p:cNvSpPr>
          <p:nvPr>
            <p:ph idx="1"/>
          </p:nvPr>
        </p:nvSpPr>
        <p:spPr>
          <a:xfrm>
            <a:off x="446088" y="260350"/>
            <a:ext cx="8229600" cy="64087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public: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A() { x = 0; 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A(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x =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}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A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public: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B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{ y = 0;}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y =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} 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j):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a(j)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 y =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}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b0;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b0.y=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b0.a.x=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b1(1);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b1.y=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b1.a.x=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b2(1,2);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int,int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b2.y=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b2.a.x=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//b0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消亡时，会分别去调用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的析构函数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18488" cy="532765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创建包含成员对象的对象时，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先执行成员对象类的构造函数，再执行本对象类的构造函数。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包含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成员对象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，这些成员对象的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构造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函数执行次序则按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本对象类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中的说明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次序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实现上说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先调用本身类的构造函数，但在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进入函数体之前，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会去调用成员对象类的构造函数，然后再执行本身类构造函数的函数体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也就是说，构造函数的成员初始化表（即使没显式给出）中有对成员对象类的构造函数的调用代码。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注意：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类中未提供任何构造函数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，但它包含成员对象，则编译程序会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隐式地为之提供一个默认构造函数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，其作用就是调用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成员对象类的构造函数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！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6375"/>
            <a:ext cx="8229600" cy="7747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成员对象初始化和消亡处理的次序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8229600" cy="547370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对象消亡时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执行本身类的析构函数，再执行成员对象类的析构函数。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如果有多个成员对象，则成员对象析构函数的执行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次序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则按它们在本对象类中的说明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次序的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逆序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从实现上说，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是先调用本身类的析构函数，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本身类析构函数的函数体执行完之后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，再去调用成员对象类的析构函数！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也就是说，析构函数的函数体最后有对成员对象类的析构函数的调用代码！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注意：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类中未提供析构函数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但它包含成员对象，则编译程序会隐式地为之提供一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个析构函数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，其作用就是调用成员对象类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的析构函数。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3992</Words>
  <Application>WPS 演示</Application>
  <PresentationFormat>全屏显示(4:3)</PresentationFormat>
  <Paragraphs>245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603</cp:revision>
  <dcterms:created xsi:type="dcterms:W3CDTF">1999-05-22T12:40:20Z</dcterms:created>
  <dcterms:modified xsi:type="dcterms:W3CDTF">2023-09-18T05:57:14Z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
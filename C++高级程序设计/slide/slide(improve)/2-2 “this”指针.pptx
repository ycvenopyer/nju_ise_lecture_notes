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931" r:id="rId3"/>
    <p:sldId id="784" r:id="rId4"/>
    <p:sldId id="949" r:id="rId5"/>
    <p:sldId id="785" r:id="rId6"/>
    <p:sldId id="950" r:id="rId7"/>
    <p:sldId id="951" r:id="rId8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04B96"/>
    <a:srgbClr val="FF9900"/>
    <a:srgbClr val="000000"/>
    <a:srgbClr val="00FFFF"/>
    <a:srgbClr val="85EDA0"/>
    <a:srgbClr val="00CCFF"/>
    <a:srgbClr val="FFFF99"/>
    <a:srgbClr val="FDAF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2273"/>
    <p:restoredTop sz="88873"/>
  </p:normalViewPr>
  <p:slideViewPr>
    <p:cSldViewPr showGuides="1">
      <p:cViewPr varScale="1">
        <p:scale>
          <a:sx n="90" d="100"/>
          <a:sy n="90" d="100"/>
        </p:scale>
        <p:origin x="883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75" d="100"/>
        <a:sy n="75" d="100"/>
      </p:scale>
      <p:origin x="0" y="2134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8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87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87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DD12D22-CE23-4E84-A1F0-FEB7FD074C51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04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4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A15E3C4-F1C8-4C5E-A806-78C9DAA7A2CC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1" name="Group 2"/>
          <p:cNvGrpSpPr/>
          <p:nvPr/>
        </p:nvGrpSpPr>
        <p:grpSpPr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45" name="Freeform 3"/>
            <p:cNvSpPr/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" name="Freeform 4"/>
            <p:cNvSpPr/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" name="Freeform 5"/>
            <p:cNvSpPr/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060" name="Group 6"/>
            <p:cNvGrpSpPr/>
            <p:nvPr/>
          </p:nvGrpSpPr>
          <p:grpSpPr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68" name="Freeform 7"/>
              <p:cNvSpPr/>
              <p:nvPr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9" name="Freeform 8"/>
              <p:cNvSpPr/>
              <p:nvPr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0" name="Freeform 9"/>
              <p:cNvSpPr/>
              <p:nvPr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1" name="Freeform 10"/>
              <p:cNvSpPr/>
              <p:nvPr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2" name="Freeform 11"/>
              <p:cNvSpPr/>
              <p:nvPr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3" name="Freeform 12"/>
              <p:cNvSpPr/>
              <p:nvPr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4" name="Freeform 13"/>
              <p:cNvSpPr/>
              <p:nvPr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5" name="Freeform 14"/>
              <p:cNvSpPr/>
              <p:nvPr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6" name="Freeform 15"/>
              <p:cNvSpPr/>
              <p:nvPr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7" name="Freeform 16"/>
              <p:cNvSpPr/>
              <p:nvPr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8" name="Freeform 17"/>
              <p:cNvSpPr/>
              <p:nvPr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9" name="Freeform 18"/>
              <p:cNvSpPr/>
              <p:nvPr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0" name="Freeform 19"/>
              <p:cNvSpPr/>
              <p:nvPr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49" name="Freeform 20"/>
            <p:cNvSpPr/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" name="Freeform 21"/>
            <p:cNvSpPr/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Freeform 22"/>
            <p:cNvSpPr/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4" name="Freeform 23"/>
            <p:cNvSpPr/>
            <p:nvPr/>
          </p:nvSpPr>
          <p:spPr>
            <a:xfrm>
              <a:off x="5041" y="0"/>
              <a:ext cx="719" cy="845"/>
            </a:xfrm>
            <a:custGeom>
              <a:avLst/>
              <a:gdLst/>
              <a:ahLst/>
              <a:cxnLst>
                <a:cxn ang="0">
                  <a:pos x="993" y="845"/>
                </a:cxn>
                <a:cxn ang="0">
                  <a:pos x="993" y="821"/>
                </a:cxn>
                <a:cxn ang="0">
                  <a:pos x="818" y="605"/>
                </a:cxn>
                <a:cxn ang="0">
                  <a:pos x="528" y="396"/>
                </a:cxn>
                <a:cxn ang="0">
                  <a:pos x="343" y="192"/>
                </a:cxn>
                <a:cxn ang="0">
                  <a:pos x="17" y="0"/>
                </a:cxn>
                <a:cxn ang="0">
                  <a:pos x="0" y="0"/>
                </a:cxn>
                <a:cxn ang="0">
                  <a:pos x="331" y="198"/>
                </a:cxn>
                <a:cxn ang="0">
                  <a:pos x="522" y="408"/>
                </a:cxn>
                <a:cxn ang="0">
                  <a:pos x="812" y="623"/>
                </a:cxn>
                <a:cxn ang="0">
                  <a:pos x="993" y="845"/>
                </a:cxn>
                <a:cxn ang="0">
                  <a:pos x="993" y="845"/>
                </a:cxn>
              </a:cxnLst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5" name="Freeform 24"/>
            <p:cNvSpPr/>
            <p:nvPr/>
          </p:nvSpPr>
          <p:spPr>
            <a:xfrm>
              <a:off x="5352" y="0"/>
              <a:ext cx="408" cy="414"/>
            </a:xfrm>
            <a:custGeom>
              <a:avLst/>
              <a:gdLst/>
              <a:ahLst/>
              <a:cxnLst>
                <a:cxn ang="0">
                  <a:pos x="529" y="414"/>
                </a:cxn>
                <a:cxn ang="0">
                  <a:pos x="529" y="396"/>
                </a:cxn>
                <a:cxn ang="0">
                  <a:pos x="344" y="192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08" y="102"/>
                </a:cxn>
                <a:cxn ang="0">
                  <a:pos x="338" y="204"/>
                </a:cxn>
                <a:cxn ang="0">
                  <a:pos x="529" y="414"/>
                </a:cxn>
                <a:cxn ang="0">
                  <a:pos x="529" y="414"/>
                </a:cxn>
              </a:cxnLst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" name="Freeform 25"/>
            <p:cNvSpPr/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7" name="Freeform 26"/>
            <p:cNvSpPr/>
            <p:nvPr/>
          </p:nvSpPr>
          <p:spPr>
            <a:xfrm>
              <a:off x="6" y="0"/>
              <a:ext cx="588" cy="599"/>
            </a:xfrm>
            <a:custGeom>
              <a:avLst/>
              <a:gdLst/>
              <a:ahLst/>
              <a:cxnLst>
                <a:cxn ang="0">
                  <a:pos x="878" y="0"/>
                </a:cxn>
                <a:cxn ang="0">
                  <a:pos x="851" y="0"/>
                </a:cxn>
                <a:cxn ang="0">
                  <a:pos x="618" y="132"/>
                </a:cxn>
                <a:cxn ang="0">
                  <a:pos x="379" y="270"/>
                </a:cxn>
                <a:cxn ang="0">
                  <a:pos x="120" y="420"/>
                </a:cxn>
                <a:cxn ang="0">
                  <a:pos x="0" y="575"/>
                </a:cxn>
                <a:cxn ang="0">
                  <a:pos x="0" y="599"/>
                </a:cxn>
                <a:cxn ang="0">
                  <a:pos x="120" y="432"/>
                </a:cxn>
                <a:cxn ang="0">
                  <a:pos x="379" y="282"/>
                </a:cxn>
                <a:cxn ang="0">
                  <a:pos x="630" y="138"/>
                </a:cxn>
                <a:cxn ang="0">
                  <a:pos x="878" y="0"/>
                </a:cxn>
                <a:cxn ang="0">
                  <a:pos x="878" y="0"/>
                </a:cxn>
              </a:cxnLst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8" name="Freeform 27"/>
            <p:cNvSpPr/>
            <p:nvPr/>
          </p:nvSpPr>
          <p:spPr>
            <a:xfrm>
              <a:off x="6" y="0"/>
              <a:ext cx="270" cy="252"/>
            </a:xfrm>
            <a:custGeom>
              <a:avLst/>
              <a:gdLst/>
              <a:ahLst/>
              <a:cxnLst>
                <a:cxn ang="0">
                  <a:pos x="391" y="0"/>
                </a:cxn>
                <a:cxn ang="0">
                  <a:pos x="373" y="0"/>
                </a:cxn>
                <a:cxn ang="0">
                  <a:pos x="120" y="114"/>
                </a:cxn>
                <a:cxn ang="0">
                  <a:pos x="60" y="174"/>
                </a:cxn>
                <a:cxn ang="0">
                  <a:pos x="0" y="234"/>
                </a:cxn>
                <a:cxn ang="0">
                  <a:pos x="0" y="252"/>
                </a:cxn>
                <a:cxn ang="0">
                  <a:pos x="126" y="120"/>
                </a:cxn>
                <a:cxn ang="0">
                  <a:pos x="391" y="0"/>
                </a:cxn>
                <a:cxn ang="0">
                  <a:pos x="391" y="0"/>
                </a:cxn>
              </a:cxnLst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9" name="Line 28"/>
            <p:cNvSpPr/>
            <p:nvPr/>
          </p:nvSpPr>
          <p:spPr>
            <a:xfrm>
              <a:off x="1" y="2749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70" name="Line 29"/>
            <p:cNvSpPr/>
            <p:nvPr/>
          </p:nvSpPr>
          <p:spPr>
            <a:xfrm>
              <a:off x="1" y="2356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71" name="Line 30"/>
            <p:cNvSpPr/>
            <p:nvPr/>
          </p:nvSpPr>
          <p:spPr>
            <a:xfrm>
              <a:off x="1" y="3142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072" name="Group 31"/>
            <p:cNvGrpSpPr/>
            <p:nvPr/>
          </p:nvGrpSpPr>
          <p:grpSpPr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2075" name="Line 32"/>
              <p:cNvSpPr/>
              <p:nvPr userDrawn="1"/>
            </p:nvSpPr>
            <p:spPr>
              <a:xfrm>
                <a:off x="1" y="784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6" name="Line 33"/>
              <p:cNvSpPr/>
              <p:nvPr userDrawn="1"/>
            </p:nvSpPr>
            <p:spPr>
              <a:xfrm>
                <a:off x="1" y="1963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7" name="Line 34"/>
              <p:cNvSpPr/>
              <p:nvPr userDrawn="1"/>
            </p:nvSpPr>
            <p:spPr>
              <a:xfrm>
                <a:off x="1" y="1570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8" name="Line 35"/>
              <p:cNvSpPr/>
              <p:nvPr userDrawn="1"/>
            </p:nvSpPr>
            <p:spPr>
              <a:xfrm>
                <a:off x="1" y="1177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9" name="Line 36"/>
              <p:cNvSpPr/>
              <p:nvPr userDrawn="1"/>
            </p:nvSpPr>
            <p:spPr>
              <a:xfrm>
                <a:off x="1" y="392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073" name="Line 37"/>
            <p:cNvSpPr/>
            <p:nvPr/>
          </p:nvSpPr>
          <p:spPr>
            <a:xfrm>
              <a:off x="1" y="3928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74" name="Line 38"/>
            <p:cNvSpPr/>
            <p:nvPr/>
          </p:nvSpPr>
          <p:spPr>
            <a:xfrm>
              <a:off x="1" y="3535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265703" name="Rectangle 3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265704" name="Rectangle 4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81" name="Rectangle 41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" name="Rectangle 4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3" name="Rectangle 4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EDDA3DF-1B9F-495A-A3AD-96C09AD5C3B9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FCD8E86-FC76-4518-B3C0-8CF01C863382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FCD8E86-FC76-4518-B3C0-8CF01C863382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FCD8E86-FC76-4518-B3C0-8CF01C863382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FCD8E86-FC76-4518-B3C0-8CF01C863382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FCD8E86-FC76-4518-B3C0-8CF01C863382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FCD8E86-FC76-4518-B3C0-8CF01C863382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FCD8E86-FC76-4518-B3C0-8CF01C863382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FCD8E86-FC76-4518-B3C0-8CF01C863382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FCD8E86-FC76-4518-B3C0-8CF01C863382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FCD8E86-FC76-4518-B3C0-8CF01C863382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bg1">
                <a:lumMod val="50000"/>
              </a:schemeClr>
            </a:gs>
            <a:gs pos="97000">
              <a:schemeClr val="bg2">
                <a:lumMod val="5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/>
          <p:nvPr/>
        </p:nvGrpSpPr>
        <p:grpSpPr>
          <a:xfrm>
            <a:off x="1588" y="0"/>
            <a:ext cx="9148762" cy="6851650"/>
            <a:chOff x="1" y="0"/>
            <a:chExt cx="5763" cy="4316"/>
          </a:xfrm>
        </p:grpSpPr>
        <p:sp>
          <p:nvSpPr>
            <p:cNvPr id="1264643" name="Freeform 3"/>
            <p:cNvSpPr/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64644" name="Freeform 4"/>
            <p:cNvSpPr/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64645" name="Freeform 5"/>
            <p:cNvSpPr/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035" name="Group 6"/>
            <p:cNvGrpSpPr/>
            <p:nvPr/>
          </p:nvGrpSpPr>
          <p:grpSpPr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1264647" name="Freeform 7"/>
              <p:cNvSpPr/>
              <p:nvPr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48" name="Freeform 8"/>
              <p:cNvSpPr/>
              <p:nvPr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49" name="Freeform 9"/>
              <p:cNvSpPr/>
              <p:nvPr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0" name="Freeform 10"/>
              <p:cNvSpPr/>
              <p:nvPr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1" name="Freeform 11"/>
              <p:cNvSpPr/>
              <p:nvPr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2" name="Freeform 12"/>
              <p:cNvSpPr/>
              <p:nvPr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3" name="Freeform 13"/>
              <p:cNvSpPr/>
              <p:nvPr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4" name="Freeform 14"/>
              <p:cNvSpPr/>
              <p:nvPr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5" name="Freeform 15"/>
              <p:cNvSpPr/>
              <p:nvPr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6" name="Freeform 16"/>
              <p:cNvSpPr/>
              <p:nvPr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7" name="Freeform 17"/>
              <p:cNvSpPr/>
              <p:nvPr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8" name="Freeform 18"/>
              <p:cNvSpPr/>
              <p:nvPr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9" name="Freeform 19"/>
              <p:cNvSpPr/>
              <p:nvPr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264660" name="Freeform 20"/>
            <p:cNvSpPr/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64661" name="Freeform 21"/>
            <p:cNvSpPr/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64662" name="Freeform 22"/>
            <p:cNvSpPr/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9" name="Freeform 23"/>
            <p:cNvSpPr/>
            <p:nvPr/>
          </p:nvSpPr>
          <p:spPr>
            <a:xfrm>
              <a:off x="5041" y="0"/>
              <a:ext cx="719" cy="845"/>
            </a:xfrm>
            <a:custGeom>
              <a:avLst/>
              <a:gdLst/>
              <a:ahLst/>
              <a:cxnLst>
                <a:cxn ang="0">
                  <a:pos x="993" y="845"/>
                </a:cxn>
                <a:cxn ang="0">
                  <a:pos x="993" y="821"/>
                </a:cxn>
                <a:cxn ang="0">
                  <a:pos x="818" y="605"/>
                </a:cxn>
                <a:cxn ang="0">
                  <a:pos x="528" y="396"/>
                </a:cxn>
                <a:cxn ang="0">
                  <a:pos x="343" y="192"/>
                </a:cxn>
                <a:cxn ang="0">
                  <a:pos x="17" y="0"/>
                </a:cxn>
                <a:cxn ang="0">
                  <a:pos x="0" y="0"/>
                </a:cxn>
                <a:cxn ang="0">
                  <a:pos x="331" y="198"/>
                </a:cxn>
                <a:cxn ang="0">
                  <a:pos x="522" y="408"/>
                </a:cxn>
                <a:cxn ang="0">
                  <a:pos x="812" y="623"/>
                </a:cxn>
                <a:cxn ang="0">
                  <a:pos x="993" y="845"/>
                </a:cxn>
                <a:cxn ang="0">
                  <a:pos x="993" y="845"/>
                </a:cxn>
              </a:cxnLst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0" name="Freeform 24"/>
            <p:cNvSpPr/>
            <p:nvPr/>
          </p:nvSpPr>
          <p:spPr>
            <a:xfrm>
              <a:off x="5352" y="0"/>
              <a:ext cx="408" cy="414"/>
            </a:xfrm>
            <a:custGeom>
              <a:avLst/>
              <a:gdLst/>
              <a:ahLst/>
              <a:cxnLst>
                <a:cxn ang="0">
                  <a:pos x="529" y="414"/>
                </a:cxn>
                <a:cxn ang="0">
                  <a:pos x="529" y="396"/>
                </a:cxn>
                <a:cxn ang="0">
                  <a:pos x="344" y="192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08" y="102"/>
                </a:cxn>
                <a:cxn ang="0">
                  <a:pos x="338" y="204"/>
                </a:cxn>
                <a:cxn ang="0">
                  <a:pos x="529" y="414"/>
                </a:cxn>
                <a:cxn ang="0">
                  <a:pos x="529" y="414"/>
                </a:cxn>
              </a:cxnLst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64665" name="Freeform 25"/>
            <p:cNvSpPr/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2" name="Freeform 26"/>
            <p:cNvSpPr/>
            <p:nvPr/>
          </p:nvSpPr>
          <p:spPr>
            <a:xfrm>
              <a:off x="6" y="0"/>
              <a:ext cx="588" cy="599"/>
            </a:xfrm>
            <a:custGeom>
              <a:avLst/>
              <a:gdLst/>
              <a:ahLst/>
              <a:cxnLst>
                <a:cxn ang="0">
                  <a:pos x="878" y="0"/>
                </a:cxn>
                <a:cxn ang="0">
                  <a:pos x="851" y="0"/>
                </a:cxn>
                <a:cxn ang="0">
                  <a:pos x="618" y="132"/>
                </a:cxn>
                <a:cxn ang="0">
                  <a:pos x="379" y="270"/>
                </a:cxn>
                <a:cxn ang="0">
                  <a:pos x="120" y="420"/>
                </a:cxn>
                <a:cxn ang="0">
                  <a:pos x="0" y="575"/>
                </a:cxn>
                <a:cxn ang="0">
                  <a:pos x="0" y="599"/>
                </a:cxn>
                <a:cxn ang="0">
                  <a:pos x="120" y="432"/>
                </a:cxn>
                <a:cxn ang="0">
                  <a:pos x="379" y="282"/>
                </a:cxn>
                <a:cxn ang="0">
                  <a:pos x="630" y="138"/>
                </a:cxn>
                <a:cxn ang="0">
                  <a:pos x="878" y="0"/>
                </a:cxn>
                <a:cxn ang="0">
                  <a:pos x="878" y="0"/>
                </a:cxn>
              </a:cxnLst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3" name="Freeform 27"/>
            <p:cNvSpPr/>
            <p:nvPr/>
          </p:nvSpPr>
          <p:spPr>
            <a:xfrm>
              <a:off x="6" y="0"/>
              <a:ext cx="270" cy="252"/>
            </a:xfrm>
            <a:custGeom>
              <a:avLst/>
              <a:gdLst/>
              <a:ahLst/>
              <a:cxnLst>
                <a:cxn ang="0">
                  <a:pos x="391" y="0"/>
                </a:cxn>
                <a:cxn ang="0">
                  <a:pos x="373" y="0"/>
                </a:cxn>
                <a:cxn ang="0">
                  <a:pos x="120" y="114"/>
                </a:cxn>
                <a:cxn ang="0">
                  <a:pos x="60" y="174"/>
                </a:cxn>
                <a:cxn ang="0">
                  <a:pos x="0" y="234"/>
                </a:cxn>
                <a:cxn ang="0">
                  <a:pos x="0" y="252"/>
                </a:cxn>
                <a:cxn ang="0">
                  <a:pos x="126" y="120"/>
                </a:cxn>
                <a:cxn ang="0">
                  <a:pos x="391" y="0"/>
                </a:cxn>
                <a:cxn ang="0">
                  <a:pos x="391" y="0"/>
                </a:cxn>
              </a:cxnLst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4" name="Line 28"/>
            <p:cNvSpPr/>
            <p:nvPr/>
          </p:nvSpPr>
          <p:spPr>
            <a:xfrm>
              <a:off x="1" y="2749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5" name="Line 29"/>
            <p:cNvSpPr/>
            <p:nvPr/>
          </p:nvSpPr>
          <p:spPr>
            <a:xfrm>
              <a:off x="1" y="2356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6" name="Line 30"/>
            <p:cNvSpPr/>
            <p:nvPr/>
          </p:nvSpPr>
          <p:spPr>
            <a:xfrm>
              <a:off x="1" y="3142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047" name="Group 31"/>
            <p:cNvGrpSpPr/>
            <p:nvPr/>
          </p:nvGrpSpPr>
          <p:grpSpPr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1050" name="Line 32"/>
              <p:cNvSpPr/>
              <p:nvPr userDrawn="1"/>
            </p:nvSpPr>
            <p:spPr>
              <a:xfrm>
                <a:off x="1" y="784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1" name="Line 33"/>
              <p:cNvSpPr/>
              <p:nvPr userDrawn="1"/>
            </p:nvSpPr>
            <p:spPr>
              <a:xfrm>
                <a:off x="1" y="1963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2" name="Line 34"/>
              <p:cNvSpPr/>
              <p:nvPr userDrawn="1"/>
            </p:nvSpPr>
            <p:spPr>
              <a:xfrm>
                <a:off x="1" y="1570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3" name="Line 35"/>
              <p:cNvSpPr/>
              <p:nvPr userDrawn="1"/>
            </p:nvSpPr>
            <p:spPr>
              <a:xfrm>
                <a:off x="1" y="1177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4" name="Line 36"/>
              <p:cNvSpPr/>
              <p:nvPr userDrawn="1"/>
            </p:nvSpPr>
            <p:spPr>
              <a:xfrm>
                <a:off x="1" y="392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048" name="Line 37"/>
            <p:cNvSpPr/>
            <p:nvPr/>
          </p:nvSpPr>
          <p:spPr>
            <a:xfrm>
              <a:off x="1" y="3928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" name="Line 38"/>
            <p:cNvSpPr/>
            <p:nvPr/>
          </p:nvSpPr>
          <p:spPr>
            <a:xfrm>
              <a:off x="1" y="3535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264679" name="Rectangle 39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1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264680" name="Rectangle 4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64681" name="Rectangle 4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64682" name="Rectangle 4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FCD8E86-FC76-4518-B3C0-8CF01C863382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64683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67714" name="Rectangle 2"/>
          <p:cNvSpPr>
            <a:spLocks noGrp="1" noChangeArrowheads="1"/>
          </p:cNvSpPr>
          <p:nvPr>
            <p:ph type="ctrTitle" sz="quarter"/>
          </p:nvPr>
        </p:nvSpPr>
        <p:spPr/>
        <p:txBody>
          <a:bodyPr vert="horz" wrap="square" lIns="91440" tIns="45720" rIns="91440" bIns="45720" numCol="1" anchor="b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“</a:t>
            </a:r>
            <a:r>
              <a:rPr kumimoji="0" lang="en-US" altLang="zh-CN" sz="5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this</a:t>
            </a:r>
            <a:r>
              <a:rPr kumimoji="0" lang="zh-CN" altLang="en-US" sz="5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”指针</a:t>
            </a:r>
            <a:endParaRPr kumimoji="0" lang="zh-CN" altLang="en-US" sz="5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267715" name="Rectangle 3"/>
          <p:cNvSpPr>
            <a:spLocks noGrp="1" noChangeArrowheads="1"/>
          </p:cNvSpPr>
          <p:nvPr>
            <p:ph type="subTitle" sz="quarter"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zh-CN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5443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404813"/>
            <a:ext cx="8642350" cy="6308725"/>
          </a:xfrm>
        </p:spPr>
        <p:txBody>
          <a:bodyPr vert="horz" wrap="square" lIns="91440" tIns="45720" rIns="91440" bIns="45720" numCol="1" anchor="t" anchorCtr="0" compatLnSpc="1">
            <a:normAutofit fontScale="92500" lnSpcReduction="1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类中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描述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的数据成员</a:t>
            </a:r>
            <a:r>
              <a:rPr kumimoji="0" lang="zh-CN" altLang="en-GB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（静态数据成员除外）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对该类的每个对象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分别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有一个拷贝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。例如：</a:t>
            </a:r>
            <a:endParaRPr kumimoji="0" lang="zh-CN" altLang="en-GB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A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	public: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void g(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 { x =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 };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......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//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其它成员函数</a:t>
            </a:r>
            <a:endParaRPr kumimoji="0" lang="en-GB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private: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x,y,z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,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 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a.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g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(1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b.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g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(2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类中的成员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函数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是不是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该类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的每个对象都有一个拷贝呢？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否！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成员函数对该类所有对象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只有一个拷贝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！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0" lang="zh-CN" altLang="en-GB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函数</a:t>
            </a:r>
            <a:r>
              <a:rPr kumimoji="0" lang="en-GB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zh-CN" altLang="en-GB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怎么知道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是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对象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还是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对象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呢</a:t>
            </a:r>
            <a:r>
              <a:rPr kumimoji="0" lang="zh-CN" altLang="en-GB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？</a:t>
            </a:r>
            <a:endParaRPr kumimoji="0" lang="en-GB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6147" name="Group 15"/>
          <p:cNvGrpSpPr/>
          <p:nvPr/>
        </p:nvGrpSpPr>
        <p:grpSpPr>
          <a:xfrm>
            <a:off x="5408613" y="2684463"/>
            <a:ext cx="3543300" cy="1681162"/>
            <a:chOff x="2205" y="3234"/>
            <a:chExt cx="1893" cy="967"/>
          </a:xfrm>
        </p:grpSpPr>
        <p:grpSp>
          <p:nvGrpSpPr>
            <p:cNvPr id="6150" name="Group 6"/>
            <p:cNvGrpSpPr/>
            <p:nvPr/>
          </p:nvGrpSpPr>
          <p:grpSpPr>
            <a:xfrm>
              <a:off x="2557" y="3566"/>
              <a:ext cx="1541" cy="635"/>
              <a:chOff x="2142" y="3691"/>
              <a:chExt cx="874" cy="374"/>
            </a:xfrm>
          </p:grpSpPr>
          <p:sp>
            <p:nvSpPr>
              <p:cNvPr id="6159" name="Rectangle 0"/>
              <p:cNvSpPr/>
              <p:nvPr/>
            </p:nvSpPr>
            <p:spPr>
              <a:xfrm>
                <a:off x="2142" y="3691"/>
                <a:ext cx="288" cy="374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/>
              </a:p>
            </p:txBody>
          </p:sp>
          <p:sp>
            <p:nvSpPr>
              <p:cNvPr id="6160" name="Line 1"/>
              <p:cNvSpPr/>
              <p:nvPr/>
            </p:nvSpPr>
            <p:spPr>
              <a:xfrm>
                <a:off x="2142" y="3815"/>
                <a:ext cx="288" cy="1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61" name="Line 2"/>
              <p:cNvSpPr/>
              <p:nvPr/>
            </p:nvSpPr>
            <p:spPr>
              <a:xfrm>
                <a:off x="2142" y="3940"/>
                <a:ext cx="288" cy="1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62" name="Rectangle 3"/>
              <p:cNvSpPr/>
              <p:nvPr/>
            </p:nvSpPr>
            <p:spPr>
              <a:xfrm>
                <a:off x="2728" y="3691"/>
                <a:ext cx="288" cy="374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dirty="0"/>
              </a:p>
            </p:txBody>
          </p:sp>
          <p:sp>
            <p:nvSpPr>
              <p:cNvPr id="6163" name="Line 4"/>
              <p:cNvSpPr/>
              <p:nvPr/>
            </p:nvSpPr>
            <p:spPr>
              <a:xfrm>
                <a:off x="2728" y="3815"/>
                <a:ext cx="288" cy="1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64" name="Line 5"/>
              <p:cNvSpPr/>
              <p:nvPr/>
            </p:nvSpPr>
            <p:spPr>
              <a:xfrm>
                <a:off x="2728" y="3940"/>
                <a:ext cx="288" cy="1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6151" name="Text Box 7"/>
            <p:cNvSpPr txBox="1"/>
            <p:nvPr/>
          </p:nvSpPr>
          <p:spPr>
            <a:xfrm>
              <a:off x="2205" y="3515"/>
              <a:ext cx="310" cy="22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/>
                <a:t>a.x</a:t>
              </a:r>
              <a:endParaRPr lang="en-US" altLang="zh-CN" sz="2000" dirty="0"/>
            </a:p>
          </p:txBody>
        </p:sp>
        <p:sp>
          <p:nvSpPr>
            <p:cNvPr id="6152" name="Text Box 8"/>
            <p:cNvSpPr txBox="1"/>
            <p:nvPr/>
          </p:nvSpPr>
          <p:spPr>
            <a:xfrm>
              <a:off x="2218" y="3728"/>
              <a:ext cx="309" cy="22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/>
                <a:t>a.y</a:t>
              </a:r>
              <a:endParaRPr lang="en-US" altLang="zh-CN" sz="2000" dirty="0"/>
            </a:p>
          </p:txBody>
        </p:sp>
        <p:sp>
          <p:nvSpPr>
            <p:cNvPr id="6153" name="Text Box 9"/>
            <p:cNvSpPr txBox="1"/>
            <p:nvPr/>
          </p:nvSpPr>
          <p:spPr>
            <a:xfrm>
              <a:off x="2218" y="3959"/>
              <a:ext cx="300" cy="22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/>
                <a:t>a.z</a:t>
              </a:r>
              <a:endParaRPr lang="en-US" altLang="zh-CN" sz="2000" dirty="0"/>
            </a:p>
          </p:txBody>
        </p:sp>
        <p:sp>
          <p:nvSpPr>
            <p:cNvPr id="6154" name="Text Box 10"/>
            <p:cNvSpPr txBox="1"/>
            <p:nvPr/>
          </p:nvSpPr>
          <p:spPr>
            <a:xfrm>
              <a:off x="2688" y="3244"/>
              <a:ext cx="180" cy="22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/>
                <a:t>a</a:t>
              </a:r>
              <a:endParaRPr lang="en-US" altLang="zh-CN" sz="2000" dirty="0"/>
            </a:p>
          </p:txBody>
        </p:sp>
        <p:sp>
          <p:nvSpPr>
            <p:cNvPr id="6155" name="Text Box 11"/>
            <p:cNvSpPr txBox="1"/>
            <p:nvPr/>
          </p:nvSpPr>
          <p:spPr>
            <a:xfrm>
              <a:off x="3279" y="3506"/>
              <a:ext cx="313" cy="22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/>
                <a:t>b.x</a:t>
              </a:r>
              <a:endParaRPr lang="en-US" altLang="zh-CN" sz="2000" dirty="0"/>
            </a:p>
          </p:txBody>
        </p:sp>
        <p:sp>
          <p:nvSpPr>
            <p:cNvPr id="6156" name="Text Box 12"/>
            <p:cNvSpPr txBox="1"/>
            <p:nvPr/>
          </p:nvSpPr>
          <p:spPr>
            <a:xfrm>
              <a:off x="3292" y="3720"/>
              <a:ext cx="313" cy="22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/>
                <a:t>b.y</a:t>
              </a:r>
              <a:endParaRPr lang="en-US" altLang="zh-CN" sz="2000" dirty="0"/>
            </a:p>
          </p:txBody>
        </p:sp>
        <p:sp>
          <p:nvSpPr>
            <p:cNvPr id="6157" name="Text Box 13"/>
            <p:cNvSpPr txBox="1"/>
            <p:nvPr/>
          </p:nvSpPr>
          <p:spPr>
            <a:xfrm>
              <a:off x="3292" y="3951"/>
              <a:ext cx="304" cy="22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/>
                <a:t>b.z</a:t>
              </a:r>
              <a:endParaRPr lang="en-US" altLang="zh-CN" sz="2000" dirty="0"/>
            </a:p>
          </p:txBody>
        </p:sp>
        <p:sp>
          <p:nvSpPr>
            <p:cNvPr id="6158" name="Text Box 14"/>
            <p:cNvSpPr txBox="1"/>
            <p:nvPr/>
          </p:nvSpPr>
          <p:spPr>
            <a:xfrm>
              <a:off x="3812" y="3234"/>
              <a:ext cx="184" cy="22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/>
                <a:t>b</a:t>
              </a:r>
              <a:endParaRPr lang="en-US" altLang="zh-CN" sz="2000" dirty="0"/>
            </a:p>
          </p:txBody>
        </p:sp>
      </p:grpSp>
      <p:sp>
        <p:nvSpPr>
          <p:cNvPr id="20" name="Text Box 7"/>
          <p:cNvSpPr txBox="1"/>
          <p:nvPr/>
        </p:nvSpPr>
        <p:spPr>
          <a:xfrm>
            <a:off x="6372225" y="3244850"/>
            <a:ext cx="347663" cy="40005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FF0000"/>
                </a:solidFill>
              </a:rPr>
              <a:t>1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  <p:sp>
        <p:nvSpPr>
          <p:cNvPr id="21" name="Text Box 7"/>
          <p:cNvSpPr txBox="1"/>
          <p:nvPr/>
        </p:nvSpPr>
        <p:spPr>
          <a:xfrm>
            <a:off x="8328025" y="3244850"/>
            <a:ext cx="347663" cy="40005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FF0000"/>
                </a:solidFill>
              </a:rPr>
              <a:t>2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43">
                                            <p:txEl>
                                              <p:charRg st="154" end="1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85443">
                                            <p:txEl>
                                              <p:charRg st="154" end="18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85443">
                                            <p:txEl>
                                              <p:charRg st="154" end="18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43">
                                            <p:txEl>
                                              <p:charRg st="181" end="2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85443">
                                            <p:txEl>
                                              <p:charRg st="181" end="20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85443">
                                            <p:txEl>
                                              <p:charRg st="181" end="20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43">
                                            <p:txEl>
                                              <p:charRg st="202" end="2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85443">
                                            <p:txEl>
                                              <p:charRg st="202" end="22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85443">
                                            <p:txEl>
                                              <p:charRg st="202" end="22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43">
                                            <p:txEl>
                                              <p:charRg st="138" end="1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85443">
                                            <p:txEl>
                                              <p:charRg st="138" end="15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85443">
                                            <p:txEl>
                                              <p:charRg st="138" end="15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87171" name="Rectangle 3"/>
          <p:cNvSpPr>
            <a:spLocks noGrp="1" noChangeArrowheads="1"/>
          </p:cNvSpPr>
          <p:nvPr>
            <p:ph idx="1"/>
          </p:nvPr>
        </p:nvSpPr>
        <p:spPr>
          <a:xfrm>
            <a:off x="179388" y="260350"/>
            <a:ext cx="8713788" cy="6337300"/>
          </a:xfrm>
        </p:spPr>
        <p:txBody>
          <a:bodyPr vert="horz" wrap="square" lIns="91440" tIns="45720" rIns="91440" bIns="45720" numCol="1" anchor="t" anchorCtr="0" compatLnSpc="1">
            <a:normAutofit fontScale="85000" lnSpcReduction="1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类的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每一个成员函数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（静态成员函数除外）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都有一个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隐藏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的形参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this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，其类型为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该类对象的指针；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在成员函数中对类成员的访问是通过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this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来进行的。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例如，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对于前面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类的成员函数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g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：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void </a:t>
            </a:r>
            <a:r>
              <a:rPr kumimoji="0" lang="en-GB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g(</a:t>
            </a:r>
            <a:r>
              <a:rPr kumimoji="0" lang="en-GB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GB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GB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</a:t>
            </a:r>
            <a:r>
              <a:rPr kumimoji="0" lang="en-GB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 { x = </a:t>
            </a:r>
            <a:r>
              <a:rPr kumimoji="0" lang="en-GB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</a:t>
            </a:r>
            <a:r>
              <a:rPr kumimoji="0" lang="en-GB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 </a:t>
            </a: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编译程序将会把它编译成：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void g(A *</a:t>
            </a:r>
            <a:r>
              <a:rPr kumimoji="0" lang="en-GB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const</a:t>
            </a: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this</a:t>
            </a: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, </a:t>
            </a:r>
            <a:r>
              <a:rPr kumimoji="0" lang="en-GB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GB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</a:t>
            </a: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 	{ </a:t>
            </a: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this</a:t>
            </a: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-&gt;x = </a:t>
            </a:r>
            <a:r>
              <a:rPr kumimoji="0" lang="en-GB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</a:t>
            </a: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 };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当通过对象访问类的成员函数时，将会把相应对象的地址传给成员函数的参数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this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。例如，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对于下面的成员函数调用：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GB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a.g</a:t>
            </a: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(1)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 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和 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b.g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(2);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编译程序将会把它编译成：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g(</a:t>
            </a: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&amp;a</a:t>
            </a: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,1);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和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g(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&amp;b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,2);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6467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333375"/>
            <a:ext cx="8642350" cy="64801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一般情况下，类的成员函数中不必显式使用</a:t>
            </a: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this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指针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，编译程序会自动加上。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但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如果成员函数中要把</a:t>
            </a: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this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所指向的对象作为整体来操作，则需要显式地使用</a:t>
            </a: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this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指针。例如：</a:t>
            </a:r>
            <a:endParaRPr kumimoji="0" lang="zh-CN" alt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void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func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(A *p);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A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	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x;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public: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void g(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 { x = </a:t>
            </a:r>
            <a:r>
              <a:rPr kumimoji="0" lang="en-GB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</a:t>
            </a:r>
            <a:r>
              <a:rPr kumimoji="0" lang="en-GB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func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?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);    } 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//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</a:rPr>
              <a:t>“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?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</a:rPr>
              <a:t>”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应写什么？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......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......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a,b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a.g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(1); //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要求在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g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中调用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func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(&amp;a)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b.g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(2); //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要求在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g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中调用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func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(&amp;b)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  <p:sp>
        <p:nvSpPr>
          <p:cNvPr id="1394688" name="Text Box 0"/>
          <p:cNvSpPr txBox="1"/>
          <p:nvPr/>
        </p:nvSpPr>
        <p:spPr>
          <a:xfrm>
            <a:off x="4356100" y="3759200"/>
            <a:ext cx="1825625" cy="461963"/>
          </a:xfrm>
          <a:prstGeom prst="rect">
            <a:avLst/>
          </a:prstGeom>
          <a:solidFill>
            <a:srgbClr val="3366FF"/>
          </a:solidFill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/>
              <a:t>func(</a:t>
            </a:r>
            <a:r>
              <a:rPr lang="en-US" altLang="zh-CN" sz="2400" dirty="0">
                <a:solidFill>
                  <a:schemeClr val="folHlink"/>
                </a:solidFill>
              </a:rPr>
              <a:t>this</a:t>
            </a:r>
            <a:r>
              <a:rPr lang="en-US" altLang="zh-CN" sz="2400" dirty="0"/>
              <a:t>);</a:t>
            </a:r>
            <a:endParaRPr lang="en-US" altLang="zh-CN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946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946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468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8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用</a:t>
            </a:r>
            <a:r>
              <a:rPr kumimoji="0" lang="en-US" altLang="zh-CN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</a:t>
            </a: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语言实现</a:t>
            </a:r>
            <a:r>
              <a:rPr kumimoji="0" lang="en-US" altLang="zh-CN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C++</a:t>
            </a: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的类</a:t>
            </a:r>
            <a:endParaRPr kumimoji="0" lang="zh-CN" altLang="en-US" sz="4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28819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41438"/>
            <a:ext cx="8229600" cy="5257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一个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C++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程序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A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 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x,y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public: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void f();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void g(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 { x =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 f(); }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；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......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a,b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a.f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();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a.g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(1);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b.f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();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b.g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(2);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89219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692150"/>
            <a:ext cx="8229600" cy="59769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功能上与前面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C++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程序等价的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程序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struct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A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x,y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void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f_A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struct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A *this);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void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g_A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struct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A *this,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 this-&gt;x =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f_A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(this);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......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struct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A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a,b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f_A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(&amp;a);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g_A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(&amp;a,1);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f_A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(&amp;b);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g_A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(&amp;b,2);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  <p:sp>
        <p:nvSpPr>
          <p:cNvPr id="46084" name="Text Box 4"/>
          <p:cNvSpPr txBox="1">
            <a:spLocks noChangeArrowheads="1"/>
          </p:cNvSpPr>
          <p:nvPr/>
        </p:nvSpPr>
        <p:spPr bwMode="auto">
          <a:xfrm>
            <a:off x="3995738" y="4144963"/>
            <a:ext cx="5078413" cy="2308225"/>
          </a:xfrm>
          <a:prstGeom prst="rect">
            <a:avLst/>
          </a:prstGeom>
          <a:solidFill>
            <a:srgbClr val="004B96"/>
          </a:solidFill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结论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：</a:t>
            </a:r>
            <a:endParaRPr kumimoji="0" lang="zh-CN" alt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面向对象是一种程序设计思想，</a:t>
            </a:r>
            <a:endParaRPr kumimoji="0" lang="zh-CN" alt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  用任何语言都可以实现！</a:t>
            </a:r>
            <a:endParaRPr kumimoji="0" lang="zh-CN" alt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采用面向对象语言会使得面向对象</a:t>
            </a:r>
            <a:endParaRPr kumimoji="0" lang="zh-CN" alt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 程序设计更加容易，语言也能提供</a:t>
            </a:r>
            <a:endParaRPr kumimoji="0" lang="zh-CN" alt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 更多的面向对象保障！</a:t>
            </a:r>
            <a:endParaRPr kumimoji="0" lang="zh-CN" alt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0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4" grpId="0" animBg="1"/>
    </p:bldLst>
  </p:timing>
</p:sld>
</file>

<file path=ppt/theme/theme1.xml><?xml version="1.0" encoding="utf-8"?>
<a:theme xmlns:a="http://schemas.openxmlformats.org/drawingml/2006/main" name="Globe">
  <a:themeElements>
    <a:clrScheme name="Globe 11">
      <a:dk1>
        <a:srgbClr val="003B76"/>
      </a:dk1>
      <a:lt1>
        <a:srgbClr val="FFFFFF"/>
      </a:lt1>
      <a:dk2>
        <a:srgbClr val="0066CC"/>
      </a:dk2>
      <a:lt2>
        <a:srgbClr val="FFFF00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e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9">
        <a:dk1>
          <a:srgbClr val="003B76"/>
        </a:dk1>
        <a:lt1>
          <a:srgbClr val="FFFFFF"/>
        </a:lt1>
        <a:dk2>
          <a:srgbClr val="0066CC"/>
        </a:dk2>
        <a:lt2>
          <a:srgbClr val="FFCC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10">
        <a:dk1>
          <a:srgbClr val="003B76"/>
        </a:dk1>
        <a:lt1>
          <a:srgbClr val="FFFFFF"/>
        </a:lt1>
        <a:dk2>
          <a:srgbClr val="0066CC"/>
        </a:dk2>
        <a:lt2>
          <a:srgbClr val="FFCC66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11">
        <a:dk1>
          <a:srgbClr val="003B76"/>
        </a:dk1>
        <a:lt1>
          <a:srgbClr val="FFFFFF"/>
        </a:lt1>
        <a:dk2>
          <a:srgbClr val="0066CC"/>
        </a:dk2>
        <a:lt2>
          <a:srgbClr val="FFFF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Globe</Template>
  <TotalTime>0</TotalTime>
  <Words>1159</Words>
  <Application>WPS 演示</Application>
  <PresentationFormat>全屏显示(4:3)</PresentationFormat>
  <Paragraphs>102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宋体</vt:lpstr>
      <vt:lpstr>Wingdings</vt:lpstr>
      <vt:lpstr>Verdana</vt:lpstr>
      <vt:lpstr>Times New Roman</vt:lpstr>
      <vt:lpstr>Arial</vt:lpstr>
      <vt:lpstr>微软雅黑</vt:lpstr>
      <vt:lpstr>Arial Unicode MS</vt:lpstr>
      <vt:lpstr>Globe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chenjj</dc:creator>
  <cp:lastModifiedBy>tattit</cp:lastModifiedBy>
  <cp:revision>577</cp:revision>
  <dcterms:created xsi:type="dcterms:W3CDTF">1999-05-22T12:40:20Z</dcterms:created>
  <dcterms:modified xsi:type="dcterms:W3CDTF">2023-09-18T05:56:35Z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2052-11.8.2.8875</vt:lpwstr>
  </property>
</Properties>
</file>
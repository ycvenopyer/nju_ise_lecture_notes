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82" r:id="rId3"/>
    <p:sldId id="283" r:id="rId4"/>
    <p:sldId id="257" r:id="rId5"/>
    <p:sldId id="258" r:id="rId6"/>
    <p:sldId id="259" r:id="rId7"/>
    <p:sldId id="260" r:id="rId8"/>
    <p:sldId id="261" r:id="rId9"/>
    <p:sldId id="262" r:id="rId10"/>
    <p:sldId id="342" r:id="rId11"/>
    <p:sldId id="263" r:id="rId12"/>
    <p:sldId id="343" r:id="rId13"/>
    <p:sldId id="286" r:id="rId14"/>
    <p:sldId id="266" r:id="rId15"/>
    <p:sldId id="289" r:id="rId16"/>
    <p:sldId id="264" r:id="rId17"/>
    <p:sldId id="267" r:id="rId18"/>
    <p:sldId id="347" r:id="rId19"/>
    <p:sldId id="298" r:id="rId20"/>
    <p:sldId id="271" r:id="rId21"/>
    <p:sldId id="269" r:id="rId22"/>
    <p:sldId id="272" r:id="rId23"/>
    <p:sldId id="274" r:id="rId24"/>
    <p:sldId id="273" r:id="rId25"/>
    <p:sldId id="276" r:id="rId26"/>
    <p:sldId id="275" r:id="rId27"/>
    <p:sldId id="277" r:id="rId28"/>
    <p:sldId id="278" r:id="rId29"/>
    <p:sldId id="326" r:id="rId30"/>
    <p:sldId id="279" r:id="rId31"/>
    <p:sldId id="344" r:id="rId32"/>
    <p:sldId id="337" r:id="rId33"/>
    <p:sldId id="280" r:id="rId34"/>
    <p:sldId id="284" r:id="rId35"/>
    <p:sldId id="339" r:id="rId36"/>
    <p:sldId id="345" r:id="rId37"/>
    <p:sldId id="346" r:id="rId3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02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25"/>
    <p:restoredTop sz="94708"/>
  </p:normalViewPr>
  <p:slideViewPr>
    <p:cSldViewPr showGuides="1">
      <p:cViewPr varScale="1">
        <p:scale>
          <a:sx n="87" d="100"/>
          <a:sy n="87" d="100"/>
        </p:scale>
        <p:origin x="79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notesMaster" Target="notesMasters/notesMaster1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587885-4E0B-437E-9C42-03E32FC9A68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B81536-1FE9-492E-BCCE-02F0CAD33B3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rgbClr val="003366"/>
            </a:gs>
            <a:gs pos="100000">
              <a:srgbClr val="001D3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981" y="845"/>
                </a:cxn>
                <a:cxn ang="0">
                  <a:pos x="981" y="821"/>
                </a:cxn>
                <a:cxn ang="0">
                  <a:pos x="810" y="605"/>
                </a:cxn>
                <a:cxn ang="0">
                  <a:pos x="524" y="396"/>
                </a:cxn>
                <a:cxn ang="0">
                  <a:pos x="339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27" y="198"/>
                </a:cxn>
                <a:cxn ang="0">
                  <a:pos x="518" y="408"/>
                </a:cxn>
                <a:cxn ang="0">
                  <a:pos x="804" y="623"/>
                </a:cxn>
                <a:cxn ang="0">
                  <a:pos x="981" y="845"/>
                </a:cxn>
                <a:cxn ang="0">
                  <a:pos x="981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25" y="414"/>
                </a:cxn>
                <a:cxn ang="0">
                  <a:pos x="525" y="396"/>
                </a:cxn>
                <a:cxn ang="0">
                  <a:pos x="340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34" y="204"/>
                </a:cxn>
                <a:cxn ang="0">
                  <a:pos x="525" y="414"/>
                </a:cxn>
                <a:cxn ang="0">
                  <a:pos x="525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66" y="0"/>
                </a:cxn>
                <a:cxn ang="0">
                  <a:pos x="839" y="0"/>
                </a:cxn>
                <a:cxn ang="0">
                  <a:pos x="610" y="132"/>
                </a:cxn>
                <a:cxn ang="0">
                  <a:pos x="375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75" y="282"/>
                </a:cxn>
                <a:cxn ang="0">
                  <a:pos x="622" y="138"/>
                </a:cxn>
                <a:cxn ang="0">
                  <a:pos x="866" y="0"/>
                </a:cxn>
                <a:cxn ang="0">
                  <a:pos x="866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87" y="0"/>
                </a:cxn>
                <a:cxn ang="0">
                  <a:pos x="369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87" y="0"/>
                </a:cxn>
                <a:cxn ang="0">
                  <a:pos x="387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59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60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66A243-7E8F-43F4-8737-FB69F73AC6E5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6892A7-72EE-48DF-BFC7-9671894B7D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6892A7-72EE-48DF-BFC7-9671894B7D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6892A7-72EE-48DF-BFC7-9671894B7D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6892A7-72EE-48DF-BFC7-9671894B7D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6892A7-72EE-48DF-BFC7-9671894B7D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6892A7-72EE-48DF-BFC7-9671894B7D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6892A7-72EE-48DF-BFC7-9671894B7D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6892A7-72EE-48DF-BFC7-9671894B7D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6892A7-72EE-48DF-BFC7-9671894B7D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6892A7-72EE-48DF-BFC7-9671894B7D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366"/>
            </a:gs>
            <a:gs pos="100000">
              <a:srgbClr val="001D3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4099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0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1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4103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4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5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6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7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8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9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0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1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2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3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4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5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116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17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18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981" y="845"/>
                </a:cxn>
                <a:cxn ang="0">
                  <a:pos x="981" y="821"/>
                </a:cxn>
                <a:cxn ang="0">
                  <a:pos x="810" y="605"/>
                </a:cxn>
                <a:cxn ang="0">
                  <a:pos x="524" y="396"/>
                </a:cxn>
                <a:cxn ang="0">
                  <a:pos x="339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27" y="198"/>
                </a:cxn>
                <a:cxn ang="0">
                  <a:pos x="518" y="408"/>
                </a:cxn>
                <a:cxn ang="0">
                  <a:pos x="804" y="623"/>
                </a:cxn>
                <a:cxn ang="0">
                  <a:pos x="981" y="845"/>
                </a:cxn>
                <a:cxn ang="0">
                  <a:pos x="981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25" y="414"/>
                </a:cxn>
                <a:cxn ang="0">
                  <a:pos x="525" y="396"/>
                </a:cxn>
                <a:cxn ang="0">
                  <a:pos x="340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34" y="204"/>
                </a:cxn>
                <a:cxn ang="0">
                  <a:pos x="525" y="414"/>
                </a:cxn>
                <a:cxn ang="0">
                  <a:pos x="525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21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66" y="0"/>
                </a:cxn>
                <a:cxn ang="0">
                  <a:pos x="839" y="0"/>
                </a:cxn>
                <a:cxn ang="0">
                  <a:pos x="610" y="132"/>
                </a:cxn>
                <a:cxn ang="0">
                  <a:pos x="375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75" y="282"/>
                </a:cxn>
                <a:cxn ang="0">
                  <a:pos x="622" y="138"/>
                </a:cxn>
                <a:cxn ang="0">
                  <a:pos x="866" y="0"/>
                </a:cxn>
                <a:cxn ang="0">
                  <a:pos x="866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87" y="0"/>
                </a:cxn>
                <a:cxn ang="0">
                  <a:pos x="369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87" y="0"/>
                </a:cxn>
                <a:cxn ang="0">
                  <a:pos x="387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35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4136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37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38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6892A7-72EE-48DF-BFC7-9671894B7D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39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12775" y="1692275"/>
            <a:ext cx="8062913" cy="1736725"/>
          </a:xfrm>
        </p:spPr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泛型（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类属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）程序设计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模 板</a:t>
            </a: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泛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型（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类属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）的基本概念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函数模板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类模板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模板的复用问题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问题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600200"/>
            <a:ext cx="8435975" cy="525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69875" marR="0" lvl="0" indent="-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在程序设计中，经常需要用到一些功能完全相同的程序实体，但它们所涉及的数据的类型不同。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例如，对不同元素类型的数组进行排序的函数：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2867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int_sort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x[],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num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2867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double_sort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double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x[],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num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2867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A_sort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x[],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num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这三个函数的实现是一样的（如都采用快速排序算法由小到大排序），能否只用一个函数来实现它们？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内容占位符 2"/>
          <p:cNvSpPr txBox="1"/>
          <p:nvPr/>
        </p:nvSpPr>
        <p:spPr bwMode="auto">
          <a:xfrm>
            <a:off x="296863" y="115888"/>
            <a:ext cx="8389938" cy="6553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再例如，元素类型不同的栈类：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这三个类的实现是一样的（用数组表示元素），能否只用一个类来实现它们？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>
          <a:xfrm>
            <a:off x="312738" y="696913"/>
            <a:ext cx="3827463" cy="2349500"/>
          </a:xfrm>
          <a:solidFill>
            <a:schemeClr val="bg1">
              <a:lumMod val="75000"/>
            </a:schemeClr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IntStack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buf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[100];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push(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pop(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96863" y="3213100"/>
            <a:ext cx="4113213" cy="230822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class </a:t>
            </a:r>
            <a:r>
              <a:rPr kumimoji="0" lang="en-US" altLang="zh-CN" sz="2400" kern="1200" cap="none" spc="0" normalizeH="0" baseline="0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DoubleStack</a:t>
            </a:r>
            <a:endParaRPr kumimoji="0" lang="en-US" altLang="zh-CN" sz="24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{	</a:t>
            </a:r>
            <a:r>
              <a:rPr kumimoji="0" lang="en-US" altLang="zh-CN" sz="24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double</a:t>
            </a:r>
            <a:r>
              <a:rPr kumimoji="0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kern="1200" cap="none" spc="0" normalizeH="0" baseline="0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buf</a:t>
            </a:r>
            <a:r>
              <a:rPr kumimoji="0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[100];</a:t>
            </a:r>
            <a:endParaRPr kumimoji="0" lang="en-US" altLang="zh-CN" sz="24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   public:</a:t>
            </a:r>
            <a:endParaRPr kumimoji="0" lang="en-US" altLang="zh-CN" sz="24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	void push(double);</a:t>
            </a:r>
            <a:endParaRPr kumimoji="0" lang="en-US" altLang="zh-CN" sz="24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	void pop(double&amp;);</a:t>
            </a:r>
            <a:endParaRPr kumimoji="0" lang="en-US" altLang="zh-CN" sz="24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};</a:t>
            </a:r>
            <a:endParaRPr kumimoji="0" lang="en-US" altLang="zh-CN" sz="24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4932363" y="692150"/>
            <a:ext cx="3960813" cy="230822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+mn-ea"/>
                <a:cs typeface="+mn-cs"/>
              </a:rPr>
              <a:t>class </a:t>
            </a:r>
            <a:r>
              <a:rPr kumimoji="0" lang="en-US" altLang="zh-CN" sz="2400" kern="1200" cap="none" spc="0" normalizeH="0" baseline="0" noProof="0" dirty="0" err="1">
                <a:latin typeface="+mn-lt"/>
                <a:ea typeface="+mn-ea"/>
                <a:cs typeface="+mn-cs"/>
              </a:rPr>
              <a:t>AStack</a:t>
            </a:r>
            <a:endParaRPr kumimoji="0" lang="en-US" altLang="zh-CN" sz="2400" kern="1200" cap="none" spc="0" normalizeH="0" baseline="0" noProof="0" dirty="0">
              <a:latin typeface="+mn-lt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+mn-ea"/>
                <a:cs typeface="+mn-cs"/>
              </a:rPr>
              <a:t>{	</a:t>
            </a:r>
            <a:r>
              <a:rPr kumimoji="0" lang="en-US" altLang="zh-CN" sz="2400" kern="1200" cap="none" spc="0" normalizeH="0" baseline="0" noProof="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400" kern="1200" cap="none" spc="0" normalizeH="0" baseline="0" noProof="0" dirty="0"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+mn-lt"/>
                <a:ea typeface="+mn-ea"/>
                <a:cs typeface="+mn-cs"/>
              </a:rPr>
              <a:t>buf</a:t>
            </a:r>
            <a:r>
              <a:rPr kumimoji="0" lang="en-US" altLang="zh-CN" sz="2400" kern="1200" cap="none" spc="0" normalizeH="0" baseline="0" noProof="0" dirty="0">
                <a:latin typeface="+mn-lt"/>
                <a:ea typeface="+mn-ea"/>
                <a:cs typeface="+mn-cs"/>
              </a:rPr>
              <a:t>[100];</a:t>
            </a:r>
            <a:endParaRPr kumimoji="0" lang="en-US" altLang="zh-CN" sz="2400" kern="1200" cap="none" spc="0" normalizeH="0" baseline="0" noProof="0" dirty="0">
              <a:latin typeface="+mn-lt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+mn-ea"/>
                <a:cs typeface="+mn-cs"/>
              </a:rPr>
              <a:t>   public:</a:t>
            </a:r>
            <a:endParaRPr kumimoji="0" lang="en-US" altLang="zh-CN" sz="2400" kern="1200" cap="none" spc="0" normalizeH="0" baseline="0" noProof="0" dirty="0">
              <a:latin typeface="+mn-lt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+mn-ea"/>
                <a:cs typeface="+mn-cs"/>
              </a:rPr>
              <a:t>	void push(A);</a:t>
            </a:r>
            <a:endParaRPr kumimoji="0" lang="en-US" altLang="zh-CN" sz="2400" kern="1200" cap="none" spc="0" normalizeH="0" baseline="0" noProof="0" dirty="0">
              <a:latin typeface="+mn-lt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+mn-ea"/>
                <a:cs typeface="+mn-cs"/>
              </a:rPr>
              <a:t>	void pop(A&amp;);</a:t>
            </a:r>
            <a:endParaRPr kumimoji="0" lang="en-US" altLang="zh-CN" sz="2400" kern="1200" cap="none" spc="0" normalizeH="0" baseline="0" noProof="0" dirty="0">
              <a:latin typeface="+mn-lt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+mn-ea"/>
                <a:cs typeface="+mn-cs"/>
              </a:rPr>
              <a:t>};</a:t>
            </a:r>
            <a:endParaRPr kumimoji="0" lang="en-US" altLang="zh-CN" sz="2400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泛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型（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类属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341438"/>
            <a:ext cx="8642350" cy="532765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63855" marR="0" lvl="0" indent="-36385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一个程序实体能对多种类型的数据进行操作或描述的特性称为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属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泛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型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Generics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基于具有类属性的程序实体进行程序设计的技术称为：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泛型程序设计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（或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类属程序设计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Generic Programming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具有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属性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的程序实体通常有：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28675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类属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个能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对不同类型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完成相同操作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28675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类属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个成员类型可变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、但操作不变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类属函数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484313"/>
            <a:ext cx="8713788" cy="48974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63855" marR="0" lvl="0" indent="-3638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类属函数是指一个函数能对不同类型的参数完成相同的操作。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提供了两种实现类属函数的机制：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2867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采用通用指针类型的参数（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语言的做法）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2867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函数模板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8" y="44450"/>
            <a:ext cx="8964613" cy="7239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例：用</a:t>
            </a: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通用指针参数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实现类属</a:t>
            </a: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排序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0" y="1123950"/>
            <a:ext cx="9144000" cy="5761038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函数定义：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typedef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unsigned char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byte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sort(void *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base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需排序的数据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（数组）内存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首地址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unsigned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数据元素的个数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unsigned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element_size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数据元素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所占内存大小（字节数）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	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bool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(*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cmp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void *,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void *) )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比较两个元素的函数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不论采用何种排序算法，一般都需要对数组进行以下操作：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zh-CN" altLang="en-GB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取第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个元素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（通过数组首地址、偏移量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以及元素内存大小算出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元素地址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(byte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*)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base+i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element_size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比较第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个和第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个元素的大小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（利用调用者提供的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回调函数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cmp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实现）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(!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cmp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((</a:t>
            </a:r>
            <a:r>
              <a:rPr kumimoji="0" lang="en-GB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byte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*)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base+i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element_size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,(</a:t>
            </a:r>
            <a:r>
              <a:rPr kumimoji="0" lang="en-GB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byte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*)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base+j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element_size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))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{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交换第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个和第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个元素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的位置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（把两个元素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逐个字节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进行交换）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GB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byte 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*p1=(</a:t>
            </a:r>
            <a:r>
              <a:rPr kumimoji="0" lang="en-GB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byte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*)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base+i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element_size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     *p2=(</a:t>
            </a:r>
            <a:r>
              <a:rPr kumimoji="0" lang="en-GB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byte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*)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base+j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element_size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for (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k=0; k&lt;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element_size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k++)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{ </a:t>
            </a:r>
            <a:r>
              <a:rPr kumimoji="0" lang="en-GB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byte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temp=p1[k]; p1[k] = p2[k]; p2[k] = temp;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} 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}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549275"/>
            <a:ext cx="8893175" cy="61928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函数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使用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00050" marR="0" lvl="1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型数组排序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先定义一个对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型数据进行比较的函数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bool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int_compare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void *p1,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void *p2) 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比较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类型元素大小。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if (*(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*)p1 &lt; *(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*)p2)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return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true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else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return false;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a[100];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sort(a,100,sizeof(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),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int_compare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2738" y="404813"/>
            <a:ext cx="8507413" cy="6048375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double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型数组排序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先定义一个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型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数据进行比较的函数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bool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double_compare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void *p1,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void *p2)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比较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类型元素大小。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if (*(double *)p1 &lt; *(double *)p2)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return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true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else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return false;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 b[200];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sort(b,200,sizeof(double),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double_compare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692150"/>
            <a:ext cx="8893175" cy="5400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6337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类型数组排序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0" indent="0" algn="l" defTabSz="6337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先定义一个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数据进行比较的函数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6337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bool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A_compare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void *p1,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void *p2)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6337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比较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类元素大小。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6337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(*(A *)p1 &lt; *(A *)p2) 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需重载操作符：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6337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return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true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6337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else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6337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return false;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6337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6337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c[300];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6337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6337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sort(c,300,sizeof(A),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A_compare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6337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用通用指针实现类属函数面临的问题：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比较麻烦，需要大量的指针操作。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容易出错！编译程序无法进行类型检查。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341438"/>
            <a:ext cx="8713788" cy="4967288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中，实现类属函数的另外一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种途径是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用函数模板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函数模板</a:t>
            </a:r>
            <a:r>
              <a:rPr kumimoji="0" lang="zh-CN" altLang="en-GB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是指带有</a:t>
            </a:r>
            <a:r>
              <a:rPr kumimoji="0" lang="zh-CN" altLang="en-GB" sz="3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</a:t>
            </a:r>
            <a:r>
              <a:rPr kumimoji="0" lang="zh-CN" altLang="en-GB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参数的函数定义，格式如下：</a:t>
            </a:r>
            <a:endParaRPr kumimoji="0" lang="zh-CN" altLang="en-GB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&lt;class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T1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 class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T2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 ...&gt;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返回值类型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函数名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&gt;(&lt;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参数表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T1</a:t>
            </a:r>
            <a:r>
              <a:rPr kumimoji="0" lang="zh-CN" altLang="en-GB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T2</a:t>
            </a:r>
            <a:r>
              <a:rPr kumimoji="0" lang="zh-CN" altLang="en-GB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等是函数模板的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参数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，它们的取值是某个类型，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也可以写成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typename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GB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函数的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返回值类型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参数表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中的参数类型以及函数体中的局部变量的类型可以是：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T1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T2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等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2713"/>
            <a:ext cx="8229600" cy="7239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函数模板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2713"/>
            <a:ext cx="8229600" cy="7239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例：用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函数模板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实现</a:t>
            </a: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类属排序函数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123950"/>
            <a:ext cx="8820150" cy="55451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269875" marR="0" lvl="0" indent="-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排序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函数模板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的定义：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template &lt;class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sort(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elements[], unsigned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count)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取第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个元素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elements[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比较第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个和第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个元素的大小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(!(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elements[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&lt; elements[j]))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{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交换第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个和第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个元素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temp=elements [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elements[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= elements [j];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elements[j] = temp;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088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排序函数模板的使用：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a[100];</a:t>
            </a: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sort(a,100);  //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类型数组进行排序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 b[200]; </a:t>
            </a: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sort(b,200);  //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类型数组进行排序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c[300];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sort(c,300);  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类型数组进行排序</a:t>
            </a: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需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重载操作符：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可能还需要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自定义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拷贝构造函数和重载操作符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2713"/>
            <a:ext cx="8229600" cy="101123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函数模板的实例化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22263" y="1557338"/>
            <a:ext cx="8497888" cy="5111750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63855" marR="0" lvl="0" indent="-3638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函数模板定义了一系列重载的函数。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要使用函数模板所定义的函数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，首先必须要对函数模板进行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63905" marR="0" lvl="1" indent="-3638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给模板参数提供一个具体的类型，从而生成具体的函数。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函数模板的实例化通常是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隐式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63905" marR="0" lvl="1" indent="-3638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由编译程序根据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函数调用的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实参类型自动地把函数模板实例化为具体的函数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63905" marR="0" lvl="1" indent="-3638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这种确定函数模板实例的过程叫做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模板实参推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导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argument deduction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549275"/>
            <a:ext cx="8785225" cy="6048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a[100];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 (a,100); 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实例化：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elements[], unsigned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count) { ...... 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b[200];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 (b,200); 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实例化：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elements[], unsigned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count)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...... }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c[300];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sort(c,300);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实例化：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elements[], unsigned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count) { ...... 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511175"/>
            <a:ext cx="8507413" cy="5942013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带比较函数的排序模板</a:t>
            </a:r>
            <a:endParaRPr kumimoji="0" lang="en-GB" altLang="zh-CN" sz="3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template 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&lt;class 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T1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class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T2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sort(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T1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elements[], unsigned </a:t>
            </a:r>
            <a:r>
              <a:rPr kumimoji="0" lang="en-GB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count, 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T2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cmp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比较第</a:t>
            </a:r>
            <a:r>
              <a:rPr kumimoji="0" lang="en-GB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个和第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个元素的大小</a:t>
            </a:r>
            <a:endParaRPr kumimoji="0" lang="zh-CN" altLang="en-GB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(!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cmp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elements[</a:t>
            </a: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],elements[j]))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{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交换元素次序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a[100];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 (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a,100,[](</a:t>
            </a: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&amp;x1,int &amp;x2) { return x1&lt;x2;});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b[200]; 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 (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b,200,[](double 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x1,double 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&amp;x2) { return x1&lt;x2;}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 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c[300]; 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sort(c,300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,[](A 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x1,A 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&amp;x2) { return x1&lt;x2;}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549275"/>
            <a:ext cx="8785225" cy="604837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有时，编译程序无法根据调用时的实参类型来确定所调用的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模板实例函数。例如： 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2738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&lt;class T&gt; 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738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 max(T a, T b)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738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return a&gt;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b?a:b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738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738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738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x,y,z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738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double 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l,m,n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738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z = max(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实例化和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调用：</a:t>
            </a:r>
            <a:r>
              <a:rPr kumimoji="0" lang="en-GB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max(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int,int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endParaRPr kumimoji="0" lang="en-GB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738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 = max(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m,n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实例化和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调用：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double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max(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double,double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28675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00075" marR="0" lvl="0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问题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max(</a:t>
            </a:r>
            <a:r>
              <a:rPr kumimoji="0" lang="en-GB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x,m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如何实例化？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549275"/>
            <a:ext cx="8362950" cy="59039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解决办法：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显式类型转换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max((double)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x,m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调用：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double max(double </a:t>
            </a:r>
            <a:r>
              <a:rPr kumimoji="0" lang="en-GB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a,double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b)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或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max(x,(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)m);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//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max(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a,int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b)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显式实例化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max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&lt;double&gt;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x,m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或 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max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x,m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 noChangeArrowheads="1"/>
          </p:cNvSpPr>
          <p:nvPr>
            <p:ph idx="1"/>
          </p:nvPr>
        </p:nvSpPr>
        <p:spPr>
          <a:xfrm>
            <a:off x="250825" y="1484313"/>
            <a:ext cx="8713788" cy="496887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除了类型参数外，函数模板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还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可以带有非类型参数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。例如，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template &lt;class T, 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size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//size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为一个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型的普通参数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f(T a)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T temp[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size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这样的函数模板在使用时需要显式实例化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。例如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3855" marR="0" lvl="0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f&lt;int,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&gt;(1); 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调用模板函数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a)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其中的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size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2713"/>
            <a:ext cx="8229600" cy="101123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带非</a:t>
            </a: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类型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参数的函数模板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2713"/>
            <a:ext cx="8229600" cy="7239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类模板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312863"/>
            <a:ext cx="8459788" cy="4564063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65125" marR="0" lvl="0" indent="-36512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如果一个类</a:t>
            </a:r>
            <a:r>
              <a:rPr kumimoji="0" lang="zh-CN" altLang="en-US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定义中用到</a:t>
            </a: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的类型可变</a:t>
            </a:r>
            <a:r>
              <a:rPr kumimoji="0" lang="zh-CN" altLang="en-US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、但操作不变，</a:t>
            </a: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则该类称为</a:t>
            </a: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类属类</a:t>
            </a: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3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5125" marR="0" lvl="0" indent="-36512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GB" altLang="zh-CN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中，类属类用</a:t>
            </a: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类模板</a:t>
            </a: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实现。</a:t>
            </a:r>
            <a:endParaRPr kumimoji="0" lang="zh-CN" altLang="en-GB" sz="33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5125" marR="0" lvl="0" indent="-36512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类模板的格式为：</a:t>
            </a:r>
            <a:endParaRPr kumimoji="0" lang="zh-CN" altLang="en-GB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&lt;class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T1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,class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T2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,...&gt;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//class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也可以写成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typename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&lt;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类名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&lt;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类成员说明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T1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T2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等为类模板的类型参数，在类成员的说明中可以用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T1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T2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等来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作为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它们的类型。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234950" y="836613"/>
            <a:ext cx="8893175" cy="559117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例如，用类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模板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实现类属的栈类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&lt;class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Stack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buffer[100];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top;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Stack() { top = -1; }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push(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&amp;x);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pop(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&amp;x);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&lt;class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Stack &lt;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&gt;::push(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&amp;x) { ...... }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&lt;class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Stack &lt;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&gt;::pop(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&amp;x) { ...... }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058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2713"/>
            <a:ext cx="8229600" cy="7239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类模板的实例化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52413" y="1168400"/>
            <a:ext cx="8640763" cy="55737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类模板定义了若干个类，在使用这些类之前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需要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对类模板进行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5125" marR="0" lvl="0" indent="-3651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类模板的实例化需要在程序中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显式地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指出。例如：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GB" sz="1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Stack&lt;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st1;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型栈类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并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个相应类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的对象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47675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x;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47675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st1.push(10); st1.pop(x);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47675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47675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Stack&lt;double&gt; st2;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double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型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栈类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并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创建一个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相应类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的对象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47675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double y;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47675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st2.push(1.2); st2.pop(y);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47675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47675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Stack&lt;A&gt; st3; 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栈类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并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创建一个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相应类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的对象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47675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a,b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47675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st3.push(a); st3.pop(b); //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中可能要重载赋值操作符！为什么？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 noChangeArrowheads="1"/>
          </p:cNvSpPr>
          <p:nvPr>
            <p:ph idx="1"/>
          </p:nvPr>
        </p:nvSpPr>
        <p:spPr>
          <a:xfrm>
            <a:off x="179388" y="836613"/>
            <a:ext cx="8893175" cy="5329238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450850" marR="0" lvl="0" indent="-4508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注意：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类模板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不同实例之间不共享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该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类模板中的静态成员。例如：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0850" marR="0" lvl="0" indent="-4508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&lt;class T&gt;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static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x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T y;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&lt;class T&gt;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A&lt;T&gt;::x=0;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a1,a2; //a1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a2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共享一个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A&lt;double&gt; a3,a4; //a3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a4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共享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另一个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179388" y="1196975"/>
            <a:ext cx="8820150" cy="55895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65125" marR="0" lvl="0" indent="-36512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除了类型参数外，类模板也可以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带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非类型参数。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例如：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5125" marR="0" lvl="0" indent="-36512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template &lt;class 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size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Stack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T buffer[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size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];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top;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Stack() { top = -1; 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push(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T &amp;x);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pop(T &amp;x);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&lt;class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T,int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size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Stack &lt;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T,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size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&gt;::push(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T &amp;x) { ...... 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&lt;class T,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size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Stack &lt;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T,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size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&gt;::pop(T &amp;x) { ...... 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Stack&lt;int,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100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st1; //st1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为元素个数最多为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100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型栈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16305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Stack&lt;int,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200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st2; //st2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为元素个数最多为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200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型栈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28672" name="Rectangle 0"/>
          <p:cNvSpPr>
            <a:spLocks noGrp="1" noChangeArrowheads="1"/>
          </p:cNvSpPr>
          <p:nvPr>
            <p:ph type="title"/>
          </p:nvPr>
        </p:nvSpPr>
        <p:spPr>
          <a:xfrm>
            <a:off x="457200" y="184150"/>
            <a:ext cx="8229600" cy="7239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带非类型参数的类模板</a:t>
            </a:r>
            <a:endParaRPr kumimoji="0" lang="zh-CN" altLang="en-US" sz="40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7175"/>
            <a:ext cx="8229600" cy="7239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模板的复用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412875"/>
            <a:ext cx="8569325" cy="4032250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模板也属于一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种多态，称为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参数化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多态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66750" marR="0" lvl="1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一段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带有类型参数的代码，给该参数提供不同的类型就能得到多个不同的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代码，即，一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段代码有多种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解释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模板的复用是通过对模板进行实例化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（用一个具体的类型去替代模板的类型参数）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来实现的：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66750" marR="0" lvl="1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由于实例化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是在编译时刻进行的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，它一定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要见到相应的源代码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，因此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，模板属于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源代码复用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66750" marR="0" lvl="1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个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模板有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很多的实例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是否实例化模板的某个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这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要由使用情况来决定。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260350"/>
            <a:ext cx="8893175" cy="64531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file1.h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template &lt;class T&gt; 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GB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类模板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GB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的定义</a:t>
            </a:r>
            <a:endParaRPr kumimoji="0" lang="zh-CN" altLang="en-GB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  T 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a;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public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void 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f();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extern void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 file1.cpp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"file1.h"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template &lt;class T&gt; 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S&lt;T&gt;::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//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类模板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的实现</a:t>
            </a:r>
            <a:endParaRPr kumimoji="0" lang="zh-CN" altLang="en-GB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......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S&lt;float&gt; x; //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S&lt;float&gt;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并创建该类的一个对象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</a:t>
            </a:r>
            <a:endParaRPr kumimoji="0" lang="zh-CN" altLang="en-GB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x.f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S&lt;float&gt;::f()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并调用之</a:t>
            </a:r>
            <a:endParaRPr kumimoji="0" lang="zh-CN" altLang="en-GB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620713"/>
            <a:ext cx="8497888" cy="5545138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file2.cpp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"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file1.h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S&lt;float&gt; s1;</a:t>
            </a:r>
            <a:r>
              <a:rPr kumimoji="0" lang="en-GB" altLang="zh-CN" sz="3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GB" sz="3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GB" sz="3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GB" altLang="zh-CN" sz="31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S&lt;float</a:t>
            </a:r>
            <a:r>
              <a:rPr kumimoji="0" lang="en-GB" altLang="zh-CN" sz="31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3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GB" sz="3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</a:t>
            </a:r>
            <a:r>
              <a:rPr kumimoji="0" lang="zh-CN" altLang="en-GB" sz="3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创建该类的一个对象</a:t>
            </a:r>
            <a:r>
              <a:rPr kumimoji="0" lang="en-GB" altLang="zh-CN" sz="3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s1</a:t>
            </a:r>
            <a:endParaRPr kumimoji="0" lang="en-GB" altLang="zh-CN" sz="3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s1.f(); 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没有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实例化“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S&lt;float&gt;::f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”，但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之</a:t>
            </a:r>
            <a:endParaRPr kumimoji="0" lang="zh-CN" altLang="en-GB" sz="32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S&lt;</a:t>
            </a:r>
            <a:r>
              <a:rPr kumimoji="0" lang="en-GB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s2; </a:t>
            </a:r>
            <a:r>
              <a:rPr kumimoji="0" lang="en-GB" altLang="zh-CN" sz="3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GB" sz="3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GB" sz="3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GB" altLang="zh-CN" sz="31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S&lt;</a:t>
            </a:r>
            <a:r>
              <a:rPr kumimoji="0" lang="en-GB" altLang="zh-CN" sz="31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31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3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GB" sz="3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</a:t>
            </a:r>
            <a:r>
              <a:rPr kumimoji="0" lang="zh-CN" altLang="en-GB" sz="3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创建该类的一个对象</a:t>
            </a:r>
            <a:r>
              <a:rPr kumimoji="0" lang="en-GB" altLang="zh-CN" sz="3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s2 </a:t>
            </a:r>
            <a:endParaRPr kumimoji="0" lang="en-GB" altLang="zh-CN" sz="3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s2.f(); </a:t>
            </a:r>
            <a:r>
              <a:rPr kumimoji="0" lang="en-GB" altLang="zh-CN" sz="3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1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没有</a:t>
            </a:r>
            <a:r>
              <a:rPr kumimoji="0" lang="zh-CN" altLang="en-US" sz="3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GB" sz="3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GB" altLang="zh-CN" sz="31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S&lt;</a:t>
            </a:r>
            <a:r>
              <a:rPr kumimoji="0" lang="en-GB" altLang="zh-CN" sz="3100" b="0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31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&gt;::f()</a:t>
            </a:r>
            <a:r>
              <a:rPr kumimoji="0" lang="zh-CN" altLang="en-US" sz="3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”，但调用之</a:t>
            </a:r>
            <a:endParaRPr kumimoji="0" lang="en-US" altLang="zh-CN" sz="31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return 0;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两</a:t>
            </a:r>
            <a:r>
              <a:rPr kumimoji="0" lang="zh-CN" altLang="en-US" sz="3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个模块都能通过编译，但在连接时出错，</a:t>
            </a:r>
            <a:r>
              <a:rPr kumimoji="0" lang="zh-CN" altLang="en-GB" sz="3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连接程序指出</a:t>
            </a:r>
            <a:r>
              <a:rPr kumimoji="0" lang="zh-CN" altLang="en-US" sz="3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3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3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file2</a:t>
            </a:r>
            <a:r>
              <a:rPr kumimoji="0" lang="zh-CN" altLang="en-US" sz="3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中调用的</a:t>
            </a:r>
            <a:r>
              <a:rPr kumimoji="0" lang="zh-CN" altLang="en-GB" sz="3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“</a:t>
            </a:r>
            <a:r>
              <a:rPr kumimoji="0" lang="en-GB" altLang="zh-CN" sz="31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S&lt;</a:t>
            </a:r>
            <a:r>
              <a:rPr kumimoji="0" lang="en-GB" altLang="zh-CN" sz="3100" b="0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31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&gt;::f()</a:t>
            </a:r>
            <a:r>
              <a:rPr kumimoji="0" lang="zh-CN" altLang="en-US" sz="3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”不存在！</a:t>
            </a:r>
            <a:endParaRPr kumimoji="0" lang="en-US" altLang="zh-CN" sz="3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40" end="2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charRg st="240" end="26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charRg st="240" end="26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67" end="2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charRg st="267" end="29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charRg st="267" end="29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404813"/>
            <a:ext cx="8351838" cy="6337300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65125" marR="0" lvl="0" indent="-36512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解决上述问题的通常做法是把模板的定义和实现都放在头文件中。</a:t>
            </a:r>
            <a:endParaRPr kumimoji="0" lang="zh-CN" altLang="en-GB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65175" marR="0" lvl="1" indent="-3651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 file1.h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65175" marR="0" lvl="1" indent="-3651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&lt;class T&gt;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65175" marR="0" lvl="1" indent="-3651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S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类模板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的定义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65175" marR="0" lvl="1" indent="-3651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 T a;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65175" marR="0" lvl="1" indent="-3651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65175" marR="0" lvl="1" indent="-3651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void f();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65175" marR="0" lvl="1" indent="-3651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65175" marR="0" lvl="1" indent="-3651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&lt;class T&gt;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65175" marR="0" lvl="1" indent="-3651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S&lt;T&gt;::f()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类模板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的实现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65175" marR="0" lvl="1" indent="-3651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65175" marR="0" lvl="1" indent="-3651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65175" marR="0" lvl="1" indent="-3651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extern void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func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使用者通过包含这个头文件，把模板的源代码全包含进来，以备实例化所需。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242888"/>
            <a:ext cx="9036050" cy="6264275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file1.cpp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"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file1.h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S&lt;float&gt; x; //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S&lt;float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创建该类的一个对象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x.f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S&lt;float&gt;::f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调用之。 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 file2.cpp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"file1.h"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S&lt;float&gt; s1;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S&lt;float&gt;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并创建该类的一个对象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s1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s1.f();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S&lt;float&gt;::f()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并调用之。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S&lt;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s2;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S&lt;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并创建该类的一个对象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s2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s2.f();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S&lt;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&gt;::f()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并调用之。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return 0;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因此，模板是基于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源代码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的复用！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36295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在由多模块构成的程序中，由于每个模块是单独编译的，因此，会导致一个模板的某个实例存在于多个模块的编译结果中：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相同的函数模板实例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相同的类模板成员函数实例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相同代码的存在会造成目标代码庞大！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重复实例的处理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260350"/>
            <a:ext cx="9036050" cy="626427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file1.cpp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"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file1.h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S&lt;float&gt; x; //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S&lt;float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创建该类的一个对象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x.f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S&lt;float&gt;::f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调用之。 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 file2.cpp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"file1.h"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S&lt;float&gt; s1;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S&lt;float&gt;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并创建该类的一个对象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s1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s1.f();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S&lt;float&gt;::f()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并调用之。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S&lt;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s2;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S&lt;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并创建该类的一个对象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s2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s2.f();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实例化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S&lt;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&gt;::f()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并调用之。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return 0;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S&lt;float&gt;::f()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在两个模块（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file1.cpp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file2.cpp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）的编译结果中都存在！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215900" y="1600200"/>
            <a:ext cx="8748713" cy="4205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如何处置这两个相同的实例？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由开发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环境来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解决：编译第二个模块的时候不生成这个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。（代价大！）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由链接程序来解决：舍弃一个相同的实例。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1125538"/>
            <a:ext cx="8856663" cy="5111750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T&gt;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类模板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的定义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T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friend void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(A&lt;T&gt;&amp; a); //f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是多个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重载的函数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   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它们与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的实例是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一对一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友元！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(A&lt;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&gt;&amp; a) {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 }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该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仅是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的友元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(A&lt;double&gt;&amp;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a) { ......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该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仅是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A&lt;double&gt;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a1;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A&lt;double&gt; a2;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A&lt;double&gt;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A&lt;char *&gt; a3;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A&lt;char *&gt;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(a1);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f(A&lt;</a:t>
            </a:r>
            <a:r>
              <a:rPr kumimoji="0" lang="en-US" altLang="zh-CN" sz="29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&gt;&amp;)</a:t>
            </a:r>
            <a:endParaRPr kumimoji="0" lang="en-US" altLang="zh-CN" sz="2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(a2);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f(A&lt;double&gt;&amp;)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(a3);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f(A&lt;char *&gt;&amp;)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但连接时出错，该函数不存在！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68313" y="1588"/>
            <a:ext cx="8229600" cy="7635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类模板的友元函数</a:t>
            </a: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1125538"/>
            <a:ext cx="8856663" cy="5472113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&lt;class T&gt; class A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类模板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的声明（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的定义中要用到）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&lt;class T&gt; void 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(A&lt;T</a:t>
            </a:r>
            <a:r>
              <a:rPr kumimoji="0" lang="en-US" altLang="zh-CN" sz="2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&gt;&amp; a) { ...... }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//f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函数模板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T&gt;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类模板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的定义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T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friend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&lt;T&gt;(A&lt;T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&gt;&amp; a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模板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的实例是友元，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  //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实例与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的实例是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一对一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友元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a1;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A&lt;double&gt; a2;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A&lt;double&gt;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A&lt;char *&gt; a3; //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A&lt;char *&gt;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(a1);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f&lt;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并调用之，它仅是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的友元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(a2</a:t>
            </a:r>
            <a:r>
              <a:rPr kumimoji="0" lang="en-US" altLang="zh-CN" sz="2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f&lt;double&gt;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并调用之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，它仅是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A&lt;double&gt;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(a3);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f&lt;char *&gt;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并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它仅是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A&lt;char *&gt;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的友元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68313" y="1588"/>
            <a:ext cx="8229600" cy="7635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1125538"/>
            <a:ext cx="8856663" cy="5543550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&lt;class T&gt; class A; //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类模板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的声明（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的定义中要用到）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&lt;class T&gt; void </a:t>
            </a:r>
            <a:r>
              <a:rPr kumimoji="0" lang="en-US" altLang="zh-CN" sz="29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(A&lt;T&gt;&amp; a) { ...... }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//f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函数模板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template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T&gt;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类模板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的定义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T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template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T1&gt;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friend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void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(A&lt;T1&gt;&amp; a);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整个模板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是友元，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	//f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的实例与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的实例是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多对多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友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a1;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A&lt;double&gt; a2;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A&lt;double&gt;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A&lt;char *&gt; a3; //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A&lt;char *&gt;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(a1);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f&lt;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并调用之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，它是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所有实例的友元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(a2);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f&lt;double&gt;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并调用之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，它是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所有实例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(a3); //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实例化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f&lt;char *&gt;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并调用之，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它是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所有实例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68313" y="1588"/>
            <a:ext cx="8229600" cy="7635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8688</Words>
  <Application>WPS 演示</Application>
  <PresentationFormat>全屏显示(4:3)</PresentationFormat>
  <Paragraphs>506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Arial</vt:lpstr>
      <vt:lpstr>宋体</vt:lpstr>
      <vt:lpstr>Wingdings</vt:lpstr>
      <vt:lpstr>Verdana</vt:lpstr>
      <vt:lpstr>Calibri</vt:lpstr>
      <vt:lpstr>Arial</vt:lpstr>
      <vt:lpstr>微软雅黑</vt:lpstr>
      <vt:lpstr>Arial Unicode MS</vt:lpstr>
      <vt:lpstr>Globe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Nanjing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第九章 类属机制－－模板</dc:title>
  <dc:creator>chenjiajun</dc:creator>
  <cp:lastModifiedBy>Ethereal_YC</cp:lastModifiedBy>
  <cp:revision>454</cp:revision>
  <dcterms:created xsi:type="dcterms:W3CDTF">2005-01-05T08:01:58Z</dcterms:created>
  <dcterms:modified xsi:type="dcterms:W3CDTF">2023-12-09T16:06:36Z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5E0074FC86034A998DCA92414E60E937_13</vt:lpwstr>
  </property>
  <property fmtid="{D5CDD505-2E9C-101B-9397-08002B2CF9AE}" pid="3" name="KSOProductBuildVer">
    <vt:lpwstr>2052-12.1.0.15990</vt:lpwstr>
  </property>
</Properties>
</file>
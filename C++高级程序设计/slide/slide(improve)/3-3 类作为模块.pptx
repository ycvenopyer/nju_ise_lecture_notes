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931" r:id="rId3"/>
    <p:sldId id="1028" r:id="rId4"/>
    <p:sldId id="1031" r:id="rId5"/>
    <p:sldId id="1029" r:id="rId6"/>
    <p:sldId id="995" r:id="rId7"/>
    <p:sldId id="1034" r:id="rId8"/>
    <p:sldId id="996" r:id="rId9"/>
    <p:sldId id="1030" r:id="rId10"/>
    <p:sldId id="1027" r:id="rId11"/>
    <p:sldId id="1024" r:id="rId12"/>
    <p:sldId id="1032" r:id="rId13"/>
    <p:sldId id="1033" r:id="rId1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73"/>
    <p:restoredTop sz="99887"/>
  </p:normalViewPr>
  <p:slideViewPr>
    <p:cSldViewPr showGuides="1">
      <p:cViewPr varScale="1">
        <p:scale>
          <a:sx n="90" d="100"/>
          <a:sy n="90" d="100"/>
        </p:scale>
        <p:origin x="88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21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D46C18-82BE-4D17-9B52-C24A2C439D91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654FC0-762B-4D7B-A9AE-5CFA15A6B49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41" y="845"/>
                </a:cxn>
                <a:cxn ang="0">
                  <a:pos x="1041" y="821"/>
                </a:cxn>
                <a:cxn ang="0">
                  <a:pos x="850" y="605"/>
                </a:cxn>
                <a:cxn ang="0">
                  <a:pos x="550" y="396"/>
                </a:cxn>
                <a:cxn ang="0">
                  <a:pos x="359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7" y="198"/>
                </a:cxn>
                <a:cxn ang="0">
                  <a:pos x="538" y="408"/>
                </a:cxn>
                <a:cxn ang="0">
                  <a:pos x="844" y="623"/>
                </a:cxn>
                <a:cxn ang="0">
                  <a:pos x="1041" y="845"/>
                </a:cxn>
                <a:cxn ang="0">
                  <a:pos x="1041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45" y="414"/>
                </a:cxn>
                <a:cxn ang="0">
                  <a:pos x="545" y="396"/>
                </a:cxn>
                <a:cxn ang="0">
                  <a:pos x="360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54" y="204"/>
                </a:cxn>
                <a:cxn ang="0">
                  <a:pos x="545" y="414"/>
                </a:cxn>
                <a:cxn ang="0">
                  <a:pos x="545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26" y="0"/>
                </a:cxn>
                <a:cxn ang="0">
                  <a:pos x="899" y="0"/>
                </a:cxn>
                <a:cxn ang="0">
                  <a:pos x="650" y="132"/>
                </a:cxn>
                <a:cxn ang="0">
                  <a:pos x="395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95" y="282"/>
                </a:cxn>
                <a:cxn ang="0">
                  <a:pos x="662" y="138"/>
                </a:cxn>
                <a:cxn ang="0">
                  <a:pos x="926" y="0"/>
                </a:cxn>
                <a:cxn ang="0">
                  <a:pos x="926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10" y="0"/>
                </a:cxn>
                <a:cxn ang="0">
                  <a:pos x="389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10" y="0"/>
                </a:cxn>
                <a:cxn ang="0">
                  <a:pos x="410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9B581A-E12A-471B-99B4-FF307FD7111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6466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41" y="845"/>
                </a:cxn>
                <a:cxn ang="0">
                  <a:pos x="1041" y="821"/>
                </a:cxn>
                <a:cxn ang="0">
                  <a:pos x="850" y="605"/>
                </a:cxn>
                <a:cxn ang="0">
                  <a:pos x="550" y="396"/>
                </a:cxn>
                <a:cxn ang="0">
                  <a:pos x="359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7" y="198"/>
                </a:cxn>
                <a:cxn ang="0">
                  <a:pos x="538" y="408"/>
                </a:cxn>
                <a:cxn ang="0">
                  <a:pos x="844" y="623"/>
                </a:cxn>
                <a:cxn ang="0">
                  <a:pos x="1041" y="845"/>
                </a:cxn>
                <a:cxn ang="0">
                  <a:pos x="1041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45" y="414"/>
                </a:cxn>
                <a:cxn ang="0">
                  <a:pos x="545" y="396"/>
                </a:cxn>
                <a:cxn ang="0">
                  <a:pos x="360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54" y="204"/>
                </a:cxn>
                <a:cxn ang="0">
                  <a:pos x="545" y="414"/>
                </a:cxn>
                <a:cxn ang="0">
                  <a:pos x="545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466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26" y="0"/>
                </a:cxn>
                <a:cxn ang="0">
                  <a:pos x="899" y="0"/>
                </a:cxn>
                <a:cxn ang="0">
                  <a:pos x="650" y="132"/>
                </a:cxn>
                <a:cxn ang="0">
                  <a:pos x="395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95" y="282"/>
                </a:cxn>
                <a:cxn ang="0">
                  <a:pos x="662" y="138"/>
                </a:cxn>
                <a:cxn ang="0">
                  <a:pos x="926" y="0"/>
                </a:cxn>
                <a:cxn ang="0">
                  <a:pos x="926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10" y="0"/>
                </a:cxn>
                <a:cxn ang="0">
                  <a:pos x="389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10" y="0"/>
                </a:cxn>
                <a:cxn ang="0">
                  <a:pos x="410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467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26468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B4F93-111A-4299-9705-820C75A09B5C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771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类作为模块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6771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00965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什么是模块？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518318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模块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从物理上对程序中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定义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的实体进行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分组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，是可以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单独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编写和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编译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的程序单位。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模块化是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组织和管理大型程序的一个重要手段。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一个模块包含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接口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两部分：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接口：是指在模块中定义的、可以被其它模块使用的一些程序实体的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声明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描述。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实现：是指在模块中定义的所有程序实体的具体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描述。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51025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程序中的模块：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接口：包含被外界使用的类型定义、常量定义以及全局变量和函数的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声明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.h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文件）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实现：包含本模块中所有的类型、常量、全局变量和函数的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定义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.c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文件）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如何划分模块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5111750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划分模块的基本准则：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内聚性最大：模块内的各实体之间联系紧密。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耦合度最小：模块间的各实体之间关联较少。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便于程序的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设计、理解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和维护，能够保证程序的正确性。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过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程式程序的模块划分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通常是基于子程序，把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共同完成某独立功能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的或使用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相同数据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的子程序及相关的实体放在一起构成模块。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缺点是模块边界模糊：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个子程序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可能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参与几个独立功能。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一个子程序可能使用多个数据集。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57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类作为模块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9571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在面向对象程序中，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类是一个自然的模块划分单位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，模块边界比较清晰。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程序的模块由两部分构成：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接口：类的定义，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存放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在一个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h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文件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实现：类的实现（包括类的定义和类外实现的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存放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在一个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cpp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文件中。 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71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类模块的例子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975"/>
            <a:ext cx="3609975" cy="5545138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A.h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（模块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接口）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i,j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public: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void f();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void g();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void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h() { ......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//A.cpp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（模块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实现）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A.h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A::f()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A::g()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0063" y="1225550"/>
            <a:ext cx="3152775" cy="3140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//main.cpp</a:t>
            </a:r>
            <a:r>
              <a:rPr kumimoji="0" lang="zh-CN" altLang="en-US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（主模块）</a:t>
            </a:r>
            <a:endParaRPr kumimoji="0" lang="en-US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#include "</a:t>
            </a:r>
            <a:r>
              <a:rPr kumimoji="0" lang="en-US" altLang="zh-CN" sz="22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A.h</a:t>
            </a: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"</a:t>
            </a:r>
            <a:endParaRPr kumimoji="0" lang="en-US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main()</a:t>
            </a:r>
            <a:endParaRPr kumimoji="0" lang="en-US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 A </a:t>
            </a:r>
            <a:r>
              <a:rPr kumimoji="0" lang="en-US" altLang="zh-CN" sz="22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2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a.f</a:t>
            </a: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();</a:t>
            </a:r>
            <a:endParaRPr kumimoji="0" lang="en-US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2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a.g</a:t>
            </a: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();</a:t>
            </a:r>
            <a:endParaRPr kumimoji="0" lang="en-US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200" kern="1200" cap="none" spc="0" normalizeH="0" baseline="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a.h</a:t>
            </a:r>
            <a:r>
              <a:rPr kumimoji="0" lang="en-US" altLang="zh-CN" sz="2200" kern="1200" cap="none" spc="0" normalizeH="0" baseline="0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(); //</a:t>
            </a:r>
            <a:r>
              <a:rPr kumimoji="0" lang="zh-CN" altLang="en-US" sz="2200" kern="1200" cap="none" spc="0" normalizeH="0" baseline="0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按内联实现</a:t>
            </a:r>
            <a:endParaRPr kumimoji="0" lang="en-US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......</a:t>
            </a:r>
            <a:endParaRPr kumimoji="0" lang="en-US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2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507413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良好的</a:t>
            </a: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面向对象程序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</a:t>
            </a: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风格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967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540067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结构化程序设计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为过程式程序设计提供了一种良好的风格指南，它要求每个程序单位都应该具有“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单入口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单出口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”性质，具体体现为使用：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不带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goto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的顺序、分支和循环流程控制。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子程序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良好的面向对象程序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设计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风格是什么呢？ 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减少类之间的关联度（耦合度）！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要降低类间的关联度，可以对类中成员函数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能访问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集合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作一定的限制，并尽量使该集合为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最小。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上述要求被称为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Demeter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法则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>
                                            <p:txEl>
                                              <p:charRg st="8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6739">
                                            <p:txEl>
                                              <p:charRg st="8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6739">
                                            <p:txEl>
                                              <p:charRg st="8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>
                                            <p:txEl>
                                              <p:charRg st="108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6739">
                                            <p:txEl>
                                              <p:charRg st="108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96739">
                                            <p:txEl>
                                              <p:charRg st="108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>
                                            <p:txEl>
                                              <p:charRg st="124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6739">
                                            <p:txEl>
                                              <p:charRg st="124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96739">
                                            <p:txEl>
                                              <p:charRg st="124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>
                                            <p:txEl>
                                              <p:charRg st="173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6739">
                                            <p:txEl>
                                              <p:charRg st="173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6739">
                                            <p:txEl>
                                              <p:charRg st="173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507413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Demeter</a:t>
            </a: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法则（</a:t>
            </a:r>
            <a:r>
              <a:rPr kumimoji="0" lang="en-GB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Law of Demeter</a:t>
            </a: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967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530066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一个类的成员函数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除了能访问自身类结构的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直接子结构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（本类的数据成员）外，不能以任何方式依赖于任何其它类的结构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只应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向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某个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有限集合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中的对象发送消息。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核心思想：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仅与你的直接朋友交谈！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endParaRPr kumimoji="0" lang="zh-CN" altLang="en-GB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88913"/>
            <a:ext cx="8578850" cy="6408738"/>
          </a:xfrm>
        </p:spPr>
        <p:txBody>
          <a:bodyPr vert="horz" wrap="square" lIns="91440" tIns="45720" rIns="91440" bIns="45720" numCol="1" anchor="t" anchorCtr="0" compatLnSpc="1"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Student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id; String name;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void print() { ...... 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id; String name;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Student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student_list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[100];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void print() { ...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student_list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].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print()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... } //OK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是直接朋友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Student&amp;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get_student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return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student_list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]; 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School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id; String name;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Class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class_list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[300];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void f()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{ ... id, name ...  //OK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...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class_list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].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,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class_list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].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name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 //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Not OK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，非直接子结构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class_list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].print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//OK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是直接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朋友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class_list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].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get_student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(j).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print()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Not OK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不是直接朋友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Demeter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法则有两种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表达形式：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类表达形式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：一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个类中的成员函数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能访问（向其发消息）的对象所属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集合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适合于静态类型的面向对象语言（如：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C++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），它可以在编译时刻检查程序是否满足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法则。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对象表达形式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：一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个类中的成员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函数能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访问（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向其发消息）的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对象的集合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适合于动态类型的面向对象语言（如：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Smalltalk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），它需要在运行时刻检查程序是否满足法则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Demeter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法则的类表达形式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对于类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中的任何成员函数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中只能向以下类的对象发送消息：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+mj-ea"/>
              <a:buAutoNum type="circleNumDbPlai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本身。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+mj-ea"/>
              <a:buAutoNum type="circleNumDbPlai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的参数类。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所调用的成员函数中创建的对象所属的类。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+mj-ea"/>
              <a:buAutoNum type="circleNumDbPlai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全局对象所属的类。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+mj-ea"/>
              <a:buAutoNum type="circleNumDbPlai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的成员对象所属的类。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Demeter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法则的对象表达形式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对于类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中的任何成员函数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中只能向以下的对象发送消息：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this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指向的对象。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+mj-ea"/>
              <a:buAutoNum type="circleNumDbPlai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的参数对象。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所调用的成员函数所创建的对象。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+mj-ea"/>
              <a:buAutoNum type="circleNumDbPlai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全局变量中包含的对象。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+mj-ea"/>
              <a:buAutoNum type="circleNumDbPlai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的成员对象。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2024</Words>
  <Application>WPS 演示</Application>
  <PresentationFormat>全屏显示(4:3)</PresentationFormat>
  <Paragraphs>130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tattit</cp:lastModifiedBy>
  <cp:revision>632</cp:revision>
  <dcterms:created xsi:type="dcterms:W3CDTF">1999-05-22T12:40:20Z</dcterms:created>
  <dcterms:modified xsi:type="dcterms:W3CDTF">2023-10-09T14:03:33Z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2052-11.8.2.8875</vt:lpwstr>
  </property>
</Properties>
</file>
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931" r:id="rId3"/>
    <p:sldId id="1036" r:id="rId4"/>
    <p:sldId id="1033" r:id="rId5"/>
    <p:sldId id="1037" r:id="rId6"/>
    <p:sldId id="993" r:id="rId7"/>
    <p:sldId id="1038" r:id="rId8"/>
    <p:sldId id="1011" r:id="rId9"/>
    <p:sldId id="1002" r:id="rId10"/>
    <p:sldId id="1003" r:id="rId11"/>
    <p:sldId id="1025" r:id="rId12"/>
    <p:sldId id="1004" r:id="rId13"/>
    <p:sldId id="1005" r:id="rId14"/>
    <p:sldId id="1026" r:id="rId15"/>
    <p:sldId id="1006" r:id="rId16"/>
    <p:sldId id="1007" r:id="rId17"/>
    <p:sldId id="1008" r:id="rId18"/>
    <p:sldId id="1009" r:id="rId19"/>
    <p:sldId id="1010" r:id="rId2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3"/>
    <p:restoredTop sz="88873"/>
  </p:normalViewPr>
  <p:slideViewPr>
    <p:cSldViewPr showGuides="1">
      <p:cViewPr varScale="1">
        <p:scale>
          <a:sx n="90" d="100"/>
          <a:sy n="90" d="100"/>
        </p:scale>
        <p:origin x="13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21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D73DB5-112E-4426-8C92-B69C51CCB5D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1BDBA3-D287-440B-A7F3-5A6BADB9B781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47" y="845"/>
                </a:cxn>
                <a:cxn ang="0">
                  <a:pos x="1047" y="821"/>
                </a:cxn>
                <a:cxn ang="0">
                  <a:pos x="854" y="605"/>
                </a:cxn>
                <a:cxn ang="0">
                  <a:pos x="554" y="396"/>
                </a:cxn>
                <a:cxn ang="0">
                  <a:pos x="361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9" y="198"/>
                </a:cxn>
                <a:cxn ang="0">
                  <a:pos x="542" y="408"/>
                </a:cxn>
                <a:cxn ang="0">
                  <a:pos x="848" y="623"/>
                </a:cxn>
                <a:cxn ang="0">
                  <a:pos x="1047" y="845"/>
                </a:cxn>
                <a:cxn ang="0">
                  <a:pos x="1047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47" y="414"/>
                </a:cxn>
                <a:cxn ang="0">
                  <a:pos x="547" y="396"/>
                </a:cxn>
                <a:cxn ang="0">
                  <a:pos x="362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56" y="204"/>
                </a:cxn>
                <a:cxn ang="0">
                  <a:pos x="547" y="414"/>
                </a:cxn>
                <a:cxn ang="0">
                  <a:pos x="547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32" y="0"/>
                </a:cxn>
                <a:cxn ang="0">
                  <a:pos x="905" y="0"/>
                </a:cxn>
                <a:cxn ang="0">
                  <a:pos x="654" y="132"/>
                </a:cxn>
                <a:cxn ang="0">
                  <a:pos x="397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97" y="282"/>
                </a:cxn>
                <a:cxn ang="0">
                  <a:pos x="666" y="138"/>
                </a:cxn>
                <a:cxn ang="0">
                  <a:pos x="932" y="0"/>
                </a:cxn>
                <a:cxn ang="0">
                  <a:pos x="932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14" y="0"/>
                </a:cxn>
                <a:cxn ang="0">
                  <a:pos x="391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14" y="0"/>
                </a:cxn>
                <a:cxn ang="0">
                  <a:pos x="414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199658-1BC1-4FBD-9068-51825DF92F1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6466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47" y="845"/>
                </a:cxn>
                <a:cxn ang="0">
                  <a:pos x="1047" y="821"/>
                </a:cxn>
                <a:cxn ang="0">
                  <a:pos x="854" y="605"/>
                </a:cxn>
                <a:cxn ang="0">
                  <a:pos x="554" y="396"/>
                </a:cxn>
                <a:cxn ang="0">
                  <a:pos x="361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9" y="198"/>
                </a:cxn>
                <a:cxn ang="0">
                  <a:pos x="542" y="408"/>
                </a:cxn>
                <a:cxn ang="0">
                  <a:pos x="848" y="623"/>
                </a:cxn>
                <a:cxn ang="0">
                  <a:pos x="1047" y="845"/>
                </a:cxn>
                <a:cxn ang="0">
                  <a:pos x="1047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47" y="414"/>
                </a:cxn>
                <a:cxn ang="0">
                  <a:pos x="547" y="396"/>
                </a:cxn>
                <a:cxn ang="0">
                  <a:pos x="362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56" y="204"/>
                </a:cxn>
                <a:cxn ang="0">
                  <a:pos x="547" y="414"/>
                </a:cxn>
                <a:cxn ang="0">
                  <a:pos x="547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466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32" y="0"/>
                </a:cxn>
                <a:cxn ang="0">
                  <a:pos x="905" y="0"/>
                </a:cxn>
                <a:cxn ang="0">
                  <a:pos x="654" y="132"/>
                </a:cxn>
                <a:cxn ang="0">
                  <a:pos x="397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97" y="282"/>
                </a:cxn>
                <a:cxn ang="0">
                  <a:pos x="666" y="138"/>
                </a:cxn>
                <a:cxn ang="0">
                  <a:pos x="932" y="0"/>
                </a:cxn>
                <a:cxn ang="0">
                  <a:pos x="932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14" y="0"/>
                </a:cxn>
                <a:cxn ang="0">
                  <a:pos x="391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14" y="0"/>
                </a:cxn>
                <a:cxn ang="0">
                  <a:pos x="414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467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26468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D25E2-9BB6-40BE-AFDE-0F44DA8BD7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数据抽象与封装概述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抽象与封装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抽象与封装是两个重要的程序设计手段，主要是用来驾驭程序的复杂度，便于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大型程序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的设计、理解与维护。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对于一个程序实体而言，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抽象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是指该程序实体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外部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可观察到的行为，不考虑该程序实体的内部是如何实现的。（复杂度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控制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封装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是指把该程序实体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内部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的具体实现细节对使用者隐藏起来，只对外提供一个接口。（信息保护）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主要的程序抽象与封装机制包括：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过程抽象与封装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数据抽象与封装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过程抽象与封装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5141913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过程抽象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用一个名字来代表一段完成一定功能的程序代码，代码的使用者只需要知道代码的名字以及相应的功能，而不需要知道对应的程序代码是如何实现的。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过程封装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把命名代码的具体实现隐藏起来（对使用者不可见，或不可直接访问），使用者只能通过代码名字来使用相应的代码。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命名代码所需要的数据是通过参数来获得，计算结果通过返回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值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机制返回。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过程抽象与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封装的程序实体通常称为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子程序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C/C++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语言中，子程序用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来表示。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46088" y="260350"/>
            <a:ext cx="8229600" cy="11080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过程抽象与封装是基于功能分解与复合的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过程式程序设计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的基础。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8195" name="Group 4"/>
          <p:cNvGrpSpPr/>
          <p:nvPr/>
        </p:nvGrpSpPr>
        <p:grpSpPr>
          <a:xfrm>
            <a:off x="827088" y="1622425"/>
            <a:ext cx="5402262" cy="4975225"/>
            <a:chOff x="158" y="935"/>
            <a:chExt cx="2960" cy="3154"/>
          </a:xfrm>
        </p:grpSpPr>
        <p:grpSp>
          <p:nvGrpSpPr>
            <p:cNvPr id="8197" name="Group 5"/>
            <p:cNvGrpSpPr/>
            <p:nvPr/>
          </p:nvGrpSpPr>
          <p:grpSpPr>
            <a:xfrm>
              <a:off x="170" y="1029"/>
              <a:ext cx="2948" cy="2677"/>
              <a:chOff x="742" y="2528"/>
              <a:chExt cx="2376" cy="1792"/>
            </a:xfrm>
          </p:grpSpPr>
          <p:sp>
            <p:nvSpPr>
              <p:cNvPr id="8200" name="Oval 6"/>
              <p:cNvSpPr/>
              <p:nvPr/>
            </p:nvSpPr>
            <p:spPr>
              <a:xfrm>
                <a:off x="1030" y="2528"/>
                <a:ext cx="1872" cy="60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1" name="Rectangle 7"/>
              <p:cNvSpPr/>
              <p:nvPr/>
            </p:nvSpPr>
            <p:spPr>
              <a:xfrm>
                <a:off x="1822" y="3544"/>
                <a:ext cx="288" cy="16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2" name="Line 8"/>
              <p:cNvSpPr/>
              <p:nvPr/>
            </p:nvSpPr>
            <p:spPr>
              <a:xfrm>
                <a:off x="742" y="3339"/>
                <a:ext cx="2376" cy="0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8203" name="Rectangle 9"/>
              <p:cNvSpPr/>
              <p:nvPr/>
            </p:nvSpPr>
            <p:spPr>
              <a:xfrm>
                <a:off x="1822" y="3838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4" name="Rectangle 10"/>
              <p:cNvSpPr/>
              <p:nvPr/>
            </p:nvSpPr>
            <p:spPr>
              <a:xfrm>
                <a:off x="1102" y="4150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5" name="Rectangle 11"/>
              <p:cNvSpPr/>
              <p:nvPr/>
            </p:nvSpPr>
            <p:spPr>
              <a:xfrm>
                <a:off x="2326" y="3838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6" name="Rectangle 12"/>
              <p:cNvSpPr/>
              <p:nvPr/>
            </p:nvSpPr>
            <p:spPr>
              <a:xfrm>
                <a:off x="1318" y="3838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7" name="Rectangle 13"/>
              <p:cNvSpPr/>
              <p:nvPr/>
            </p:nvSpPr>
            <p:spPr>
              <a:xfrm>
                <a:off x="1606" y="4150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8" name="Line 14"/>
              <p:cNvSpPr/>
              <p:nvPr/>
            </p:nvSpPr>
            <p:spPr>
              <a:xfrm>
                <a:off x="1966" y="3713"/>
                <a:ext cx="0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09" name="Line 15"/>
              <p:cNvSpPr/>
              <p:nvPr/>
            </p:nvSpPr>
            <p:spPr>
              <a:xfrm flipH="1">
                <a:off x="1462" y="3713"/>
                <a:ext cx="504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10" name="Line 16"/>
              <p:cNvSpPr/>
              <p:nvPr/>
            </p:nvSpPr>
            <p:spPr>
              <a:xfrm>
                <a:off x="1966" y="3713"/>
                <a:ext cx="504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11" name="Line 17"/>
              <p:cNvSpPr/>
              <p:nvPr/>
            </p:nvSpPr>
            <p:spPr>
              <a:xfrm flipH="1">
                <a:off x="1246" y="4025"/>
                <a:ext cx="216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12" name="Line 18"/>
              <p:cNvSpPr/>
              <p:nvPr/>
            </p:nvSpPr>
            <p:spPr>
              <a:xfrm>
                <a:off x="1462" y="4025"/>
                <a:ext cx="288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13" name="Freeform 19"/>
              <p:cNvSpPr/>
              <p:nvPr/>
            </p:nvSpPr>
            <p:spPr>
              <a:xfrm>
                <a:off x="1246" y="2902"/>
                <a:ext cx="676" cy="692"/>
              </a:xfrm>
              <a:custGeom>
                <a:avLst/>
                <a:gdLst>
                  <a:gd name="txL" fmla="*/ 0 w 1800"/>
                  <a:gd name="txT" fmla="*/ 0 h 2028"/>
                  <a:gd name="txR" fmla="*/ 1800 w 1800"/>
                  <a:gd name="txB" fmla="*/ 2028 h 2028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00" h="2028">
                    <a:moveTo>
                      <a:pt x="1800" y="2028"/>
                    </a:moveTo>
                    <a:cubicBezTo>
                      <a:pt x="1410" y="1885"/>
                      <a:pt x="1020" y="1742"/>
                      <a:pt x="720" y="1404"/>
                    </a:cubicBezTo>
                    <a:cubicBezTo>
                      <a:pt x="420" y="1066"/>
                      <a:pt x="60" y="286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arrow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14" name="Freeform 20"/>
              <p:cNvSpPr/>
              <p:nvPr/>
            </p:nvSpPr>
            <p:spPr>
              <a:xfrm>
                <a:off x="2470" y="2902"/>
                <a:ext cx="360" cy="999"/>
              </a:xfrm>
              <a:custGeom>
                <a:avLst/>
                <a:gdLst>
                  <a:gd name="txL" fmla="*/ 0 w 720"/>
                  <a:gd name="txT" fmla="*/ 0 h 2964"/>
                  <a:gd name="txR" fmla="*/ 720 w 720"/>
                  <a:gd name="txB" fmla="*/ 2964 h 2964"/>
                </a:gdLst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20" h="2964">
                    <a:moveTo>
                      <a:pt x="0" y="2964"/>
                    </a:moveTo>
                    <a:cubicBezTo>
                      <a:pt x="360" y="2509"/>
                      <a:pt x="720" y="2054"/>
                      <a:pt x="720" y="1560"/>
                    </a:cubicBezTo>
                    <a:cubicBezTo>
                      <a:pt x="720" y="1066"/>
                      <a:pt x="120" y="23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arrow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15" name="Freeform 21"/>
              <p:cNvSpPr/>
              <p:nvPr/>
            </p:nvSpPr>
            <p:spPr>
              <a:xfrm>
                <a:off x="1894" y="2653"/>
                <a:ext cx="432" cy="1248"/>
              </a:xfrm>
              <a:custGeom>
                <a:avLst/>
                <a:gdLst>
                  <a:gd name="txL" fmla="*/ 0 w 1680"/>
                  <a:gd name="txT" fmla="*/ 0 h 2808"/>
                  <a:gd name="txR" fmla="*/ 1680 w 1680"/>
                  <a:gd name="txB" fmla="*/ 2808 h 2808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680" h="2808">
                    <a:moveTo>
                      <a:pt x="360" y="2808"/>
                    </a:moveTo>
                    <a:cubicBezTo>
                      <a:pt x="1020" y="2652"/>
                      <a:pt x="1680" y="2496"/>
                      <a:pt x="1620" y="2028"/>
                    </a:cubicBezTo>
                    <a:cubicBezTo>
                      <a:pt x="1560" y="1560"/>
                      <a:pt x="300" y="26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none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16" name="Freeform 22"/>
              <p:cNvSpPr/>
              <p:nvPr/>
            </p:nvSpPr>
            <p:spPr>
              <a:xfrm>
                <a:off x="1318" y="2840"/>
                <a:ext cx="576" cy="1061"/>
              </a:xfrm>
              <a:custGeom>
                <a:avLst/>
                <a:gdLst>
                  <a:gd name="txL" fmla="*/ 0 w 1860"/>
                  <a:gd name="txT" fmla="*/ 0 h 3276"/>
                  <a:gd name="txR" fmla="*/ 1860 w 1860"/>
                  <a:gd name="txB" fmla="*/ 3276 h 327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60" h="3276">
                    <a:moveTo>
                      <a:pt x="420" y="3276"/>
                    </a:moveTo>
                    <a:cubicBezTo>
                      <a:pt x="210" y="2847"/>
                      <a:pt x="0" y="2418"/>
                      <a:pt x="240" y="1872"/>
                    </a:cubicBezTo>
                    <a:cubicBezTo>
                      <a:pt x="480" y="1326"/>
                      <a:pt x="1470" y="260"/>
                      <a:pt x="186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none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17" name="Freeform 23"/>
              <p:cNvSpPr/>
              <p:nvPr/>
            </p:nvSpPr>
            <p:spPr>
              <a:xfrm>
                <a:off x="1030" y="2715"/>
                <a:ext cx="1440" cy="1498"/>
              </a:xfrm>
              <a:custGeom>
                <a:avLst/>
                <a:gdLst>
                  <a:gd name="txL" fmla="*/ 0 w 3930"/>
                  <a:gd name="txT" fmla="*/ 0 h 4056"/>
                  <a:gd name="txR" fmla="*/ 3930 w 3930"/>
                  <a:gd name="txB" fmla="*/ 4056 h 405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3930" h="4056">
                    <a:moveTo>
                      <a:pt x="870" y="4056"/>
                    </a:moveTo>
                    <a:cubicBezTo>
                      <a:pt x="435" y="3692"/>
                      <a:pt x="0" y="3328"/>
                      <a:pt x="510" y="2652"/>
                    </a:cubicBezTo>
                    <a:cubicBezTo>
                      <a:pt x="1020" y="1976"/>
                      <a:pt x="2475" y="988"/>
                      <a:pt x="393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arrow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18" name="Freeform 24"/>
              <p:cNvSpPr/>
              <p:nvPr/>
            </p:nvSpPr>
            <p:spPr>
              <a:xfrm>
                <a:off x="1606" y="2715"/>
                <a:ext cx="144" cy="1498"/>
              </a:xfrm>
              <a:custGeom>
                <a:avLst/>
                <a:gdLst>
                  <a:gd name="txL" fmla="*/ 0 w 720"/>
                  <a:gd name="txT" fmla="*/ 0 h 4056"/>
                  <a:gd name="txR" fmla="*/ 720 w 720"/>
                  <a:gd name="txB" fmla="*/ 4056 h 405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20" h="4056">
                    <a:moveTo>
                      <a:pt x="720" y="4056"/>
                    </a:moveTo>
                    <a:cubicBezTo>
                      <a:pt x="600" y="3614"/>
                      <a:pt x="480" y="3172"/>
                      <a:pt x="360" y="2496"/>
                    </a:cubicBezTo>
                    <a:cubicBezTo>
                      <a:pt x="240" y="1820"/>
                      <a:pt x="120" y="91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none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198" name="Text Box 25"/>
            <p:cNvSpPr txBox="1"/>
            <p:nvPr/>
          </p:nvSpPr>
          <p:spPr>
            <a:xfrm>
              <a:off x="158" y="935"/>
              <a:ext cx="458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Data</a:t>
              </a:r>
              <a:endParaRPr lang="en-US" altLang="zh-CN" sz="1800" dirty="0"/>
            </a:p>
          </p:txBody>
        </p:sp>
        <p:sp>
          <p:nvSpPr>
            <p:cNvPr id="8199" name="Text Box 26"/>
            <p:cNvSpPr txBox="1"/>
            <p:nvPr/>
          </p:nvSpPr>
          <p:spPr>
            <a:xfrm>
              <a:off x="200" y="3838"/>
              <a:ext cx="1154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Sub-programs</a:t>
              </a:r>
              <a:endParaRPr lang="en-US" altLang="zh-CN" sz="1800" dirty="0"/>
            </a:p>
          </p:txBody>
        </p:sp>
      </p:grpSp>
      <p:sp>
        <p:nvSpPr>
          <p:cNvPr id="8196" name="文本框 1"/>
          <p:cNvSpPr txBox="1"/>
          <p:nvPr/>
        </p:nvSpPr>
        <p:spPr>
          <a:xfrm>
            <a:off x="5148263" y="5673725"/>
            <a:ext cx="3865562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/>
              <a:t>实现了过程抽象与封装</a:t>
            </a:r>
            <a:endParaRPr lang="en-US" altLang="zh-CN" sz="2000" dirty="0"/>
          </a:p>
          <a:p>
            <a:pPr marL="342900" lvl="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/>
              <a:t>数据表示是公开的，缺乏保护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95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数据抽象与封装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895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974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数据抽象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只需要知道对数据能实施哪些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以及这些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操作之间的关系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，数据的使用者不需要知道数据的具体表示形式（数组或链表等）。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封装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把数据及其操作作为一个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整体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（封装体）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来进行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实现，其中，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数据的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具体表示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被隐藏起来（使用者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不可见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，或不可直接访问）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，对数据的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访问（使用）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只能通过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封装体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对外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接口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提供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操作来完成。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与过程抽象与封装相比，数据抽象与封装能够实现更好的数据保护。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242" name="Group 0"/>
          <p:cNvGrpSpPr/>
          <p:nvPr/>
        </p:nvGrpSpPr>
        <p:grpSpPr>
          <a:xfrm>
            <a:off x="1330325" y="1957388"/>
            <a:ext cx="6049963" cy="4279900"/>
            <a:chOff x="3185" y="799"/>
            <a:chExt cx="2280" cy="2224"/>
          </a:xfrm>
        </p:grpSpPr>
        <p:grpSp>
          <p:nvGrpSpPr>
            <p:cNvPr id="10244" name="Group 44"/>
            <p:cNvGrpSpPr/>
            <p:nvPr/>
          </p:nvGrpSpPr>
          <p:grpSpPr>
            <a:xfrm>
              <a:off x="3333" y="880"/>
              <a:ext cx="2132" cy="2143"/>
              <a:chOff x="1346" y="1514"/>
              <a:chExt cx="1296" cy="1061"/>
            </a:xfrm>
          </p:grpSpPr>
          <p:sp>
            <p:nvSpPr>
              <p:cNvPr id="10246" name="Oval 0"/>
              <p:cNvSpPr/>
              <p:nvPr/>
            </p:nvSpPr>
            <p:spPr>
              <a:xfrm>
                <a:off x="1346" y="1764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47" name="Rectangle 1"/>
              <p:cNvSpPr/>
              <p:nvPr/>
            </p:nvSpPr>
            <p:spPr>
              <a:xfrm>
                <a:off x="1346" y="1889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48" name="Rectangle 2"/>
              <p:cNvSpPr/>
              <p:nvPr/>
            </p:nvSpPr>
            <p:spPr>
              <a:xfrm>
                <a:off x="1346" y="2014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49" name="Line 3"/>
              <p:cNvSpPr/>
              <p:nvPr/>
            </p:nvSpPr>
            <p:spPr>
              <a:xfrm flipV="1">
                <a:off x="1418" y="1702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0" name="Line 4"/>
              <p:cNvSpPr/>
              <p:nvPr/>
            </p:nvSpPr>
            <p:spPr>
              <a:xfrm>
                <a:off x="1418" y="1702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1" name="Line 5"/>
              <p:cNvSpPr/>
              <p:nvPr/>
            </p:nvSpPr>
            <p:spPr>
              <a:xfrm>
                <a:off x="1634" y="1702"/>
                <a:ext cx="0" cy="4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2" name="Line 6"/>
              <p:cNvSpPr/>
              <p:nvPr/>
            </p:nvSpPr>
            <p:spPr>
              <a:xfrm flipH="1">
                <a:off x="1418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3" name="Line 7"/>
              <p:cNvSpPr/>
              <p:nvPr/>
            </p:nvSpPr>
            <p:spPr>
              <a:xfrm flipV="1">
                <a:off x="1418" y="2076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4" name="Line 8"/>
              <p:cNvSpPr/>
              <p:nvPr/>
            </p:nvSpPr>
            <p:spPr>
              <a:xfrm flipV="1">
                <a:off x="1418" y="1951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5" name="Line 9"/>
              <p:cNvSpPr/>
              <p:nvPr/>
            </p:nvSpPr>
            <p:spPr>
              <a:xfrm flipV="1">
                <a:off x="1418" y="1826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6" name="Oval 10"/>
              <p:cNvSpPr/>
              <p:nvPr/>
            </p:nvSpPr>
            <p:spPr>
              <a:xfrm>
                <a:off x="1850" y="1577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57" name="Rectangle 11"/>
              <p:cNvSpPr/>
              <p:nvPr/>
            </p:nvSpPr>
            <p:spPr>
              <a:xfrm>
                <a:off x="1850" y="1702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58" name="Rectangle 12"/>
              <p:cNvSpPr/>
              <p:nvPr/>
            </p:nvSpPr>
            <p:spPr>
              <a:xfrm>
                <a:off x="1850" y="1826"/>
                <a:ext cx="144" cy="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59" name="Line 13"/>
              <p:cNvSpPr/>
              <p:nvPr/>
            </p:nvSpPr>
            <p:spPr>
              <a:xfrm flipV="1">
                <a:off x="1922" y="1514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0" name="Line 14"/>
              <p:cNvSpPr/>
              <p:nvPr/>
            </p:nvSpPr>
            <p:spPr>
              <a:xfrm>
                <a:off x="1922" y="1514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1" name="Line 15"/>
              <p:cNvSpPr/>
              <p:nvPr/>
            </p:nvSpPr>
            <p:spPr>
              <a:xfrm>
                <a:off x="2138" y="1514"/>
                <a:ext cx="0" cy="4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2" name="Line 16"/>
              <p:cNvSpPr/>
              <p:nvPr/>
            </p:nvSpPr>
            <p:spPr>
              <a:xfrm flipH="1">
                <a:off x="1922" y="1951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3" name="Line 17"/>
              <p:cNvSpPr/>
              <p:nvPr/>
            </p:nvSpPr>
            <p:spPr>
              <a:xfrm flipV="1">
                <a:off x="1922" y="1889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4" name="Line 18"/>
              <p:cNvSpPr/>
              <p:nvPr/>
            </p:nvSpPr>
            <p:spPr>
              <a:xfrm flipV="1">
                <a:off x="1922" y="1764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5" name="Line 19"/>
              <p:cNvSpPr/>
              <p:nvPr/>
            </p:nvSpPr>
            <p:spPr>
              <a:xfrm flipV="1">
                <a:off x="1922" y="1639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6" name="Oval 20"/>
              <p:cNvSpPr/>
              <p:nvPr/>
            </p:nvSpPr>
            <p:spPr>
              <a:xfrm>
                <a:off x="1850" y="2201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67" name="Rectangle 21"/>
              <p:cNvSpPr/>
              <p:nvPr/>
            </p:nvSpPr>
            <p:spPr>
              <a:xfrm>
                <a:off x="1850" y="2326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68" name="Rectangle 22"/>
              <p:cNvSpPr/>
              <p:nvPr/>
            </p:nvSpPr>
            <p:spPr>
              <a:xfrm>
                <a:off x="1850" y="2450"/>
                <a:ext cx="144" cy="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69" name="Line 23"/>
              <p:cNvSpPr/>
              <p:nvPr/>
            </p:nvSpPr>
            <p:spPr>
              <a:xfrm flipV="1">
                <a:off x="1922" y="2138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0" name="Line 24"/>
              <p:cNvSpPr/>
              <p:nvPr/>
            </p:nvSpPr>
            <p:spPr>
              <a:xfrm>
                <a:off x="1922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1" name="Line 25"/>
              <p:cNvSpPr/>
              <p:nvPr/>
            </p:nvSpPr>
            <p:spPr>
              <a:xfrm>
                <a:off x="2138" y="2138"/>
                <a:ext cx="0" cy="4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2" name="Line 26"/>
              <p:cNvSpPr/>
              <p:nvPr/>
            </p:nvSpPr>
            <p:spPr>
              <a:xfrm flipH="1">
                <a:off x="1922" y="2575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3" name="Line 27"/>
              <p:cNvSpPr/>
              <p:nvPr/>
            </p:nvSpPr>
            <p:spPr>
              <a:xfrm flipV="1">
                <a:off x="1922" y="2513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4" name="Line 28"/>
              <p:cNvSpPr/>
              <p:nvPr/>
            </p:nvSpPr>
            <p:spPr>
              <a:xfrm flipV="1">
                <a:off x="1922" y="2388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5" name="Line 29"/>
              <p:cNvSpPr/>
              <p:nvPr/>
            </p:nvSpPr>
            <p:spPr>
              <a:xfrm flipV="1">
                <a:off x="1922" y="2263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6" name="Oval 30"/>
              <p:cNvSpPr/>
              <p:nvPr/>
            </p:nvSpPr>
            <p:spPr>
              <a:xfrm>
                <a:off x="2354" y="1764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77" name="Rectangle 31"/>
              <p:cNvSpPr/>
              <p:nvPr/>
            </p:nvSpPr>
            <p:spPr>
              <a:xfrm>
                <a:off x="2354" y="1889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78" name="Rectangle 32"/>
              <p:cNvSpPr/>
              <p:nvPr/>
            </p:nvSpPr>
            <p:spPr>
              <a:xfrm>
                <a:off x="2354" y="2014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0279" name="Line 33"/>
              <p:cNvSpPr/>
              <p:nvPr/>
            </p:nvSpPr>
            <p:spPr>
              <a:xfrm flipV="1">
                <a:off x="2426" y="1702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80" name="Line 34"/>
              <p:cNvSpPr/>
              <p:nvPr/>
            </p:nvSpPr>
            <p:spPr>
              <a:xfrm>
                <a:off x="2426" y="1702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81" name="Line 35"/>
              <p:cNvSpPr/>
              <p:nvPr/>
            </p:nvSpPr>
            <p:spPr>
              <a:xfrm>
                <a:off x="2642" y="1702"/>
                <a:ext cx="0" cy="4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82" name="Line 36"/>
              <p:cNvSpPr/>
              <p:nvPr/>
            </p:nvSpPr>
            <p:spPr>
              <a:xfrm flipH="1">
                <a:off x="2426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83" name="Line 37"/>
              <p:cNvSpPr/>
              <p:nvPr/>
            </p:nvSpPr>
            <p:spPr>
              <a:xfrm flipV="1">
                <a:off x="2426" y="2076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84" name="Line 38"/>
              <p:cNvSpPr/>
              <p:nvPr/>
            </p:nvSpPr>
            <p:spPr>
              <a:xfrm flipV="1">
                <a:off x="2426" y="1951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85" name="Line 39"/>
              <p:cNvSpPr/>
              <p:nvPr/>
            </p:nvSpPr>
            <p:spPr>
              <a:xfrm flipV="1">
                <a:off x="2426" y="1826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86" name="Line 40"/>
              <p:cNvSpPr/>
              <p:nvPr/>
            </p:nvSpPr>
            <p:spPr>
              <a:xfrm flipV="1">
                <a:off x="1562" y="1514"/>
                <a:ext cx="360" cy="3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287" name="Line 41"/>
              <p:cNvSpPr/>
              <p:nvPr/>
            </p:nvSpPr>
            <p:spPr>
              <a:xfrm>
                <a:off x="1562" y="1955"/>
                <a:ext cx="360" cy="18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288" name="Line 42"/>
              <p:cNvSpPr/>
              <p:nvPr/>
            </p:nvSpPr>
            <p:spPr>
              <a:xfrm flipV="1">
                <a:off x="2066" y="1702"/>
                <a:ext cx="36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289" name="Line 43"/>
              <p:cNvSpPr/>
              <p:nvPr/>
            </p:nvSpPr>
            <p:spPr>
              <a:xfrm flipH="1">
                <a:off x="1922" y="1893"/>
                <a:ext cx="648" cy="2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0245" name="Text Box 46"/>
            <p:cNvSpPr txBox="1"/>
            <p:nvPr/>
          </p:nvSpPr>
          <p:spPr>
            <a:xfrm>
              <a:off x="3185" y="799"/>
              <a:ext cx="6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Objects</a:t>
              </a:r>
              <a:endParaRPr lang="en-US" altLang="zh-CN" sz="1800" dirty="0"/>
            </a:p>
          </p:txBody>
        </p:sp>
      </p:grpSp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323850" y="404813"/>
            <a:ext cx="8229600" cy="1096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数据抽象与封装是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面向对象程序设计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基础，其中的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体现了数据抽象与封装。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例：“栈”数据的表示与操作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5475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85900"/>
            <a:ext cx="8507413" cy="5038725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是一种由若干具有线性次序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关系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的元素所构成的复合数据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栈只能实施两种操作：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push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往栈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增加一个元素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退栈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pop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从栈中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删除一个元素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上述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两个操作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满足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一个重要性质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对于操作序列：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push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(...); ...pop(...); ... ;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push(x);pop(y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，它满足：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== y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即，增加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删除操作在线性序列的同一端（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称为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栈顶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）进行， 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后进先出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Last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 First Out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，简称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LIFO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是它的基本特征。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栈的应用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隐式：函数调用时局部变量等的内存管理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式：应用程序相关的一些数据管理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（如表达式的中缀转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后缀程序中的操作符栈）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0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9906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“栈”的实现</a:t>
            </a:r>
            <a:b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－－非数据抽象和封装途径</a:t>
            </a:r>
            <a:endParaRPr kumimoji="0" lang="zh-CN" altLang="en-US" sz="36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707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600200"/>
            <a:ext cx="8651875" cy="2908300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数据类型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来表示栈数据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STACK_SIZE=100;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buffer[STACK_SIZE];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存放栈元素（假设类型为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top;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栈顶位置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292" name="Group 10"/>
          <p:cNvGrpSpPr/>
          <p:nvPr/>
        </p:nvGrpSpPr>
        <p:grpSpPr>
          <a:xfrm>
            <a:off x="1743075" y="5084763"/>
            <a:ext cx="4124325" cy="1260475"/>
            <a:chOff x="781" y="3430"/>
            <a:chExt cx="2598" cy="794"/>
          </a:xfrm>
        </p:grpSpPr>
        <p:grpSp>
          <p:nvGrpSpPr>
            <p:cNvPr id="12293" name="Group 8"/>
            <p:cNvGrpSpPr/>
            <p:nvPr/>
          </p:nvGrpSpPr>
          <p:grpSpPr>
            <a:xfrm>
              <a:off x="1544" y="3430"/>
              <a:ext cx="1835" cy="794"/>
              <a:chOff x="1544" y="3430"/>
              <a:chExt cx="1835" cy="794"/>
            </a:xfrm>
          </p:grpSpPr>
          <p:sp>
            <p:nvSpPr>
              <p:cNvPr id="12295" name="Rectangle 0"/>
              <p:cNvSpPr/>
              <p:nvPr/>
            </p:nvSpPr>
            <p:spPr>
              <a:xfrm>
                <a:off x="1544" y="3430"/>
                <a:ext cx="1723" cy="317"/>
              </a:xfrm>
              <a:prstGeom prst="rect">
                <a:avLst/>
              </a:prstGeom>
              <a:solidFill>
                <a:schemeClr val="accent1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2296" name="Line 1"/>
              <p:cNvSpPr/>
              <p:nvPr/>
            </p:nvSpPr>
            <p:spPr>
              <a:xfrm>
                <a:off x="1816" y="3430"/>
                <a:ext cx="0" cy="317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2297" name="Line 2"/>
              <p:cNvSpPr/>
              <p:nvPr/>
            </p:nvSpPr>
            <p:spPr>
              <a:xfrm>
                <a:off x="2088" y="3430"/>
                <a:ext cx="0" cy="317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2298" name="Line 3"/>
              <p:cNvSpPr/>
              <p:nvPr/>
            </p:nvSpPr>
            <p:spPr>
              <a:xfrm>
                <a:off x="2699" y="3430"/>
                <a:ext cx="0" cy="317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2299" name="Line 4"/>
              <p:cNvSpPr/>
              <p:nvPr/>
            </p:nvSpPr>
            <p:spPr>
              <a:xfrm>
                <a:off x="2995" y="3430"/>
                <a:ext cx="0" cy="317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2300" name="Line 5"/>
              <p:cNvSpPr/>
              <p:nvPr/>
            </p:nvSpPr>
            <p:spPr>
              <a:xfrm flipV="1">
                <a:off x="3131" y="3747"/>
                <a:ext cx="0" cy="227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12301" name="Text Box 6"/>
              <p:cNvSpPr txBox="1"/>
              <p:nvPr/>
            </p:nvSpPr>
            <p:spPr>
              <a:xfrm>
                <a:off x="2950" y="3936"/>
                <a:ext cx="429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/>
                  <a:t>top</a:t>
                </a:r>
                <a:endParaRPr lang="en-US" altLang="zh-CN" sz="2400" dirty="0"/>
              </a:p>
            </p:txBody>
          </p:sp>
        </p:grpSp>
        <p:sp>
          <p:nvSpPr>
            <p:cNvPr id="12294" name="Text Box 9"/>
            <p:cNvSpPr txBox="1"/>
            <p:nvPr/>
          </p:nvSpPr>
          <p:spPr>
            <a:xfrm>
              <a:off x="781" y="3430"/>
              <a:ext cx="890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/>
                <a:t>buffer</a:t>
              </a:r>
              <a:r>
                <a:rPr lang="zh-CN" altLang="en-US" sz="2400" dirty="0"/>
                <a:t>：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3375"/>
            <a:ext cx="8507413" cy="64087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直接操作栈数据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 </a:t>
            </a:r>
            <a:r>
              <a:rPr kumimoji="0" lang="en-GB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定义栈数据</a:t>
            </a:r>
            <a:endParaRPr kumimoji="0" lang="en-GB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 -1; //</a:t>
            </a:r>
            <a:r>
              <a:rPr kumimoji="0" lang="zh-CN" altLang="en-GB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en-GB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zh-CN" altLang="en-GB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进行初始化</a:t>
            </a:r>
            <a:endParaRPr kumimoji="0" lang="en-GB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12</a:t>
            </a:r>
            <a:r>
              <a:rPr kumimoji="0" lang="zh-CN" altLang="en-GB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放进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栈</a:t>
            </a:r>
            <a:endParaRPr kumimoji="0" lang="zh-CN" altLang="en-GB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if (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== STACK_SIZE-1)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"Stack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is overflow.\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n";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exit(-1);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++; 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st.buffer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] = 12; 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把栈顶元素退栈并存入变量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endParaRPr kumimoji="0" lang="zh-CN" altLang="en-GB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if (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== -1)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"Stack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is empty.\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n";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exit(-1);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 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 </a:t>
            </a:r>
            <a:r>
              <a:rPr kumimoji="0" lang="en-GB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st.buffer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</a:t>
            </a:r>
            <a:r>
              <a:rPr kumimoji="0" lang="en-GB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]; 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--;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存在的问题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操作必须知道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的具体表示形式（如：数组）。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数据表示形式发生变化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（数组改成链表）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将会影响操作。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麻烦并易产生误操作，因此不安全。例如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，把进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操作误写成：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	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--;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//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书写失误导致误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st.buffer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[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] = 12;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忘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了写下面的初始化操作：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 -1;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18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913"/>
            <a:ext cx="8229600" cy="65976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通过过程抽象与封装来操作栈数据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先预定义三个函数，参数为栈类型数据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push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(Stack &amp;s,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if 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s.top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== STACK_SIZE-1)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{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 is overflow.\n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”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exit(-1);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else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{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s.top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++;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s.buffer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s.top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] = e;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return;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pop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(Stack &amp;s,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&amp;e)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if 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s.top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== -1)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{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 is empty.\n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”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exit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(-1);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	else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{	 e =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s.buffer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s.top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];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s.top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--;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return;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00788" y="3141663"/>
            <a:ext cx="2551113" cy="9223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init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(Stack &amp;s)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s.top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= -1;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283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620713"/>
            <a:ext cx="8351838" cy="602138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利用预定义的函数操作栈数据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定义栈数据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进行初始化。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push(st,12);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12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放进栈。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pop(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st,x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把栈顶元素退栈并存入变量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63357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存在的问题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数据定义与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操作的定义是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分开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的，二者之间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没有必然的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联系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，仅仅依靠操作的参数类型把二者关联起来。例如，下面函数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的参数类型也为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，因此用它也能操作栈数据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，从而会破坏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所具有的栈性质：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f(Stack &amp;s) { ...... 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之后，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可能不再是一个“栈”了！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数据表示仍然是公开的，无法防止使用者直接操作栈数据，因此也会面临直接操作栈数据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所面临的问题。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例如，把进栈操作误写成：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--;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st.buffer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st.top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] = 12;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忘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了调用初始化操作：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38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“栈”的实现</a:t>
            </a:r>
            <a:b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－－数据抽象和封装途径</a:t>
            </a:r>
            <a:endParaRPr kumimoji="0" lang="zh-CN" altLang="en-US" sz="36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738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9138"/>
            <a:ext cx="8229600" cy="44640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定义栈数据类型</a:t>
            </a:r>
            <a:endParaRPr kumimoji="0" lang="zh-CN" altLang="en-GB" sz="3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STACK_SIZE=100;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Stack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public: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外部可以访问的操作（对外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的接口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GB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Stack();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void push(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void pop(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&amp;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把数据表示隐藏起来，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外部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不可访问</a:t>
            </a:r>
            <a:endParaRPr kumimoji="0" lang="en-GB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top;</a:t>
            </a:r>
            <a:endParaRPr kumimoji="0" lang="en-GB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buffer[STACK_SIZE];</a:t>
            </a:r>
            <a:endParaRPr kumimoji="0" lang="en-GB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4883" name="Rectangle 3"/>
          <p:cNvSpPr>
            <a:spLocks noGrp="1" noChangeArrowheads="1"/>
          </p:cNvSpPr>
          <p:nvPr>
            <p:ph idx="1"/>
          </p:nvPr>
        </p:nvSpPr>
        <p:spPr>
          <a:xfrm>
            <a:off x="34925" y="188913"/>
            <a:ext cx="8229600" cy="6669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Stack::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push(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 	if (top == STACK_SIZE-1)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 is overflow.\n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exit(-1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7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else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top++;  buffer[top] =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return;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7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Stack::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pop(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&amp;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 	if (top == -1)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 is empty.\n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exit(-1);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7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else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buffer[top]; top--;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return;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7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803275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725170" algn="l"/>
                <a:tab pos="1071245" algn="l"/>
              </a:tabLst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3975" y="2825750"/>
            <a:ext cx="2271713" cy="11080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Stack::</a:t>
            </a: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Stack()</a:t>
            </a:r>
            <a:endParaRPr kumimoji="0" lang="en-GB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 top = -1; </a:t>
            </a:r>
            <a:endParaRPr kumimoji="0" lang="en-GB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59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5400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使用栈类型数据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会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自动地去调用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st.Stack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进行初始化。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st.push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(12);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12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放进栈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st.pop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(x);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把栈顶元素退栈并存入变量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st.top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-1; 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st.top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++; 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st.buffer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st.top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= 12; 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不属于能对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进行的操作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27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“栈”的另一种实现（链表表示）</a:t>
            </a:r>
            <a:b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－－数据抽象和封装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途径</a:t>
            </a:r>
            <a:endParaRPr kumimoji="0" lang="en-US" altLang="zh-CN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527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2116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栈的数据表示发生变化，但对外接口没变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Stack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public: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对外接口没变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Stack();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push(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pop(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&amp;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private: </a:t>
            </a: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数据表示改成了链表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Node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content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Node *next;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 *top;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Rectangle 5"/>
          <p:cNvSpPr/>
          <p:nvPr/>
        </p:nvSpPr>
        <p:spPr>
          <a:xfrm>
            <a:off x="4322763" y="5581650"/>
            <a:ext cx="673100" cy="9366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/>
          </a:p>
        </p:txBody>
      </p:sp>
      <p:sp>
        <p:nvSpPr>
          <p:cNvPr id="21509" name="Rectangle 6"/>
          <p:cNvSpPr/>
          <p:nvPr/>
        </p:nvSpPr>
        <p:spPr>
          <a:xfrm>
            <a:off x="5668963" y="5581650"/>
            <a:ext cx="673100" cy="9366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/>
          </a:p>
        </p:txBody>
      </p:sp>
      <p:sp>
        <p:nvSpPr>
          <p:cNvPr id="21510" name="Rectangle 7"/>
          <p:cNvSpPr/>
          <p:nvPr/>
        </p:nvSpPr>
        <p:spPr>
          <a:xfrm>
            <a:off x="8135938" y="5581650"/>
            <a:ext cx="673100" cy="9366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/>
          </a:p>
        </p:txBody>
      </p:sp>
      <p:sp>
        <p:nvSpPr>
          <p:cNvPr id="21511" name="Line 8"/>
          <p:cNvSpPr/>
          <p:nvPr/>
        </p:nvSpPr>
        <p:spPr>
          <a:xfrm>
            <a:off x="4322763" y="6048375"/>
            <a:ext cx="6731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Line 9"/>
          <p:cNvSpPr/>
          <p:nvPr/>
        </p:nvSpPr>
        <p:spPr>
          <a:xfrm>
            <a:off x="5668963" y="6048375"/>
            <a:ext cx="6731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3" name="Line 10"/>
          <p:cNvSpPr/>
          <p:nvPr/>
        </p:nvSpPr>
        <p:spPr>
          <a:xfrm>
            <a:off x="8135938" y="6048375"/>
            <a:ext cx="6731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4" name="Rectangle 11"/>
          <p:cNvSpPr/>
          <p:nvPr/>
        </p:nvSpPr>
        <p:spPr>
          <a:xfrm>
            <a:off x="2976563" y="6048375"/>
            <a:ext cx="673100" cy="4699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/>
          </a:p>
        </p:txBody>
      </p:sp>
      <p:sp>
        <p:nvSpPr>
          <p:cNvPr id="21515" name="Line 12"/>
          <p:cNvSpPr/>
          <p:nvPr/>
        </p:nvSpPr>
        <p:spPr>
          <a:xfrm>
            <a:off x="3425825" y="6284913"/>
            <a:ext cx="447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6" name="Line 13"/>
          <p:cNvSpPr/>
          <p:nvPr/>
        </p:nvSpPr>
        <p:spPr>
          <a:xfrm flipV="1">
            <a:off x="3873500" y="5815013"/>
            <a:ext cx="0" cy="469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7" name="Line 14"/>
          <p:cNvSpPr/>
          <p:nvPr/>
        </p:nvSpPr>
        <p:spPr>
          <a:xfrm>
            <a:off x="3873500" y="5815013"/>
            <a:ext cx="449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518" name="Line 15"/>
          <p:cNvSpPr/>
          <p:nvPr/>
        </p:nvSpPr>
        <p:spPr>
          <a:xfrm>
            <a:off x="4770438" y="6284913"/>
            <a:ext cx="4492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9" name="Line 16"/>
          <p:cNvSpPr/>
          <p:nvPr/>
        </p:nvSpPr>
        <p:spPr>
          <a:xfrm flipV="1">
            <a:off x="5219700" y="5815013"/>
            <a:ext cx="0" cy="469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0" name="Line 17"/>
          <p:cNvSpPr/>
          <p:nvPr/>
        </p:nvSpPr>
        <p:spPr>
          <a:xfrm>
            <a:off x="5219700" y="5815013"/>
            <a:ext cx="449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521" name="Line 18"/>
          <p:cNvSpPr/>
          <p:nvPr/>
        </p:nvSpPr>
        <p:spPr>
          <a:xfrm>
            <a:off x="6116638" y="6284913"/>
            <a:ext cx="4492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2" name="Line 19"/>
          <p:cNvSpPr/>
          <p:nvPr/>
        </p:nvSpPr>
        <p:spPr>
          <a:xfrm flipV="1">
            <a:off x="6565900" y="5815013"/>
            <a:ext cx="0" cy="469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3" name="Line 20"/>
          <p:cNvSpPr/>
          <p:nvPr/>
        </p:nvSpPr>
        <p:spPr>
          <a:xfrm>
            <a:off x="6565900" y="5815013"/>
            <a:ext cx="449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524" name="Line 21"/>
          <p:cNvSpPr/>
          <p:nvPr/>
        </p:nvSpPr>
        <p:spPr>
          <a:xfrm>
            <a:off x="7239000" y="6284913"/>
            <a:ext cx="447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5" name="Line 22"/>
          <p:cNvSpPr/>
          <p:nvPr/>
        </p:nvSpPr>
        <p:spPr>
          <a:xfrm flipV="1">
            <a:off x="7686675" y="5815013"/>
            <a:ext cx="0" cy="469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6" name="Line 23"/>
          <p:cNvSpPr/>
          <p:nvPr/>
        </p:nvSpPr>
        <p:spPr>
          <a:xfrm>
            <a:off x="7686675" y="5815013"/>
            <a:ext cx="449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527" name="Text Box 24"/>
          <p:cNvSpPr txBox="1"/>
          <p:nvPr/>
        </p:nvSpPr>
        <p:spPr>
          <a:xfrm>
            <a:off x="2916238" y="5651500"/>
            <a:ext cx="6413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/>
              <a:t> top</a:t>
            </a:r>
            <a:endParaRPr lang="en-US" altLang="zh-CN" sz="1600" dirty="0"/>
          </a:p>
        </p:txBody>
      </p:sp>
      <p:sp>
        <p:nvSpPr>
          <p:cNvPr id="21528" name="Text Box 25"/>
          <p:cNvSpPr txBox="1"/>
          <p:nvPr/>
        </p:nvSpPr>
        <p:spPr>
          <a:xfrm>
            <a:off x="4395788" y="5595938"/>
            <a:ext cx="417512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/>
              <a:t>a</a:t>
            </a:r>
            <a:r>
              <a:rPr lang="en-US" altLang="zh-CN" sz="1800" baseline="-25000" dirty="0"/>
              <a:t>1</a:t>
            </a:r>
            <a:endParaRPr lang="en-US" altLang="zh-CN" sz="1800" baseline="-25000" dirty="0"/>
          </a:p>
        </p:txBody>
      </p:sp>
      <p:sp>
        <p:nvSpPr>
          <p:cNvPr id="21529" name="Text Box 26"/>
          <p:cNvSpPr txBox="1"/>
          <p:nvPr/>
        </p:nvSpPr>
        <p:spPr>
          <a:xfrm>
            <a:off x="5784850" y="5581650"/>
            <a:ext cx="417513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/>
              <a:t>a</a:t>
            </a:r>
            <a:r>
              <a:rPr lang="en-US" altLang="zh-CN" sz="1800" baseline="-25000" dirty="0"/>
              <a:t>2</a:t>
            </a:r>
            <a:endParaRPr lang="en-US" altLang="zh-CN" sz="1800" baseline="-25000" dirty="0"/>
          </a:p>
        </p:txBody>
      </p:sp>
      <p:sp>
        <p:nvSpPr>
          <p:cNvPr id="21530" name="Text Box 27"/>
          <p:cNvSpPr txBox="1"/>
          <p:nvPr/>
        </p:nvSpPr>
        <p:spPr>
          <a:xfrm>
            <a:off x="8247063" y="5595938"/>
            <a:ext cx="417512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/>
              <a:t>a</a:t>
            </a:r>
            <a:r>
              <a:rPr lang="en-US" altLang="zh-CN" sz="1800" baseline="-25000" dirty="0"/>
              <a:t>n</a:t>
            </a:r>
            <a:endParaRPr lang="en-US" altLang="zh-CN" sz="1800" baseline="-25000" dirty="0"/>
          </a:p>
        </p:txBody>
      </p:sp>
      <p:sp>
        <p:nvSpPr>
          <p:cNvPr id="21531" name="Line 28"/>
          <p:cNvSpPr/>
          <p:nvPr/>
        </p:nvSpPr>
        <p:spPr>
          <a:xfrm>
            <a:off x="6864350" y="6084888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32" name="Text Box 29"/>
          <p:cNvSpPr txBox="1"/>
          <p:nvPr/>
        </p:nvSpPr>
        <p:spPr>
          <a:xfrm>
            <a:off x="8121650" y="6157913"/>
            <a:ext cx="7762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/>
              <a:t>NULL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3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60350"/>
            <a:ext cx="8229600" cy="65976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Stack::push(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Node *p=new Node;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 (p == NULL)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"Stack is overflow.\n";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exit(-1);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p-&gt;content = 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p-&gt;next = top;	top = p;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Stack::pop(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&amp;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(top == NULL) 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"Stack is empty.\n";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exit(-1);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 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Node *p=top;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top = top-&gt;next;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p-&gt;content;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delete p;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29213" y="3644900"/>
            <a:ext cx="3979863" cy="3108325"/>
          </a:xfrm>
          <a:prstGeom prst="rect">
            <a:avLst/>
          </a:prstGeom>
          <a:solidFill>
            <a:srgbClr val="005CB8"/>
          </a:solidFill>
        </p:spPr>
        <p:txBody>
          <a:bodyPr>
            <a:spAutoFit/>
          </a:bodyPr>
          <a:lstStyle/>
          <a:p>
            <a:pPr marL="342900" marR="0" indent="-342900" defTabSz="914400" eaLnBrk="1" hangingPunct="1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改变栈的数据表示对使用者没有任何影响！下面原来使用栈的代码不需要做任何修改！</a:t>
            </a:r>
            <a:endParaRPr kumimoji="0" lang="zh-CN" altLang="en-US" kern="1200" cap="none" spc="0" normalizeH="0" baseline="0" noProof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Stack </a:t>
            </a:r>
            <a:r>
              <a:rPr kumimoji="0" lang="en-US" altLang="zh-CN" sz="20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 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x;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st.push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(12);</a:t>
            </a:r>
            <a:endParaRPr kumimoji="0" lang="zh-CN" altLang="en-US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st.pop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(x);</a:t>
            </a:r>
            <a:endParaRPr kumimoji="0" lang="zh-CN" altLang="en-US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6675" y="333375"/>
            <a:ext cx="2116138" cy="10160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Stack::Stack()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 top = NULL; 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3728</Words>
  <Application>WPS 演示</Application>
  <PresentationFormat>全屏显示(4:3)</PresentationFormat>
  <Paragraphs>251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Verdana</vt:lpstr>
      <vt:lpstr>Times New Roman</vt:lpstr>
      <vt:lpstr>Arial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tattit</cp:lastModifiedBy>
  <cp:revision>635</cp:revision>
  <dcterms:created xsi:type="dcterms:W3CDTF">1999-05-22T12:40:20Z</dcterms:created>
  <dcterms:modified xsi:type="dcterms:W3CDTF">2023-09-18T05:54:56Z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
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434" r:id="rId4"/>
    <p:sldId id="556" r:id="rId5"/>
    <p:sldId id="557" r:id="rId6"/>
    <p:sldId id="558" r:id="rId7"/>
    <p:sldId id="559" r:id="rId8"/>
    <p:sldId id="560" r:id="rId9"/>
    <p:sldId id="561" r:id="rId10"/>
    <p:sldId id="562" r:id="rId11"/>
    <p:sldId id="563" r:id="rId12"/>
    <p:sldId id="564" r:id="rId13"/>
    <p:sldId id="565" r:id="rId14"/>
    <p:sldId id="566" r:id="rId15"/>
    <p:sldId id="567" r:id="rId16"/>
    <p:sldId id="569" r:id="rId17"/>
    <p:sldId id="570" r:id="rId18"/>
    <p:sldId id="571" r:id="rId19"/>
    <p:sldId id="572" r:id="rId20"/>
    <p:sldId id="573" r:id="rId21"/>
    <p:sldId id="574" r:id="rId22"/>
    <p:sldId id="575" r:id="rId23"/>
    <p:sldId id="576" r:id="rId24"/>
    <p:sldId id="577" r:id="rId25"/>
    <p:sldId id="578" r:id="rId26"/>
    <p:sldId id="568" r:id="rId2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folHlink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FF66FF"/>
    <a:srgbClr val="FF33CC"/>
    <a:srgbClr val="5C3D1E"/>
    <a:srgbClr val="996633"/>
    <a:srgbClr val="483018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86" autoAdjust="0"/>
    <p:restoredTop sz="99158" autoAdjust="0"/>
  </p:normalViewPr>
  <p:slideViewPr>
    <p:cSldViewPr>
      <p:cViewPr varScale="1">
        <p:scale>
          <a:sx n="90" d="100"/>
          <a:sy n="90" d="100"/>
        </p:scale>
        <p:origin x="5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99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4100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57BEB-F0C9-4766-B32A-E9638B6218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A4593-8184-4149-9F7F-4CDF12C0C3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FF555-DB8D-4AA9-9ACF-EEE4CF7670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B2DEA-4098-49DD-BE55-CCF26D1A55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CD07F-023B-4B30-A37A-B68E229CA0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63685-CB3D-4E9D-9983-4DDA28D7B8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E64D9-F3F8-4992-8979-1EA55AFBDA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F21E5-E852-45D6-9F81-A62A225F7D1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A0C5F-29C2-42FA-B2AA-1E841408D14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7D57A-0C57-4E96-84CC-3174D668E0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F159B-97B7-4590-814F-2D2B88807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56000">
              <a:srgbClr val="002C58"/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9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0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1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5" name="Group 6"/>
            <p:cNvGrpSpPr/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43" name="Freeform 7"/>
              <p:cNvSpPr/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4" name="Freeform 8"/>
              <p:cNvSpPr/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5" name="Freeform 9"/>
              <p:cNvSpPr/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6" name="Freeform 10"/>
              <p:cNvSpPr/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7" name="Freeform 11"/>
              <p:cNvSpPr/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8" name="Freeform 12"/>
              <p:cNvSpPr/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9" name="Freeform 13"/>
              <p:cNvSpPr/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0" name="Freeform 14"/>
              <p:cNvSpPr/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1" name="Freeform 15"/>
              <p:cNvSpPr/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2" name="Freeform 16"/>
              <p:cNvSpPr/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3" name="Freeform 17"/>
              <p:cNvSpPr/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4" name="Freeform 18"/>
              <p:cNvSpPr/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5" name="Freeform 19"/>
              <p:cNvSpPr/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56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7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8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9" name="Freeform 23"/>
            <p:cNvSpPr/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0" name="Freeform 24"/>
            <p:cNvSpPr/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1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2" name="Freeform 26"/>
            <p:cNvSpPr/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3" name="Freeform 27"/>
            <p:cNvSpPr/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7" name="Group 31"/>
            <p:cNvGrpSpPr/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39968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69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0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1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2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73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74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97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997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FD53C60-DC8E-4BFF-9E81-871D644EFDF0}" type="slidenum">
              <a:rPr lang="en-US" altLang="zh-CN"/>
            </a:fld>
            <a:endParaRPr lang="en-US" altLang="zh-CN"/>
          </a:p>
        </p:txBody>
      </p:sp>
      <p:sp>
        <p:nvSpPr>
          <p:cNvPr id="3997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6425"/>
            <a:ext cx="7772400" cy="13493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栈在函数调用中的作用</a:t>
            </a:r>
            <a:endParaRPr lang="zh-CN" altLang="en-US" sz="480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程序实体在内存中的安排</a:t>
            </a:r>
            <a:endParaRPr lang="zh-CN" altLang="en-US" dirty="0" smtClean="0"/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7338"/>
            <a:ext cx="8291513" cy="511202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程序运行时，程序中的实体将存储在四个区域中：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静态数据区：</a:t>
            </a:r>
            <a:r>
              <a:rPr lang="zh-CN" altLang="en-US" sz="2400" dirty="0" smtClean="0"/>
              <a:t>用于全局变量、</a:t>
            </a:r>
            <a:r>
              <a:rPr lang="en-US" altLang="zh-CN" sz="2400" dirty="0" smtClean="0"/>
              <a:t>static</a:t>
            </a:r>
            <a:r>
              <a:rPr lang="zh-CN" altLang="en-US" sz="2400" dirty="0" smtClean="0"/>
              <a:t>存储类的局部变量以及常量的内存分配 。如果</a:t>
            </a:r>
            <a:r>
              <a:rPr lang="zh-CN" altLang="en-US" sz="2400" dirty="0"/>
              <a:t>没有显式初始化，系统将把它们初始化成</a:t>
            </a:r>
            <a:r>
              <a:rPr lang="en-US" altLang="zh-CN" sz="2400" dirty="0"/>
              <a:t>0</a:t>
            </a:r>
            <a:r>
              <a:rPr lang="zh-CN" altLang="en-US" sz="2400" dirty="0"/>
              <a:t>。 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代码区：</a:t>
            </a:r>
            <a:r>
              <a:rPr lang="zh-CN" altLang="en-US" sz="2400" dirty="0" smtClean="0"/>
              <a:t>用于存放程序的指令，对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程序而言，代码区存放的是所有函数代码。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栈区：</a:t>
            </a:r>
            <a:r>
              <a:rPr lang="zh-CN" altLang="en-US" sz="2400" dirty="0" smtClean="0"/>
              <a:t>用于自动存储类的局部变量、函数的形式参数以及函数调用时有关信息（如：函数返回地址等）的内存分配。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堆区：</a:t>
            </a:r>
            <a:r>
              <a:rPr lang="zh-CN" altLang="en-US" sz="2400" dirty="0" smtClean="0"/>
              <a:t>用于动态变量的内存分配。 </a:t>
            </a:r>
            <a:endParaRPr lang="en-US" altLang="zh-CN" sz="24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在上述区域中，栈区有着重要的作用：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FFC000"/>
                </a:solidFill>
              </a:rPr>
              <a:t>栈</a:t>
            </a:r>
            <a:r>
              <a:rPr lang="zh-CN" altLang="en-US" sz="2400" dirty="0" smtClean="0">
                <a:solidFill>
                  <a:srgbClr val="FFC000"/>
                </a:solidFill>
              </a:rPr>
              <a:t>空间被各个函数共享，从而节省空间。</a:t>
            </a:r>
            <a:endParaRPr lang="zh-CN" altLang="en-US" sz="2400" dirty="0" smtClean="0">
              <a:solidFill>
                <a:srgbClr val="FFC000"/>
              </a:solidFill>
            </a:endParaRPr>
          </a:p>
        </p:txBody>
      </p:sp>
      <p:grpSp>
        <p:nvGrpSpPr>
          <p:cNvPr id="62468" name="Group 4"/>
          <p:cNvGrpSpPr/>
          <p:nvPr/>
        </p:nvGrpSpPr>
        <p:grpSpPr bwMode="auto">
          <a:xfrm>
            <a:off x="6911280" y="4941168"/>
            <a:ext cx="1981200" cy="1836738"/>
            <a:chOff x="2040" y="1207"/>
            <a:chExt cx="1248" cy="1157"/>
          </a:xfrm>
        </p:grpSpPr>
        <p:grpSp>
          <p:nvGrpSpPr>
            <p:cNvPr id="62469" name="Group 5"/>
            <p:cNvGrpSpPr/>
            <p:nvPr/>
          </p:nvGrpSpPr>
          <p:grpSpPr bwMode="auto">
            <a:xfrm>
              <a:off x="2040" y="1207"/>
              <a:ext cx="1248" cy="1157"/>
              <a:chOff x="2754" y="9758"/>
              <a:chExt cx="1620" cy="1248"/>
            </a:xfrm>
          </p:grpSpPr>
          <p:sp>
            <p:nvSpPr>
              <p:cNvPr id="62473" name="Rectangle 6"/>
              <p:cNvSpPr>
                <a:spLocks noChangeArrowheads="1"/>
              </p:cNvSpPr>
              <p:nvPr/>
            </p:nvSpPr>
            <p:spPr bwMode="auto">
              <a:xfrm>
                <a:off x="2754" y="9758"/>
                <a:ext cx="1620" cy="1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buChar char="•"/>
                  <a:defRPr sz="28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buClr>
                    <a:schemeClr val="tx2"/>
                  </a:buClr>
                  <a:buChar char="•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/>
                  <a:t>   </a:t>
                </a:r>
                <a:r>
                  <a:rPr lang="zh-CN" altLang="en-US" sz="2000"/>
                  <a:t>静态数据区</a:t>
                </a:r>
                <a:endParaRPr lang="zh-CN" altLang="en-US" sz="2000"/>
              </a:p>
            </p:txBody>
          </p:sp>
          <p:sp>
            <p:nvSpPr>
              <p:cNvPr id="358407" name="Line 7"/>
              <p:cNvSpPr>
                <a:spLocks noChangeShapeType="1"/>
              </p:cNvSpPr>
              <p:nvPr/>
            </p:nvSpPr>
            <p:spPr bwMode="auto">
              <a:xfrm>
                <a:off x="2754" y="10383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8408" name="Line 8"/>
              <p:cNvSpPr>
                <a:spLocks noChangeShapeType="1"/>
              </p:cNvSpPr>
              <p:nvPr/>
            </p:nvSpPr>
            <p:spPr bwMode="auto">
              <a:xfrm>
                <a:off x="2754" y="10070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8409" name="Line 9"/>
              <p:cNvSpPr>
                <a:spLocks noChangeShapeType="1"/>
              </p:cNvSpPr>
              <p:nvPr/>
            </p:nvSpPr>
            <p:spPr bwMode="auto">
              <a:xfrm>
                <a:off x="2754" y="10694"/>
                <a:ext cx="16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2470" name="Text Box 10"/>
            <p:cNvSpPr txBox="1">
              <a:spLocks noChangeArrowheads="1"/>
            </p:cNvSpPr>
            <p:nvPr/>
          </p:nvSpPr>
          <p:spPr bwMode="auto">
            <a:xfrm>
              <a:off x="2329" y="1512"/>
              <a:ext cx="5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代码区</a:t>
              </a:r>
              <a:endParaRPr lang="zh-CN" altLang="en-US" sz="2000"/>
            </a:p>
          </p:txBody>
        </p:sp>
        <p:sp>
          <p:nvSpPr>
            <p:cNvPr id="62471" name="Text Box 11"/>
            <p:cNvSpPr txBox="1">
              <a:spLocks noChangeArrowheads="1"/>
            </p:cNvSpPr>
            <p:nvPr/>
          </p:nvSpPr>
          <p:spPr bwMode="auto">
            <a:xfrm>
              <a:off x="2399" y="1830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/>
                <a:t>栈区</a:t>
              </a:r>
              <a:endParaRPr lang="zh-CN" altLang="en-US" sz="2000" dirty="0"/>
            </a:p>
          </p:txBody>
        </p:sp>
        <p:sp>
          <p:nvSpPr>
            <p:cNvPr id="62472" name="Text Box 12"/>
            <p:cNvSpPr txBox="1">
              <a:spLocks noChangeArrowheads="1"/>
            </p:cNvSpPr>
            <p:nvPr/>
          </p:nvSpPr>
          <p:spPr bwMode="auto">
            <a:xfrm>
              <a:off x="2399" y="2102"/>
              <a:ext cx="4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/>
                <a:t>堆区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Line 14"/>
          <p:cNvSpPr>
            <a:spLocks noChangeShapeType="1"/>
          </p:cNvSpPr>
          <p:nvPr/>
        </p:nvSpPr>
        <p:spPr bwMode="auto">
          <a:xfrm flipH="1">
            <a:off x="7308850" y="5516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2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3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6154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  <a:endParaRPr lang="zh-CN" altLang="pt-BR" sz="2000" b="0" dirty="0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107504" y="4941168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f1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FFC000"/>
                </a:solidFill>
              </a:rPr>
              <a:t>f1</a:t>
            </a:r>
            <a:r>
              <a:rPr lang="en-US" altLang="zh-CN" dirty="0" smtClean="0"/>
              <a:t>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79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80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7181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a1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f1</a:t>
            </a:r>
            <a:r>
              <a:rPr lang="zh-CN" altLang="pt-BR" sz="2000" b="0"/>
              <a:t>返回地址    </a:t>
            </a:r>
            <a:endParaRPr lang="zh-CN" altLang="pt-BR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x1       1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107504" y="112474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8196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0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1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202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  <a:endParaRPr lang="zh-CN" altLang="pt-BR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7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8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9229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a2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f2</a:t>
            </a:r>
            <a:r>
              <a:rPr lang="zh-CN" altLang="pt-BR" sz="2000" b="0"/>
              <a:t>返回地址    </a:t>
            </a:r>
            <a:endParaRPr lang="zh-CN" altLang="pt-BR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x2       2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79512" y="220486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f1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f1</a:t>
            </a:r>
            <a:r>
              <a:rPr lang="en-US" altLang="zh-CN" dirty="0" smtClean="0"/>
              <a:t>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6011863" y="295116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6011863" y="25098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6011863" y="20701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H="1">
            <a:off x="7308850" y="20701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0256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a1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f1</a:t>
            </a:r>
            <a:r>
              <a:rPr lang="zh-CN" altLang="pt-BR" sz="2000" b="0"/>
              <a:t>返回地址</a:t>
            </a:r>
            <a:endParaRPr lang="zh-CN" altLang="pt-BR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x1       1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a2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f2</a:t>
            </a:r>
            <a:r>
              <a:rPr lang="zh-CN" altLang="pt-BR" sz="2000" b="0"/>
              <a:t>返回地址    </a:t>
            </a:r>
            <a:endParaRPr lang="zh-CN" altLang="pt-BR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x2       2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79512" y="1124744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f2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f2</a:t>
            </a:r>
            <a:r>
              <a:rPr lang="en-US" altLang="zh-CN" dirty="0" smtClean="0"/>
              <a:t>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5" name="Line 14"/>
          <p:cNvSpPr>
            <a:spLocks noChangeShapeType="1"/>
          </p:cNvSpPr>
          <p:nvPr/>
        </p:nvSpPr>
        <p:spPr bwMode="auto">
          <a:xfrm flipH="1">
            <a:off x="7308850" y="3357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6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1277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a2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f2</a:t>
            </a:r>
            <a:r>
              <a:rPr lang="zh-CN" altLang="pt-BR" sz="2000" b="0" dirty="0"/>
              <a:t>返回地址    </a:t>
            </a:r>
            <a:endParaRPr lang="zh-CN" altLang="pt-BR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 dirty="0"/>
              <a:t>              </a:t>
            </a:r>
            <a:r>
              <a:rPr lang="pt-BR" altLang="zh-CN" sz="2000" b="0" dirty="0"/>
              <a:t>x2       2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               a     </a:t>
            </a:r>
            <a:endParaRPr lang="pt-BR" altLang="zh-CN" sz="2000" b="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 dirty="0"/>
              <a:t>main</a:t>
            </a:r>
            <a:r>
              <a:rPr lang="zh-CN" altLang="pt-BR" sz="2000" b="0" dirty="0"/>
              <a:t>返回地址</a:t>
            </a:r>
            <a:endParaRPr lang="zh-CN" altLang="pt-BR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6" name="Line 14"/>
          <p:cNvSpPr>
            <a:spLocks noChangeShapeType="1"/>
          </p:cNvSpPr>
          <p:nvPr/>
        </p:nvSpPr>
        <p:spPr bwMode="auto">
          <a:xfrm flipH="1">
            <a:off x="7308850" y="46529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2298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</a:t>
            </a:r>
            <a:r>
              <a:rPr lang="en-US" altLang="zh-CN" dirty="0">
                <a:solidFill>
                  <a:srgbClr val="FFC000"/>
                </a:solidFill>
              </a:rPr>
              <a:t>f3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f3</a:t>
            </a:r>
            <a:r>
              <a:rPr lang="en-US" altLang="zh-CN" dirty="0" smtClean="0"/>
              <a:t>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6011863" y="42703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6011863" y="38290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2" name="Line 10"/>
          <p:cNvSpPr>
            <a:spLocks noChangeShapeType="1"/>
          </p:cNvSpPr>
          <p:nvPr/>
        </p:nvSpPr>
        <p:spPr bwMode="auto">
          <a:xfrm>
            <a:off x="6011863" y="3389313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3" name="Line 14"/>
          <p:cNvSpPr>
            <a:spLocks noChangeShapeType="1"/>
          </p:cNvSpPr>
          <p:nvPr/>
        </p:nvSpPr>
        <p:spPr bwMode="auto">
          <a:xfrm flipH="1">
            <a:off x="7308850" y="2924175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4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3325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a3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f3</a:t>
            </a:r>
            <a:r>
              <a:rPr lang="zh-CN" altLang="pt-BR" sz="2000" b="0"/>
              <a:t>返回地址</a:t>
            </a:r>
            <a:endParaRPr lang="en-US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x3</a:t>
            </a:r>
            <a:r>
              <a:rPr lang="zh-CN" altLang="pt-BR" sz="2000" b="0"/>
              <a:t>       </a:t>
            </a:r>
            <a:r>
              <a:rPr lang="en-US" altLang="zh-CN" sz="2000" b="0"/>
              <a:t>3</a:t>
            </a:r>
            <a:endParaRPr lang="zh-CN" altLang="pt-BR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b="0"/>
              <a:t>              </a:t>
            </a:r>
            <a:r>
              <a:rPr lang="pt-BR" altLang="zh-CN" sz="2000" b="0"/>
              <a:t>x4       4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  <p:sp>
        <p:nvSpPr>
          <p:cNvPr id="13326" name="Line 10"/>
          <p:cNvSpPr>
            <a:spLocks noChangeShapeType="1"/>
          </p:cNvSpPr>
          <p:nvPr/>
        </p:nvSpPr>
        <p:spPr bwMode="auto">
          <a:xfrm>
            <a:off x="6011863" y="2924175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107504" y="3861048"/>
            <a:ext cx="360040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main</a:t>
            </a:r>
            <a:r>
              <a:rPr lang="en-US" altLang="zh-CN" dirty="0"/>
              <a:t>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return </a:t>
            </a:r>
            <a:r>
              <a:rPr lang="en-US" altLang="zh-CN" dirty="0"/>
              <a:t>0;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6011863" y="51514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011863" y="471170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4" name="Line 14"/>
          <p:cNvSpPr>
            <a:spLocks noChangeShapeType="1"/>
          </p:cNvSpPr>
          <p:nvPr/>
        </p:nvSpPr>
        <p:spPr bwMode="auto">
          <a:xfrm flipH="1">
            <a:off x="7308850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5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14346" name="矩形 46"/>
          <p:cNvSpPr>
            <a:spLocks noChangeArrowheads="1"/>
          </p:cNvSpPr>
          <p:nvPr/>
        </p:nvSpPr>
        <p:spPr bwMode="auto">
          <a:xfrm>
            <a:off x="4248150" y="1947863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               a     </a:t>
            </a:r>
            <a:endParaRPr lang="pt-BR" altLang="zh-CN" sz="2000" b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b="0"/>
              <a:t>main</a:t>
            </a:r>
            <a:r>
              <a:rPr lang="zh-CN" altLang="pt-BR" sz="2000" b="0"/>
              <a:t>返回地址</a:t>
            </a:r>
            <a:endParaRPr lang="zh-CN" altLang="pt-BR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栈空间被各个函数共享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754438" cy="5832475"/>
          </a:xfrm>
        </p:spPr>
        <p:txBody>
          <a:bodyPr>
            <a:normAutofit fontScale="55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f1(</a:t>
            </a:r>
            <a:r>
              <a:rPr lang="en-US" altLang="zh-CN" dirty="0" err="1"/>
              <a:t>int</a:t>
            </a:r>
            <a:r>
              <a:rPr lang="en-US" altLang="zh-CN" dirty="0"/>
              <a:t> x1)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a1;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smtClean="0"/>
              <a:t>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f2(</a:t>
            </a:r>
            <a:r>
              <a:rPr lang="en-US" altLang="zh-CN" dirty="0" err="1"/>
              <a:t>int</a:t>
            </a:r>
            <a:r>
              <a:rPr lang="en-US" altLang="zh-CN" dirty="0"/>
              <a:t> x2)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a2;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f1(1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f3(</a:t>
            </a:r>
            <a:r>
              <a:rPr lang="en-US" altLang="zh-CN" dirty="0" err="1"/>
              <a:t>int</a:t>
            </a:r>
            <a:r>
              <a:rPr lang="en-US" altLang="zh-CN" dirty="0"/>
              <a:t> x3, </a:t>
            </a:r>
            <a:r>
              <a:rPr lang="en-US" altLang="zh-CN" dirty="0" err="1"/>
              <a:t>int</a:t>
            </a:r>
            <a:r>
              <a:rPr lang="en-US" altLang="zh-CN" dirty="0"/>
              <a:t> x4)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int</a:t>
            </a:r>
            <a:r>
              <a:rPr lang="en-US" altLang="zh-CN" dirty="0"/>
              <a:t> a3;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/>
              <a:t>......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{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a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f1(1);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f2(2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f3(3,4</a:t>
            </a:r>
            <a:r>
              <a:rPr lang="en-US" altLang="zh-CN" dirty="0"/>
              <a:t>);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smtClean="0">
                <a:solidFill>
                  <a:srgbClr val="FFC000"/>
                </a:solidFill>
              </a:rPr>
              <a:t>return </a:t>
            </a:r>
            <a:r>
              <a:rPr lang="en-US" altLang="zh-CN" dirty="0">
                <a:solidFill>
                  <a:srgbClr val="FFC000"/>
                </a:solidFill>
              </a:rPr>
              <a:t>0;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6011863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7308850" y="1628775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6" name="Line 14"/>
          <p:cNvSpPr>
            <a:spLocks noChangeShapeType="1"/>
          </p:cNvSpPr>
          <p:nvPr/>
        </p:nvSpPr>
        <p:spPr bwMode="auto">
          <a:xfrm flipH="1">
            <a:off x="7308850" y="551656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15"/>
          <p:cNvSpPr>
            <a:spLocks noChangeShapeType="1"/>
          </p:cNvSpPr>
          <p:nvPr/>
        </p:nvSpPr>
        <p:spPr bwMode="auto">
          <a:xfrm>
            <a:off x="6011863" y="558958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8229600" cy="5832475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函数返回值的存储：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如果函数的返回值为简单数据类型，则返回值通常通过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的某个寄存器返回；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否则，返回值将存储到一块临时内存空间中，这个临时内存空间位于调用者的栈空间中，在函数调用时，调用者把这块空间的地址传给被调用者，被调用者通过这个地址存储返回值。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一般情况下，程序中不必关心上述栈的具体分配情况，但是，如果要进行混合语言编程，则需要考虑不同语言在栈使用上的差别。</a:t>
            </a:r>
            <a:endParaRPr lang="zh-CN" altLang="en-US" dirty="0"/>
          </a:p>
          <a:p>
            <a:pPr>
              <a:lnSpc>
                <a:spcPct val="120000"/>
              </a:lnSpc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524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递归函数执行中栈的使用情况</a:t>
            </a:r>
            <a:endParaRPr lang="zh-CN" altLang="en-US" sz="400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412" y="1439416"/>
            <a:ext cx="8353052" cy="479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b="0" dirty="0" smtClean="0"/>
              <a:t>可以把一个递归函数看成多个同名的函数（多个</a:t>
            </a:r>
            <a:r>
              <a:rPr lang="zh-CN" altLang="en-US" b="0" dirty="0" smtClean="0">
                <a:solidFill>
                  <a:srgbClr val="FFC000"/>
                </a:solidFill>
              </a:rPr>
              <a:t>实例</a:t>
            </a:r>
            <a:r>
              <a:rPr lang="zh-CN" altLang="en-US" b="0" dirty="0" smtClean="0"/>
              <a:t>，</a:t>
            </a:r>
            <a:r>
              <a:rPr lang="en-US" altLang="zh-CN" b="0" dirty="0" smtClean="0">
                <a:solidFill>
                  <a:srgbClr val="FFC000"/>
                </a:solidFill>
              </a:rPr>
              <a:t>Instance</a:t>
            </a:r>
            <a:r>
              <a:rPr lang="zh-CN" altLang="en-US" b="0" dirty="0" smtClean="0"/>
              <a:t>），然后按函数的嵌套调用来理解递归调用过程。</a:t>
            </a:r>
            <a:endParaRPr lang="zh-CN" altLang="en-US" b="0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b="0" dirty="0" smtClean="0">
                <a:solidFill>
                  <a:srgbClr val="FFC000"/>
                </a:solidFill>
              </a:rPr>
              <a:t>注意：</a:t>
            </a:r>
            <a:r>
              <a:rPr lang="zh-CN" altLang="en-US" b="0" dirty="0" smtClean="0"/>
              <a:t>对</a:t>
            </a:r>
            <a:r>
              <a:rPr lang="zh-CN" altLang="en-US" b="0" dirty="0"/>
              <a:t>递归函数的每一</a:t>
            </a:r>
            <a:r>
              <a:rPr lang="zh-CN" altLang="en-US" b="0" dirty="0" smtClean="0"/>
              <a:t>次递归调用</a:t>
            </a:r>
            <a:r>
              <a:rPr lang="zh-CN" altLang="en-US" b="0" dirty="0"/>
              <a:t>都将产生</a:t>
            </a:r>
            <a:r>
              <a:rPr lang="zh-CN" altLang="en-US" b="0" dirty="0">
                <a:solidFill>
                  <a:srgbClr val="FFC000"/>
                </a:solidFill>
              </a:rPr>
              <a:t>一</a:t>
            </a:r>
            <a:r>
              <a:rPr lang="zh-CN" altLang="en-US" b="0" dirty="0" smtClean="0">
                <a:solidFill>
                  <a:srgbClr val="FFC000"/>
                </a:solidFill>
              </a:rPr>
              <a:t>组新的</a:t>
            </a:r>
            <a:r>
              <a:rPr lang="zh-CN" altLang="en-US" b="0" dirty="0"/>
              <a:t>局部变量（包括形参），虽然它们的名字相同，但它们是不同的</a:t>
            </a:r>
            <a:r>
              <a:rPr lang="zh-CN" altLang="en-US" b="0" dirty="0" smtClean="0"/>
              <a:t>变量（属于不同的实例），拥有</a:t>
            </a:r>
            <a:r>
              <a:rPr lang="zh-CN" altLang="en-US" b="0" dirty="0"/>
              <a:t>不同</a:t>
            </a:r>
            <a:r>
              <a:rPr lang="zh-CN" altLang="en-US" b="0" dirty="0" smtClean="0"/>
              <a:t>的栈空间。</a:t>
            </a:r>
            <a:endParaRPr lang="en-US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3"/>
            <a:ext cx="3106688" cy="3989388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f(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n)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/>
              <a:t>x=n+1;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/>
              <a:t>x,n</a:t>
            </a:r>
            <a:r>
              <a:rPr lang="en-US" altLang="zh-CN" sz="2600" dirty="0" smtClean="0"/>
              <a:t> </a:t>
            </a:r>
            <a:r>
              <a:rPr lang="en-US" altLang="zh-CN" sz="2600" dirty="0"/>
              <a:t>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(n&gt;0) f(n-1);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   </a:t>
            </a:r>
            <a:r>
              <a:rPr lang="en-US" altLang="zh-CN" sz="2600" dirty="0" smtClean="0"/>
              <a:t>... </a:t>
            </a:r>
            <a:r>
              <a:rPr lang="en-US" altLang="zh-CN" sz="2600" dirty="0" err="1" smtClean="0"/>
              <a:t>x,n</a:t>
            </a:r>
            <a:r>
              <a:rPr lang="en-US" altLang="zh-CN" sz="2600" dirty="0" smtClean="0"/>
              <a:t> 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......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f(2);</a:t>
            </a:r>
            <a:endParaRPr lang="en-US" altLang="zh-CN" sz="26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477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464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477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4248150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endParaRPr lang="zh-CN" altLang="pt-BR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3105845" cy="3989388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C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C0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C0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C0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C000"/>
                </a:solidFill>
              </a:rPr>
              <a:t>3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C000"/>
                </a:solidFill>
              </a:rPr>
              <a:t>2</a:t>
            </a:r>
            <a:endParaRPr lang="en-US" altLang="zh-CN" sz="260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C000"/>
                </a:solidFill>
              </a:rPr>
              <a:t>n</a:t>
            </a:r>
            <a:r>
              <a:rPr lang="en-US" altLang="zh-CN" sz="2600" dirty="0"/>
              <a:t>&gt;0) f(</a:t>
            </a:r>
            <a:r>
              <a:rPr lang="en-US" altLang="zh-CN" sz="2600" dirty="0">
                <a:solidFill>
                  <a:srgbClr val="FFC000"/>
                </a:solidFill>
              </a:rPr>
              <a:t>n</a:t>
            </a:r>
            <a:r>
              <a:rPr lang="en-US" altLang="zh-CN" sz="2600" dirty="0"/>
              <a:t>-1);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   </a:t>
            </a:r>
            <a:r>
              <a:rPr lang="en-US" altLang="zh-CN" sz="2600" dirty="0" smtClean="0"/>
              <a:t>... 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dirty="0" smtClean="0"/>
              <a:t> 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......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>
                <a:solidFill>
                  <a:srgbClr val="FFC000"/>
                </a:solidFill>
              </a:rPr>
              <a:t>f</a:t>
            </a:r>
            <a:r>
              <a:rPr lang="en-US" altLang="zh-CN" sz="2600" dirty="0" smtClean="0"/>
              <a:t>(2);</a:t>
            </a:r>
            <a:endParaRPr lang="en-US" altLang="zh-CN" sz="2600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2196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9183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2196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2196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9182" y="3601616"/>
            <a:ext cx="287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2196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96379" y="177281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2"/>
            <a:ext cx="3069983" cy="3111499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0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&gt;0)</a:t>
            </a:r>
            <a:r>
              <a:rPr lang="en-US" altLang="zh-CN" sz="2600" dirty="0" smtClean="0"/>
              <a:t> f(</a:t>
            </a:r>
            <a:r>
              <a:rPr lang="en-US" altLang="zh-CN" sz="2600" dirty="0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-1);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>
                <a:solidFill>
                  <a:srgbClr val="FF0000"/>
                </a:solidFill>
              </a:rPr>
              <a:t> </a:t>
            </a:r>
            <a:r>
              <a:rPr lang="en-US" altLang="zh-CN" sz="2600" dirty="0" smtClean="0"/>
              <a:t>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2665512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3491880" y="743596"/>
            <a:ext cx="0" cy="1461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smtClean="0"/>
              <a:t>=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+1;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13285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14"/>
          <p:cNvSpPr>
            <a:spLocks noChangeShapeType="1"/>
          </p:cNvSpPr>
          <p:nvPr/>
        </p:nvSpPr>
        <p:spPr bwMode="auto">
          <a:xfrm>
            <a:off x="3707532" y="1772816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3275856" y="2204864"/>
            <a:ext cx="21696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2"/>
            <a:ext cx="3069983" cy="3111499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0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&gt;0)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99FF33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-1);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>
                <a:solidFill>
                  <a:srgbClr val="FF0000"/>
                </a:solidFill>
              </a:rPr>
              <a:t> </a:t>
            </a:r>
            <a:r>
              <a:rPr lang="en-US" altLang="zh-CN" sz="2600" dirty="0" smtClean="0"/>
              <a:t>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3491880" y="743596"/>
            <a:ext cx="0" cy="1461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13285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3635896" y="3645024"/>
            <a:ext cx="3069983" cy="3111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1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0</a:t>
            </a:r>
            <a:endParaRPr lang="en-US" altLang="zh-CN" sz="26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if 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&gt;0) f(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 </a:t>
            </a:r>
            <a:r>
              <a:rPr lang="en-US" altLang="zh-CN" sz="2600" b="0" kern="0" dirty="0" smtClean="0"/>
              <a:t>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707904" y="2132856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779912" y="4941168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3275856" y="2212554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>
            <a:off x="6876255" y="2155156"/>
            <a:ext cx="1029" cy="17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>
            <a:off x="6660232" y="2132856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2"/>
            <a:ext cx="3069983" cy="3111499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0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&gt;0)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99FF33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-1);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>
                <a:solidFill>
                  <a:srgbClr val="FF0000"/>
                </a:solidFill>
              </a:rPr>
              <a:t> </a:t>
            </a:r>
            <a:r>
              <a:rPr lang="en-US" altLang="zh-CN" sz="2600" dirty="0" smtClean="0"/>
              <a:t>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3491880" y="743596"/>
            <a:ext cx="0" cy="1461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13285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3635896" y="3645024"/>
            <a:ext cx="3069983" cy="3111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1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0</a:t>
            </a:r>
            <a:endParaRPr lang="en-US" altLang="zh-CN" sz="26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if 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&gt;0) f(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 </a:t>
            </a:r>
            <a:r>
              <a:rPr lang="en-US" altLang="zh-CN" sz="2600" b="0" kern="0" dirty="0" smtClean="0"/>
              <a:t>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707904" y="2132856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779912" y="5301208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>
            <a:off x="3275856" y="2212554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4"/>
          <p:cNvSpPr>
            <a:spLocks noChangeShapeType="1"/>
          </p:cNvSpPr>
          <p:nvPr/>
        </p:nvSpPr>
        <p:spPr bwMode="auto">
          <a:xfrm>
            <a:off x="6876255" y="2155156"/>
            <a:ext cx="1029" cy="17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>
            <a:off x="6660232" y="2132856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2"/>
            <a:ext cx="3069983" cy="3111499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0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&gt;0)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99FF33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-1);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>
                <a:solidFill>
                  <a:srgbClr val="FF0000"/>
                </a:solidFill>
              </a:rPr>
              <a:t> </a:t>
            </a:r>
            <a:r>
              <a:rPr lang="en-US" altLang="zh-CN" sz="2600" dirty="0" smtClean="0"/>
              <a:t>...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17728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x         1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n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0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3491880" y="743596"/>
            <a:ext cx="0" cy="1461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13285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3635896" y="3645024"/>
            <a:ext cx="3069983" cy="31114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1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0</a:t>
            </a:r>
            <a:endParaRPr lang="en-US" altLang="zh-CN" sz="26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if 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&gt;0) f(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99FF33"/>
                </a:solidFill>
              </a:rPr>
              <a:t>n</a:t>
            </a:r>
            <a:r>
              <a:rPr lang="en-US" altLang="zh-CN" sz="2600" b="0" kern="0" dirty="0" smtClean="0">
                <a:solidFill>
                  <a:srgbClr val="99FF33"/>
                </a:solidFill>
              </a:rPr>
              <a:t> </a:t>
            </a:r>
            <a:r>
              <a:rPr lang="en-US" altLang="zh-CN" sz="2600" b="0" kern="0" dirty="0" smtClean="0"/>
              <a:t>... //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1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92D050"/>
                </a:solidFill>
              </a:rPr>
              <a:t>0</a:t>
            </a:r>
            <a:endParaRPr lang="en-US" altLang="zh-CN" sz="2600" b="0" kern="0" dirty="0" smtClean="0">
              <a:solidFill>
                <a:srgbClr val="92D05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707904" y="2132856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7452320" y="2212554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7452320" y="1772816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3779912" y="5805264"/>
            <a:ext cx="288404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3275856" y="2212554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4"/>
          <p:cNvSpPr>
            <a:spLocks noChangeShapeType="1"/>
          </p:cNvSpPr>
          <p:nvPr/>
        </p:nvSpPr>
        <p:spPr bwMode="auto">
          <a:xfrm>
            <a:off x="6876255" y="2155156"/>
            <a:ext cx="1029" cy="1777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6660232" y="2132856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 flipH="1">
            <a:off x="5796135" y="3933056"/>
            <a:ext cx="108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2257" y="476672"/>
            <a:ext cx="3069983" cy="3111499"/>
          </a:xfrm>
          <a:solidFill>
            <a:srgbClr val="005CB8"/>
          </a:solidFill>
        </p:spPr>
        <p:txBody>
          <a:bodyPr>
            <a:normAutofit/>
          </a:bodyPr>
          <a:lstStyle/>
          <a:p>
            <a:pPr eaLnBrk="1" hangingPunct="1">
              <a:buNone/>
              <a:defRPr/>
            </a:pPr>
            <a:r>
              <a:rPr lang="en-US" altLang="zh-CN" sz="2600" dirty="0" smtClean="0"/>
              <a:t>void </a:t>
            </a:r>
            <a:r>
              <a:rPr lang="en-US" altLang="zh-CN" sz="2600" dirty="0" smtClean="0">
                <a:solidFill>
                  <a:srgbClr val="FF0000"/>
                </a:solidFill>
              </a:rPr>
              <a:t>f</a:t>
            </a:r>
            <a:r>
              <a:rPr lang="en-US" altLang="zh-CN" sz="2600" dirty="0" smtClean="0"/>
              <a:t>(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n</a:t>
            </a:r>
            <a:r>
              <a:rPr lang="en-US" altLang="zh-CN" sz="2600" dirty="0" smtClean="0"/>
              <a:t>)</a:t>
            </a:r>
            <a:endParaRPr lang="en-US" altLang="zh-CN" sz="2600" dirty="0"/>
          </a:p>
          <a:p>
            <a:pPr eaLnBrk="1" hangingPunct="1">
              <a:buNone/>
              <a:defRPr/>
            </a:pPr>
            <a:r>
              <a:rPr lang="en-US" altLang="zh-CN" sz="2600" dirty="0"/>
              <a:t>{ </a:t>
            </a:r>
            <a:r>
              <a:rPr lang="en-US" altLang="zh-CN" sz="2600" dirty="0" err="1" smtClean="0"/>
              <a:t>int</a:t>
            </a:r>
            <a:r>
              <a:rPr lang="en-US" altLang="zh-CN" sz="2600" dirty="0" smtClean="0"/>
              <a:t> </a:t>
            </a:r>
            <a:r>
              <a:rPr lang="en-US" altLang="zh-CN" sz="2600" dirty="0" smtClean="0">
                <a:solidFill>
                  <a:srgbClr val="FF3300"/>
                </a:solidFill>
              </a:rPr>
              <a:t>x</a:t>
            </a:r>
            <a:r>
              <a:rPr lang="en-US" altLang="zh-CN" sz="2600" dirty="0"/>
              <a:t>=</a:t>
            </a:r>
            <a:r>
              <a:rPr lang="en-US" altLang="zh-CN" sz="2600" dirty="0">
                <a:solidFill>
                  <a:srgbClr val="FF3300"/>
                </a:solidFill>
              </a:rPr>
              <a:t>n</a:t>
            </a:r>
            <a:r>
              <a:rPr lang="en-US" altLang="zh-CN" sz="2600" dirty="0"/>
              <a:t>+1</a:t>
            </a:r>
            <a:r>
              <a:rPr lang="en-US" altLang="zh-CN" sz="2600" dirty="0" smtClean="0"/>
              <a:t>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 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if 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n</a:t>
            </a:r>
            <a:r>
              <a:rPr lang="en-US" altLang="zh-CN" sz="2600" dirty="0"/>
              <a:t>&gt;0)</a:t>
            </a:r>
            <a:r>
              <a:rPr lang="en-US" altLang="zh-CN" sz="2600" dirty="0" smtClean="0"/>
              <a:t> f(</a:t>
            </a:r>
            <a:r>
              <a:rPr lang="en-US" altLang="zh-CN" sz="2600" dirty="0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/>
              <a:t>-1);</a:t>
            </a:r>
            <a:endParaRPr lang="en-US" altLang="zh-CN" sz="2600" dirty="0" smtClean="0"/>
          </a:p>
          <a:p>
            <a:pPr eaLnBrk="1" hangingPunct="1">
              <a:buNone/>
              <a:defRPr/>
            </a:pPr>
            <a:r>
              <a:rPr lang="en-US" altLang="zh-CN" sz="2600" dirty="0" smtClean="0"/>
              <a:t>   ... 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x</a:t>
            </a:r>
            <a:r>
              <a:rPr lang="en-US" altLang="zh-CN" sz="2600" dirty="0" err="1" smtClean="0"/>
              <a:t>,</a:t>
            </a:r>
            <a:r>
              <a:rPr lang="en-US" altLang="zh-CN" sz="2600" dirty="0" err="1" smtClean="0">
                <a:solidFill>
                  <a:srgbClr val="FF0000"/>
                </a:solidFill>
              </a:rPr>
              <a:t>n</a:t>
            </a:r>
            <a:r>
              <a:rPr lang="en-US" altLang="zh-CN" sz="2600" dirty="0" smtClean="0">
                <a:solidFill>
                  <a:srgbClr val="FF0000"/>
                </a:solidFill>
              </a:rPr>
              <a:t> </a:t>
            </a:r>
            <a:r>
              <a:rPr lang="en-US" altLang="zh-CN" sz="2600" dirty="0" smtClean="0"/>
              <a:t>... //</a:t>
            </a:r>
            <a:r>
              <a:rPr lang="en-US" altLang="zh-CN" sz="2600" dirty="0" smtClean="0">
                <a:solidFill>
                  <a:srgbClr val="FF0000"/>
                </a:solidFill>
              </a:rPr>
              <a:t>2</a:t>
            </a:r>
            <a:r>
              <a:rPr lang="en-US" altLang="zh-CN" sz="2600" dirty="0" smtClean="0"/>
              <a:t>,</a:t>
            </a:r>
            <a:r>
              <a:rPr lang="en-US" altLang="zh-CN" sz="2600" dirty="0" smtClean="0">
                <a:solidFill>
                  <a:srgbClr val="FF0000"/>
                </a:solidFill>
              </a:rPr>
              <a:t>1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dirty="0" smtClean="0"/>
              <a:t>}</a:t>
            </a:r>
            <a:endParaRPr lang="en-US" altLang="zh-CN" sz="2600" dirty="0" smtClean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2708920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x         2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n         1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452022" y="310525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7452022" y="266551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4"/>
          <p:cNvSpPr>
            <a:spLocks noChangeShapeType="1"/>
          </p:cNvSpPr>
          <p:nvPr/>
        </p:nvSpPr>
        <p:spPr bwMode="auto">
          <a:xfrm>
            <a:off x="3491880" y="743596"/>
            <a:ext cx="0" cy="1461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491694" y="721296"/>
            <a:ext cx="28821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>
                <a:solidFill>
                  <a:srgbClr val="FF0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132856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3707904" y="2708920"/>
            <a:ext cx="288404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>
            <a:off x="3275856" y="2212554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3635896" y="15007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不同的实例：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7451725" y="402791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451725" y="3588172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8748712" y="3573016"/>
            <a:ext cx="287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  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x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3</a:t>
            </a:r>
            <a:endParaRPr lang="pt-BR" altLang="zh-CN" sz="2000" dirty="0">
              <a:solidFill>
                <a:srgbClr val="FFC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n         2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</a:t>
            </a:r>
            <a:r>
              <a:rPr lang="en-US" altLang="zh-CN" sz="2600" b="0" kern="0" dirty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/>
              <a:t>=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2</a:t>
            </a:r>
            <a:endParaRPr lang="en-US" altLang="zh-CN" sz="2600" b="0" kern="0" dirty="0" smtClean="0">
              <a:solidFill>
                <a:srgbClr val="FFC000"/>
              </a:solidFill>
            </a:endParaRPr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</a:t>
            </a:r>
            <a:r>
              <a:rPr lang="en-US" altLang="zh-CN" sz="2600" b="0" kern="0" dirty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/>
              <a:t>&gt;0) </a:t>
            </a:r>
            <a:r>
              <a:rPr lang="en-US" altLang="zh-CN" sz="2600" b="0" kern="0" dirty="0" smtClean="0"/>
              <a:t>f(</a:t>
            </a:r>
            <a:r>
              <a:rPr lang="en-US" altLang="zh-CN" sz="2600" b="0" kern="0" dirty="0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x</a:t>
            </a:r>
            <a:r>
              <a:rPr lang="en-US" altLang="zh-CN" sz="2600" b="0" kern="0" dirty="0" err="1" smtClean="0"/>
              <a:t>,</a:t>
            </a:r>
            <a:r>
              <a:rPr lang="en-US" altLang="zh-CN" sz="2600" b="0" kern="0" dirty="0" err="1" smtClean="0">
                <a:solidFill>
                  <a:srgbClr val="FFC000"/>
                </a:solidFill>
              </a:rPr>
              <a:t>n</a:t>
            </a:r>
            <a:r>
              <a:rPr lang="en-US" altLang="zh-CN" sz="2600" b="0" kern="0" dirty="0" smtClean="0"/>
              <a:t> ... //</a:t>
            </a:r>
            <a:r>
              <a:rPr lang="en-US" altLang="zh-CN" sz="2600" b="0" kern="0" dirty="0">
                <a:solidFill>
                  <a:srgbClr val="FFC000"/>
                </a:solidFill>
              </a:rPr>
              <a:t>3</a:t>
            </a:r>
            <a:r>
              <a:rPr lang="en-US" altLang="zh-CN" sz="2600" b="0" kern="0" dirty="0" smtClean="0"/>
              <a:t>,</a:t>
            </a:r>
            <a:r>
              <a:rPr lang="en-US" altLang="zh-CN" sz="2600" b="0" kern="0" dirty="0">
                <a:solidFill>
                  <a:srgbClr val="FFC000"/>
                </a:solidFill>
              </a:rPr>
              <a:t>2</a:t>
            </a:r>
            <a:endParaRPr lang="en-US" altLang="zh-CN" sz="2600" b="0" kern="0" dirty="0">
              <a:solidFill>
                <a:srgbClr val="FFC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>
                <a:solidFill>
                  <a:srgbClr val="FFC000"/>
                </a:solidFill>
              </a:rPr>
              <a:t>f</a:t>
            </a:r>
            <a:r>
              <a:rPr lang="en-US" altLang="zh-CN" sz="2600" b="0" kern="0" dirty="0" smtClean="0"/>
              <a:t>(2);</a:t>
            </a:r>
            <a:endParaRPr lang="en-US" altLang="zh-CN" sz="2600" b="0" kern="0" dirty="0" smtClean="0"/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 flipH="1">
            <a:off x="107504" y="743595"/>
            <a:ext cx="843" cy="33334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>
            <a:off x="108347" y="721296"/>
            <a:ext cx="2162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>
            <a:off x="107504" y="4077072"/>
            <a:ext cx="2170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4"/>
          <p:cNvSpPr>
            <a:spLocks noChangeShapeType="1"/>
          </p:cNvSpPr>
          <p:nvPr/>
        </p:nvSpPr>
        <p:spPr bwMode="auto">
          <a:xfrm>
            <a:off x="395536" y="2708920"/>
            <a:ext cx="288404" cy="0"/>
          </a:xfrm>
          <a:prstGeom prst="line">
            <a:avLst/>
          </a:prstGeom>
          <a:noFill/>
          <a:ln w="9525">
            <a:solidFill>
              <a:srgbClr val="FFC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7451725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8748712" y="505247"/>
            <a:ext cx="0" cy="396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7451725" y="4466060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46"/>
          <p:cNvSpPr>
            <a:spLocks noChangeArrowheads="1"/>
          </p:cNvSpPr>
          <p:nvPr/>
        </p:nvSpPr>
        <p:spPr bwMode="auto">
          <a:xfrm>
            <a:off x="5688012" y="824335"/>
            <a:ext cx="349250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endParaRPr lang="zh-CN" altLang="pt-BR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99FF33"/>
                </a:solidFill>
              </a:rPr>
              <a:t> </a:t>
            </a:r>
            <a:r>
              <a:rPr lang="zh-CN" altLang="pt-BR" sz="2000" dirty="0" smtClean="0"/>
              <a:t>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</a:t>
            </a:r>
            <a:r>
              <a:rPr lang="pt-BR" altLang="zh-CN" sz="2000" dirty="0" smtClean="0"/>
              <a:t>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r>
              <a:rPr lang="pt-BR" altLang="zh-CN" sz="2000" dirty="0" smtClean="0"/>
              <a:t>         </a:t>
            </a:r>
            <a:r>
              <a:rPr lang="pt-BR" altLang="zh-CN" sz="2000" dirty="0" smtClean="0">
                <a:solidFill>
                  <a:srgbClr val="99FF33"/>
                </a:solidFill>
              </a:rPr>
              <a:t> </a:t>
            </a:r>
            <a:endParaRPr lang="pt-BR" altLang="zh-CN" sz="2000" dirty="0">
              <a:solidFill>
                <a:srgbClr val="99FF3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</a:t>
            </a:r>
            <a:r>
              <a:rPr lang="zh-CN" altLang="pt-BR" sz="2000" dirty="0" smtClean="0"/>
              <a:t>           </a:t>
            </a:r>
            <a:r>
              <a:rPr lang="en-US" altLang="zh-CN" sz="2000" dirty="0" smtClean="0">
                <a:solidFill>
                  <a:srgbClr val="FF0000"/>
                </a:solidFill>
              </a:rPr>
              <a:t> </a:t>
            </a:r>
            <a:endParaRPr lang="zh-CN" altLang="pt-BR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/>
              <a:t>              </a:t>
            </a:r>
            <a:r>
              <a:rPr lang="zh-CN" altLang="pt-BR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    </a:t>
            </a:r>
            <a:endParaRPr lang="pt-BR" altLang="zh-CN" sz="2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 dirty="0"/>
              <a:t>               </a:t>
            </a:r>
            <a:r>
              <a:rPr lang="pt-BR" altLang="zh-CN" sz="2000" dirty="0" smtClean="0">
                <a:solidFill>
                  <a:srgbClr val="FFC000"/>
                </a:solidFill>
              </a:rPr>
              <a:t> </a:t>
            </a:r>
            <a:r>
              <a:rPr lang="pt-BR" altLang="zh-CN" sz="2000" dirty="0" smtClean="0"/>
              <a:t>     </a:t>
            </a:r>
            <a:endParaRPr lang="pt-BR" altLang="zh-CN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pt-BR" sz="2000" dirty="0" smtClean="0"/>
              <a:t>               </a:t>
            </a:r>
            <a:r>
              <a:rPr lang="en-US" altLang="zh-CN" sz="2000" dirty="0" smtClean="0">
                <a:solidFill>
                  <a:srgbClr val="FFC000"/>
                </a:solidFill>
              </a:rPr>
              <a:t>           </a:t>
            </a:r>
            <a:endParaRPr lang="zh-CN" altLang="pt-BR" sz="2000" dirty="0">
              <a:solidFill>
                <a:srgbClr val="FFC000"/>
              </a:solidFill>
            </a:endParaRPr>
          </a:p>
        </p:txBody>
      </p:sp>
      <p:sp>
        <p:nvSpPr>
          <p:cNvPr id="27" name="内容占位符 2"/>
          <p:cNvSpPr txBox="1"/>
          <p:nvPr/>
        </p:nvSpPr>
        <p:spPr bwMode="auto">
          <a:xfrm>
            <a:off x="324557" y="476673"/>
            <a:ext cx="3095316" cy="3989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void f(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n)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 smtClean="0"/>
              <a:t>{ </a:t>
            </a:r>
            <a:r>
              <a:rPr lang="en-US" altLang="zh-CN" sz="2600" b="0" kern="0" dirty="0" err="1" smtClean="0"/>
              <a:t>int</a:t>
            </a:r>
            <a:r>
              <a:rPr lang="en-US" altLang="zh-CN" sz="2600" b="0" kern="0" dirty="0" smtClean="0"/>
              <a:t> x</a:t>
            </a:r>
            <a:r>
              <a:rPr lang="en-US" altLang="zh-CN" sz="2600" b="0" kern="0" dirty="0"/>
              <a:t>=n+1</a:t>
            </a:r>
            <a:r>
              <a:rPr lang="en-US" altLang="zh-CN" sz="2600" b="0" kern="0" dirty="0" smtClean="0"/>
              <a:t>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/>
              <a:t>x,n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None/>
              <a:defRPr/>
            </a:pPr>
            <a:r>
              <a:rPr lang="en-US" altLang="zh-CN" sz="2600" b="0" kern="0" dirty="0"/>
              <a:t>   if (n&gt;0) </a:t>
            </a:r>
            <a:r>
              <a:rPr lang="en-US" altLang="zh-CN" sz="2600" b="0" kern="0" dirty="0" smtClean="0"/>
              <a:t>f(n-1);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   ... </a:t>
            </a:r>
            <a:r>
              <a:rPr lang="en-US" altLang="zh-CN" sz="2600" b="0" kern="0" dirty="0" err="1" smtClean="0"/>
              <a:t>x,n</a:t>
            </a:r>
            <a:r>
              <a:rPr lang="en-US" altLang="zh-CN" sz="2600" b="0" kern="0" dirty="0" smtClean="0"/>
              <a:t> 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}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......</a:t>
            </a:r>
            <a:endParaRPr lang="en-US" altLang="zh-CN" sz="2600" b="0" kern="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600" b="0" kern="0" dirty="0" smtClean="0"/>
              <a:t>f(2);</a:t>
            </a:r>
            <a:endParaRPr lang="en-US" altLang="zh-CN" sz="2600" b="0" kern="0" dirty="0" smtClean="0"/>
          </a:p>
        </p:txBody>
      </p:sp>
      <p:sp>
        <p:nvSpPr>
          <p:cNvPr id="7" name="文本框 6"/>
          <p:cNvSpPr txBox="1"/>
          <p:nvPr/>
        </p:nvSpPr>
        <p:spPr>
          <a:xfrm>
            <a:off x="7524328" y="4653136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栈空间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229600" cy="54721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栈空间一方面被各个函数共享，另一方面由于受到栈空间的限制，它也</a:t>
            </a:r>
            <a:r>
              <a:rPr lang="zh-CN" altLang="en-US" dirty="0" smtClean="0"/>
              <a:t>对</a:t>
            </a:r>
            <a:r>
              <a:rPr lang="zh-CN" altLang="en-US" dirty="0"/>
              <a:t>函数</a:t>
            </a:r>
            <a:r>
              <a:rPr lang="zh-CN" altLang="en-US" dirty="0" smtClean="0"/>
              <a:t>调用的深度（嵌套和递归调用）有</a:t>
            </a:r>
            <a:r>
              <a:rPr lang="zh-CN" altLang="en-US" dirty="0"/>
              <a:t>所限制：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过深的函数</a:t>
            </a:r>
            <a:r>
              <a:rPr lang="zh-CN" altLang="en-US" dirty="0" smtClean="0"/>
              <a:t>嵌套或递归调用</a:t>
            </a:r>
            <a:r>
              <a:rPr lang="zh-CN" altLang="en-US" dirty="0"/>
              <a:t>会造成栈空间不足，出现“栈溢出”（</a:t>
            </a:r>
            <a:r>
              <a:rPr lang="en-US" altLang="zh-CN" dirty="0"/>
              <a:t>stack overflow</a:t>
            </a:r>
            <a:r>
              <a:rPr lang="zh-CN" altLang="en-US" dirty="0"/>
              <a:t>）错误，从而引起程序的异常终止。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另外</a:t>
            </a:r>
            <a:r>
              <a:rPr lang="zh-CN" altLang="en-US" dirty="0" smtClean="0"/>
              <a:t>，在</a:t>
            </a:r>
            <a:r>
              <a:rPr lang="zh-CN" altLang="en-US" dirty="0"/>
              <a:t>程序设计</a:t>
            </a:r>
            <a:r>
              <a:rPr lang="zh-CN" altLang="en-US" dirty="0" smtClean="0"/>
              <a:t>时也需要</a:t>
            </a:r>
            <a:r>
              <a:rPr lang="zh-CN" altLang="en-US" dirty="0"/>
              <a:t>很好地</a:t>
            </a:r>
            <a:r>
              <a:rPr lang="zh-CN" altLang="en-US" dirty="0" smtClean="0"/>
              <a:t>处置形式参数</a:t>
            </a:r>
            <a:r>
              <a:rPr lang="zh-CN" altLang="en-US" dirty="0"/>
              <a:t>和局部变量的个数和大小，例如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不应把大的结构按值传递给函数。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不</a:t>
            </a:r>
            <a:r>
              <a:rPr lang="zh-CN" altLang="en-US" dirty="0"/>
              <a:t>应定义很大的局部数组变量。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6593</Words>
  <Application>WPS 演示</Application>
  <PresentationFormat>全屏显示(4:3)</PresentationFormat>
  <Paragraphs>639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Verdana</vt:lpstr>
      <vt:lpstr>微软雅黑</vt:lpstr>
      <vt:lpstr>Arial Unicode MS</vt:lpstr>
      <vt:lpstr>Calibri</vt:lpstr>
      <vt:lpstr>Times New Roman</vt:lpstr>
      <vt:lpstr>Globe</vt:lpstr>
      <vt:lpstr>栈在函数调用中的作用</vt:lpstr>
      <vt:lpstr>程序实体在内存中的安排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栈空间被各个函数共享</vt:lpstr>
      <vt:lpstr>PowerPoint 演示文稿</vt:lpstr>
      <vt:lpstr>递归函数执行中栈的使用情况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过程抽象——函数</dc:title>
  <dc:creator>Chen Jiajun</dc:creator>
  <cp:lastModifiedBy>tattit</cp:lastModifiedBy>
  <cp:revision>485</cp:revision>
  <dcterms:created xsi:type="dcterms:W3CDTF">2004-12-03T07:35:00Z</dcterms:created>
  <dcterms:modified xsi:type="dcterms:W3CDTF">2023-09-18T05:53:33Z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
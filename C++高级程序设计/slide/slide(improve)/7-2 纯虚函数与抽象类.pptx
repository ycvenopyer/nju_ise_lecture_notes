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573" r:id="rId3"/>
    <p:sldId id="703" r:id="rId4"/>
    <p:sldId id="705" r:id="rId5"/>
    <p:sldId id="615" r:id="rId6"/>
    <p:sldId id="616" r:id="rId7"/>
    <p:sldId id="617" r:id="rId8"/>
    <p:sldId id="618" r:id="rId9"/>
    <p:sldId id="619" r:id="rId10"/>
    <p:sldId id="620" r:id="rId11"/>
    <p:sldId id="621" r:id="rId12"/>
    <p:sldId id="622" r:id="rId13"/>
    <p:sldId id="635" r:id="rId14"/>
    <p:sldId id="702" r:id="rId15"/>
    <p:sldId id="701" r:id="rId16"/>
    <p:sldId id="636" r:id="rId17"/>
    <p:sldId id="637" r:id="rId18"/>
    <p:sldId id="700" r:id="rId19"/>
    <p:sldId id="654" r:id="rId20"/>
    <p:sldId id="655" r:id="rId2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FFFF66"/>
    <a:srgbClr val="99FF66"/>
    <a:srgbClr val="00CC66"/>
    <a:srgbClr val="00CC00"/>
    <a:srgbClr val="99CCFF"/>
    <a:srgbClr val="66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6"/>
    <p:restoredTop sz="94718"/>
  </p:normalViewPr>
  <p:slideViewPr>
    <p:cSldViewPr showGuides="1">
      <p:cViewPr varScale="1">
        <p:scale>
          <a:sx n="87" d="100"/>
          <a:sy n="87" d="100"/>
        </p:scale>
        <p:origin x="77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3660A4-758B-4BD9-877C-1AE2EA654269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33" y="845"/>
                </a:cxn>
                <a:cxn ang="0">
                  <a:pos x="933" y="821"/>
                </a:cxn>
                <a:cxn ang="0">
                  <a:pos x="778" y="605"/>
                </a:cxn>
                <a:cxn ang="0">
                  <a:pos x="508" y="396"/>
                </a:cxn>
                <a:cxn ang="0">
                  <a:pos x="323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11" y="198"/>
                </a:cxn>
                <a:cxn ang="0">
                  <a:pos x="502" y="408"/>
                </a:cxn>
                <a:cxn ang="0">
                  <a:pos x="772" y="623"/>
                </a:cxn>
                <a:cxn ang="0">
                  <a:pos x="933" y="845"/>
                </a:cxn>
                <a:cxn ang="0">
                  <a:pos x="933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09" y="414"/>
                </a:cxn>
                <a:cxn ang="0">
                  <a:pos x="509" y="396"/>
                </a:cxn>
                <a:cxn ang="0">
                  <a:pos x="324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18" y="204"/>
                </a:cxn>
                <a:cxn ang="0">
                  <a:pos x="509" y="414"/>
                </a:cxn>
                <a:cxn ang="0">
                  <a:pos x="509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18" y="0"/>
                </a:cxn>
                <a:cxn ang="0">
                  <a:pos x="791" y="0"/>
                </a:cxn>
                <a:cxn ang="0">
                  <a:pos x="578" y="132"/>
                </a:cxn>
                <a:cxn ang="0">
                  <a:pos x="359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59" y="282"/>
                </a:cxn>
                <a:cxn ang="0">
                  <a:pos x="590" y="138"/>
                </a:cxn>
                <a:cxn ang="0">
                  <a:pos x="818" y="0"/>
                </a:cxn>
                <a:cxn ang="0">
                  <a:pos x="818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71" y="0"/>
                </a:cxn>
                <a:cxn ang="0">
                  <a:pos x="353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71" y="0"/>
                </a:cxn>
                <a:cxn ang="0">
                  <a:pos x="371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042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042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76BEE0-5535-48F0-A11F-159C7E2F46C6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6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6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6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36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6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6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938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8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8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33" y="845"/>
                </a:cxn>
                <a:cxn ang="0">
                  <a:pos x="933" y="821"/>
                </a:cxn>
                <a:cxn ang="0">
                  <a:pos x="778" y="605"/>
                </a:cxn>
                <a:cxn ang="0">
                  <a:pos x="508" y="396"/>
                </a:cxn>
                <a:cxn ang="0">
                  <a:pos x="323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11" y="198"/>
                </a:cxn>
                <a:cxn ang="0">
                  <a:pos x="502" y="408"/>
                </a:cxn>
                <a:cxn ang="0">
                  <a:pos x="772" y="623"/>
                </a:cxn>
                <a:cxn ang="0">
                  <a:pos x="933" y="845"/>
                </a:cxn>
                <a:cxn ang="0">
                  <a:pos x="933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09" y="414"/>
                </a:cxn>
                <a:cxn ang="0">
                  <a:pos x="509" y="396"/>
                </a:cxn>
                <a:cxn ang="0">
                  <a:pos x="324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18" y="204"/>
                </a:cxn>
                <a:cxn ang="0">
                  <a:pos x="509" y="414"/>
                </a:cxn>
                <a:cxn ang="0">
                  <a:pos x="509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38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18" y="0"/>
                </a:cxn>
                <a:cxn ang="0">
                  <a:pos x="791" y="0"/>
                </a:cxn>
                <a:cxn ang="0">
                  <a:pos x="578" y="132"/>
                </a:cxn>
                <a:cxn ang="0">
                  <a:pos x="359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59" y="282"/>
                </a:cxn>
                <a:cxn ang="0">
                  <a:pos x="590" y="138"/>
                </a:cxn>
                <a:cxn ang="0">
                  <a:pos x="818" y="0"/>
                </a:cxn>
                <a:cxn ang="0">
                  <a:pos x="818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71" y="0"/>
                </a:cxn>
                <a:cxn ang="0">
                  <a:pos x="353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71" y="0"/>
                </a:cxn>
                <a:cxn ang="0">
                  <a:pos x="371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39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9940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BC1E0-65C6-4F54-9A3D-7D339B7AF6B4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243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抽象类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7921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问题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125538"/>
            <a:ext cx="8642350" cy="525621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如何表示一组图形对象</a:t>
            </a:r>
            <a:r>
              <a:rPr kumimoji="0" lang="zh-CN" altLang="en-US" sz="3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3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Rectangle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Line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Circle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705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figures[100];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元素可以是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Rectangle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Circle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1438"/>
            <a:ext cx="8229600" cy="6670675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如何让函数</a:t>
            </a:r>
            <a:r>
              <a:rPr kumimoji="0" lang="en-US" altLang="zh-CN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既可以接收</a:t>
            </a:r>
            <a:r>
              <a:rPr kumimoji="0" lang="en-US" altLang="zh-CN" sz="3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ArrayStack</a:t>
            </a: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类的对象，又可以接收</a:t>
            </a:r>
            <a:r>
              <a:rPr kumimoji="0" lang="en-US" altLang="zh-CN" sz="3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LinkedStack</a:t>
            </a:r>
            <a:r>
              <a:rPr kumimoji="0" lang="zh-CN" altLang="en-US" sz="3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类的对象？（它们对外接口是一样的）</a:t>
            </a:r>
            <a:endParaRPr kumimoji="0" lang="en-US" altLang="zh-CN" sz="3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ArrayStack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elements[100],top;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public: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ArrayStack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{ top = -1; }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void push(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void pop(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LinkedStack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struct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Node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{ 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content;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 Node *next;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} *first;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public: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LinkedStack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{ first = NULL; }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void push(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void pop(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f(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//</a:t>
            </a:r>
            <a:r>
              <a:rPr kumimoji="0" lang="zh-CN" alt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可接收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ArrayStack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LinkedStack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两类对象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st.push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(...);  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......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st.pop</a:t>
            </a: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(...);  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......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纯虚函数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3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纯虚函数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是没给出实现的虚函数，函数体用“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”表示， 例如：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virtual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f()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=0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纯虚函数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纯虚函数需要在派生类中给出实现。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446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424863" cy="551815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包含纯虚函数的类称为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抽象类不能用于创建对象。 例如：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抽象类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virtual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f()=0;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纯虚函数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是抽象类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抽象类的作用是为派生类提供一个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基本框架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公共的对外接口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抽象类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例：用抽象类为各种图形提供基本框架描述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9219" name="Group 11"/>
          <p:cNvGrpSpPr/>
          <p:nvPr/>
        </p:nvGrpSpPr>
        <p:grpSpPr>
          <a:xfrm>
            <a:off x="1336675" y="3644900"/>
            <a:ext cx="5899150" cy="2908300"/>
            <a:chOff x="842" y="1254"/>
            <a:chExt cx="1656" cy="562"/>
          </a:xfrm>
        </p:grpSpPr>
        <p:sp>
          <p:nvSpPr>
            <p:cNvPr id="9225" name="Oval 4"/>
            <p:cNvSpPr/>
            <p:nvPr/>
          </p:nvSpPr>
          <p:spPr>
            <a:xfrm>
              <a:off x="1390" y="1254"/>
              <a:ext cx="504" cy="1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226" name="Oval 5"/>
            <p:cNvSpPr/>
            <p:nvPr/>
          </p:nvSpPr>
          <p:spPr>
            <a:xfrm>
              <a:off x="1994" y="1629"/>
              <a:ext cx="504" cy="18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227" name="Oval 6"/>
            <p:cNvSpPr/>
            <p:nvPr/>
          </p:nvSpPr>
          <p:spPr>
            <a:xfrm>
              <a:off x="1418" y="1629"/>
              <a:ext cx="504" cy="18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228" name="Oval 7"/>
            <p:cNvSpPr/>
            <p:nvPr/>
          </p:nvSpPr>
          <p:spPr>
            <a:xfrm>
              <a:off x="842" y="1629"/>
              <a:ext cx="504" cy="18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229" name="Line 8"/>
            <p:cNvSpPr/>
            <p:nvPr/>
          </p:nvSpPr>
          <p:spPr>
            <a:xfrm flipH="1">
              <a:off x="1130" y="1442"/>
              <a:ext cx="432" cy="1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230" name="Line 9"/>
            <p:cNvSpPr/>
            <p:nvPr/>
          </p:nvSpPr>
          <p:spPr>
            <a:xfrm>
              <a:off x="1634" y="1442"/>
              <a:ext cx="0" cy="1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9231" name="Line 10"/>
            <p:cNvSpPr/>
            <p:nvPr/>
          </p:nvSpPr>
          <p:spPr>
            <a:xfrm>
              <a:off x="1723" y="1442"/>
              <a:ext cx="487" cy="1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9220" name="Text Box 12"/>
          <p:cNvSpPr txBox="1"/>
          <p:nvPr/>
        </p:nvSpPr>
        <p:spPr>
          <a:xfrm>
            <a:off x="3616325" y="3827463"/>
            <a:ext cx="1138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Figure</a:t>
            </a:r>
            <a:endParaRPr lang="en-US" altLang="zh-CN" sz="2400" dirty="0"/>
          </a:p>
        </p:txBody>
      </p:sp>
      <p:sp>
        <p:nvSpPr>
          <p:cNvPr id="9221" name="Text Box 13"/>
          <p:cNvSpPr txBox="1"/>
          <p:nvPr/>
        </p:nvSpPr>
        <p:spPr>
          <a:xfrm>
            <a:off x="1384300" y="5772150"/>
            <a:ext cx="1689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Rectangle</a:t>
            </a:r>
            <a:endParaRPr lang="en-US" altLang="zh-CN" sz="2400" dirty="0"/>
          </a:p>
        </p:txBody>
      </p:sp>
      <p:sp>
        <p:nvSpPr>
          <p:cNvPr id="9222" name="Text Box 14"/>
          <p:cNvSpPr txBox="1"/>
          <p:nvPr/>
        </p:nvSpPr>
        <p:spPr>
          <a:xfrm>
            <a:off x="3752850" y="5772150"/>
            <a:ext cx="1035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Circle</a:t>
            </a:r>
            <a:endParaRPr lang="en-US" altLang="zh-CN" sz="2400" dirty="0"/>
          </a:p>
        </p:txBody>
      </p:sp>
      <p:sp>
        <p:nvSpPr>
          <p:cNvPr id="9223" name="Text Box 15"/>
          <p:cNvSpPr txBox="1"/>
          <p:nvPr/>
        </p:nvSpPr>
        <p:spPr>
          <a:xfrm>
            <a:off x="5991225" y="5772150"/>
            <a:ext cx="812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Line</a:t>
            </a:r>
            <a:endParaRPr lang="en-US" altLang="zh-CN" sz="2400" dirty="0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1973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可以为各种图形对象设计一个抽象基类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Figure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，它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不提供具体功能的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实现，只是为具体的图形类提供一个基本框架，具体功能由各个图形类自己实现。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具体的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图形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类也可以给出基本框架中没有的功能。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6515" name="Rectangle 3"/>
          <p:cNvSpPr>
            <a:spLocks noGrp="1" noChangeArrowheads="1"/>
          </p:cNvSpPr>
          <p:nvPr>
            <p:ph idx="1"/>
          </p:nvPr>
        </p:nvSpPr>
        <p:spPr>
          <a:xfrm>
            <a:off x="252413" y="358775"/>
            <a:ext cx="8712200" cy="62388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Figure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抽象基类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virtual void draw()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派生类共有的功能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virtual 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()=0;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派生类共有的功能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Rectangle: public Figure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double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left,top,right,bottom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draw()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......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画矩形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请输入矩形的左上角和右下角坐标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(x1,y1,x2,y2)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left &gt;&gt; top &gt;&gt; right &gt;&gt; bottom;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double area()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类特有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{ return (bottom-top)*(right-left);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753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438150"/>
            <a:ext cx="8434388" cy="5870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double PI=3.1416;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Circle: public Figure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double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x,y,r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draw()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......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画圆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请输入圆的圆心坐标和半径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x,y,r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x &gt;&gt; y &gt;&gt; r;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double area()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 return r*r*PI;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8563" name="Rectangle 3"/>
          <p:cNvSpPr>
            <a:spLocks noGrp="1" noChangeArrowheads="1"/>
          </p:cNvSpPr>
          <p:nvPr>
            <p:ph idx="1"/>
          </p:nvPr>
        </p:nvSpPr>
        <p:spPr>
          <a:xfrm>
            <a:off x="288925" y="620713"/>
            <a:ext cx="8459788" cy="5949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Line: public Figure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double x1,y1,x2,y2;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draw()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......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画线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请输入线段的起点和终点坐标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(x1,y1,x2,y2)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x1 &gt;&gt; y1 &gt;&gt; x2 &gt;&gt; y2;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MAX_NUM_OF_FIGURES=100;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Figure *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figures[MAX_NUM_OF_FIGURES];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count=0;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9587" name="Rectangle 3"/>
          <p:cNvSpPr>
            <a:spLocks noGrp="1" noChangeArrowheads="1"/>
          </p:cNvSpPr>
          <p:nvPr>
            <p:ph idx="1"/>
          </p:nvPr>
        </p:nvSpPr>
        <p:spPr>
          <a:xfrm>
            <a:off x="0" y="177800"/>
            <a:ext cx="9144000" cy="6680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357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图形数据的输入：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(count=0; count&lt;MAX_NUM_OF_FIGURES;	count++)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shape;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do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请输入图形的种类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(0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：线段，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：矩形，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：圆，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：结束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shape;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 while (shape &lt; -1 || shape &gt; 2);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(shape == -1) break;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switch (shape)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case 0: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线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figures[count] = new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Line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	break;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1: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矩形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figures[count] = new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Rectangle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break;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2: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圆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figures[count] = new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Circle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break;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figures[count]-&gt;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动态绑定到相应类的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35750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06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549275"/>
            <a:ext cx="8229600" cy="5581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图形的输出：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&lt;count;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	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figures[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]-&gt;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draw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通过动态绑定调用相应类的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draw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即使今后增加了图形的种类，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上述代码（属于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高层代码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）不需要改动！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只需要增加相应的类（属于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低层代码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）就行。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这体现了多态带来的好处：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便于高层代码的复用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569325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例：用抽象类实现抽象数据类型</a:t>
            </a:r>
            <a:r>
              <a:rPr kumimoji="0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Stack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6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968875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抽象数据类型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abstract data type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）是指只考虑类型的抽象性质，而不考虑该类型的实现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，从抽象数据类型的角度来讲，栈类型是由若干具有线性关系的元素构成，它包含两个操作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“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s.push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).pop(x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”操作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之后，条件“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 ==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”成立。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上面就是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栈这个抽象数据类型所包含的全部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内容，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它与栈的内部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是如何实现的无关。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06888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抽象数据类型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抽象数据类型的实现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两者合二为一了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，它们都用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来表示。这样就带来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对于一个用数组实现的栈类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ArrayStack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和一个用链表实现的栈类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LinkedStack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，虽然从抽象数据类型的角度看，它们是相同的类型，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但由于它们是不同的类，因此，在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不同的类型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对于函数：“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”，如果要求它既可以接受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ArrayStack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类的对象，也可以接受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LinkedStack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类的对象，那么，它的参数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的类型怎么表示？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6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73238"/>
            <a:ext cx="8229600" cy="46085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解决方案：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ArrayStack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LinkedStack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提供一个抽象基类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virtual void push(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)=0;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virtual void pop(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)=0;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8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0350"/>
            <a:ext cx="8229600" cy="6408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ArrayStack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public Stack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elements[100],top;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ArrayStack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{ top = -1;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push(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......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pop(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......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LinkedStack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public Stack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Node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content;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Node *next;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 *first;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LinkedStack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{ first = NULL;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push(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......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pop(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......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90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11175"/>
            <a:ext cx="8580438" cy="6157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f(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st.push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(...);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将根据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引用的对象类来确定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的归属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st.pop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(...);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将根据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引用的对象类来确定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pop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的归属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ArrayStack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st1;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LinkedStack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st2;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f(st1);  //OK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f(st2);  //OK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用抽象类实现类的真正抽象作用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中使用某个类时必须要见到该类的定义，因此，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使用者能够见到该类的一些实现细节（如：非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），这样会使得类的抽象作用大打折扣！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有手段绕过类的访问控制而使用类的非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成员，类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的封装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作用可能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被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破坏。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36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549275"/>
            <a:ext cx="8229600" cy="6308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A.h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（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的定义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i,j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f(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//B.cpp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类对象的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某个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使用者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A.h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(A *p)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可绕过对象类的访问控制！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p-&gt;f(2); //Ok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1;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p-&gt;j = 2;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*((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*)p) = 1;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Ok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所指向的对象的成员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*((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*)p+1) = 2;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Ok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所指向的对象的成员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如何防止上面的情况？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7597775" y="4437063"/>
            <a:ext cx="790575" cy="7159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21508" name="Line 5"/>
          <p:cNvSpPr/>
          <p:nvPr/>
        </p:nvSpPr>
        <p:spPr>
          <a:xfrm>
            <a:off x="7597775" y="4797425"/>
            <a:ext cx="7905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9" name="Text Box 6"/>
          <p:cNvSpPr txBox="1"/>
          <p:nvPr/>
        </p:nvSpPr>
        <p:spPr>
          <a:xfrm>
            <a:off x="7113588" y="4365625"/>
            <a:ext cx="406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i:</a:t>
            </a:r>
            <a:endParaRPr lang="en-US" altLang="zh-CN" sz="2400" dirty="0"/>
          </a:p>
        </p:txBody>
      </p:sp>
      <p:sp>
        <p:nvSpPr>
          <p:cNvPr id="21510" name="Text Box 7"/>
          <p:cNvSpPr txBox="1"/>
          <p:nvPr/>
        </p:nvSpPr>
        <p:spPr>
          <a:xfrm>
            <a:off x="7097713" y="4724400"/>
            <a:ext cx="4270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j:</a:t>
            </a:r>
            <a:endParaRPr lang="en-US" altLang="zh-CN" sz="2400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008563" y="912813"/>
            <a:ext cx="4027488" cy="19399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//A.</a:t>
            </a:r>
            <a:r>
              <a:rPr kumimoji="0" lang="en-US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cpp</a:t>
            </a:r>
            <a:r>
              <a:rPr kumimoji="0" lang="zh-CN" altLang="en-US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（</a:t>
            </a:r>
            <a:r>
              <a:rPr kumimoji="0" lang="zh-CN" altLang="en-US" sz="20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类</a:t>
            </a:r>
            <a:r>
              <a:rPr kumimoji="0" lang="en-US" altLang="zh-CN" sz="20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的实现，不公开</a:t>
            </a:r>
            <a:r>
              <a:rPr kumimoji="0" lang="zh-CN" altLang="en-US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#include "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A.h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"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A::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A(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 { ...... }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A::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x,int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y) { ...... }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A::f(int x) { ...... }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......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2" name="Text Box 6"/>
          <p:cNvSpPr txBox="1"/>
          <p:nvPr/>
        </p:nvSpPr>
        <p:spPr>
          <a:xfrm>
            <a:off x="7092950" y="3644900"/>
            <a:ext cx="517525" cy="4619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p:</a:t>
            </a:r>
            <a:endParaRPr lang="en-US" altLang="zh-CN" sz="2400" dirty="0"/>
          </a:p>
        </p:txBody>
      </p:sp>
      <p:sp>
        <p:nvSpPr>
          <p:cNvPr id="21513" name="Rectangle 4"/>
          <p:cNvSpPr/>
          <p:nvPr/>
        </p:nvSpPr>
        <p:spPr>
          <a:xfrm>
            <a:off x="7596188" y="3789363"/>
            <a:ext cx="792162" cy="317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cxnSp>
        <p:nvCxnSpPr>
          <p:cNvPr id="21514" name="直接箭头连接符 2"/>
          <p:cNvCxnSpPr>
            <a:endCxn id="21507" idx="0"/>
          </p:cNvCxnSpPr>
          <p:nvPr/>
        </p:nvCxnSpPr>
        <p:spPr>
          <a:xfrm>
            <a:off x="7993063" y="3933825"/>
            <a:ext cx="0" cy="503238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290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3619">
                                            <p:txEl>
                                              <p:charRg st="290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3619">
                                            <p:txEl>
                                              <p:charRg st="290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43" name="Rectangle 3"/>
          <p:cNvSpPr>
            <a:spLocks noGrp="1" noChangeArrowheads="1"/>
          </p:cNvSpPr>
          <p:nvPr>
            <p:ph idx="1"/>
          </p:nvPr>
        </p:nvSpPr>
        <p:spPr>
          <a:xfrm>
            <a:off x="180975" y="404813"/>
            <a:ext cx="8351838" cy="6264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用抽象类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I_A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给类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提供一个抽象接口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I_A.h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（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的对外接口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I_A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  virtual void f(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)=0;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//B.cpp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类对象的某个使用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者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"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I_A.h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(I_A *p)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p-&gt;f(2);  //Ok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*((</a:t>
            </a:r>
            <a:r>
              <a:rPr kumimoji="0" lang="en-GB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*)p) = 1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这里不知道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所指向的对象有哪些数据成员，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因此，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该操作不知道它访问的是什么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数据成员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4644" name="Text Box 4"/>
          <p:cNvSpPr txBox="1">
            <a:spLocks noChangeArrowheads="1"/>
          </p:cNvSpPr>
          <p:nvPr/>
        </p:nvSpPr>
        <p:spPr bwMode="auto">
          <a:xfrm>
            <a:off x="5076825" y="1125538"/>
            <a:ext cx="4027488" cy="40925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//A.</a:t>
            </a:r>
            <a:r>
              <a:rPr kumimoji="0" lang="en-US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cpp</a:t>
            </a:r>
            <a:r>
              <a:rPr kumimoji="0" lang="zh-CN" altLang="en-US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（类</a:t>
            </a:r>
            <a:r>
              <a:rPr kumimoji="0" lang="en-US" altLang="zh-CN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的实现，不公开）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#include "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I_A.h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"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A: public I_A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	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i,j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public: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A();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fr-FR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A(int x,int y);</a:t>
            </a:r>
            <a:endParaRPr kumimoji="0" lang="fr-FR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fr-FR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void f(int x);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A::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A(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 { ...... }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A::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x,int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y) { ...... }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A::f(int x) { ...... }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......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66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4548</Words>
  <Application>WPS 演示</Application>
  <PresentationFormat>全屏显示(4:3)</PresentationFormat>
  <Paragraphs>287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   Derived Classes</dc:title>
  <dc:creator>chenjj</dc:creator>
  <cp:lastModifiedBy>Ethereal_YC</cp:lastModifiedBy>
  <cp:revision>795</cp:revision>
  <dcterms:created xsi:type="dcterms:W3CDTF">1999-06-07T07:18:19Z</dcterms:created>
  <dcterms:modified xsi:type="dcterms:W3CDTF">2023-10-29T15:32:35Z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0DAC220DD94243668326A68421618F0F_13</vt:lpwstr>
  </property>
  <property fmtid="{D5CDD505-2E9C-101B-9397-08002B2CF9AE}" pid="3" name="KSOProductBuildVer">
    <vt:lpwstr>2052-12.1.0.15712</vt:lpwstr>
  </property>
</Properties>
</file>
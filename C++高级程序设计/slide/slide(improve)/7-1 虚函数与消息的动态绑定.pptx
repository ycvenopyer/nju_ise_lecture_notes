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573" r:id="rId3"/>
    <p:sldId id="606" r:id="rId4"/>
    <p:sldId id="730" r:id="rId5"/>
    <p:sldId id="733" r:id="rId6"/>
    <p:sldId id="608" r:id="rId7"/>
    <p:sldId id="609" r:id="rId8"/>
    <p:sldId id="610" r:id="rId9"/>
    <p:sldId id="726" r:id="rId10"/>
    <p:sldId id="611" r:id="rId11"/>
    <p:sldId id="731" r:id="rId12"/>
    <p:sldId id="634" r:id="rId13"/>
    <p:sldId id="612" r:id="rId14"/>
    <p:sldId id="727" r:id="rId15"/>
    <p:sldId id="676" r:id="rId16"/>
    <p:sldId id="694" r:id="rId17"/>
    <p:sldId id="728" r:id="rId18"/>
    <p:sldId id="729" r:id="rId19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00"/>
    <a:srgbClr val="FFFF66"/>
    <a:srgbClr val="99FF66"/>
    <a:srgbClr val="FF9966"/>
    <a:srgbClr val="00CC66"/>
    <a:srgbClr val="99CCFF"/>
    <a:srgbClr val="66FF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16"/>
    <p:restoredTop sz="94718"/>
  </p:normalViewPr>
  <p:slideViewPr>
    <p:cSldViewPr showGuides="1">
      <p:cViewPr varScale="1">
        <p:scale>
          <a:sx n="87" d="100"/>
          <a:sy n="87" d="100"/>
        </p:scale>
        <p:origin x="773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0DFC6F7-CF83-46E2-9835-323A0B81A2CC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1" name="Group 2"/>
          <p:cNvGrpSpPr/>
          <p:nvPr/>
        </p:nvGrpSpPr>
        <p:grpSpPr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45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60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68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5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6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7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8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0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9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4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948" y="845"/>
                </a:cxn>
                <a:cxn ang="0">
                  <a:pos x="948" y="821"/>
                </a:cxn>
                <a:cxn ang="0">
                  <a:pos x="788" y="605"/>
                </a:cxn>
                <a:cxn ang="0">
                  <a:pos x="513" y="396"/>
                </a:cxn>
                <a:cxn ang="0">
                  <a:pos x="328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316" y="198"/>
                </a:cxn>
                <a:cxn ang="0">
                  <a:pos x="507" y="408"/>
                </a:cxn>
                <a:cxn ang="0">
                  <a:pos x="782" y="623"/>
                </a:cxn>
                <a:cxn ang="0">
                  <a:pos x="948" y="845"/>
                </a:cxn>
                <a:cxn ang="0">
                  <a:pos x="948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514" y="414"/>
                </a:cxn>
                <a:cxn ang="0">
                  <a:pos x="514" y="396"/>
                </a:cxn>
                <a:cxn ang="0">
                  <a:pos x="329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323" y="204"/>
                </a:cxn>
                <a:cxn ang="0">
                  <a:pos x="514" y="414"/>
                </a:cxn>
                <a:cxn ang="0">
                  <a:pos x="514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7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833" y="0"/>
                </a:cxn>
                <a:cxn ang="0">
                  <a:pos x="806" y="0"/>
                </a:cxn>
                <a:cxn ang="0">
                  <a:pos x="588" y="132"/>
                </a:cxn>
                <a:cxn ang="0">
                  <a:pos x="364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64" y="282"/>
                </a:cxn>
                <a:cxn ang="0">
                  <a:pos x="600" y="138"/>
                </a:cxn>
                <a:cxn ang="0">
                  <a:pos x="833" y="0"/>
                </a:cxn>
                <a:cxn ang="0">
                  <a:pos x="833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376" y="0"/>
                </a:cxn>
                <a:cxn ang="0">
                  <a:pos x="358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376" y="0"/>
                </a:cxn>
                <a:cxn ang="0">
                  <a:pos x="376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0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1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72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075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6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7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8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9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73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4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00423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00424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1" name="Rectangle 41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" name="Rectangle 4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" name="Rectangle 4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0C5B742-03E7-42F8-A885-DA8622BB7D8C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4CB41B-AB80-4612-AA50-04CB2DA804DE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4CB41B-AB80-4612-AA50-04CB2DA804DE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4CB41B-AB80-4612-AA50-04CB2DA804DE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4CB41B-AB80-4612-AA50-04CB2DA804DE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4CB41B-AB80-4612-AA50-04CB2DA804DE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4CB41B-AB80-4612-AA50-04CB2DA804DE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4CB41B-AB80-4612-AA50-04CB2DA804DE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4CB41B-AB80-4612-AA50-04CB2DA804DE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4CB41B-AB80-4612-AA50-04CB2DA804DE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4CB41B-AB80-4612-AA50-04CB2DA804DE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4CB41B-AB80-4612-AA50-04CB2DA804DE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4CB41B-AB80-4612-AA50-04CB2DA804DE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bg1">
                <a:lumMod val="5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399363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364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365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35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399367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68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69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0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1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2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3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4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5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6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7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8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9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99380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381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382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948" y="845"/>
                </a:cxn>
                <a:cxn ang="0">
                  <a:pos x="948" y="821"/>
                </a:cxn>
                <a:cxn ang="0">
                  <a:pos x="788" y="605"/>
                </a:cxn>
                <a:cxn ang="0">
                  <a:pos x="513" y="396"/>
                </a:cxn>
                <a:cxn ang="0">
                  <a:pos x="328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316" y="198"/>
                </a:cxn>
                <a:cxn ang="0">
                  <a:pos x="507" y="408"/>
                </a:cxn>
                <a:cxn ang="0">
                  <a:pos x="782" y="623"/>
                </a:cxn>
                <a:cxn ang="0">
                  <a:pos x="948" y="845"/>
                </a:cxn>
                <a:cxn ang="0">
                  <a:pos x="948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514" y="414"/>
                </a:cxn>
                <a:cxn ang="0">
                  <a:pos x="514" y="396"/>
                </a:cxn>
                <a:cxn ang="0">
                  <a:pos x="329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323" y="204"/>
                </a:cxn>
                <a:cxn ang="0">
                  <a:pos x="514" y="414"/>
                </a:cxn>
                <a:cxn ang="0">
                  <a:pos x="514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9385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2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833" y="0"/>
                </a:cxn>
                <a:cxn ang="0">
                  <a:pos x="806" y="0"/>
                </a:cxn>
                <a:cxn ang="0">
                  <a:pos x="588" y="132"/>
                </a:cxn>
                <a:cxn ang="0">
                  <a:pos x="364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64" y="282"/>
                </a:cxn>
                <a:cxn ang="0">
                  <a:pos x="600" y="138"/>
                </a:cxn>
                <a:cxn ang="0">
                  <a:pos x="833" y="0"/>
                </a:cxn>
                <a:cxn ang="0">
                  <a:pos x="833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376" y="0"/>
                </a:cxn>
                <a:cxn ang="0">
                  <a:pos x="358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376" y="0"/>
                </a:cxn>
                <a:cxn ang="0">
                  <a:pos x="376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5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6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047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1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2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3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4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48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99399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1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399400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401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402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4CB41B-AB80-4612-AA50-04CB2DA804DE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403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2434" name="Rectangle 2"/>
          <p:cNvSpPr>
            <a:spLocks noGrp="1" noChangeArrowheads="1"/>
          </p:cNvSpPr>
          <p:nvPr>
            <p:ph type="ctrTitle" sz="quarter"/>
          </p:nvPr>
        </p:nvSpPr>
        <p:spPr/>
        <p:txBody>
          <a:bodyPr vert="horz" wrap="square" lIns="91440" tIns="45720" rIns="91440" bIns="45720" numCol="1" anchor="b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虚</a:t>
            </a: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函数与消息的动态绑定</a:t>
            </a:r>
            <a:endParaRPr kumimoji="0" lang="zh-CN" altLang="en-US" sz="5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subTitle" sz="quarter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zh-CN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4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消息</a:t>
            </a: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的多态性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64227" name="Rectangle 3"/>
          <p:cNvSpPr>
            <a:spLocks noGrp="1" noChangeArrowheads="1"/>
          </p:cNvSpPr>
          <p:nvPr>
            <p:ph idx="1"/>
          </p:nvPr>
        </p:nvSpPr>
        <p:spPr>
          <a:xfrm>
            <a:off x="466725" y="1557338"/>
            <a:ext cx="8281988" cy="4032250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消息的多态性体现为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相同的一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条消息可以发送到不同类的对象，从而会得到不同的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解释（处理）。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对于具有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public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继承关系的两个类：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一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条可以发送到基类对象的消息，也可以发送到派生类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对象。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如果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在基类和派生类中都给出了对这条消息的处理，那么这条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消息存在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特殊的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多态性。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消息的静态绑定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84275"/>
            <a:ext cx="8229600" cy="5557838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一般情况下，将在编译时刻根据对象的类型来决定采用哪一个消息处理函数，即采用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静态绑定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。例如：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A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public: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void 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};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B: public A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public: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void 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</a:t>
            </a:r>
            <a:endParaRPr kumimoji="0" lang="zh-CN" altLang="en-US" sz="2600" b="0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void g(); </a:t>
            </a:r>
            <a:endParaRPr kumimoji="0" lang="zh-CN" altLang="en-US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 </a:t>
            </a:r>
            <a:r>
              <a:rPr kumimoji="0" lang="en-US" altLang="zh-CN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 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a.f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//A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b.f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//B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b.A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::f(); //A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endParaRPr kumimoji="0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消息的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动态</a:t>
            </a: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绑定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21188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由于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类的指针或引用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可以指向或引用基类对象，也可以指向或引用派生类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对象。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通过基类的指针或引用向它指向或引用的对象发送消息时，调用哪一个消息处理函数：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基类的？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派生类的？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627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60350"/>
            <a:ext cx="8229600" cy="64087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func1(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A&amp;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x)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x.f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A::f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还是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B::f 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？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func2(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 *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p)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p-&gt;f();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A::f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还是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B::f 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？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func1(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func2(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&amp;a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func1(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func2(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&amp;b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13376" name="Text Box 0"/>
          <p:cNvSpPr txBox="1">
            <a:spLocks noChangeArrowheads="1"/>
          </p:cNvSpPr>
          <p:nvPr/>
        </p:nvSpPr>
        <p:spPr bwMode="auto">
          <a:xfrm>
            <a:off x="1979613" y="1341438"/>
            <a:ext cx="2252663" cy="457200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GB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答案是：</a:t>
            </a:r>
            <a:r>
              <a:rPr kumimoji="0" lang="en-GB" altLang="zh-CN" sz="2400" kern="1200" cap="none" spc="0" normalizeH="0" baseline="0" noProof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A::f</a:t>
            </a:r>
            <a:endParaRPr kumimoji="0" lang="en-US" altLang="zh-CN" sz="2400" kern="1200" cap="none" spc="0" normalizeH="0" baseline="0" noProof="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3377" name="Text Box 1"/>
          <p:cNvSpPr txBox="1">
            <a:spLocks noChangeArrowheads="1"/>
          </p:cNvSpPr>
          <p:nvPr/>
        </p:nvSpPr>
        <p:spPr bwMode="auto">
          <a:xfrm>
            <a:off x="2268538" y="3187700"/>
            <a:ext cx="1995488" cy="457200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GB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答案是：</a:t>
            </a:r>
            <a:r>
              <a:rPr kumimoji="0" lang="en-GB" altLang="zh-CN" sz="2400" kern="1200" cap="none" spc="0" normalizeH="0" baseline="0" noProof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A::f</a:t>
            </a:r>
            <a:endParaRPr kumimoji="0" lang="en-US" altLang="zh-CN" sz="2400" kern="1200" cap="none" spc="0" normalizeH="0" baseline="0" noProof="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653088" y="260350"/>
            <a:ext cx="3455988" cy="381635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A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x,y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public: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void 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B: public A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z;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public: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	void 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</a:t>
            </a:r>
            <a:endParaRPr kumimoji="0" lang="zh-CN" altLang="en-US" sz="22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	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g();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Text Box 1"/>
          <p:cNvSpPr txBox="1">
            <a:spLocks noChangeArrowheads="1"/>
          </p:cNvSpPr>
          <p:nvPr/>
        </p:nvSpPr>
        <p:spPr bwMode="auto">
          <a:xfrm>
            <a:off x="5435600" y="4910138"/>
            <a:ext cx="3673475" cy="461963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C++</a:t>
            </a:r>
            <a:r>
              <a:rPr kumimoji="0" lang="zh-CN" altLang="en-US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默认的是静态绑定！</a:t>
            </a:r>
            <a:endParaRPr kumimoji="0" lang="en-US" altLang="zh-CN" sz="2400" kern="1200" cap="none" spc="0" normalizeH="0" baseline="0" noProof="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3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3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3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3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3376" grpId="0" animBg="1"/>
      <p:bldP spid="613377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7299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549275"/>
            <a:ext cx="8686800" cy="5832475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5207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一般情况下，需要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在运行时刻，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根据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func1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（或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func2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）中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（或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）实际引用（或指向）的对象来决定是调用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A::f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还是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B::f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，即采用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动态绑定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07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C++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，在基类中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用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虚函数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来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指出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动态绑定。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5207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A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207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	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x,y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207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public: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207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virtual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void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(); //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虚函数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207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207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B: public A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207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	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z;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207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public: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207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		void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(); 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207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		void g();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207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83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463"/>
            <a:ext cx="8229600" cy="6669088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func1(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A&amp;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x)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x.f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A::f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B::f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func2(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 *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p)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p-&gt;f();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A::f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B::f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func1(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func1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中调用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A::f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func2(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&amp;a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func2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中调用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A::f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func1(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func1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中调用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B::f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func2(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&amp;b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func2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中调用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B::f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653088" y="260350"/>
            <a:ext cx="3455988" cy="381635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A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x,y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public: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virtual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void 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B: public A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z;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public: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	void 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</a:t>
            </a:r>
            <a:endParaRPr kumimoji="0" lang="zh-CN" altLang="en-US" sz="22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	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g();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虚函数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虚函数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是指加了关键词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virtual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的成员函数。其格式为：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virtual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&lt;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成员函数声明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虚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函数有两个作用：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指定消息采用动态绑定。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指出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基类中可以被派生类重定义的成员函数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934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412875"/>
            <a:ext cx="8435975" cy="5184775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对于基类中的一个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虚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，在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派生类中定义的、与之具有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相同型构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的成员函数是对基类该成员函数的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重定义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（或称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覆盖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override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）。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相同的型构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是指：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派生类中定义的成员函数的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名字、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参数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个数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类型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与基类相应成员函数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相同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；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其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返回值类型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与基类成员函数返回值类型或者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相同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，或者是基类成员函数返回值类型的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public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派生类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消息的动态绑定将绑定到派生类中与基类同型构的成员函数！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在派生类中重定义基类的成员函数</a:t>
            </a:r>
            <a:endParaRPr kumimoji="0" lang="zh-CN" altLang="en-US" sz="40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65175"/>
            <a:ext cx="8229600" cy="5365750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A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x,y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public: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virtual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void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B: public A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z;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public: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	void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的重定义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	void f(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新定义的成员函数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	void g();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2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对虚函数几点说明</a:t>
            </a:r>
            <a:endParaRPr kumimoji="0" lang="zh-CN" altLang="zh-CN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939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5068888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只有类的成员函数才可以是虚函数，但静态成员函数不能是虚函数。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构造函数不能是虚函数，析构函数可以（往往）是虚函数。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只要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在基类中说明了虚函数，在派生类、派生类的派生类、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中，同型构的成员函数都是虚函数（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virtual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可以不写）。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只有通过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基类的指针或引用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访问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基类的虚函数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时才进行动态绑定。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类的构造函数和析构函数中对虚函数的调用不进行动态绑定。（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为什么？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0371" name="Rectangle 3"/>
          <p:cNvSpPr>
            <a:spLocks noGrp="1" noChangeArrowheads="1"/>
          </p:cNvSpPr>
          <p:nvPr>
            <p:ph idx="1"/>
          </p:nvPr>
        </p:nvSpPr>
        <p:spPr>
          <a:xfrm>
            <a:off x="96838" y="1268413"/>
            <a:ext cx="3611563" cy="5256213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A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 ......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public: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A() {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~A() {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virtual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void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void g();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void h() {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g(); 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B: public A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 .......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public: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B()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~B();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void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void g();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94944" name="Rectangle 0"/>
          <p:cNvSpPr>
            <a:spLocks noGrp="1" noChangeArrowheads="1"/>
          </p:cNvSpPr>
          <p:nvPr>
            <p:ph type="title"/>
          </p:nvPr>
        </p:nvSpPr>
        <p:spPr>
          <a:xfrm>
            <a:off x="457200" y="111125"/>
            <a:ext cx="8229600" cy="941388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消息动态绑定的各种情况</a:t>
            </a:r>
            <a:endParaRPr kumimoji="0" lang="zh-CN" altLang="en-US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636963" y="1196975"/>
            <a:ext cx="5410200" cy="5400675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>
            <a:noFill/>
            <a:miter lim="800000"/>
          </a:ln>
          <a:effectLst/>
        </p:spPr>
        <p:txBody>
          <a:bodyPr>
            <a:normAutofit fontScale="850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A::A()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A::f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a.f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A::f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a.g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A::g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a.h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A::h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A::f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A::g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//a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消亡时会调用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::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~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A()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A::f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B::B()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A::A()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800" b="0" i="0" u="sng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A::f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b.f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B::f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b.g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B::g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b.h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A::h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B::f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A::g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//b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消亡时会调用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B::~B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::~A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800" b="0" i="0" u="sng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A::f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0371" name="Rectangle 3"/>
          <p:cNvSpPr>
            <a:spLocks noGrp="1" noChangeArrowheads="1"/>
          </p:cNvSpPr>
          <p:nvPr>
            <p:ph idx="1"/>
          </p:nvPr>
        </p:nvSpPr>
        <p:spPr>
          <a:xfrm>
            <a:off x="96838" y="1268413"/>
            <a:ext cx="3611563" cy="5256213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A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 ......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public: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A() {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f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~A()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{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virtual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void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void g();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void h() {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g(); 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B: public A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 .......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public: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B();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~B();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void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void g();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492500" y="188913"/>
            <a:ext cx="5651500" cy="6553200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>
            <a:noFill/>
            <a:miter lim="800000"/>
          </a:ln>
          <a:effectLst/>
        </p:spPr>
        <p:txBody>
          <a:bodyPr>
            <a:normAutofit fontScale="70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 *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 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//p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）指针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 =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&amp;a;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//p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指向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对象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p-&gt;f(); 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A::f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p-&gt;g(); 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A::g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p-&gt;h(); 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A::h,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A::f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A::g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 =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&amp;b;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//p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指向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对象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p-&gt;f(); 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B::f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p-&gt;A::f();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A::f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，类名受限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采用静态绑定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p-&gt;g();  //</a:t>
            </a:r>
            <a:r>
              <a:rPr kumimoji="0" lang="zh-CN" altLang="en-US" sz="2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en-US" altLang="zh-CN" sz="2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A::g</a:t>
            </a:r>
            <a:r>
              <a:rPr kumimoji="0" lang="zh-CN" altLang="en-US" sz="2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，非虚函数采用静态绑定</a:t>
            </a:r>
            <a:endParaRPr kumimoji="0" lang="zh-CN" altLang="en-US" sz="29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p-&gt;h(); 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A::h,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B::f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A::g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 =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new B;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B::B(), A::A()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800" b="0" i="0" u="sng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A::f</a:t>
            </a:r>
            <a:endParaRPr kumimoji="0" lang="en-US" altLang="zh-CN" sz="2800" b="0" i="0" u="sng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.......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delete p;  //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只调用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A::~A()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800" b="0" i="0" u="sng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A::f 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 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没调用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B:~B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为什么？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     </a:t>
            </a:r>
            <a:r>
              <a:rPr kumimoji="0" lang="en-US" altLang="zh-CN" sz="2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没有把</a:t>
            </a:r>
            <a:r>
              <a:rPr kumimoji="0" lang="en-US" altLang="zh-CN" sz="2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的析构函数定义为虚函数！</a:t>
            </a:r>
            <a:endParaRPr kumimoji="0" lang="zh-CN" altLang="en-US" sz="29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338" end="3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charRg st="338" end="37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charRg st="338" end="37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44450"/>
            <a:ext cx="91440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通过基类指针访问派生类中新定义的成员</a:t>
            </a:r>
            <a:endParaRPr kumimoji="0" lang="zh-CN" altLang="en-US" sz="3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1438"/>
            <a:ext cx="8291513" cy="5327650"/>
          </a:xfrm>
        </p:spPr>
        <p:txBody>
          <a:bodyPr vert="horz" wrap="square" lIns="91440" tIns="45720" rIns="91440" bIns="45720" numCol="1" anchor="t" anchorCtr="0" compatLnSpc="1">
            <a:normAutofit fontScale="625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A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.......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public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virtual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f();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B: public A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......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public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f(); 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g(); 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 *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=new B;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-&gt;f(); //OK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-&gt;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//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Error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((B *)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)-&gt;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//OK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不安全！万一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指向的不是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类对象呢？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43375" y="2997200"/>
            <a:ext cx="4633913" cy="255428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>
            <a:spAutoFit/>
          </a:bodyPr>
          <a:lstStyle/>
          <a:p>
            <a:pPr marL="342900" marR="0" indent="-342900" defTabSz="914400" eaLnBrk="1" hangingPunct="1"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安全做法</a:t>
            </a:r>
            <a:endParaRPr kumimoji="0" lang="en-US" altLang="zh-CN" sz="20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 </a:t>
            </a:r>
            <a:r>
              <a:rPr kumimoji="0" lang="zh-CN" altLang="en-US" sz="20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2000" kern="1200" cap="none" spc="0" normalizeH="0" baseline="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0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......</a:t>
            </a:r>
            <a:endParaRPr kumimoji="0" lang="en-US" altLang="zh-CN" sz="20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B *q=</a:t>
            </a:r>
            <a:r>
              <a:rPr kumimoji="0" lang="en-US" altLang="zh-CN" sz="2000" kern="1200" cap="none" spc="0" normalizeH="0" baseline="0" noProof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dynamic_cast</a:t>
            </a:r>
            <a:r>
              <a: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&lt;B *&gt;(</a:t>
            </a:r>
            <a:r>
              <a:rPr kumimoji="0" lang="en-US" altLang="zh-CN" sz="2000" kern="1200" cap="none" spc="0" normalizeH="0" baseline="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20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if (q != NULL) q-&gt;g();</a:t>
            </a:r>
            <a:endParaRPr kumimoji="0" lang="en-US" altLang="zh-CN" sz="20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1" hangingPunct="1"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如果</a:t>
            </a:r>
            <a:r>
              <a: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zh-CN" altLang="en-US" sz="20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指向的不是</a:t>
            </a:r>
            <a:r>
              <a: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zh-CN" altLang="en-US" sz="20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类对象，</a:t>
            </a:r>
            <a:r>
              <a: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zh-CN" altLang="en-US" sz="20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为空</a:t>
            </a:r>
            <a:endParaRPr kumimoji="0" lang="en-US" altLang="zh-CN" sz="20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1" hangingPunct="1"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该操作需要</a:t>
            </a:r>
            <a:r>
              <a:rPr kumimoji="0" lang="zh-CN" altLang="zh-CN" sz="2000" kern="1200" cap="none" spc="0" normalizeH="0" baseline="0" noProof="0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运行时刻的类型信息支持</a:t>
            </a:r>
            <a:endParaRPr kumimoji="0" lang="en-US" altLang="zh-CN" sz="2000" kern="1200" cap="none" spc="0" normalizeH="0" baseline="0" noProof="0" dirty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1" hangingPunct="1"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（有编译选项：</a:t>
            </a:r>
            <a:r>
              <a:rPr kumimoji="0" lang="en-US" altLang="zh-CN" sz="2000" kern="1200" cap="none" spc="0" normalizeH="0" baseline="0" noProof="0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RTTI</a:t>
            </a:r>
            <a:r>
              <a:rPr kumimoji="0" lang="zh-CN" altLang="en-US" sz="20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0" lang="en-US" altLang="zh-CN" sz="20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何时需要定义虚函数？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550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基类中哪些成员函数需要设计成虚函数？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在设计基类时，有时虽然给出了某些成员函数的实现，但实现的方法可能不是最好，今后可能还会有更好的实现方法。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在基类中根本无法给出某些成员函数的实现，它们必须由不同的派生类根据实际情况给出具体的实现。（抽象类与纯虚函数）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9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charRg st="19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charRg st="19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72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charRg st="72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charRg st="72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sz="quarter"/>
          </p:nvPr>
        </p:nvSpPr>
        <p:spPr/>
        <p:txBody>
          <a:bodyPr vert="horz" wrap="square" lIns="91440" tIns="45720" rIns="91440" bIns="45720" numCol="1" anchor="b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虚函数动态绑定的实现</a:t>
            </a:r>
            <a:endParaRPr kumimoji="0" lang="zh-CN" altLang="en-US" sz="5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sz="quarter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3375"/>
            <a:ext cx="8229600" cy="6524625"/>
          </a:xfrm>
        </p:spPr>
        <p:txBody>
          <a:bodyPr vert="horz" wrap="square" lIns="91440" tIns="45720" rIns="91440" bIns="45720" numCol="1" anchor="t" anchorCtr="0" compatLnSpc="1"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A</a:t>
            </a:r>
            <a:endParaRPr kumimoji="0" lang="zh-CN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x,y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zh-CN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public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zh-CN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virtual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f();</a:t>
            </a:r>
            <a:endParaRPr kumimoji="0" lang="zh-CN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virtual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g();</a:t>
            </a:r>
            <a:endParaRPr kumimoji="0" lang="zh-CN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h();</a:t>
            </a:r>
            <a:endParaRPr kumimoji="0" lang="zh-CN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zh-CN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B: public A</a:t>
            </a:r>
            <a:endParaRPr kumimoji="0" lang="zh-CN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z;</a:t>
            </a:r>
            <a:endParaRPr kumimoji="0" lang="zh-CN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public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zh-CN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f();</a:t>
            </a:r>
            <a:endParaRPr kumimoji="0" lang="zh-CN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h();</a:t>
            </a:r>
            <a:endParaRPr kumimoji="0" lang="zh-CN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f(A *p)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可以接收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类对象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p-&gt;h();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编译成：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A::h(p);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p-&gt;f(); 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如何编译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？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p-&gt;g(); //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如何编译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？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9325" y="1301750"/>
            <a:ext cx="1304925" cy="1171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7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850" y="3049588"/>
            <a:ext cx="1295400" cy="1190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8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475" y="1228725"/>
            <a:ext cx="1857375" cy="1695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9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325" y="3059113"/>
            <a:ext cx="1914525" cy="1809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0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1475" y="581025"/>
            <a:ext cx="790575" cy="571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2306638" y="5673725"/>
            <a:ext cx="4319587" cy="7080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/>
              <a:t>编译成：</a:t>
            </a:r>
            <a:r>
              <a:rPr lang="en-US" altLang="zh-CN" sz="2000" dirty="0"/>
              <a:t>(*(*(VtblPtr*)p))(p);</a:t>
            </a:r>
            <a:endParaRPr lang="en-US" altLang="zh-CN" sz="200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/>
              <a:t>编译成：</a:t>
            </a:r>
            <a:r>
              <a:rPr lang="nl-NL" altLang="zh-CN" sz="2000" dirty="0"/>
              <a:t>(*(*(VtblPtr*)p+1))(p);</a:t>
            </a:r>
            <a:endParaRPr lang="zh-CN" alt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4618038" y="44450"/>
            <a:ext cx="4373563" cy="40005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typedef void (*FuncPtr)(void *);</a:t>
            </a:r>
            <a:endParaRPr kumimoji="0" lang="en-US" altLang="zh-CN" sz="2000" kern="1200" cap="none" spc="0" normalizeH="0" baseline="0" noProof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35600" y="5084763"/>
            <a:ext cx="3540125" cy="4000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typedef FuncPtr *VtblPtr; </a:t>
            </a:r>
            <a:endParaRPr lang="zh-CN" altLang="en-US" sz="2000" dirty="0"/>
          </a:p>
        </p:txBody>
      </p:sp>
      <p:cxnSp>
        <p:nvCxnSpPr>
          <p:cNvPr id="7" name="直接箭头连接符 6"/>
          <p:cNvCxnSpPr/>
          <p:nvPr/>
        </p:nvCxnSpPr>
        <p:spPr>
          <a:xfrm>
            <a:off x="6948488" y="444500"/>
            <a:ext cx="576263" cy="1328738"/>
          </a:xfrm>
          <a:prstGeom prst="straightConnector1">
            <a:avLst/>
          </a:prstGeom>
          <a:ln>
            <a:solidFill>
              <a:srgbClr val="00CC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 flipV="1">
            <a:off x="6380163" y="3644900"/>
            <a:ext cx="1792288" cy="1584325"/>
          </a:xfrm>
          <a:prstGeom prst="straightConnector1">
            <a:avLst/>
          </a:prstGeom>
          <a:ln>
            <a:solidFill>
              <a:srgbClr val="00CC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08400" y="2524125"/>
            <a:ext cx="344488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p</a:t>
            </a:r>
            <a:endParaRPr lang="zh-CN" altLang="en-US" sz="2000" dirty="0"/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4268788" y="1700213"/>
            <a:ext cx="1743075" cy="1065213"/>
          </a:xfrm>
          <a:prstGeom prst="straightConnector1">
            <a:avLst/>
          </a:prstGeom>
          <a:ln w="1905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4268788" y="2765425"/>
            <a:ext cx="1743075" cy="735013"/>
          </a:xfrm>
          <a:prstGeom prst="straightConnector1">
            <a:avLst/>
          </a:prstGeom>
          <a:ln w="1905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4067175" y="2636838"/>
            <a:ext cx="620713" cy="234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26" name="直接箭头连接符 25"/>
          <p:cNvCxnSpPr/>
          <p:nvPr/>
        </p:nvCxnSpPr>
        <p:spPr>
          <a:xfrm flipH="1" flipV="1">
            <a:off x="6351588" y="1887538"/>
            <a:ext cx="1820863" cy="3341688"/>
          </a:xfrm>
          <a:prstGeom prst="straightConnector1">
            <a:avLst/>
          </a:prstGeom>
          <a:ln>
            <a:solidFill>
              <a:srgbClr val="00CC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6948488" y="444500"/>
            <a:ext cx="576263" cy="3113088"/>
          </a:xfrm>
          <a:prstGeom prst="straightConnector1">
            <a:avLst/>
          </a:prstGeom>
          <a:ln>
            <a:solidFill>
              <a:srgbClr val="00CC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08850" y="765175"/>
            <a:ext cx="1108075" cy="368300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solidFill>
                  <a:schemeClr val="accent4">
                    <a:lumMod val="10000"/>
                  </a:schemeClr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虚函数表</a:t>
            </a:r>
            <a:endParaRPr kumimoji="0" lang="zh-CN" altLang="en-US" kern="1200" cap="none" spc="0" normalizeH="0" baseline="0" noProof="0" dirty="0">
              <a:solidFill>
                <a:schemeClr val="accent4">
                  <a:lumMod val="10000"/>
                </a:schemeClr>
              </a:solidFill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TextBox 9"/>
          <p:cNvSpPr txBox="1"/>
          <p:nvPr/>
        </p:nvSpPr>
        <p:spPr>
          <a:xfrm>
            <a:off x="4067175" y="1989138"/>
            <a:ext cx="849313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f(&amp;</a:t>
            </a:r>
            <a:r>
              <a:rPr lang="en-US" altLang="zh-CN" sz="2000" dirty="0">
                <a:solidFill>
                  <a:srgbClr val="FFC000"/>
                </a:solidFill>
              </a:rPr>
              <a:t>a</a:t>
            </a:r>
            <a:r>
              <a:rPr lang="en-US" altLang="zh-CN" sz="2000" dirty="0"/>
              <a:t>)</a:t>
            </a:r>
            <a:endParaRPr lang="zh-CN" altLang="en-US" sz="2000" dirty="0"/>
          </a:p>
        </p:txBody>
      </p:sp>
      <p:sp>
        <p:nvSpPr>
          <p:cNvPr id="21" name="TextBox 9"/>
          <p:cNvSpPr txBox="1"/>
          <p:nvPr/>
        </p:nvSpPr>
        <p:spPr>
          <a:xfrm>
            <a:off x="4067175" y="3068638"/>
            <a:ext cx="855663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f(&amp;</a:t>
            </a:r>
            <a:r>
              <a:rPr lang="en-US" altLang="zh-CN" sz="2000" dirty="0">
                <a:solidFill>
                  <a:srgbClr val="FFC000"/>
                </a:solidFill>
              </a:rPr>
              <a:t>b</a:t>
            </a:r>
            <a:r>
              <a:rPr lang="en-US" altLang="zh-CN" sz="2000" dirty="0"/>
              <a:t>)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10" grpId="0"/>
      <p:bldP spid="18" grpId="0" animBg="1"/>
      <p:bldP spid="6" grpId="0" animBg="1"/>
      <p:bldP spid="20" grpId="0"/>
      <p:bldP spid="21" grpId="0"/>
    </p:bldLst>
  </p:timing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66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2075" tIns="46038" rIns="92075" bIns="46038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2075" tIns="46038" rIns="92075" bIns="46038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66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0</TotalTime>
  <Words>3647</Words>
  <Application>WPS 演示</Application>
  <PresentationFormat>全屏显示(4:3)</PresentationFormat>
  <Paragraphs>295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Verdana</vt:lpstr>
      <vt:lpstr>Times New Roman</vt:lpstr>
      <vt:lpstr>微软雅黑</vt:lpstr>
      <vt:lpstr>Arial Unicode MS</vt:lpstr>
      <vt:lpstr>Globe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Chapter12   Derived Classes</dc:title>
  <dc:creator>chenjj</dc:creator>
  <cp:lastModifiedBy>Ethereal_YC</cp:lastModifiedBy>
  <cp:revision>804</cp:revision>
  <dcterms:created xsi:type="dcterms:W3CDTF">1999-06-07T07:18:19Z</dcterms:created>
  <dcterms:modified xsi:type="dcterms:W3CDTF">2023-10-29T15:32:11Z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0B190967F6B24C8A81DA40FB73B590FB_13</vt:lpwstr>
  </property>
  <property fmtid="{D5CDD505-2E9C-101B-9397-08002B2CF9AE}" pid="3" name="KSOProductBuildVer">
    <vt:lpwstr>2052-12.1.0.15712</vt:lpwstr>
  </property>
</Properties>
</file>
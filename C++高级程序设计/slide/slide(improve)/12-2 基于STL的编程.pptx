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82" r:id="rId3"/>
    <p:sldId id="281" r:id="rId4"/>
    <p:sldId id="335" r:id="rId5"/>
    <p:sldId id="287" r:id="rId6"/>
    <p:sldId id="288" r:id="rId7"/>
    <p:sldId id="290" r:id="rId8"/>
    <p:sldId id="307" r:id="rId9"/>
    <p:sldId id="308" r:id="rId10"/>
    <p:sldId id="309" r:id="rId11"/>
    <p:sldId id="310" r:id="rId12"/>
    <p:sldId id="291" r:id="rId13"/>
    <p:sldId id="311" r:id="rId14"/>
    <p:sldId id="315" r:id="rId15"/>
    <p:sldId id="342" r:id="rId16"/>
    <p:sldId id="343" r:id="rId17"/>
    <p:sldId id="348" r:id="rId18"/>
    <p:sldId id="349" r:id="rId19"/>
    <p:sldId id="300" r:id="rId20"/>
    <p:sldId id="301" r:id="rId21"/>
    <p:sldId id="292" r:id="rId22"/>
    <p:sldId id="299" r:id="rId23"/>
    <p:sldId id="293" r:id="rId24"/>
    <p:sldId id="297" r:id="rId25"/>
    <p:sldId id="344" r:id="rId26"/>
    <p:sldId id="316" r:id="rId27"/>
    <p:sldId id="317" r:id="rId28"/>
    <p:sldId id="294" r:id="rId29"/>
    <p:sldId id="341" r:id="rId30"/>
    <p:sldId id="295" r:id="rId31"/>
    <p:sldId id="318" r:id="rId32"/>
    <p:sldId id="338" r:id="rId33"/>
    <p:sldId id="351" r:id="rId34"/>
    <p:sldId id="345" r:id="rId35"/>
    <p:sldId id="350" r:id="rId36"/>
    <p:sldId id="296" r:id="rId37"/>
    <p:sldId id="330" r:id="rId38"/>
    <p:sldId id="327" r:id="rId39"/>
    <p:sldId id="328" r:id="rId40"/>
    <p:sldId id="346" r:id="rId41"/>
    <p:sldId id="303" r:id="rId42"/>
    <p:sldId id="333" r:id="rId43"/>
    <p:sldId id="304" r:id="rId44"/>
    <p:sldId id="305" r:id="rId45"/>
    <p:sldId id="332" r:id="rId46"/>
    <p:sldId id="306" r:id="rId47"/>
    <p:sldId id="325" r:id="rId4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25"/>
    <p:restoredTop sz="94708"/>
  </p:normalViewPr>
  <p:slideViewPr>
    <p:cSldViewPr showGuides="1">
      <p:cViewPr varScale="1">
        <p:scale>
          <a:sx n="87" d="100"/>
          <a:sy n="87" d="100"/>
        </p:scale>
        <p:origin x="79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notesMaster" Target="notesMasters/notesMaster1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6D8F87-F6FA-418C-A306-E2E919BD219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9CCFBB-572F-44BD-8A04-C574E7D0E1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14" y="845"/>
                </a:cxn>
                <a:cxn ang="0">
                  <a:pos x="1014" y="821"/>
                </a:cxn>
                <a:cxn ang="0">
                  <a:pos x="832" y="605"/>
                </a:cxn>
                <a:cxn ang="0">
                  <a:pos x="535" y="396"/>
                </a:cxn>
                <a:cxn ang="0">
                  <a:pos x="350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38" y="198"/>
                </a:cxn>
                <a:cxn ang="0">
                  <a:pos x="529" y="408"/>
                </a:cxn>
                <a:cxn ang="0">
                  <a:pos x="826" y="623"/>
                </a:cxn>
                <a:cxn ang="0">
                  <a:pos x="1014" y="845"/>
                </a:cxn>
                <a:cxn ang="0">
                  <a:pos x="1014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36" y="414"/>
                </a:cxn>
                <a:cxn ang="0">
                  <a:pos x="536" y="396"/>
                </a:cxn>
                <a:cxn ang="0">
                  <a:pos x="351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45" y="204"/>
                </a:cxn>
                <a:cxn ang="0">
                  <a:pos x="536" y="414"/>
                </a:cxn>
                <a:cxn ang="0">
                  <a:pos x="536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99" y="0"/>
                </a:cxn>
                <a:cxn ang="0">
                  <a:pos x="872" y="0"/>
                </a:cxn>
                <a:cxn ang="0">
                  <a:pos x="632" y="132"/>
                </a:cxn>
                <a:cxn ang="0">
                  <a:pos x="386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86" y="282"/>
                </a:cxn>
                <a:cxn ang="0">
                  <a:pos x="644" y="138"/>
                </a:cxn>
                <a:cxn ang="0">
                  <a:pos x="899" y="0"/>
                </a:cxn>
                <a:cxn ang="0">
                  <a:pos x="899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98" y="0"/>
                </a:cxn>
                <a:cxn ang="0">
                  <a:pos x="380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98" y="0"/>
                </a:cxn>
                <a:cxn ang="0">
                  <a:pos x="398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5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6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BEB0F-8902-47B1-9AEA-083F84C3982D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4099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0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1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4103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4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5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6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7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8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9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0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1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2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3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4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5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116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17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18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14" y="845"/>
                </a:cxn>
                <a:cxn ang="0">
                  <a:pos x="1014" y="821"/>
                </a:cxn>
                <a:cxn ang="0">
                  <a:pos x="832" y="605"/>
                </a:cxn>
                <a:cxn ang="0">
                  <a:pos x="535" y="396"/>
                </a:cxn>
                <a:cxn ang="0">
                  <a:pos x="350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38" y="198"/>
                </a:cxn>
                <a:cxn ang="0">
                  <a:pos x="529" y="408"/>
                </a:cxn>
                <a:cxn ang="0">
                  <a:pos x="826" y="623"/>
                </a:cxn>
                <a:cxn ang="0">
                  <a:pos x="1014" y="845"/>
                </a:cxn>
                <a:cxn ang="0">
                  <a:pos x="1014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36" y="414"/>
                </a:cxn>
                <a:cxn ang="0">
                  <a:pos x="536" y="396"/>
                </a:cxn>
                <a:cxn ang="0">
                  <a:pos x="351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45" y="204"/>
                </a:cxn>
                <a:cxn ang="0">
                  <a:pos x="536" y="414"/>
                </a:cxn>
                <a:cxn ang="0">
                  <a:pos x="536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21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99" y="0"/>
                </a:cxn>
                <a:cxn ang="0">
                  <a:pos x="872" y="0"/>
                </a:cxn>
                <a:cxn ang="0">
                  <a:pos x="632" y="132"/>
                </a:cxn>
                <a:cxn ang="0">
                  <a:pos x="386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86" y="282"/>
                </a:cxn>
                <a:cxn ang="0">
                  <a:pos x="644" y="138"/>
                </a:cxn>
                <a:cxn ang="0">
                  <a:pos x="899" y="0"/>
                </a:cxn>
                <a:cxn ang="0">
                  <a:pos x="899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98" y="0"/>
                </a:cxn>
                <a:cxn ang="0">
                  <a:pos x="380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98" y="0"/>
                </a:cxn>
                <a:cxn ang="0">
                  <a:pos x="398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35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4136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7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8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94E44D-2901-47B2-AA82-3E470F9619EF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12775" y="1692275"/>
            <a:ext cx="8062913" cy="1736725"/>
          </a:xfrm>
        </p:spPr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泛型（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类属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）程序设计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基于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的编程</a:t>
            </a: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5588"/>
            <a:ext cx="8229600" cy="11572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什么是</a:t>
            </a:r>
            <a:r>
              <a:rPr kumimoji="0" lang="en-GB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STL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？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627188"/>
            <a:ext cx="8459788" cy="4970463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57505" marR="0" lvl="0" indent="-35750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除了从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标准库保留下来的一些功能外，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还提供了一个基于模板实现的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标准模板库（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Standard Template Library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，简称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57555" marR="0" lvl="1" indent="-35750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实现了一些面向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序列数据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表示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及常用的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57555" marR="0" lvl="1" indent="-35750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支持了一种抽象的编程模式，该模式隐藏了一些低级的程序元素，如数组、链表、循环等。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57505" marR="0" lvl="0" indent="-35750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多人参与设计，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设计者更看重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的基于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的编程！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412875"/>
            <a:ext cx="8642350" cy="5329238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428625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容器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14375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用于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存储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序列化的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元素，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向量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队列、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栈等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28625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14375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中的数据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一些常用的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查找、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排序、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统计、求和等一系列算术运算。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28625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迭代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器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14375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了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抽象的指针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功能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它们指向容器中的数据元素，用于对容器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的数据元素进行遍历和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访问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14375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容器和算法之间的桥梁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传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给算法的不是容器，而是指向容器中元素的迭代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器，这样使得算法与容器保持独立，从而提高算法的通用性。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572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STL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包含什么？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713788" cy="540067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从键盘输入一批正整数，然后对它们求最大数、求和、排序、输出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iostream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&lt;vector&gt;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&lt;algorithm&gt;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&lt;numeric&gt;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using namespace 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vector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v;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容器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，元素类型为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&gt;&gt; x;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while (x &gt; 0)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生成容器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中的元素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push_back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(x);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往容器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增加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一个元素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&gt;&gt; x;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3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7921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基于</a:t>
            </a:r>
            <a:r>
              <a:rPr kumimoji="0" lang="en-GB" altLang="zh-CN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STL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编程的例子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333375"/>
            <a:ext cx="8435975" cy="6335713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利用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max_element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并输出容器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中的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最大元素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"Max = " &lt;&lt; *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max_element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v.begin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v.end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&lt;&lt; 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利用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accumulate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计算并输出容器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所有元素的和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"Sum = " &lt;&lt;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accumulate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v.begin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v.end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(),0)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&lt;&lt;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利用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对容器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中的元素进行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排序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v.begin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v.end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利用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for_each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输出排序结果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"Sorted result is:\n";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for_each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v.begin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v.end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[](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x) {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' ' &lt;&lt; x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;}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'\n';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 0;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来实现上述程序的功能不需要涉及一些低级的程序元素，如数组、链表、循环，使得程序设计变得更抽象、便捷和可靠！</a:t>
            </a:r>
            <a:endParaRPr kumimoji="0" lang="en-GB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charRg st="395" end="4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charRg st="395" end="4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charRg st="395" end="4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容器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7538"/>
            <a:ext cx="8229600" cy="4133850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容器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同类型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元素构成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的、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长度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可变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元素序列。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容器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是用类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模板来实现的，模板的参数是容器中元素的类型。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中包含了很多种容器，虽然这些容器提供了一些相同的操作，但由于它们采用了不同的内部实现方法，因此，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不同的容器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往往适合于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不同的应用场合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STL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的主要容器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532765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vector&lt;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用于需要快速定位（访问）任意位置上的元素以及主要在元素序列的尾部增加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删除元素的场合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头文件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vector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中定义，用动态数组实现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list&lt;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用于经常在元素序列中任意位置上插入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删除元素的场合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头文件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list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中定义，用双向链表实现。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deque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用于主要在元素序列的两端增加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删除元素以及需要快速定位（访问）任意位置上的元素的场合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头文件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deque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中定义，用分段的连续空间结构实现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66713"/>
            <a:ext cx="8229600" cy="6230938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stack&lt;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用于仅在元素序列的尾部增加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删除元素的场合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头文件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中定义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，基于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deque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list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vector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queue&lt;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用于仅在元素序列的尾部增加、头部删除元素的场合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头文件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queue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中定义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，基于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deque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list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priority_queue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queue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的操作类似，不同之处在于：每次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增加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删除元素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之后，它将对元素位置进行调整，使得头部元素总是最大的。也就是说，每次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删除操作总是把最大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（优先级最高）的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元素去掉。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头文件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queue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中定义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，基于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deque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vector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上面三类容器是作为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适配器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提供的，方便使用。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5175"/>
            <a:ext cx="8229600" cy="5759450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map&lt;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关键字类型，值类型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195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multimap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关键字类型，值类型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用于需要根据关键字来访问元素的场合。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中每个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元素属于一个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pair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结构类型，该结构有两个成员：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first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second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，关键字对应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first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值对应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second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元素是根据其关键字排序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map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，不同元素的关键字不能相同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；对于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multimap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，不同元素的关键字可以相同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它们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在头文件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map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中定义，常常用某种二叉树来实现。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set&lt;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multiset&lt;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它们分别是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map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multimap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的特例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，每个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元素只有关键字而没有值，或者说，关键字与值合一了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头文件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set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中定义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052763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basic_string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字符类型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vector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类似，不同之处在于其元素为字符类型，并提供了一系列与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字符串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相关的操作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string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wstring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分别是它的两个实例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basic_string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&lt;char&gt;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basic_string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wchar_t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头文件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string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中定义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557338"/>
            <a:ext cx="8435975" cy="496728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容器类提供了一些成员函数来实现容器的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基本操作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其中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包括：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往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容器中增加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从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容器中删除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获取容器中指定位置的元素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在容器中查找元素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获取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容器首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尾元素的迭代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器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这些成员函数往往具有通用性（大部分容器类都包含它们）。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容器的基本操作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注意：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如果容器的元素类型是一个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，则针对该类可能需要：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自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定义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拷贝构造函数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赋值操作符重载函数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对容器进行的一些操作中可能会创建新的元素（对象的拷贝构造）或进行元素间的赋值（对象赋值）。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重载小于操作符（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对容器进行的一些操作中可能要对元素进行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“小于”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比较运算。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712200" cy="5256213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iostream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&lt;vector&gt;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using namespace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vector&lt;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v;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创建一个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vector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类容器对象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&gt;&gt; x;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while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(x &gt; 0)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循环往容器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中增加正的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型元素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push_back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(x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往容器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的尾部增加一个元素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&gt;&gt; x;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}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07950" y="201613"/>
            <a:ext cx="8785225" cy="9953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例：利用容器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vector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来实现序列元素的存储与处理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765175"/>
            <a:ext cx="8435975" cy="511175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求容器中所有元素的和以及最大与最小元素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sum=0,max,min;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max = min =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v[0]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//vector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重载了操作符“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[]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for 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size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遍历容器元素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sum += v[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];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if (v[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&lt; min) min = v[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else if (v[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&gt; max) max = v[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"sum=" &lt;&lt; sum &lt;&lt; ",max="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&lt;&lt; max &lt;&lt; ",min="  &lt;&lt; min &lt;&lt;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return 0;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765175"/>
            <a:ext cx="8435975" cy="511175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求容器中所有元素的和以及最大与最小元素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sum=0,max,min;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max = min = v[0];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for 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n: v)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遍历容器元素（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C++11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{ sum += n;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if (n &lt; min) min = n;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else if (n &gt; max) max = n;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"sum=" &lt;&lt; sum &lt;&lt; ",max="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&lt;&lt; max &lt;&lt; ",min="  &lt;&lt; min &lt;&lt;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return 0;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712200" cy="1139825"/>
          </a:xfrm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例：利用容器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map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来实现电话号码簿功能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75" y="1600200"/>
            <a:ext cx="8686800" cy="5141913"/>
          </a:xfrm>
        </p:spPr>
        <p:txBody>
          <a:bodyPr vert="horz" wrap="square" lIns="91440" tIns="45720" rIns="91440" bIns="45720" numCol="1" anchor="t" anchorCtr="0" compatLnSpc="1">
            <a:normAutofit fontScale="6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iostream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&lt;map&gt;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&lt;string&gt;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using namespace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map&lt;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string,int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创建一个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map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类容器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        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用于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电话号码簿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创建电话簿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pair&lt;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string,int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item; //pair&lt;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string,int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的元素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item.first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"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wang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item.second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12345678;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phone_book.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insert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(item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在容器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中增加一个元素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item.first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"li";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item.second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87654321;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phone_book.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insert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(item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在容器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中增加一个元素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item.first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"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zhang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item.second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56781234;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phone_book.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insert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(item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在容器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中增加一个元素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......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87325"/>
            <a:ext cx="8964613" cy="6554788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输出电话号码簿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"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电话号码簿的信息如下：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for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pair&lt;string,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item: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item.first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": " &lt;&lt;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item.second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      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会按姓名排序输出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元素的姓名和电话号码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查找某个人的电话号码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string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name;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"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请输入要查询号码的姓名：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&gt;&gt; name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map&lt;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string,int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&gt;::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const_iterator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it; </a:t>
            </a: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创建一</a:t>
            </a:r>
            <a:r>
              <a:rPr kumimoji="0" lang="zh-CN" altLang="en-US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个指向</a:t>
            </a:r>
            <a:r>
              <a:rPr kumimoji="0" lang="zh-CN" altLang="en-US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元素的迭代器</a:t>
            </a:r>
            <a:endParaRPr kumimoji="0" lang="en-US" altLang="zh-CN" sz="2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it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phone_book.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find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(name);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查找关键字为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name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的容器元素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if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(it ==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phone_book.end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())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没找到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name &lt;&lt; ": not found\n";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未找到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else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找到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it-&gt;first &lt;&lt; ": " &lt;&lt; it-&gt;second &lt;&lt;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找到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return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75" y="1052513"/>
            <a:ext cx="8686800" cy="5141913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程序也可以写成：</a:t>
            </a:r>
            <a:endParaRPr kumimoji="0" lang="en-US" altLang="zh-CN" sz="4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include &lt;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iostream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&lt;map&gt;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&lt;string&gt;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using namespace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map&lt;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string,int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创建一个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map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类容器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        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用于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电话号码簿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创建电话簿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["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wang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"] = 12345678;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//map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重载了操作符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[]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        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可用关键字作为下标往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容器中加入元素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["li"] = 87654321;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["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zhang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"] = 56781234;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......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619125"/>
            <a:ext cx="8964613" cy="5834063"/>
          </a:xfrm>
        </p:spPr>
        <p:txBody>
          <a:bodyPr vert="horz" wrap="square" lIns="91440" tIns="45720" rIns="91440" bIns="45720" numCol="1" anchor="t" anchorCtr="0" compatLnSpc="1">
            <a:normAutofit fontScale="6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输出电话号码簿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"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电话号码簿的信息如下：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for (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auto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item: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 //C++11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扩充的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item.first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": " &lt;&lt;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item.second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      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会按姓名排序输出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元素的姓名和电话号码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查找某个人的电话号码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string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name;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"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请输入要查询号码的姓名：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&gt;&gt; name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auto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it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phone_book.find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(name);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查找关键字为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name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的容器元素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if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(it ==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phone_book.end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())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没有找到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name &lt;&lt; ": not found\n";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未找到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else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找到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it-&gt;first &lt;&lt; ": " &lt;&lt; it-&gt;second &lt;&lt;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找到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return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迭代器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413"/>
            <a:ext cx="8713788" cy="5257800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迭代器（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iterator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）实现了抽象的指针（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智能指针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）功能，它们指向容器中的元素，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用于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对容器中的元素进行访问和遍历。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中，迭代器是作为类模板来实现的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（在头文件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iterator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中定义）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，它们可分为以下几种类型：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输出迭代器（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output iterator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，记为：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OutIt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只能修改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它所指向的容器元素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间接访问（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*）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输入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迭代器（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input iterator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，记为：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只能读取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它所指向的容器元素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间接访问（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*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）和元素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成员间接访问（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-&gt;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==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!=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333375"/>
            <a:ext cx="8785225" cy="6265863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前向迭代器（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forward iterator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记为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FwdIt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可以读取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修改它所指向的容器元素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元素间接访问（*）和元素成员间接访问（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-&gt;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!=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双向迭代器（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bidirectional iterator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记为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BidIt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可以读取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修改它所指向的容器元素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元素间接访问（*）和元素成员间接访问（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-&gt;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--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!=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随机访问迭代器（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random-access iterator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记为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RanIt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可以读取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修改它所指向的容器元素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元素间接访问（*）、元素成员间接访问（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-&gt;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）和下标访问元素（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[]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--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!=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&gt;=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注意：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指向数组元素的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普通指针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可以看成是随机访问迭代器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各容器的迭代器类型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600200"/>
            <a:ext cx="8507413" cy="5068888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不同的容器所提供的迭代器类型会有所不同：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vector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deque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以及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basic_string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容器类，与它们关联的迭代器类型为随机访问迭代器（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RanIt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list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map/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multimap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以及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set/multiset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容器类，与它们关联的迭代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器类型为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双向迭代器（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BidIt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queue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priority_queue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容器类，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不支持迭代器！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可通过容器类的成员函数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begin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等获得容器的首尾迭代器。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迭代器之间的相容关系</a:t>
            </a: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迭代器类型之间存在下面的相容关系：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在需要箭头左边迭代器的地方可以用箭头右边的迭代器去替代。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pic>
        <p:nvPicPr>
          <p:cNvPr id="2662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571750"/>
            <a:ext cx="8121650" cy="2225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476250"/>
            <a:ext cx="8291513" cy="6192838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除了前面五种基本迭代器外，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还提供了一些迭代器的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适配器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，便于一些特殊的操作，如：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反向迭代器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reverse iterator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）：用于对容器元素从尾到头进行反向遍历：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操作是往容器首部移动，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--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操作是往容器尾部移动。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可以通过容器类的成员函数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rbegin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rend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可以获得容器的尾和首元素的反向迭代器。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插入迭代器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insert iterator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）：用于在容器中指定位置插入元素，其中包括：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back_insert_iterator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（用于在尾部插入元素）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front_insert_iterator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（用于在首部插入元素）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insert_iterator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（用于在任意指定位置插入元素）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它们可以分别通过全局函数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back_inserter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front_inserter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inserter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来获得，函数的参数为容器。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3100" y="188913"/>
            <a:ext cx="7786688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例：利用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STL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的容器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list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和迭代器实现求解约瑟夫问题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5068888"/>
          </a:xfrm>
        </p:spPr>
        <p:txBody>
          <a:bodyPr vert="horz" wrap="square" lIns="91440" tIns="45720" rIns="91440" bIns="45720" numCol="1" anchor="t" anchorCtr="0" compatLnSpc="1">
            <a:normAutofit fontScale="6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约瑟夫（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Josephus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）问题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：有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个小孩（编号为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～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N-1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）围坐成一圈，从某个小孩开始顺时针报数（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），报到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的小孩从圈子离开，然后，从下一个小孩开始重新报数，每报到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，相应的小孩从圈子离开，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，最后一个离开圈子的小孩为胜者，问胜者是哪一个小孩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iostream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&lt;list&gt;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using namespace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//m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用于存储要报的数，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用于存储小孩的个数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请输入小孩的个数和要报的数：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&gt;&gt; n &gt;&gt; m;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构建圈子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list&lt;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children; //</a:t>
            </a: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children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是用于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存储小孩编号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的容器</a:t>
            </a:r>
            <a:endParaRPr kumimoji="0" lang="zh-CN" altLang="en-US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&lt;n;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循环创建容器元素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children.push_back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把小孩的编号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）从容器尾部放入容器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88913"/>
            <a:ext cx="8831263" cy="6669088"/>
          </a:xfrm>
        </p:spPr>
        <p:txBody>
          <a:bodyPr vert="horz" wrap="square" lIns="91440" tIns="45720" rIns="91440" bIns="45720" numCol="1" anchor="t" anchorCtr="0" compatLnSpc="1">
            <a:normAutofit fontScale="6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开始报数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list&lt;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&gt;::iterator current; //current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为指向容器元素的迭代器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children.begin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//current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初始化成指向容器的第一个元素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children.size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&gt; 1)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只要容器元素个数大于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，就执行循环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for 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count=1; count&lt;m; count++)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报数，循环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m-1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次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current++;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//current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指向下一个元素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指向的是容器末尾，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指向第一个元素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(current ==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children.end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())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 =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children.begin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循环结束时，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指向将要离开圈子的小孩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 =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children.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erase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(current);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小孩离开圈子，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     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下一个元素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指向的是容器末尾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，让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指向第一个元素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(current ==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children.end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())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current =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children.begin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}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循环结束时，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current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指向容器中剩下的唯一的一个元素，即胜利者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输出胜利者的编号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"The winner is No." &lt;&lt;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*current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"\n";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return 0;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上面程序中的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list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也可以换成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vector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，但由于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需要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经常在容器的任意位置上删除元素，而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list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容器的双向链表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使得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这个操作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的效率高一些！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24" end="7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724" end="7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724" end="7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9366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52513"/>
            <a:ext cx="8362950" cy="5761038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中，除了用容器类自身提供的成员函数来操作容器元素外，还提供了一系列通用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对容器中元素进行操作的全局函数，称为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algorithm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算法实现了对序列元素的一些常见操作，主要包括：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调序算法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编辑算法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查找算法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算术算法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集合算法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堆算法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元素遍历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算法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算法是用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函数模板实现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的，除了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算术算法在头文件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numeric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中定义外，其它算法都在头文件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algorithm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692150"/>
            <a:ext cx="8856663" cy="5473700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大部分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算法都是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遍历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指定容器中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某范围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内的元素，对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满足条件的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执行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某项操作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算法的内部实现往往隐含着循环操作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，但这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对使用者是隐藏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使用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者只需要提供：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容器的迭代器、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操作条件以及可能的自定义操作，而算法的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控制逻辑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则由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算法内部实现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，这体现了一种抽象的编程模式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bool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x) { return x &gt; 0; 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vector&lt;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&gt; v;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......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往容器中放了元素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&lt;&lt;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count_if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begin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end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统计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中正数的个数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算法与容器之间的关系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442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中，不是把容器传给算法，而是把容器的某些迭代器传给它们，在算法中通过迭代器来访问和遍历相应容器中的元素。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这样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做的好处是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提高了算法的通用性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不管什么容器，只要它的迭代器与算法所需要的迭代器相容，就可以传给算法，这样就使得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算法不依赖于具体的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容器。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需要注意的是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：有些容器（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queue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以及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priority_queue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）不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支持迭代器，因此不能用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中的算法来操作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它们！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5256213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一个算法能接收的迭代器的类型是通过算法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模板参数的名字来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体现的。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class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OutIt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OutIt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copy(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src_first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src_last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      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OutIt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dst_first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...... 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src_first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src_last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是输入迭代器，算法中只读取它们指向的元素。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dst_first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是输出迭代器，算法中可以修改它指向的元素。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以上参数可以接受与之相容的迭代器。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算法接受的迭代器类型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算法的操作范围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00213"/>
            <a:ext cx="8229600" cy="4608513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用算法对容器中的元素进行操作时，大都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需要用两个迭代器来指出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要操作的元素的范围。例如：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void sort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RanIt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first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RanIt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last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first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是第一个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位置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last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是最后一个元素的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下一个位置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例如：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vector&lt;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v;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往容器中放了元素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sort(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v.begin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v.end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());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从小到大排序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有些算法可以有多个操作范围，这时，除第一个范围外，其它范围一般不需要指定最后一个元素位置，它由第一个范围中元素的个数决定。例如：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OutIt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copy(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src_first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src_last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       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OutIt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dst_first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一个操作范围的两个迭代器必须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属于同一个容器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，而不同操作范围的迭代器可以属于不同的容器。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268413"/>
            <a:ext cx="8434388" cy="4681538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对于一些带有目标范围的操作，目标范围中已有元素的个数一般不能小于源范围规定的元素个数，如果操作需要在目标范围内增加元素，则目标范围的迭代器要用某个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插入迭代器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例如，下面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copy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操作的目标范围采用了可增加元素的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back_insert_iterator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迭代器：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vector&lt;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v1,v2;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往容器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中放了元素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copy(v1.begin(),v1.end(),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back_inserter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(v2)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把容器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中的元素复制到容器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341438"/>
            <a:ext cx="8424863" cy="4032250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由于指向数组元素的普通指针可以看成是随机访问迭代器，因此可以作为操作范围来用。例如：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a[5]={ 5,2,3,4,1 }; //a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可当容器用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*p1=&amp;a[0],*p2=&amp;a[4]; //p1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可当迭代器用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&lt;&lt; *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max_element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p1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p2+1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 &lt;&lt;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endl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sort(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p1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p2+1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注意：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指向链表结点的普通指针不能当迭代器用！（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为什么？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485900"/>
            <a:ext cx="8785225" cy="5256213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有些算法可以让使用者提供一个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函数对象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来作为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自定义操作条件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（或称为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谓词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），其参数类型为相应容器的元素类型，返回值类型为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自定义操作条件可分为：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Pred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：一元“谓词”，需要一个元素作为参数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BinPred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：二元“谓词”，需要两个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元素作为参数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例如，下面的“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”算法需要一个一元谓词作为统计的条件：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8355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size_t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count_if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first,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last,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Pred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cond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bool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x) { return x &gt; 0;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vector&lt;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&gt; v;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......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往容器中放了元素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&lt;&lt;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count_if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v.begin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v.end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统计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中正数的个数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算法的自定义操作条件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62950" cy="3916363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再例如，下面的第二个“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排序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”算法需要一个二元谓词作为排序条件：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8355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sort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RanIt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first, 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RanIt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last); 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按“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”排序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8355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sort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RanIt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first,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RanIt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last,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BinPred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comp); 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0993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                         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按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comp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返回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true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规定的次序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bool greater2(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x1,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x2) { return x1&gt;x2; 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vector&lt;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&gt; v;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......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往容器中放了元素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sort(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v.begin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v.end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());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从小到大排序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sort(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v.begin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v.end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greater2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从大到小排序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341438"/>
            <a:ext cx="8712200" cy="5400675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有些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算法可以让使用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者提供一个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函数对象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自定义操作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，其参数和返回值类型由相应的算法决定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自定义操作可分为：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：一元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需要一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个参数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BinOp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BinFun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：二元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需要两个参数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例如，下面的“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元素遍历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”算法需要提供一个一元操作，其参数为容器的元素类型，返回值为任意类型：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8355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Fun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for_each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first,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last,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Fun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endParaRPr kumimoji="0" lang="fr-FR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x) {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&lt;&lt; ' '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&lt;&lt;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x;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vector&lt;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&gt; v;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......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往容器中放了元素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for_each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v.begin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v.end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中的每个元素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去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				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进行操作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算法的自定义操作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476250"/>
            <a:ext cx="8713788" cy="619283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再例如，下面第二个“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累积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”算法需要一个二元操作，参数为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和元素类型，返回值为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78205" marR="0" lvl="2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T 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accumulate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(InIt first, InIt last, T val);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按“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+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”操作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78205" marR="0" lvl="2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T 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accumulate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(InIt first, InIt last, T val, BinOp 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op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endParaRPr kumimoji="0" lang="fr-FR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5405" marR="0" lvl="3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由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op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决定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累积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含义。设元素为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e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e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...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e</a:t>
            </a:r>
            <a:r>
              <a:rPr kumimoji="0" lang="en-US" altLang="zh-CN" sz="2000" b="0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n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，算法返回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US" altLang="zh-CN" sz="20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n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92505" marR="0" lvl="3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t</a:t>
            </a:r>
            <a:r>
              <a:rPr kumimoji="0" lang="en-US" altLang="zh-CN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=op(val,e</a:t>
            </a:r>
            <a:r>
              <a:rPr kumimoji="0" lang="en-US" altLang="zh-CN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t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2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=op(t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,e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2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...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US" altLang="zh-CN" sz="2000" b="0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=op(t</a:t>
            </a:r>
            <a:r>
              <a:rPr kumimoji="0" lang="en-US" altLang="zh-CN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n-1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,e</a:t>
            </a:r>
            <a:r>
              <a:rPr kumimoji="0" lang="en-US" altLang="zh-CN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partial,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x) { return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partial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*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x;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f2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partial,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x) { return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partial+x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*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x;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double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f3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double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partial,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x) { return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partial+1.0/x;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vector&lt;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&gt; v;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......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往容器中放了元素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accumulate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v.begin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v.end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(),0);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所有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元素和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accumulate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v.begin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v.end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所有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元素的乘积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accumulate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v.begin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v.end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0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f2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所有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元素平方和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accumulate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v.begin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v.end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0.0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f3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所有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元素倒数和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404813"/>
            <a:ext cx="8856663" cy="5903913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再例如，对于下面的元素“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变换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”算法，第一个需要一个一元操作，第二个需要一个二元操作，参数和返回值均为元素类型：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78205" marR="0" lvl="2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OutIt 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transform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(InIt src_first, InIt src_last, 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                      OutIt 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dst_first, Op 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fr-FR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78205" marR="0" lvl="2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OutIt 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transform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(InIt1 src_first1, InIt1 src_last1, 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                  InIt2 </a:t>
            </a: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src_first2, OutIt dst_first, BinOp 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fr-FR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53530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98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x) { return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x*x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98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f2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x1,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x2)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{ return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x1+x2;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98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vector&lt;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v1,v2,v3,v4;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98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......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往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v1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容器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中放了元素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98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transform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(v1.begin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v1.end(),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back_inserter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(v3),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98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		//v3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中的元素是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v1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相应元素的平方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98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transform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(v1.begin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v1.end(),v2.begin(),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98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	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back_inserter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(v4),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f2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98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		//v4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中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的元素是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v1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v2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相应元素的和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STL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算法的应用</a:t>
            </a:r>
            <a:br>
              <a:rPr kumimoji="0" lang="en-US" altLang="zh-CN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--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在“学生”容器中做统计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5040313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学生的类型：</a:t>
            </a:r>
            <a:endParaRPr kumimoji="0" lang="en-US" altLang="zh-CN" sz="4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class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Student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{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no;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string name;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Sex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sex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string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birth_place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Major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major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......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public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: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get_no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{ return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no;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string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get_name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 { return name; 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get_sex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 { return sex; }</a:t>
            </a:r>
            <a:endParaRPr kumimoji="0" lang="zh-CN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Major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get_major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() { return major; 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void display();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  ......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88913"/>
            <a:ext cx="8229600" cy="6407150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建立“学生”容器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vector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&lt;Student&gt; students;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创建学生容器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while (...)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循环输入每个学生信息并放入容器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Student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......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输入一个学生信息到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push_back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数据放入容器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容器元素按“学号由小到大”排序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bool </a:t>
            </a:r>
            <a:r>
              <a:rPr kumimoji="0" lang="en-US" altLang="zh-CN" sz="2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compare_no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 &amp;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st1,</a:t>
            </a: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Student &amp;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st2)</a:t>
            </a:r>
            <a:endParaRPr kumimoji="0" lang="en-US" altLang="zh-CN" sz="2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{ return st1.get_no() &lt; st2.get_no(); }</a:t>
            </a:r>
            <a:endParaRPr kumimoji="0" lang="en-US" altLang="zh-CN" sz="2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9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students.begin</a:t>
            </a: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US" altLang="zh-CN" sz="29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students.end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compare_no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显示每个学生的信息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display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(Student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 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显示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的信息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st.display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&lt;&lt;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endl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for_each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students.begin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students.end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display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549275"/>
            <a:ext cx="8229600" cy="5761038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统计“计算机”专业的人数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bool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match_major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(Student &amp;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return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st.get_major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 == COMPUTER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&lt;&lt;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count_if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students.begin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students.end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	                   	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match_major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统计“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物理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”专业的人数呢？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bool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match_major2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(Student &amp;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return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st.get_major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 == PHYSICS;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&lt;&lt;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count_if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students.begin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students.end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 			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match_major2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再统计“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XXX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”专业的人数呢？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2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172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172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6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186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186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7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charRg st="217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charRg st="217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54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charRg st="254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charRg st="254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56" end="3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256" end="30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256" end="30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7" end="3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charRg st="307" end="3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charRg st="307" end="3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30" end="3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charRg st="330" end="3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charRg st="330" end="3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275"/>
            <a:ext cx="8229600" cy="6119813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可利用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函数对象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来解决上面的问题</a:t>
            </a:r>
            <a:endParaRPr kumimoji="0" lang="en-US" altLang="zh-CN" sz="3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MatchMajor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   Major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MatchMajor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(Major m)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 {	major = m;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 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bool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 ()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(Student&amp;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 { return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st.get_major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 == major;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 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count_if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students.begin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students.end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            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MatchMajor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(COMPUTER)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count_if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students.begin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students.end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            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MatchMajor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(PHYSICS)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count_if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students.begin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students.end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(),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            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MatchMajor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(XXX)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260350"/>
            <a:ext cx="8712200" cy="6264275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XXX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专业男生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女生的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人数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MatchMajorAndSex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Major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major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Sex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sex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MatchMajorAndSex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(Major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m,Sex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s)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{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major = m;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sex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s;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}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bool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operator ()(Student&amp;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{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st.get_major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== major &amp;&amp;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st.get_sex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== sex;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}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count_if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students.begin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students.end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MatchMajorAndSex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(COMPUTER,FEMALE)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计算机女生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count_if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students.begin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students.end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MatchMajorAndSex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(PHYSICS,MALE)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物理男生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981075"/>
            <a:ext cx="8712200" cy="4608513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还有其它统计需求怎么办？例如，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统计南京籍计算机专业的人数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统计南京籍计算机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专业女生的人数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再定义其它的函数或函数对象？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太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多了！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可以用</a:t>
            </a:r>
            <a:r>
              <a:rPr kumimoji="0" lang="el-GR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λ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来解决！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匿名函数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编译器隐式地为之定义类（重载了函数调用操作符）和创建函数对象。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4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54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54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9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69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69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4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74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74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6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86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86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charRg st="9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charRg st="9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350"/>
            <a:ext cx="8507413" cy="6481763"/>
          </a:xfrm>
        </p:spPr>
        <p:txBody>
          <a:bodyPr vert="horz" wrap="square" lIns="91440" tIns="45720" rIns="91440" bIns="45720" numCol="1" anchor="t" anchorCtr="0" compatLnSpc="1">
            <a:normAutofit fontScale="6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统计“计算机专业女生”的人数	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计算机专业女生的人数是：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&lt;&lt;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count_if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students.begin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students.end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[](Student &amp;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return 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st.get_major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== COMPUTER)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&amp;&amp; 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st.get_sex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== FEMALE); }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统计出生地为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南京籍计算机专业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的学生人数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出生地为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\"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南京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籍计算机专业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\"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的学生人数是：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&lt;&lt;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count_if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students.begin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students.end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[](Student &amp;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return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st.get_major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== COMPUTER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&amp;&amp; 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st.get_birth_place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().find("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南京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")!= string::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npos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);}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按“学号由小到大”对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的元素进行排序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students.begin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students.end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[](Student &amp;st1,Student &amp;st2) { 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         return  st1.get_no()&lt;st2.get_no();}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按“姓名由小到大”对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的元素进行排序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students.begin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students.end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[](Student &amp;st1,Student &amp;st2) { 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   return st1.get_name()&lt;st2.get_name();}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13994</Words>
  <Application>WPS 演示</Application>
  <PresentationFormat>全屏显示(4:3)</PresentationFormat>
  <Paragraphs>592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4" baseType="lpstr">
      <vt:lpstr>Arial</vt:lpstr>
      <vt:lpstr>宋体</vt:lpstr>
      <vt:lpstr>Wingdings</vt:lpstr>
      <vt:lpstr>Verdana</vt:lpstr>
      <vt:lpstr>Calibri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 类属机制－－模板</dc:title>
  <dc:creator>chenjiajun</dc:creator>
  <cp:lastModifiedBy>Ethereal_YC</cp:lastModifiedBy>
  <cp:revision>529</cp:revision>
  <dcterms:created xsi:type="dcterms:W3CDTF">2005-01-05T08:01:58Z</dcterms:created>
  <dcterms:modified xsi:type="dcterms:W3CDTF">2023-12-09T16:07:08Z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3E687EF999FF4D44BEC24133A67466D3_13</vt:lpwstr>
  </property>
  <property fmtid="{D5CDD505-2E9C-101B-9397-08002B2CF9AE}" pid="3" name="KSOProductBuildVer">
    <vt:lpwstr>2052-12.1.0.15990</vt:lpwstr>
  </property>
</Properties>
</file>
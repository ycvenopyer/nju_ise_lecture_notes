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23"/>
  </p:handoutMasterIdLst>
  <p:sldIdLst>
    <p:sldId id="931" r:id="rId3"/>
    <p:sldId id="267" r:id="rId4"/>
    <p:sldId id="964" r:id="rId6"/>
    <p:sldId id="275" r:id="rId7"/>
    <p:sldId id="1021" r:id="rId8"/>
    <p:sldId id="941" r:id="rId9"/>
    <p:sldId id="942" r:id="rId10"/>
    <p:sldId id="943" r:id="rId11"/>
    <p:sldId id="944" r:id="rId12"/>
    <p:sldId id="946" r:id="rId13"/>
    <p:sldId id="773" r:id="rId14"/>
    <p:sldId id="780" r:id="rId15"/>
    <p:sldId id="1012" r:id="rId16"/>
    <p:sldId id="1020" r:id="rId17"/>
    <p:sldId id="776" r:id="rId18"/>
    <p:sldId id="947" r:id="rId19"/>
    <p:sldId id="948" r:id="rId20"/>
    <p:sldId id="1019" r:id="rId21"/>
    <p:sldId id="1018" r:id="rId2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00"/>
    <a:srgbClr val="00FFFF"/>
    <a:srgbClr val="85EDA0"/>
    <a:srgbClr val="00CCFF"/>
    <a:srgbClr val="FFFF99"/>
    <a:srgbClr val="FDAFB5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2273"/>
    <p:restoredTop sz="88873"/>
  </p:normalViewPr>
  <p:slideViewPr>
    <p:cSldViewPr showGuides="1">
      <p:cViewPr varScale="1">
        <p:scale>
          <a:sx n="90" d="100"/>
          <a:sy n="90" d="100"/>
        </p:scale>
        <p:origin x="883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75" d="100"/>
        <a:sy n="75" d="100"/>
      </p:scale>
      <p:origin x="0" y="213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6A16AA-B4DE-4E31-AF38-06C2E32E893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C0EA96-968F-4B87-BD04-F0FC9DFD34AB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17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1024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r>
              <a:rPr lang="en-US" altLang="zh-CN" dirty="0"/>
              <a:t>1</a:t>
            </a:r>
            <a:r>
              <a:rPr lang="zh-CN" altLang="en-US" dirty="0"/>
              <a:t>、成员函数在类外定义，也是本类的代码！</a:t>
            </a:r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245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roup 2"/>
          <p:cNvGrpSpPr/>
          <p:nvPr/>
        </p:nvGrpSpPr>
        <p:grpSpPr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5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0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8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9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1029" y="845"/>
                </a:cxn>
                <a:cxn ang="0">
                  <a:pos x="1029" y="821"/>
                </a:cxn>
                <a:cxn ang="0">
                  <a:pos x="842" y="605"/>
                </a:cxn>
                <a:cxn ang="0">
                  <a:pos x="542" y="396"/>
                </a:cxn>
                <a:cxn ang="0">
                  <a:pos x="355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43" y="198"/>
                </a:cxn>
                <a:cxn ang="0">
                  <a:pos x="534" y="408"/>
                </a:cxn>
                <a:cxn ang="0">
                  <a:pos x="836" y="623"/>
                </a:cxn>
                <a:cxn ang="0">
                  <a:pos x="1029" y="845"/>
                </a:cxn>
                <a:cxn ang="0">
                  <a:pos x="1029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41" y="414"/>
                </a:cxn>
                <a:cxn ang="0">
                  <a:pos x="541" y="396"/>
                </a:cxn>
                <a:cxn ang="0">
                  <a:pos x="356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50" y="204"/>
                </a:cxn>
                <a:cxn ang="0">
                  <a:pos x="541" y="414"/>
                </a:cxn>
                <a:cxn ang="0">
                  <a:pos x="541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7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914" y="0"/>
                </a:cxn>
                <a:cxn ang="0">
                  <a:pos x="887" y="0"/>
                </a:cxn>
                <a:cxn ang="0">
                  <a:pos x="642" y="132"/>
                </a:cxn>
                <a:cxn ang="0">
                  <a:pos x="391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91" y="282"/>
                </a:cxn>
                <a:cxn ang="0">
                  <a:pos x="654" y="138"/>
                </a:cxn>
                <a:cxn ang="0">
                  <a:pos x="914" y="0"/>
                </a:cxn>
                <a:cxn ang="0">
                  <a:pos x="914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403" y="0"/>
                </a:cxn>
                <a:cxn ang="0">
                  <a:pos x="385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403" y="0"/>
                </a:cxn>
                <a:cxn ang="0">
                  <a:pos x="403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0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1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72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075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6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7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8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9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73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4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6570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6570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1" name="Rectangle 41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" name="Rectangle 4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Rectangle 4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E24819-C3BE-4079-B877-781225158676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2C58C9-0031-433F-9B1B-3FA8CC446AB5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2C58C9-0031-433F-9B1B-3FA8CC446AB5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2C58C9-0031-433F-9B1B-3FA8CC446AB5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2C58C9-0031-433F-9B1B-3FA8CC446AB5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2C58C9-0031-433F-9B1B-3FA8CC446AB5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2C58C9-0031-433F-9B1B-3FA8CC446AB5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2C58C9-0031-433F-9B1B-3FA8CC446AB5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2C58C9-0031-433F-9B1B-3FA8CC446AB5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2C58C9-0031-433F-9B1B-3FA8CC446AB5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2C58C9-0031-433F-9B1B-3FA8CC446AB5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98000">
              <a:srgbClr val="002850"/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264643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44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45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5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264647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48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49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0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1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2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3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4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5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6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7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8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9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264660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61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62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1029" y="845"/>
                </a:cxn>
                <a:cxn ang="0">
                  <a:pos x="1029" y="821"/>
                </a:cxn>
                <a:cxn ang="0">
                  <a:pos x="842" y="605"/>
                </a:cxn>
                <a:cxn ang="0">
                  <a:pos x="542" y="396"/>
                </a:cxn>
                <a:cxn ang="0">
                  <a:pos x="355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43" y="198"/>
                </a:cxn>
                <a:cxn ang="0">
                  <a:pos x="534" y="408"/>
                </a:cxn>
                <a:cxn ang="0">
                  <a:pos x="836" y="623"/>
                </a:cxn>
                <a:cxn ang="0">
                  <a:pos x="1029" y="845"/>
                </a:cxn>
                <a:cxn ang="0">
                  <a:pos x="1029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41" y="414"/>
                </a:cxn>
                <a:cxn ang="0">
                  <a:pos x="541" y="396"/>
                </a:cxn>
                <a:cxn ang="0">
                  <a:pos x="356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50" y="204"/>
                </a:cxn>
                <a:cxn ang="0">
                  <a:pos x="541" y="414"/>
                </a:cxn>
                <a:cxn ang="0">
                  <a:pos x="541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64665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914" y="0"/>
                </a:cxn>
                <a:cxn ang="0">
                  <a:pos x="887" y="0"/>
                </a:cxn>
                <a:cxn ang="0">
                  <a:pos x="642" y="132"/>
                </a:cxn>
                <a:cxn ang="0">
                  <a:pos x="391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91" y="282"/>
                </a:cxn>
                <a:cxn ang="0">
                  <a:pos x="654" y="138"/>
                </a:cxn>
                <a:cxn ang="0">
                  <a:pos x="914" y="0"/>
                </a:cxn>
                <a:cxn ang="0">
                  <a:pos x="914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403" y="0"/>
                </a:cxn>
                <a:cxn ang="0">
                  <a:pos x="385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403" y="0"/>
                </a:cxn>
                <a:cxn ang="0">
                  <a:pos x="403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6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47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1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2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3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4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48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6467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264680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1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2C58C9-0031-433F-9B1B-3FA8CC446AB5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7714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 vert="horz" wrap="square" lIns="91440" tIns="45720" rIns="91440" bIns="45720" numCol="1" anchor="b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对象</a:t>
            </a: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与</a:t>
            </a: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类</a:t>
            </a:r>
            <a:endParaRPr kumimoji="0" lang="zh-CN" altLang="en-US" sz="5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67715" name="Rectangle 3"/>
          <p:cNvSpPr>
            <a:spLocks noGrp="1" noChangeArrowheads="1"/>
          </p:cNvSpPr>
          <p:nvPr>
            <p:ph type="subTitle" sz="quarter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zh-CN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260350"/>
            <a:ext cx="7046913" cy="792163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类</a:t>
            </a:r>
            <a:endParaRPr kumimoji="0" lang="zh-CN" altLang="en-US" sz="36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341438"/>
            <a:ext cx="7988300" cy="4824413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60680" marR="0" lvl="0" indent="-36068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构成了面向对象程序的基本计算单位，而对象的特征则由相应的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来描述。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0680" marR="0" lvl="0" indent="-36068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对象是用类来创建的，因此，程序中首先要定义类。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0680" marR="0" lvl="0" indent="-36068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的类是一种用户自定义类型，定义形式如下：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2550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&lt;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类名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成员描述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 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58825" marR="0" lvl="1" indent="-28575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成员包括：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数据成员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成员函数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58825" marR="0" lvl="1" indent="-28575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类成员标识符的作用域为整个类定义范围。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例：一个日期类的定义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51683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484313"/>
            <a:ext cx="8785225" cy="5257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6305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Date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305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public: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305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set(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y,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m,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d)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成员函数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305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year = y; month = m; day = d;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305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305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bool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is_leap_year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成员函数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305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return (year%4==0 &amp;&amp; year%100!=0) || (year%400==0);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305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305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print()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成员函数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305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year &lt;&lt; "." &lt;&lt; month &lt;&lt; "." &lt;&lt;day;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305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305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305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private: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305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year,month,day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数据成员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305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112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数据成员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341438"/>
            <a:ext cx="8362950" cy="4608513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数据成员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是对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类的对象所包含的数据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描述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，它们可以是常量和变量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类型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可以是任意的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类型（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除外） 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数据成员的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描述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格式与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的结构类型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描述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格式相同，例如：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Date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类定义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	......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year,month,day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数据成员描述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401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404813"/>
            <a:ext cx="8424863" cy="5976938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在类中说明一个数据成员的类型时，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如果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未见到相应类型的定义，或相应的类型未定义完，则该数据成员的类型只能是这些类型的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指针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引用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类型。例如：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A;	//A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是在程序其它地方定义的类，这里是声明。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B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A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//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Error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，未见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的定义。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//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Error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还未定义完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，递归了！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*p;  //OK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B *q;  //OK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A &amp;aa; //OK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B &amp;bb; //OK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789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41388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成员函数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7897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196975"/>
            <a:ext cx="8569325" cy="5545138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成员函数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对类定义中的数据成员所能实施的操作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描述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成员函数的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实现（函数体）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可以放在类定义中，例如：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void f() {...} 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建议编译器按内联函数处理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成员函数的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实现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也可以放在类定义外，例如：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 ......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void f(); 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声明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A::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f() { ... } 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要用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类名受限，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区别于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非成员函数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全局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注意：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中，也允许在结构（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struct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）和联合（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union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）中定义函数，但它们成员的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访问控制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与类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不同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！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00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909638"/>
            <a:ext cx="8686800" cy="4679950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类成员函数名是可以重载的（析构函数除外），它遵循一般函数名的重载规则。例如：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	......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double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(double d);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01613"/>
            <a:ext cx="8229600" cy="779463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类成员的访问控制</a:t>
            </a: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8102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268413"/>
            <a:ext cx="8578850" cy="5473700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的类定义中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可以用下面的成员访问控制修饰符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控制在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类的外部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对类成员的访问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限制：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ublic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访问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不受限制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private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只能在本类和友元的代码中访问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protected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只能在本类、派生类和友元的代码中访问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例如：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public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: 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访问不受限制。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x;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f();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private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: 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只能在本类和友元的代码中访问。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y;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g();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protected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: 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只能在本类、派生类和友元的代码中访问。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z;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h();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205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8913"/>
            <a:ext cx="8362950" cy="6553200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类定义中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可以有多个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public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private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protected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访问控制说明；默认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访问控制是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private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。例如：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	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m,n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//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m,n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的访问控制为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private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public: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x;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f()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；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private: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y;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g();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protected: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z;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h();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public: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f1();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结构（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struct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）和联合（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union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）成员的默认访问控制是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public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GB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4098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981075"/>
            <a:ext cx="8435975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一般来说，类的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数据成员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在类的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内部使用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成员函数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应该指定为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private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，只有提供给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外界使用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的成员函数才指定为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public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 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具有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public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访问控制的成员构成了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类与外界的一种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接口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interface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在一个类的外部只能访问该类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接口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中的成员。 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protected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类成员访问控制具有特殊的作用（在派生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类中使用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）。 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4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341438" y="188913"/>
            <a:ext cx="6902450" cy="941388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对  象</a:t>
            </a:r>
            <a:endParaRPr kumimoji="0" lang="zh-CN" altLang="en-US" sz="40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741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557338"/>
            <a:ext cx="8424863" cy="4876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类属于类型范畴的程序实体，它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一般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存在于静态的程序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编译程序看到的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）中。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而动态的面向对象程序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（运行中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则是由对象构成。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对象在程序运行时创建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134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对象的创建和标识</a:t>
            </a: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81347" name="Rectangle 3"/>
          <p:cNvSpPr>
            <a:spLocks noGrp="1" noChangeArrowheads="1"/>
          </p:cNvSpPr>
          <p:nvPr>
            <p:ph idx="1"/>
          </p:nvPr>
        </p:nvSpPr>
        <p:spPr>
          <a:xfrm>
            <a:off x="107950" y="1196975"/>
            <a:ext cx="8893175" cy="5661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7416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直接方式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1" indent="-257175" algn="l" defTabSz="7416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通过在程序中定义一个类型为类的变量来实现。例如：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336675" marR="0" lvl="2" indent="-228600" algn="l" defTabSz="74168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336675" marR="0" lvl="2" indent="-228600" algn="l" defTabSz="7416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public: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336675" marR="0" lvl="2" indent="-228600" algn="l" defTabSz="7416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f();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336675" marR="0" lvl="2" indent="-228600" algn="l" defTabSz="7416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g();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336675" marR="0" lvl="2" indent="-228600" algn="l" defTabSz="7416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private: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336675" marR="0" lvl="2" indent="-228600" algn="l" defTabSz="7416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x,y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336675" marR="0" lvl="2" indent="-228600" algn="l" defTabSz="7416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336675" marR="0" lvl="2" indent="-228600" algn="l" defTabSz="7416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336675" marR="0" lvl="2" indent="-228600" algn="l" defTabSz="7416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a1;  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创建一个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类的对象。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336675" marR="0" lvl="2" indent="-228600" algn="l" defTabSz="7416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a2[100]; 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100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个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类对象。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00100" marR="0" lvl="1" indent="-257175" algn="l" defTabSz="7416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对象在进入相应变量的生存期时创建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，通过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变量名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来标识和访问。相应变量的生存期结束时，对象消亡。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00100" marR="0" lvl="1" indent="-257175" algn="l" defTabSz="7416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分为：全局对象、局部对象和成员对象。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2371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260350"/>
            <a:ext cx="8713788" cy="6481763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609600" marR="0" lvl="0" indent="-60960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间接方式（动态对象）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在程序运行时刻，通过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用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new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操作来创建对象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用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delete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操作来撤消（使之消亡）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动态对象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通过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指针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来标识和访问。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单个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动态对象的创建与撤消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84250" marR="0" lvl="2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*p;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84250" marR="0" lvl="2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 = new A;  //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创建一个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类的动态对象。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84250" marR="0" lvl="2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… *p …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p-&gt;...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，通过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访问动态对象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84250" marR="0" lvl="2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delete p;   //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撤消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所指向的动态对象。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动态对象数组的创建与撤消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89330" marR="0" lvl="2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*q;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89330" marR="0" lvl="2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q = new A[100];   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创建一个动态对象数组。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89330" marR="0" lvl="2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...q[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]... 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或，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*(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q+i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，访问动态对象数组中的第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个对象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89330" marR="0" lvl="2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delete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[]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q;   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撤消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q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所指向的动态对象数组。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注意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：动态对象一般不采用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库函数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malloc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calloc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来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创建和用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free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来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撤消！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4114" name="Rectangle 2"/>
          <p:cNvSpPr>
            <a:spLocks noGrp="1" noChangeArrowheads="1"/>
          </p:cNvSpPr>
          <p:nvPr>
            <p:ph idx="1"/>
          </p:nvPr>
        </p:nvSpPr>
        <p:spPr>
          <a:xfrm>
            <a:off x="323850" y="1196975"/>
            <a:ext cx="8569325" cy="5445125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对于类的数据成员，其类型可以是另一个类。即，一个对象可以包含另一个对象，后者称为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成员对象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。例如： 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...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B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...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A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//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成员对象</a:t>
            </a:r>
            <a:endParaRPr kumimoji="0" lang="zh-CN" altLang="en-US" sz="2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//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包含一个成员对象：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b.a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成员对象跟随包含它的对象一起创建和消亡。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14115" name="Rectangle 3"/>
          <p:cNvSpPr>
            <a:spLocks noGrp="1" noChangeArrowheads="1"/>
          </p:cNvSpPr>
          <p:nvPr>
            <p:ph type="title"/>
          </p:nvPr>
        </p:nvSpPr>
        <p:spPr>
          <a:xfrm>
            <a:off x="446088" y="188913"/>
            <a:ext cx="8229600" cy="792163"/>
          </a:xfrm>
        </p:spPr>
        <p:txBody>
          <a:bodyPr vert="horz" wrap="square" lIns="92075" tIns="46038" rIns="92075" bIns="46038" numCol="1" anchor="b" anchorCtr="0" compatLnSpc="1"/>
          <a:lstStyle/>
          <a:p>
            <a:pPr marL="838200" marR="0" lvl="0" indent="-838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成员对象</a:t>
            </a:r>
            <a:endParaRPr kumimoji="0" lang="zh-CN" altLang="en-US" sz="40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7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868363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对象的操作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77251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125538"/>
            <a:ext cx="8353425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对于创建的一个对象，需要通过向它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发送消息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调用对象类中定义的某个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public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成员函数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对它进行操作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例如：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	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x;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public: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f();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main()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A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	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类的一个局部对象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a.f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();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类的成员函数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对对象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进行操作。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*p=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new A;	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类的一个动态对象，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指向之。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p-&gt;f();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//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类的成员函数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所指向的对象进行操作。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delete p;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return 0;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8913"/>
            <a:ext cx="8229600" cy="863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在类的外部，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通过对象来访问类的成员时要受到类成员访问控制的限制，例如：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1361920" name="Text Box 0"/>
          <p:cNvSpPr txBox="1">
            <a:spLocks noChangeArrowheads="1"/>
          </p:cNvSpPr>
          <p:nvPr/>
        </p:nvSpPr>
        <p:spPr bwMode="auto">
          <a:xfrm>
            <a:off x="250825" y="1250950"/>
            <a:ext cx="5113338" cy="5354638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R="0" defTabSz="342900" eaLnBrk="1" hangingPunct="1">
              <a:buClrTx/>
              <a:buSzTx/>
              <a:buFontTx/>
              <a:buNone/>
              <a:defRPr/>
            </a:pPr>
            <a:r>
              <a:rPr kumimoji="0" lang="en-GB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class A</a:t>
            </a:r>
            <a:endParaRPr kumimoji="0" lang="en-GB" altLang="zh-CN" sz="19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342900" eaLnBrk="1" hangingPunct="1">
              <a:buClrTx/>
              <a:buSzTx/>
              <a:buFontTx/>
              <a:buNone/>
              <a:defRPr/>
            </a:pPr>
            <a:r>
              <a:rPr kumimoji="0" lang="en-GB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{ </a:t>
            </a:r>
            <a:r>
              <a:rPr kumimoji="0" lang="en-US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public:</a:t>
            </a:r>
            <a:endParaRPr kumimoji="0" lang="en-GB" altLang="zh-CN" sz="19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342900" eaLnBrk="1" hangingPunct="1">
              <a:buClrTx/>
              <a:buSzTx/>
              <a:buFontTx/>
              <a:buNone/>
              <a:defRPr/>
            </a:pPr>
            <a:r>
              <a:rPr kumimoji="0" lang="en-GB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void f() </a:t>
            </a:r>
            <a:endParaRPr kumimoji="0" lang="en-GB" altLang="zh-CN" sz="19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342900" eaLnBrk="1" hangingPunct="1">
              <a:buClrTx/>
              <a:buSzTx/>
              <a:buFontTx/>
              <a:buNone/>
              <a:defRPr/>
            </a:pPr>
            <a:r>
              <a:rPr kumimoji="0" lang="en-GB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{ ...... //</a:t>
            </a:r>
            <a:r>
              <a:rPr kumimoji="0" lang="zh-CN" altLang="en-GB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允许访问：</a:t>
            </a:r>
            <a:r>
              <a:rPr kumimoji="0" lang="en-GB" altLang="zh-CN" sz="19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kumimoji="0" lang="en-GB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en-US" altLang="zh-CN" sz="19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f,g,h</a:t>
            </a:r>
            <a:r>
              <a:rPr kumimoji="0" lang="en-US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9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342900" eaLnBrk="1" hangingPunct="1">
              <a:buClrTx/>
              <a:buSzTx/>
              <a:buFontTx/>
              <a:buNone/>
              <a:defRPr/>
            </a:pPr>
            <a:r>
              <a:rPr kumimoji="0" lang="en-US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	   </a:t>
            </a:r>
            <a:r>
              <a:rPr kumimoji="0" lang="en-US" altLang="zh-CN" sz="1900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 </a:t>
            </a:r>
            <a:r>
              <a:rPr kumimoji="0" lang="en-US" altLang="zh-CN" sz="1900" kern="1200" cap="none" spc="0" normalizeH="0" baseline="0" noProof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900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1900" kern="1200" cap="none" spc="0" normalizeH="0" baseline="0" noProof="0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342900" eaLnBrk="1" hangingPunct="1">
              <a:buClrTx/>
              <a:buSzTx/>
              <a:buFontTx/>
              <a:buNone/>
              <a:defRPr/>
            </a:pPr>
            <a:r>
              <a:rPr kumimoji="0" lang="en-US" altLang="zh-CN" sz="1900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 	   ...//</a:t>
            </a:r>
            <a:r>
              <a:rPr kumimoji="0" lang="zh-CN" altLang="en-US" sz="1900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能访问</a:t>
            </a:r>
            <a:r>
              <a:rPr kumimoji="0" lang="en-US" altLang="zh-CN" sz="1900" kern="1200" cap="none" spc="0" normalizeH="0" baseline="0" noProof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a.x</a:t>
            </a:r>
            <a:r>
              <a:rPr kumimoji="0" lang="zh-CN" altLang="en-US" sz="1900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1900" kern="1200" cap="none" spc="0" normalizeH="0" baseline="0" noProof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a.y</a:t>
            </a:r>
            <a:r>
              <a:rPr kumimoji="0" lang="zh-CN" altLang="en-US" sz="1900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1900" kern="1200" cap="none" spc="0" normalizeH="0" baseline="0" noProof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a.f</a:t>
            </a:r>
            <a:r>
              <a:rPr kumimoji="0" lang="zh-CN" altLang="en-US" sz="1900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1900" kern="1200" cap="none" spc="0" normalizeH="0" baseline="0" noProof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a.g</a:t>
            </a:r>
            <a:r>
              <a:rPr kumimoji="0" lang="zh-CN" altLang="en-US" sz="1900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0" lang="en-US" altLang="zh-CN" sz="1900" kern="1200" cap="none" spc="0" normalizeH="0" baseline="0" noProof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a.h</a:t>
            </a:r>
            <a:r>
              <a:rPr kumimoji="0" lang="zh-CN" altLang="en-US" sz="1900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吗？</a:t>
            </a:r>
            <a:endParaRPr kumimoji="0" lang="en-US" altLang="zh-CN" sz="19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342900" eaLnBrk="1" hangingPunct="1">
              <a:buClrTx/>
              <a:buSzTx/>
              <a:buFontTx/>
              <a:buNone/>
              <a:defRPr/>
            </a:pPr>
            <a:r>
              <a:rPr kumimoji="0" lang="en-US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}</a:t>
            </a:r>
            <a:endParaRPr kumimoji="0" lang="en-GB" altLang="zh-CN" sz="19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342900" eaLnBrk="1" hangingPunct="1">
              <a:buClrTx/>
              <a:buSzTx/>
              <a:buFontTx/>
              <a:buNone/>
              <a:defRPr/>
            </a:pPr>
            <a:r>
              <a:rPr kumimoji="0" lang="en-GB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private:</a:t>
            </a:r>
            <a:endParaRPr kumimoji="0" lang="en-GB" altLang="zh-CN" sz="19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342900" eaLnBrk="1" hangingPunct="1">
              <a:buClrTx/>
              <a:buSzTx/>
              <a:buFontTx/>
              <a:buNone/>
              <a:defRPr/>
            </a:pPr>
            <a:r>
              <a:rPr kumimoji="0" lang="en-GB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GB" altLang="zh-CN" sz="19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GB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x;</a:t>
            </a:r>
            <a:endParaRPr kumimoji="0" lang="en-GB" altLang="zh-CN" sz="19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342900" eaLnBrk="1" hangingPunct="1">
              <a:buClrTx/>
              <a:buSzTx/>
              <a:buFontTx/>
              <a:buNone/>
              <a:defRPr/>
            </a:pPr>
            <a:r>
              <a:rPr kumimoji="0" lang="en-GB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void g() </a:t>
            </a:r>
            <a:endParaRPr kumimoji="0" lang="en-GB" altLang="zh-CN" sz="19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342900" eaLnBrk="1" hangingPunct="1">
              <a:buClrTx/>
              <a:buSzTx/>
              <a:buFontTx/>
              <a:buNone/>
              <a:defRPr/>
            </a:pPr>
            <a:r>
              <a:rPr kumimoji="0" lang="en-GB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{ ...... //</a:t>
            </a:r>
            <a:r>
              <a:rPr kumimoji="0" lang="zh-CN" altLang="en-GB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允许访问：</a:t>
            </a:r>
            <a:r>
              <a:rPr kumimoji="0" lang="en-GB" altLang="zh-CN" sz="19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kumimoji="0" lang="en-GB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en-US" altLang="zh-CN" sz="19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f,g,h</a:t>
            </a:r>
            <a:r>
              <a:rPr kumimoji="0" lang="en-US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9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342900" eaLnBrk="1" hangingPunct="1">
              <a:buClrTx/>
              <a:buSzTx/>
              <a:buFontTx/>
              <a:buNone/>
              <a:defRPr/>
            </a:pPr>
            <a:r>
              <a:rPr kumimoji="0" lang="en-US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}</a:t>
            </a:r>
            <a:endParaRPr kumimoji="0" lang="en-GB" altLang="zh-CN" sz="19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342900" eaLnBrk="1" hangingPunct="1">
              <a:buClrTx/>
              <a:buSzTx/>
              <a:buFontTx/>
              <a:buNone/>
              <a:defRPr/>
            </a:pPr>
            <a:r>
              <a:rPr kumimoji="0" lang="en-GB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protected:</a:t>
            </a:r>
            <a:endParaRPr kumimoji="0" lang="en-GB" altLang="zh-CN" sz="19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342900" eaLnBrk="1" hangingPunct="1">
              <a:buClrTx/>
              <a:buSzTx/>
              <a:buFontTx/>
              <a:buNone/>
              <a:defRPr/>
            </a:pPr>
            <a:r>
              <a:rPr kumimoji="0" lang="en-GB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GB" altLang="zh-CN" sz="19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GB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y;</a:t>
            </a:r>
            <a:endParaRPr kumimoji="0" lang="en-GB" altLang="zh-CN" sz="19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342900" eaLnBrk="1" hangingPunct="1">
              <a:buClrTx/>
              <a:buSzTx/>
              <a:buFontTx/>
              <a:buNone/>
              <a:defRPr/>
            </a:pPr>
            <a:r>
              <a:rPr kumimoji="0" lang="en-GB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void h()</a:t>
            </a:r>
            <a:endParaRPr kumimoji="0" lang="en-GB" altLang="zh-CN" sz="19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342900" eaLnBrk="1" hangingPunct="1">
              <a:buClrTx/>
              <a:buSzTx/>
              <a:buFontTx/>
              <a:buNone/>
              <a:defRPr/>
            </a:pPr>
            <a:r>
              <a:rPr kumimoji="0" lang="en-GB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{ ...... //</a:t>
            </a:r>
            <a:r>
              <a:rPr kumimoji="0" lang="zh-CN" altLang="en-GB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允许访问：</a:t>
            </a:r>
            <a:r>
              <a:rPr kumimoji="0" lang="en-GB" altLang="zh-CN" sz="19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kumimoji="0" lang="en-GB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en-US" altLang="zh-CN" sz="19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f,g,h</a:t>
            </a:r>
            <a:endParaRPr kumimoji="0" lang="en-GB" altLang="zh-CN" sz="19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342900" eaLnBrk="1" hangingPunct="1">
              <a:buClrTx/>
              <a:buSzTx/>
              <a:buFontTx/>
              <a:buNone/>
              <a:defRPr/>
            </a:pPr>
            <a:r>
              <a:rPr kumimoji="0" lang="en-GB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}</a:t>
            </a:r>
            <a:endParaRPr kumimoji="0" lang="en-GB" altLang="zh-CN" sz="19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342900" eaLnBrk="1" hangingPunct="1">
              <a:buClrTx/>
              <a:buSzTx/>
              <a:buFontTx/>
              <a:buNone/>
              <a:defRPr/>
            </a:pPr>
            <a:r>
              <a:rPr kumimoji="0" lang="en-GB" altLang="zh-CN" sz="19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};</a:t>
            </a:r>
            <a:endParaRPr kumimoji="0" lang="en-GB" altLang="zh-CN" sz="19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61921" name="Text Box 1"/>
          <p:cNvSpPr txBox="1">
            <a:spLocks noChangeArrowheads="1"/>
          </p:cNvSpPr>
          <p:nvPr/>
        </p:nvSpPr>
        <p:spPr bwMode="auto">
          <a:xfrm>
            <a:off x="5508625" y="1268413"/>
            <a:ext cx="3527425" cy="2862263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0" lang="en-US" altLang="zh-CN" sz="20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func</a:t>
            </a: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() //</a:t>
            </a:r>
            <a:r>
              <a:rPr kumimoji="0" lang="zh-CN" altLang="en-US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全局函数</a:t>
            </a:r>
            <a:endParaRPr kumimoji="0" lang="en-US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{  </a:t>
            </a: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 </a:t>
            </a:r>
            <a:r>
              <a:rPr kumimoji="0" lang="en-GB" altLang="zh-CN" sz="20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GB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GB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a.f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();  //OK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a.x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= 1;  //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Error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a.g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();  //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Error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a.y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= 1;  //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Error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a.h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();  //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Error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......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0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92275" y="2997200"/>
            <a:ext cx="322103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000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可以，这是在</a:t>
            </a:r>
            <a:r>
              <a:rPr kumimoji="0" lang="en-US" altLang="zh-CN" sz="2000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000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类的内部！</a:t>
            </a:r>
            <a:endParaRPr kumimoji="0" lang="zh-CN" altLang="en-US" sz="2000" b="1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20">
                                            <p:txEl>
                                              <p:charRg st="57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61920">
                                            <p:txEl>
                                              <p:charRg st="57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61920">
                                            <p:txEl>
                                              <p:charRg st="57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20">
                                            <p:txEl>
                                              <p:charRg st="67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61920">
                                            <p:txEl>
                                              <p:charRg st="67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61920">
                                            <p:txEl>
                                              <p:charRg st="67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614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692150"/>
            <a:ext cx="8469313" cy="5878513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可以对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同类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对象进行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赋值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Date 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yesterday,today,some_day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some_day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=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yesterday; 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默认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把对象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yesterday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数据成员分别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赋值给对象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some_day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的相应数据成员</a:t>
            </a:r>
            <a:endParaRPr kumimoji="0" lang="zh-CN" altLang="en-GB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取对象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地址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Date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today;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Date 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*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p_date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p_date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=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&amp;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today; 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把对象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today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的地址赋值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给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    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指针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p_date</a:t>
            </a:r>
            <a:endParaRPr kumimoji="0" lang="zh-CN" altLang="en-GB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250"/>
            <a:ext cx="8435975" cy="604837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把对象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作为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参数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传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给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函数。例如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f(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Date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d)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创建一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个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新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，其数据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        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用实参对象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的数据成员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对其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初始化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......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Date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&amp;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d)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不创建新对象，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就是实参对象！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Date today;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f(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today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 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调用函数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，对象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today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不会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被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修改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today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 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，对象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today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会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被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修改！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260350"/>
            <a:ext cx="8435975" cy="6121400"/>
          </a:xfrm>
        </p:spPr>
        <p:txBody>
          <a:bodyPr vert="horz" wrap="square" lIns="91440" tIns="45720" rIns="91440" bIns="45720" numCol="1" anchor="t" anchorCtr="0" compatLnSpc="1">
            <a:normAutofit fontScale="92500"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把对象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作为函数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的返回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值。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例如，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Date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(Date &amp;d)</a:t>
            </a:r>
            <a:endParaRPr kumimoji="0" lang="en-GB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d.print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(); //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输出：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2020.2.20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return d;  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创建一个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临时对象作为返回值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用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其初始化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zh-CN" altLang="en-GB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Date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&amp;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(Date 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&amp;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endParaRPr kumimoji="0" lang="en-GB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d.print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(); //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输出：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2020.2.20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return 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d;  //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不创建新对象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，把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作为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返回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值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zh-CN" altLang="en-GB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Date 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some_day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//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创建一个日期对象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some_day.set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(2020,2,20); 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f(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some_day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).set(2017,3,13);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some_day.print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(); //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?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g(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some_day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).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set(2017,3,13);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some_day.print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(); //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?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前者显示：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2020.2.20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，因为修改的是临时对象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后者显示：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2017.3.13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，因为修改的是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some_day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!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32" end="3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charRg st="332" end="36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charRg st="332" end="36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60" end="3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charRg st="360" end="39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charRg st="360" end="39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lobe">
  <a:themeElements>
    <a:clrScheme name="Globe 11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CC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0">
        <a:dk1>
          <a:srgbClr val="003B76"/>
        </a:dk1>
        <a:lt1>
          <a:srgbClr val="FFFFFF"/>
        </a:lt1>
        <a:dk2>
          <a:srgbClr val="0066CC"/>
        </a:dk2>
        <a:lt2>
          <a:srgbClr val="FFCC66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1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0</TotalTime>
  <Words>3970</Words>
  <Application>WPS 演示</Application>
  <PresentationFormat>全屏显示(4:3)</PresentationFormat>
  <Paragraphs>257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Verdana</vt:lpstr>
      <vt:lpstr>Times New Roman</vt:lpstr>
      <vt:lpstr>微软雅黑</vt:lpstr>
      <vt:lpstr>Arial Unicode MS</vt:lpstr>
      <vt:lpstr>Globe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chenjj</dc:creator>
  <cp:lastModifiedBy>tattit</cp:lastModifiedBy>
  <cp:revision>610</cp:revision>
  <dcterms:created xsi:type="dcterms:W3CDTF">1999-05-22T12:40:20Z</dcterms:created>
  <dcterms:modified xsi:type="dcterms:W3CDTF">2023-09-18T05:56:05Z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2052-11.8.2.8875</vt:lpwstr>
  </property>
</Properties>
</file>
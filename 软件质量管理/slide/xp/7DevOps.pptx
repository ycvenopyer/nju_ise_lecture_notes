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25"/>
  </p:notesMasterIdLst>
  <p:handoutMasterIdLst>
    <p:handoutMasterId r:id="rId26"/>
  </p:handoutMasterIdLst>
  <p:sldIdLst>
    <p:sldId id="337" r:id="rId3"/>
    <p:sldId id="344" r:id="rId4"/>
    <p:sldId id="350" r:id="rId5"/>
    <p:sldId id="351" r:id="rId6"/>
    <p:sldId id="352" r:id="rId7"/>
    <p:sldId id="353" r:id="rId8"/>
    <p:sldId id="354" r:id="rId9"/>
    <p:sldId id="345" r:id="rId10"/>
    <p:sldId id="355" r:id="rId11"/>
    <p:sldId id="356" r:id="rId12"/>
    <p:sldId id="357" r:id="rId13"/>
    <p:sldId id="358" r:id="rId14"/>
    <p:sldId id="359" r:id="rId15"/>
    <p:sldId id="360" r:id="rId16"/>
    <p:sldId id="361" r:id="rId17"/>
    <p:sldId id="362" r:id="rId18"/>
    <p:sldId id="363" r:id="rId19"/>
    <p:sldId id="364" r:id="rId20"/>
    <p:sldId id="365" r:id="rId21"/>
    <p:sldId id="366" r:id="rId22"/>
    <p:sldId id="367" r:id="rId23"/>
    <p:sldId id="34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C78BD"/>
    <a:srgbClr val="E31857"/>
    <a:srgbClr val="FEB813"/>
    <a:srgbClr val="870078"/>
    <a:srgbClr val="6A005F"/>
    <a:srgbClr val="760068"/>
    <a:srgbClr val="500048"/>
    <a:srgbClr val="A2008F"/>
    <a:srgbClr val="C00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0814" autoAdjust="0"/>
    <p:restoredTop sz="78045" autoAdjust="0"/>
  </p:normalViewPr>
  <p:slideViewPr>
    <p:cSldViewPr snapToGrid="0" showGuides="1">
      <p:cViewPr varScale="1">
        <p:scale>
          <a:sx n="69" d="100"/>
          <a:sy n="69" d="100"/>
        </p:scale>
        <p:origin x="208" y="2248"/>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commentAuthors" Target="commentAuthors.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notesMaster" Target="notesMasters/notesMaster1.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endParaRPr lang="zh-CN" altLang="en-US"/>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endParaRPr lang="zh-CN" altLang="en-US"/>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endParaRPr lang="zh-CN" altLang="en-US"/>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endParaRPr lang="zh-CN" altLang="en-US"/>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endParaRPr lang="zh-CN" altLang="en-US"/>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mc:Choice xmlns:p14="http://schemas.microsoft.com/office/powerpoint/2010/main" Requires="p14">
      <p:transition p14:dur="150">
        <p:fade/>
      </p:transition>
    </mc:Choice>
    <mc:Fallback>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DevOps</a:t>
            </a:r>
            <a:endParaRPr lang="en-US" altLang="zh-CN" dirty="0"/>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r>
              <a:rPr lang="zh-CN" altLang="en-US" dirty="0"/>
              <a:t>邵栋</a:t>
            </a:r>
            <a:endParaRPr lang="zh-CN" altLang="en-US" dirty="0"/>
          </a:p>
        </p:txBody>
      </p:sp>
      <p:sp>
        <p:nvSpPr>
          <p:cNvPr id="5" name="文本框 4"/>
          <p:cNvSpPr txBox="1"/>
          <p:nvPr/>
        </p:nvSpPr>
        <p:spPr>
          <a:xfrm>
            <a:off x="3844212" y="-1474237"/>
            <a:ext cx="184731" cy="369332"/>
          </a:xfrm>
          <a:prstGeom prst="rect">
            <a:avLst/>
          </a:prstGeom>
          <a:noFill/>
        </p:spPr>
        <p:txBody>
          <a:bodyPr wrap="none" rtlCol="0">
            <a:spAutoFit/>
          </a:bodyPr>
          <a:lstStyle/>
          <a:p>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的起源和早期发展 </a:t>
            </a:r>
            <a:r>
              <a:rPr kumimoji="1" lang="en-US" altLang="zh-CN" dirty="0"/>
              <a:t>(2007-2009)</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背景 </a:t>
            </a:r>
            <a:r>
              <a:rPr kumimoji="1" lang="en-US" altLang="zh-CN" dirty="0"/>
              <a:t>(2007-2008): </a:t>
            </a:r>
            <a:r>
              <a:rPr kumimoji="1" lang="zh-CN" altLang="en-US" dirty="0"/>
              <a:t>软件开发 </a:t>
            </a:r>
            <a:r>
              <a:rPr kumimoji="1" lang="en-US" altLang="zh-CN" dirty="0"/>
              <a:t>(Dev) </a:t>
            </a:r>
            <a:r>
              <a:rPr kumimoji="1" lang="zh-CN" altLang="en-US" dirty="0"/>
              <a:t>与 </a:t>
            </a:r>
            <a:r>
              <a:rPr kumimoji="1" lang="en-US" altLang="zh-CN" dirty="0"/>
              <a:t>IT </a:t>
            </a:r>
            <a:r>
              <a:rPr kumimoji="1" lang="zh-CN" altLang="en-US" dirty="0"/>
              <a:t>运维 </a:t>
            </a:r>
            <a:r>
              <a:rPr kumimoji="1" lang="en-US" altLang="zh-CN" dirty="0"/>
              <a:t>(Ops) </a:t>
            </a:r>
            <a:r>
              <a:rPr kumimoji="1" lang="zh-CN" altLang="en-US" dirty="0"/>
              <a:t>领域反思传统模式弊端。</a:t>
            </a:r>
            <a:endParaRPr kumimoji="1" lang="zh-CN" altLang="en-US" dirty="0"/>
          </a:p>
          <a:p>
            <a:r>
              <a:rPr kumimoji="1" lang="zh-CN" altLang="en-US" dirty="0"/>
              <a:t>传统困境</a:t>
            </a:r>
            <a:r>
              <a:rPr kumimoji="1" lang="en-US" altLang="zh-CN" dirty="0"/>
              <a:t>: </a:t>
            </a:r>
            <a:r>
              <a:rPr kumimoji="1" lang="zh-CN" altLang="en-US" dirty="0">
                <a:solidFill>
                  <a:srgbClr val="FF0000"/>
                </a:solidFill>
              </a:rPr>
              <a:t>开发与运维各自为政，缺乏协作；开发专注新功能，运维负责部署维护</a:t>
            </a:r>
            <a:r>
              <a:rPr kumimoji="1" lang="zh-CN" altLang="en-US" dirty="0"/>
              <a:t>。</a:t>
            </a:r>
            <a:endParaRPr kumimoji="1" lang="zh-CN" altLang="en-US" dirty="0"/>
          </a:p>
          <a:p>
            <a:r>
              <a:rPr kumimoji="1" lang="zh-CN" altLang="en-US" dirty="0"/>
              <a:t>“割裂”现象</a:t>
            </a:r>
            <a:r>
              <a:rPr kumimoji="1" lang="en-US" altLang="zh-CN" dirty="0"/>
              <a:t>: </a:t>
            </a:r>
            <a:r>
              <a:rPr kumimoji="1" lang="zh-CN" altLang="en-US" dirty="0"/>
              <a:t>促使业界人士提出改善想法。</a:t>
            </a:r>
            <a:endParaRPr kumimoji="1" lang="zh-CN" altLang="en-US" dirty="0"/>
          </a:p>
          <a:p>
            <a:r>
              <a:rPr kumimoji="1" lang="zh-CN" altLang="en-US" dirty="0"/>
              <a:t>关键事件 </a:t>
            </a:r>
            <a:r>
              <a:rPr kumimoji="1" lang="en-US" altLang="zh-CN" dirty="0"/>
              <a:t>(2009): </a:t>
            </a:r>
            <a:r>
              <a:rPr kumimoji="1" lang="zh-CN" altLang="en-US" dirty="0">
                <a:solidFill>
                  <a:srgbClr val="FF0000"/>
                </a:solidFill>
              </a:rPr>
              <a:t>比利时顾问 </a:t>
            </a:r>
            <a:r>
              <a:rPr kumimoji="1" lang="en-US" altLang="zh-CN" dirty="0">
                <a:solidFill>
                  <a:srgbClr val="FF0000"/>
                </a:solidFill>
              </a:rPr>
              <a:t>Patrick </a:t>
            </a:r>
            <a:r>
              <a:rPr kumimoji="1" lang="en-US" altLang="zh-CN" dirty="0" err="1">
                <a:solidFill>
                  <a:srgbClr val="FF0000"/>
                </a:solidFill>
              </a:rPr>
              <a:t>Debois</a:t>
            </a:r>
            <a:r>
              <a:rPr kumimoji="1" lang="en-US" altLang="zh-CN" dirty="0">
                <a:solidFill>
                  <a:srgbClr val="FF0000"/>
                </a:solidFill>
              </a:rPr>
              <a:t> </a:t>
            </a:r>
            <a:r>
              <a:rPr kumimoji="1" lang="zh-CN" altLang="en-US" dirty="0">
                <a:solidFill>
                  <a:srgbClr val="FF0000"/>
                </a:solidFill>
              </a:rPr>
              <a:t>等人在比利时根特组织首次 </a:t>
            </a:r>
            <a:r>
              <a:rPr kumimoji="1" lang="en-US" altLang="zh-CN" dirty="0">
                <a:solidFill>
                  <a:srgbClr val="FF0000"/>
                </a:solidFill>
              </a:rPr>
              <a:t>DevOps Days </a:t>
            </a:r>
            <a:r>
              <a:rPr kumimoji="1" lang="zh-CN" altLang="en-US" dirty="0">
                <a:solidFill>
                  <a:srgbClr val="FF0000"/>
                </a:solidFill>
              </a:rPr>
              <a:t>大会</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的发展历程与关键里程碑 </a:t>
            </a:r>
            <a:r>
              <a:rPr kumimoji="1" lang="en-US" altLang="zh-CN" dirty="0"/>
              <a:t>(2010s - </a:t>
            </a:r>
            <a:r>
              <a:rPr kumimoji="1" lang="zh-CN" altLang="en-US" dirty="0"/>
              <a:t>至今</a:t>
            </a:r>
            <a:r>
              <a:rPr kumimoji="1" lang="en-US" altLang="zh-CN" dirty="0"/>
              <a:t>)</a:t>
            </a:r>
            <a:endParaRPr kumimoji="1" lang="zh-CN" altLang="en-US" dirty="0"/>
          </a:p>
        </p:txBody>
      </p:sp>
      <p:sp>
        <p:nvSpPr>
          <p:cNvPr id="4" name="内容占位符 3"/>
          <p:cNvSpPr>
            <a:spLocks noGrp="1"/>
          </p:cNvSpPr>
          <p:nvPr>
            <p:ph idx="1"/>
          </p:nvPr>
        </p:nvSpPr>
        <p:spPr>
          <a:xfrm>
            <a:off x="838200" y="1289956"/>
            <a:ext cx="10515600" cy="5270108"/>
          </a:xfrm>
        </p:spPr>
        <p:txBody>
          <a:bodyPr>
            <a:normAutofit fontScale="62500" lnSpcReduction="20000"/>
          </a:bodyPr>
          <a:lstStyle/>
          <a:p>
            <a:r>
              <a:rPr kumimoji="1" lang="zh-CN" altLang="en-US" dirty="0"/>
              <a:t>早期推动 </a:t>
            </a:r>
            <a:r>
              <a:rPr kumimoji="1" lang="en-US" altLang="zh-CN" dirty="0"/>
              <a:t>(2010</a:t>
            </a:r>
            <a:r>
              <a:rPr kumimoji="1" lang="zh-CN" altLang="en-US" dirty="0"/>
              <a:t>前后</a:t>
            </a:r>
            <a:r>
              <a:rPr kumimoji="1" lang="en-US" altLang="zh-CN" dirty="0"/>
              <a:t>): </a:t>
            </a:r>
            <a:r>
              <a:rPr kumimoji="1" lang="zh-CN" altLang="en-US" dirty="0"/>
              <a:t>敏捷开发已在开发团队普及，但运维仍是瀑布式，差异推动</a:t>
            </a:r>
            <a:r>
              <a:rPr kumimoji="1" lang="en-US" altLang="zh-CN" dirty="0"/>
              <a:t>DevOps</a:t>
            </a:r>
            <a:r>
              <a:rPr kumimoji="1" lang="zh-CN" altLang="en-US" dirty="0"/>
              <a:t>思想形成。云计算兴起加速</a:t>
            </a:r>
            <a:r>
              <a:rPr kumimoji="1" lang="en-US" altLang="zh-CN" dirty="0"/>
              <a:t>DevOps</a:t>
            </a:r>
            <a:r>
              <a:rPr kumimoji="1" lang="zh-CN" altLang="en-US" dirty="0"/>
              <a:t>实践传播。</a:t>
            </a:r>
            <a:endParaRPr kumimoji="1" lang="zh-CN" altLang="en-US" dirty="0"/>
          </a:p>
          <a:p>
            <a:r>
              <a:rPr kumimoji="1" lang="zh-CN" altLang="en-US" dirty="0">
                <a:solidFill>
                  <a:srgbClr val="FF0000"/>
                </a:solidFill>
              </a:rPr>
              <a:t>里程碑案例 </a:t>
            </a:r>
            <a:r>
              <a:rPr kumimoji="1" lang="en-US" altLang="zh-CN" dirty="0">
                <a:solidFill>
                  <a:srgbClr val="FF0000"/>
                </a:solidFill>
              </a:rPr>
              <a:t>(2011): </a:t>
            </a:r>
            <a:r>
              <a:rPr kumimoji="1" lang="zh-CN" altLang="en-US" dirty="0">
                <a:solidFill>
                  <a:srgbClr val="FF0000"/>
                </a:solidFill>
              </a:rPr>
              <a:t>亚马逊使用内部工具 </a:t>
            </a:r>
            <a:r>
              <a:rPr kumimoji="1" lang="en-US" altLang="zh-CN" dirty="0">
                <a:solidFill>
                  <a:srgbClr val="FF0000"/>
                </a:solidFill>
              </a:rPr>
              <a:t>Apollo </a:t>
            </a:r>
            <a:r>
              <a:rPr kumimoji="1" lang="zh-CN" altLang="en-US" dirty="0">
                <a:solidFill>
                  <a:srgbClr val="FF0000"/>
                </a:solidFill>
              </a:rPr>
              <a:t>实现持续部署</a:t>
            </a:r>
            <a:r>
              <a:rPr kumimoji="1" lang="zh-CN" altLang="en-US" dirty="0"/>
              <a:t>，平均每 </a:t>
            </a:r>
            <a:r>
              <a:rPr kumimoji="1" lang="en-US" altLang="zh-CN" dirty="0"/>
              <a:t>11.6 </a:t>
            </a:r>
            <a:r>
              <a:rPr kumimoji="1" lang="zh-CN" altLang="en-US" dirty="0"/>
              <a:t>秒发布一次新代码，高峰时每小时 </a:t>
            </a:r>
            <a:r>
              <a:rPr kumimoji="1" lang="en-US" altLang="zh-CN" dirty="0"/>
              <a:t>1079 </a:t>
            </a:r>
            <a:r>
              <a:rPr kumimoji="1" lang="zh-CN" altLang="en-US" dirty="0"/>
              <a:t>次部署，故障率降至十万分之一。</a:t>
            </a:r>
            <a:endParaRPr kumimoji="1" lang="zh-CN" altLang="en-US" dirty="0"/>
          </a:p>
          <a:p>
            <a:r>
              <a:rPr kumimoji="1" lang="zh-CN" altLang="en-US" dirty="0">
                <a:solidFill>
                  <a:srgbClr val="FF0000"/>
                </a:solidFill>
              </a:rPr>
              <a:t>重要著作 </a:t>
            </a:r>
            <a:r>
              <a:rPr kumimoji="1" lang="en-US" altLang="zh-CN" dirty="0">
                <a:solidFill>
                  <a:srgbClr val="FF0000"/>
                </a:solidFill>
              </a:rPr>
              <a:t>(2013): 《Phoenix Project (</a:t>
            </a:r>
            <a:r>
              <a:rPr kumimoji="1" lang="zh-CN" altLang="en-US" dirty="0">
                <a:solidFill>
                  <a:srgbClr val="FF0000"/>
                </a:solidFill>
              </a:rPr>
              <a:t>凤凰项目</a:t>
            </a:r>
            <a:r>
              <a:rPr kumimoji="1" lang="en-US" altLang="zh-CN" dirty="0">
                <a:solidFill>
                  <a:srgbClr val="FF0000"/>
                </a:solidFill>
              </a:rPr>
              <a:t>)》</a:t>
            </a:r>
            <a:r>
              <a:rPr kumimoji="1" lang="zh-CN" altLang="en-US" dirty="0"/>
              <a:t>以故事形式展示</a:t>
            </a:r>
            <a:r>
              <a:rPr kumimoji="1" lang="en-US" altLang="zh-CN" dirty="0"/>
              <a:t>DevOps</a:t>
            </a:r>
            <a:r>
              <a:rPr kumimoji="1" lang="zh-CN" altLang="en-US" dirty="0"/>
              <a:t>理念，提升业界关注度。同年 </a:t>
            </a:r>
            <a:r>
              <a:rPr kumimoji="1" lang="en-US" altLang="zh-CN" dirty="0"/>
              <a:t>Docker </a:t>
            </a:r>
            <a:r>
              <a:rPr kumimoji="1" lang="zh-CN" altLang="en-US" dirty="0"/>
              <a:t>容器技术发布，为部署带来革命性改变。</a:t>
            </a:r>
            <a:endParaRPr kumimoji="1" lang="zh-CN" altLang="en-US" dirty="0"/>
          </a:p>
          <a:p>
            <a:r>
              <a:rPr kumimoji="1" lang="zh-CN" altLang="en-US" dirty="0"/>
              <a:t>实践普及 </a:t>
            </a:r>
            <a:r>
              <a:rPr kumimoji="1" lang="en-US" altLang="zh-CN" dirty="0"/>
              <a:t>(2014-2018): </a:t>
            </a:r>
            <a:r>
              <a:rPr kumimoji="1" lang="zh-CN" altLang="en-US" dirty="0"/>
              <a:t>尝试</a:t>
            </a:r>
            <a:r>
              <a:rPr kumimoji="1" lang="en-US" altLang="zh-CN" dirty="0"/>
              <a:t>DevOps</a:t>
            </a:r>
            <a:r>
              <a:rPr kumimoji="1" lang="zh-CN" altLang="en-US" dirty="0"/>
              <a:t>的组织比例从约</a:t>
            </a:r>
            <a:r>
              <a:rPr kumimoji="1" lang="en-US" altLang="zh-CN" dirty="0"/>
              <a:t>16%</a:t>
            </a:r>
            <a:r>
              <a:rPr kumimoji="1" lang="zh-CN" altLang="en-US" dirty="0"/>
              <a:t>增长到</a:t>
            </a:r>
            <a:r>
              <a:rPr kumimoji="1" lang="en-US" altLang="zh-CN" dirty="0"/>
              <a:t>27%</a:t>
            </a:r>
            <a:r>
              <a:rPr kumimoji="1" lang="zh-CN" altLang="en-US" dirty="0"/>
              <a:t>。催生工具链和服务生态 </a:t>
            </a:r>
            <a:r>
              <a:rPr kumimoji="1" lang="en-US" altLang="zh-CN" dirty="0"/>
              <a:t>(Atlassian, </a:t>
            </a:r>
            <a:r>
              <a:rPr kumimoji="1" lang="en-US" altLang="zh-CN" dirty="0" err="1"/>
              <a:t>CloudBees</a:t>
            </a:r>
            <a:r>
              <a:rPr kumimoji="1" lang="en-US" altLang="zh-CN" dirty="0"/>
              <a:t>, GitHub, </a:t>
            </a:r>
            <a:r>
              <a:rPr kumimoji="1" lang="en-US" altLang="zh-CN" dirty="0" err="1"/>
              <a:t>HashiCorp</a:t>
            </a:r>
            <a:r>
              <a:rPr kumimoji="1" lang="en-US" altLang="zh-CN" dirty="0"/>
              <a:t>, Google </a:t>
            </a:r>
            <a:r>
              <a:rPr kumimoji="1" lang="zh-CN" altLang="en-US" dirty="0"/>
              <a:t>等</a:t>
            </a:r>
            <a:r>
              <a:rPr kumimoji="1" lang="en-US" altLang="zh-CN" dirty="0"/>
              <a:t>)</a:t>
            </a:r>
            <a:r>
              <a:rPr kumimoji="1" lang="zh-CN" altLang="en-US" dirty="0"/>
              <a:t>。</a:t>
            </a:r>
            <a:endParaRPr kumimoji="1" lang="zh-CN" altLang="en-US" dirty="0"/>
          </a:p>
          <a:p>
            <a:r>
              <a:rPr kumimoji="1" lang="zh-CN" altLang="en-US" dirty="0"/>
              <a:t>技术成熟 </a:t>
            </a:r>
            <a:r>
              <a:rPr kumimoji="1" lang="en-US" altLang="zh-CN" dirty="0"/>
              <a:t>(2010s </a:t>
            </a:r>
            <a:r>
              <a:rPr kumimoji="1" lang="zh-CN" altLang="en-US" dirty="0"/>
              <a:t>中后期</a:t>
            </a:r>
            <a:r>
              <a:rPr kumimoji="1" lang="en-US" altLang="zh-CN" dirty="0"/>
              <a:t>): CI/CD</a:t>
            </a:r>
            <a:r>
              <a:rPr kumimoji="1" lang="zh-CN" altLang="en-US" dirty="0"/>
              <a:t>、自动化测试、</a:t>
            </a:r>
            <a:r>
              <a:rPr kumimoji="1" lang="en-US" altLang="zh-CN" dirty="0" err="1"/>
              <a:t>IaC</a:t>
            </a:r>
            <a:r>
              <a:rPr kumimoji="1" lang="zh-CN" altLang="en-US" dirty="0"/>
              <a:t>、微服务等成重要支柱。</a:t>
            </a:r>
            <a:r>
              <a:rPr kumimoji="1" lang="en-US" altLang="zh-CN" dirty="0"/>
              <a:t>Kubernetes (2014-2015</a:t>
            </a:r>
            <a:r>
              <a:rPr kumimoji="1" lang="zh-CN" altLang="en-US" dirty="0"/>
              <a:t>开源</a:t>
            </a:r>
            <a:r>
              <a:rPr kumimoji="1" lang="en-US" altLang="zh-CN" dirty="0"/>
              <a:t>) </a:t>
            </a:r>
            <a:r>
              <a:rPr kumimoji="1" lang="zh-CN" altLang="en-US" dirty="0"/>
              <a:t>加速云原生与</a:t>
            </a:r>
            <a:r>
              <a:rPr kumimoji="1" lang="en-US" altLang="zh-CN" dirty="0"/>
              <a:t>DevOps</a:t>
            </a:r>
            <a:r>
              <a:rPr kumimoji="1" lang="zh-CN" altLang="en-US" dirty="0"/>
              <a:t>结合。</a:t>
            </a:r>
            <a:endParaRPr kumimoji="1" lang="zh-CN" altLang="en-US" dirty="0"/>
          </a:p>
          <a:p>
            <a:r>
              <a:rPr kumimoji="1" lang="zh-CN" altLang="en-US" dirty="0"/>
              <a:t>经验分享与演进 </a:t>
            </a:r>
            <a:r>
              <a:rPr kumimoji="1" lang="en-US" altLang="zh-CN" dirty="0"/>
              <a:t>(2016</a:t>
            </a:r>
            <a:r>
              <a:rPr kumimoji="1" lang="zh-CN" altLang="en-US" dirty="0"/>
              <a:t>年后</a:t>
            </a:r>
            <a:r>
              <a:rPr kumimoji="1" lang="en-US" altLang="zh-CN" dirty="0"/>
              <a:t>): </a:t>
            </a:r>
            <a:r>
              <a:rPr kumimoji="1" lang="zh-CN" altLang="en-US" dirty="0"/>
              <a:t>大型互联网企业 </a:t>
            </a:r>
            <a:r>
              <a:rPr kumimoji="1" lang="en-US" altLang="zh-CN" dirty="0"/>
              <a:t>(Amazon, Netflix, Google) </a:t>
            </a:r>
            <a:r>
              <a:rPr kumimoji="1" lang="zh-CN" altLang="en-US" dirty="0"/>
              <a:t>分享经验，证明</a:t>
            </a:r>
            <a:r>
              <a:rPr kumimoji="1" lang="en-US" altLang="zh-CN" dirty="0"/>
              <a:t>DevOps</a:t>
            </a:r>
            <a:r>
              <a:rPr kumimoji="1" lang="zh-CN" altLang="en-US" dirty="0"/>
              <a:t>价值。概念融入 </a:t>
            </a:r>
            <a:r>
              <a:rPr kumimoji="1" lang="en-US" altLang="zh-CN" dirty="0" err="1"/>
              <a:t>DevSecOps</a:t>
            </a:r>
            <a:r>
              <a:rPr kumimoji="1" lang="en-US" altLang="zh-CN" dirty="0"/>
              <a:t> </a:t>
            </a:r>
            <a:r>
              <a:rPr kumimoji="1" lang="zh-CN" altLang="en-US" dirty="0"/>
              <a:t>和 </a:t>
            </a:r>
            <a:r>
              <a:rPr kumimoji="1" lang="en-US" altLang="zh-CN" dirty="0"/>
              <a:t>AIOps</a:t>
            </a:r>
            <a:r>
              <a:rPr kumimoji="1" lang="zh-CN" altLang="en-US" dirty="0"/>
              <a:t>，扩展为覆盖文化、流程、技术的方法论。</a:t>
            </a:r>
            <a:endParaRPr kumimoji="1" lang="zh-CN" altLang="en-US" dirty="0"/>
          </a:p>
          <a:p>
            <a:r>
              <a:rPr kumimoji="1" lang="zh-CN" altLang="en-US" dirty="0">
                <a:solidFill>
                  <a:srgbClr val="FF0000"/>
                </a:solidFill>
              </a:rPr>
              <a:t>总结</a:t>
            </a:r>
            <a:r>
              <a:rPr kumimoji="1" lang="en-US" altLang="zh-CN" dirty="0">
                <a:solidFill>
                  <a:srgbClr val="FF0000"/>
                </a:solidFill>
              </a:rPr>
              <a:t>: </a:t>
            </a:r>
            <a:r>
              <a:rPr kumimoji="1" lang="zh-CN" altLang="en-US" dirty="0">
                <a:solidFill>
                  <a:srgbClr val="FF0000"/>
                </a:solidFill>
              </a:rPr>
              <a:t>从理念形成 </a:t>
            </a:r>
            <a:r>
              <a:rPr kumimoji="1" lang="en-US" altLang="zh-CN" dirty="0">
                <a:solidFill>
                  <a:srgbClr val="FF0000"/>
                </a:solidFill>
              </a:rPr>
              <a:t>-&gt; </a:t>
            </a:r>
            <a:r>
              <a:rPr kumimoji="1" lang="zh-CN" altLang="en-US" dirty="0">
                <a:solidFill>
                  <a:srgbClr val="FF0000"/>
                </a:solidFill>
              </a:rPr>
              <a:t>敏捷</a:t>
            </a:r>
            <a:r>
              <a:rPr kumimoji="1" lang="en-US" altLang="zh-CN" dirty="0">
                <a:solidFill>
                  <a:srgbClr val="FF0000"/>
                </a:solidFill>
              </a:rPr>
              <a:t>/</a:t>
            </a:r>
            <a:r>
              <a:rPr kumimoji="1" lang="zh-CN" altLang="en-US" dirty="0">
                <a:solidFill>
                  <a:srgbClr val="FF0000"/>
                </a:solidFill>
              </a:rPr>
              <a:t>云</a:t>
            </a:r>
            <a:r>
              <a:rPr kumimoji="1" lang="en-US" altLang="zh-CN" dirty="0">
                <a:solidFill>
                  <a:srgbClr val="FF0000"/>
                </a:solidFill>
              </a:rPr>
              <a:t>/</a:t>
            </a:r>
            <a:r>
              <a:rPr kumimoji="1" lang="zh-CN" altLang="en-US" dirty="0">
                <a:solidFill>
                  <a:srgbClr val="FF0000"/>
                </a:solidFill>
              </a:rPr>
              <a:t>工具驱动推广 </a:t>
            </a:r>
            <a:r>
              <a:rPr kumimoji="1" lang="en-US" altLang="zh-CN" dirty="0">
                <a:solidFill>
                  <a:srgbClr val="FF0000"/>
                </a:solidFill>
              </a:rPr>
              <a:t>-&gt; </a:t>
            </a:r>
            <a:r>
              <a:rPr kumimoji="1" lang="zh-CN" altLang="en-US" dirty="0">
                <a:solidFill>
                  <a:srgbClr val="FF0000"/>
                </a:solidFill>
              </a:rPr>
              <a:t>大规模验证</a:t>
            </a:r>
            <a:r>
              <a:rPr kumimoji="1" lang="en-US" altLang="zh-CN" dirty="0">
                <a:solidFill>
                  <a:srgbClr val="FF0000"/>
                </a:solidFill>
              </a:rPr>
              <a:t>/</a:t>
            </a:r>
            <a:r>
              <a:rPr kumimoji="1" lang="zh-CN" altLang="en-US" dirty="0">
                <a:solidFill>
                  <a:srgbClr val="FF0000"/>
                </a:solidFill>
              </a:rPr>
              <a:t>最佳实践 </a:t>
            </a:r>
            <a:r>
              <a:rPr kumimoji="1" lang="en-US" altLang="zh-CN" dirty="0">
                <a:solidFill>
                  <a:srgbClr val="FF0000"/>
                </a:solidFill>
              </a:rPr>
              <a:t>-&gt; </a:t>
            </a:r>
            <a:r>
              <a:rPr kumimoji="1" lang="zh-CN" altLang="en-US" dirty="0">
                <a:solidFill>
                  <a:srgbClr val="FF0000"/>
                </a:solidFill>
              </a:rPr>
              <a:t>深度融合安全</a:t>
            </a:r>
            <a:r>
              <a:rPr kumimoji="1" lang="en-US" altLang="zh-CN" dirty="0">
                <a:solidFill>
                  <a:srgbClr val="FF0000"/>
                </a:solidFill>
              </a:rPr>
              <a:t>/AI</a:t>
            </a:r>
            <a:r>
              <a:rPr kumimoji="1" lang="zh-CN" altLang="en-US" dirty="0">
                <a:solidFill>
                  <a:srgbClr val="FF0000"/>
                </a:solidFill>
              </a:rPr>
              <a:t>。体现软件交付从瀑布到敏捷持续的范式转变。</a:t>
            </a:r>
            <a:endParaRPr kumimoji="1" lang="zh-CN" altLang="en-US"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核心实践与技术体系 </a:t>
            </a:r>
            <a:r>
              <a:rPr kumimoji="1" lang="en-US" altLang="zh-CN" dirty="0"/>
              <a:t>- </a:t>
            </a:r>
            <a:r>
              <a:rPr kumimoji="1" lang="zh-CN" altLang="en-US" dirty="0"/>
              <a:t>概述与 </a:t>
            </a:r>
            <a:r>
              <a:rPr kumimoji="1" lang="en-US" altLang="zh-CN" dirty="0"/>
              <a:t>CI/CD (1)</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en-US" altLang="zh-CN" dirty="0"/>
              <a:t>DevOps </a:t>
            </a:r>
            <a:r>
              <a:rPr kumimoji="1" lang="zh-CN" altLang="en-US" dirty="0"/>
              <a:t>不仅是理念</a:t>
            </a:r>
            <a:r>
              <a:rPr kumimoji="1" lang="en-US" altLang="zh-CN" dirty="0"/>
              <a:t>: </a:t>
            </a:r>
            <a:r>
              <a:rPr kumimoji="1" lang="zh-CN" altLang="en-US" dirty="0"/>
              <a:t>更是一系列核心实践和技术工具的体系化应用，贯穿软件生命周期（规划、编码、构建、测试、发布、部署、运行、监控、反馈）。形成持续循环的不间断流程。</a:t>
            </a:r>
            <a:endParaRPr kumimoji="1" lang="zh-CN" altLang="en-US" dirty="0"/>
          </a:p>
          <a:p>
            <a:r>
              <a:rPr kumimoji="1" lang="zh-CN" altLang="en-US" dirty="0"/>
              <a:t>持续集成 </a:t>
            </a:r>
            <a:r>
              <a:rPr kumimoji="1" lang="en-US" altLang="zh-CN" dirty="0"/>
              <a:t>(CI - Continuous Integration):</a:t>
            </a:r>
            <a:r>
              <a:rPr kumimoji="1" lang="zh-CN" altLang="en-US" dirty="0"/>
              <a:t>要求开发者频繁 </a:t>
            </a:r>
            <a:r>
              <a:rPr kumimoji="1" lang="en-US" altLang="zh-CN" dirty="0"/>
              <a:t>(</a:t>
            </a:r>
            <a:r>
              <a:rPr kumimoji="1" lang="zh-CN" altLang="en-US" dirty="0"/>
              <a:t>每天乃至每小时</a:t>
            </a:r>
            <a:r>
              <a:rPr kumimoji="1" lang="en-US" altLang="zh-CN" dirty="0"/>
              <a:t>) </a:t>
            </a:r>
            <a:r>
              <a:rPr kumimoji="1" lang="zh-CN" altLang="en-US" dirty="0"/>
              <a:t>将代码变更合并到主干分支，触发自动化构建和测试。</a:t>
            </a:r>
            <a:endParaRPr kumimoji="1" lang="en-US" altLang="zh-CN" dirty="0"/>
          </a:p>
          <a:p>
            <a:r>
              <a:rPr kumimoji="1" lang="zh-CN" altLang="en-US" dirty="0"/>
              <a:t>持续交付 </a:t>
            </a:r>
            <a:r>
              <a:rPr kumimoji="1" lang="en-US" altLang="zh-CN" dirty="0"/>
              <a:t>(CD - Continuous Delivery):</a:t>
            </a:r>
            <a:r>
              <a:rPr kumimoji="1" lang="zh-CN" altLang="en-US" dirty="0"/>
              <a:t>将 </a:t>
            </a:r>
            <a:r>
              <a:rPr kumimoji="1" lang="en-US" altLang="zh-CN" dirty="0"/>
              <a:t>CI </a:t>
            </a:r>
            <a:r>
              <a:rPr kumimoji="1" lang="zh-CN" altLang="en-US" dirty="0"/>
              <a:t>产出的构件自动部署到测试或预生产环境。</a:t>
            </a:r>
            <a:endParaRPr kumimoji="1" lang="en-US" altLang="zh-CN" dirty="0"/>
          </a:p>
          <a:p>
            <a:r>
              <a:rPr kumimoji="1" lang="zh-CN" altLang="en-US" dirty="0"/>
              <a:t>持续部署 </a:t>
            </a:r>
            <a:r>
              <a:rPr kumimoji="1" lang="en-US" altLang="zh-CN" dirty="0"/>
              <a:t>(Continuous Deployment):</a:t>
            </a:r>
            <a:r>
              <a:rPr kumimoji="1" lang="zh-CN" altLang="en-US" dirty="0"/>
              <a:t>持续交付的极致，代码通过自动化流程验证后直接部署到生产环境。</a:t>
            </a:r>
            <a:endParaRPr kumimoji="1" lang="en-US" altLang="zh-CN" dirty="0"/>
          </a:p>
          <a:p>
            <a:pPr lvl="1"/>
            <a:r>
              <a:rPr kumimoji="1" lang="zh-CN" altLang="en-US" dirty="0"/>
              <a:t>许多顶尖互联网公司 </a:t>
            </a:r>
            <a:r>
              <a:rPr kumimoji="1" lang="en-US" altLang="zh-CN" dirty="0"/>
              <a:t>(</a:t>
            </a:r>
            <a:r>
              <a:rPr kumimoji="1" lang="zh-CN" altLang="en-US" dirty="0"/>
              <a:t>如亚马逊</a:t>
            </a:r>
            <a:r>
              <a:rPr kumimoji="1" lang="en-US" altLang="zh-CN" dirty="0"/>
              <a:t>) </a:t>
            </a:r>
            <a:r>
              <a:rPr kumimoji="1" lang="zh-CN" altLang="en-US" dirty="0"/>
              <a:t>实现每天上千次部署。</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核心实践与技术体系 </a:t>
            </a:r>
            <a:r>
              <a:rPr kumimoji="1" lang="en-US" altLang="zh-CN" dirty="0"/>
              <a:t>- </a:t>
            </a:r>
            <a:r>
              <a:rPr kumimoji="1" lang="zh-CN" altLang="en-US" dirty="0"/>
              <a:t>测试自动化与 </a:t>
            </a:r>
            <a:r>
              <a:rPr kumimoji="1" lang="en-US" altLang="zh-CN" dirty="0" err="1"/>
              <a:t>IaC</a:t>
            </a:r>
            <a:r>
              <a:rPr kumimoji="1" lang="en-US" altLang="zh-CN" dirty="0"/>
              <a:t> (2)</a:t>
            </a:r>
            <a:endParaRPr kumimoji="1" lang="zh-CN" altLang="en-US" dirty="0"/>
          </a:p>
        </p:txBody>
      </p:sp>
      <p:sp>
        <p:nvSpPr>
          <p:cNvPr id="4" name="内容占位符 3"/>
          <p:cNvSpPr>
            <a:spLocks noGrp="1"/>
          </p:cNvSpPr>
          <p:nvPr>
            <p:ph idx="1"/>
          </p:nvPr>
        </p:nvSpPr>
        <p:spPr>
          <a:xfrm>
            <a:off x="838200" y="1289956"/>
            <a:ext cx="10515600" cy="5270108"/>
          </a:xfrm>
        </p:spPr>
        <p:txBody>
          <a:bodyPr>
            <a:normAutofit fontScale="92500" lnSpcReduction="20000"/>
          </a:bodyPr>
          <a:lstStyle/>
          <a:p>
            <a:r>
              <a:rPr kumimoji="1" lang="zh-CN" altLang="en-US" dirty="0"/>
              <a:t>自动化测试</a:t>
            </a:r>
            <a:r>
              <a:rPr kumimoji="1" lang="en-US" altLang="zh-CN" dirty="0"/>
              <a:t>:</a:t>
            </a:r>
            <a:r>
              <a:rPr kumimoji="1" lang="zh-CN" altLang="en-US" dirty="0"/>
              <a:t>“测试门禁”只有通过所有自动测试的构建才可部署，前移质量控制。</a:t>
            </a:r>
            <a:endParaRPr kumimoji="1" lang="zh-CN" altLang="en-US" dirty="0"/>
          </a:p>
          <a:p>
            <a:r>
              <a:rPr kumimoji="1" lang="zh-CN" altLang="en-US" dirty="0">
                <a:solidFill>
                  <a:srgbClr val="FF0000"/>
                </a:solidFill>
              </a:rPr>
              <a:t>基础设施即代码 </a:t>
            </a:r>
            <a:r>
              <a:rPr kumimoji="1" lang="en-US" altLang="zh-CN" dirty="0">
                <a:solidFill>
                  <a:srgbClr val="FF0000"/>
                </a:solidFill>
              </a:rPr>
              <a:t>(</a:t>
            </a:r>
            <a:r>
              <a:rPr kumimoji="1" lang="en-US" altLang="zh-CN" dirty="0" err="1">
                <a:solidFill>
                  <a:srgbClr val="FF0000"/>
                </a:solidFill>
              </a:rPr>
              <a:t>IaC</a:t>
            </a:r>
            <a:r>
              <a:rPr kumimoji="1" lang="en-US" altLang="zh-CN" dirty="0">
                <a:solidFill>
                  <a:srgbClr val="FF0000"/>
                </a:solidFill>
              </a:rPr>
              <a:t> - Infrastructure as Code)</a:t>
            </a:r>
            <a:r>
              <a:rPr kumimoji="1" lang="en-US" altLang="zh-CN" dirty="0"/>
              <a:t>:</a:t>
            </a:r>
            <a:endParaRPr kumimoji="1" lang="en-US" altLang="zh-CN" dirty="0"/>
          </a:p>
          <a:p>
            <a:pPr lvl="1"/>
            <a:r>
              <a:rPr kumimoji="1" lang="zh-CN" altLang="en-US" dirty="0"/>
              <a:t>定义：使用代码化方式管理和配置基础设施 </a:t>
            </a:r>
            <a:r>
              <a:rPr kumimoji="1" lang="en-US" altLang="zh-CN" dirty="0"/>
              <a:t>(</a:t>
            </a:r>
            <a:r>
              <a:rPr kumimoji="1" lang="zh-CN" altLang="en-US" dirty="0"/>
              <a:t>服务器、网络等</a:t>
            </a:r>
            <a:r>
              <a:rPr kumimoji="1" lang="en-US" altLang="zh-CN" dirty="0"/>
              <a:t>)</a:t>
            </a:r>
            <a:r>
              <a:rPr kumimoji="1" lang="zh-CN" altLang="en-US" dirty="0"/>
              <a:t>，将手动运维操作转为可编程脚本</a:t>
            </a:r>
            <a:r>
              <a:rPr kumimoji="1" lang="en-US" altLang="zh-CN" dirty="0"/>
              <a:t>/</a:t>
            </a:r>
            <a:r>
              <a:rPr kumimoji="1" lang="zh-CN" altLang="en-US" dirty="0"/>
              <a:t>配置。</a:t>
            </a:r>
            <a:endParaRPr kumimoji="1" lang="zh-CN" altLang="en-US" dirty="0"/>
          </a:p>
          <a:p>
            <a:pPr lvl="1"/>
            <a:r>
              <a:rPr kumimoji="1" lang="zh-CN" altLang="en-US" dirty="0"/>
              <a:t>工具示例：</a:t>
            </a:r>
            <a:r>
              <a:rPr kumimoji="1" lang="en-US" altLang="zh-CN" dirty="0"/>
              <a:t>Chef, Puppet, Ansible, Terraform</a:t>
            </a:r>
            <a:r>
              <a:rPr kumimoji="1" lang="zh-CN" altLang="en-US" dirty="0"/>
              <a:t>。</a:t>
            </a:r>
            <a:endParaRPr kumimoji="1" lang="zh-CN" altLang="en-US" dirty="0"/>
          </a:p>
          <a:p>
            <a:pPr lvl="1"/>
            <a:r>
              <a:rPr kumimoji="1" lang="zh-CN" altLang="en-US" dirty="0"/>
              <a:t>实践：以声明式配置文件定义所需基础架构环境，自动化部署和变更管理。</a:t>
            </a:r>
            <a:endParaRPr kumimoji="1" lang="zh-CN" altLang="en-US" dirty="0"/>
          </a:p>
          <a:p>
            <a:pPr lvl="1"/>
            <a:r>
              <a:rPr kumimoji="1" lang="zh-CN" altLang="en-US" dirty="0"/>
              <a:t>效果：确保环境配置一致性和可重复性，避免“环境漂移”。</a:t>
            </a:r>
            <a:endParaRPr kumimoji="1" lang="zh-CN" altLang="en-US" dirty="0"/>
          </a:p>
          <a:p>
            <a:pPr lvl="1"/>
            <a:r>
              <a:rPr kumimoji="1" lang="zh-CN" altLang="en-US" dirty="0"/>
              <a:t>跨云标准化：如 </a:t>
            </a:r>
            <a:r>
              <a:rPr kumimoji="1" lang="en-US" altLang="zh-CN" dirty="0"/>
              <a:t>Terraform </a:t>
            </a:r>
            <a:r>
              <a:rPr kumimoji="1" lang="zh-CN" altLang="en-US" dirty="0"/>
              <a:t>可用同套脚本在不同云厂商创建相同架构。</a:t>
            </a:r>
            <a:endParaRPr kumimoji="1" lang="zh-CN" altLang="en-US" dirty="0"/>
          </a:p>
          <a:p>
            <a:pPr lvl="1"/>
            <a:r>
              <a:rPr kumimoji="1" lang="zh-CN" altLang="en-US" dirty="0"/>
              <a:t>版本控制与审核：基础设施配置脚本可存入版本库，变更可代码评审、</a:t>
            </a:r>
            <a:r>
              <a:rPr kumimoji="1" lang="en-US" altLang="zh-CN" dirty="0"/>
              <a:t>CI/CD </a:t>
            </a:r>
            <a:r>
              <a:rPr kumimoji="1" lang="zh-CN" altLang="en-US" dirty="0"/>
              <a:t>测试部署。</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kumimoji="1" lang="en-US" altLang="zh-CN" dirty="0"/>
              <a:t>DevOps </a:t>
            </a:r>
            <a:r>
              <a:rPr kumimoji="1" lang="zh-CN" altLang="en-US" dirty="0"/>
              <a:t>核心实践与技术体系 </a:t>
            </a:r>
            <a:r>
              <a:rPr kumimoji="1" lang="en-US" altLang="zh-CN" dirty="0"/>
              <a:t>- </a:t>
            </a:r>
            <a:r>
              <a:rPr kumimoji="1" lang="zh-CN" altLang="en-US" dirty="0"/>
              <a:t>配置管理、容器化 </a:t>
            </a:r>
            <a:r>
              <a:rPr kumimoji="1" lang="en-US" altLang="zh-CN" dirty="0"/>
              <a:t>(3)</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自动化配置：配置管理工具 </a:t>
            </a:r>
            <a:r>
              <a:rPr kumimoji="1" lang="en-US" altLang="zh-CN" dirty="0"/>
              <a:t>(Chef, Puppet) </a:t>
            </a:r>
            <a:r>
              <a:rPr kumimoji="1" lang="zh-CN" altLang="en-US" dirty="0"/>
              <a:t>确保不同服务器系统配置统一。</a:t>
            </a:r>
            <a:endParaRPr kumimoji="1" lang="zh-CN" altLang="en-US" dirty="0"/>
          </a:p>
          <a:p>
            <a:r>
              <a:rPr kumimoji="1" lang="zh-CN" altLang="en-US" dirty="0"/>
              <a:t>容器化技术 </a:t>
            </a:r>
            <a:r>
              <a:rPr kumimoji="1" lang="en-US" altLang="zh-CN" dirty="0"/>
              <a:t>(Docker)</a:t>
            </a:r>
            <a:r>
              <a:rPr kumimoji="1" lang="zh-CN" altLang="en-US" dirty="0"/>
              <a:t>：推动“一次构建，到处运行”。应用及其依赖打包为镜像，保证开发、测试、生产环境一致运行，减少“在我机器上能跑”问题。</a:t>
            </a:r>
            <a:endParaRPr kumimoji="1" lang="zh-CN" altLang="en-US" dirty="0"/>
          </a:p>
          <a:p>
            <a:r>
              <a:rPr kumimoji="1" lang="zh-CN" altLang="en-US" dirty="0"/>
              <a:t>容器编排 </a:t>
            </a:r>
            <a:r>
              <a:rPr kumimoji="1" lang="en-US" altLang="zh-CN" dirty="0"/>
              <a:t>(Kubernetes)</a:t>
            </a:r>
            <a:r>
              <a:rPr kumimoji="1" lang="zh-CN" altLang="en-US" dirty="0"/>
              <a:t>：自动部署、管理容器集群，提供服务发现、弹性伸缩等，使微服务落地更容易。</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核心实践与技术体系 </a:t>
            </a:r>
            <a:r>
              <a:rPr kumimoji="1" lang="en-US" altLang="zh-CN" dirty="0"/>
              <a:t>-</a:t>
            </a:r>
            <a:r>
              <a:rPr kumimoji="1" lang="zh-CN" altLang="en-US" dirty="0"/>
              <a:t>监控反馈</a:t>
            </a:r>
            <a:r>
              <a:rPr kumimoji="1" lang="en-US" altLang="zh-CN" dirty="0"/>
              <a:t>(4)</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zh-CN" altLang="en-US" dirty="0"/>
              <a:t>持续监控与反馈</a:t>
            </a:r>
            <a:r>
              <a:rPr kumimoji="1" lang="en-US" altLang="zh-CN" dirty="0"/>
              <a:t>:</a:t>
            </a:r>
            <a:endParaRPr kumimoji="1" lang="en-US" altLang="zh-CN" dirty="0"/>
          </a:p>
          <a:p>
            <a:r>
              <a:rPr kumimoji="1" lang="zh-CN" altLang="en-US" dirty="0"/>
              <a:t>实时监控：</a:t>
            </a:r>
            <a:r>
              <a:rPr kumimoji="1" lang="en-US" altLang="zh-CN" dirty="0"/>
              <a:t>DevOps </a:t>
            </a:r>
            <a:r>
              <a:rPr kumimoji="1" lang="zh-CN" altLang="en-US" dirty="0"/>
              <a:t>生命周期后半段强调对应用运行状态的实时监控。</a:t>
            </a:r>
            <a:endParaRPr kumimoji="1" lang="zh-CN" altLang="en-US" dirty="0"/>
          </a:p>
          <a:p>
            <a:r>
              <a:rPr kumimoji="1" lang="zh-CN" altLang="en-US" dirty="0"/>
              <a:t>工具示例：</a:t>
            </a:r>
            <a:r>
              <a:rPr kumimoji="1" lang="en-US" altLang="zh-CN" dirty="0"/>
              <a:t>Prometheus, Nagios, Grafana</a:t>
            </a:r>
            <a:r>
              <a:rPr kumimoji="1" lang="zh-CN" altLang="en-US" dirty="0"/>
              <a:t>。</a:t>
            </a:r>
            <a:endParaRPr kumimoji="1" lang="zh-CN" altLang="en-US" dirty="0"/>
          </a:p>
          <a:p>
            <a:r>
              <a:rPr kumimoji="1" lang="zh-CN" altLang="en-US" dirty="0"/>
              <a:t>实践：收集系统性能指标、日志、用户行为数据；设置警报及时通知异常。</a:t>
            </a:r>
            <a:endParaRPr kumimoji="1" lang="zh-CN" altLang="en-US" dirty="0"/>
          </a:p>
          <a:p>
            <a:r>
              <a:rPr kumimoji="1" lang="zh-CN" altLang="en-US" dirty="0"/>
              <a:t>持续反馈：不仅是故障响应 </a:t>
            </a:r>
            <a:r>
              <a:rPr kumimoji="1" lang="en-US" altLang="zh-CN" dirty="0"/>
              <a:t>(</a:t>
            </a:r>
            <a:r>
              <a:rPr kumimoji="1" lang="zh-CN" altLang="en-US" dirty="0"/>
              <a:t>传统运维关注 </a:t>
            </a:r>
            <a:r>
              <a:rPr kumimoji="1" lang="en-US" altLang="zh-CN" dirty="0"/>
              <a:t>MTTR)</a:t>
            </a:r>
            <a:r>
              <a:rPr kumimoji="1" lang="zh-CN" altLang="en-US" dirty="0"/>
              <a:t>，更要将正常运行数据用于改进 </a:t>
            </a:r>
            <a:r>
              <a:rPr kumimoji="1" lang="en-US" altLang="zh-CN" dirty="0"/>
              <a:t>(</a:t>
            </a:r>
            <a:r>
              <a:rPr kumimoji="1" lang="zh-CN" altLang="en-US" dirty="0"/>
              <a:t>分析部署频率与失败率关系、用户行为反馈新功能等</a:t>
            </a:r>
            <a:r>
              <a:rPr kumimoji="1" lang="en-US" altLang="zh-CN" dirty="0"/>
              <a:t>)</a:t>
            </a:r>
            <a:r>
              <a:rPr kumimoji="1" lang="zh-CN" altLang="en-US" dirty="0"/>
              <a:t>。</a:t>
            </a:r>
            <a:endParaRPr kumimoji="1" lang="en-US" altLang="zh-CN" dirty="0"/>
          </a:p>
          <a:p>
            <a:endParaRPr kumimoji="1" lang="en-US" altLang="zh-CN" dirty="0"/>
          </a:p>
          <a:p>
            <a:r>
              <a:rPr kumimoji="1" lang="en-US" altLang="zh-CN" dirty="0">
                <a:solidFill>
                  <a:srgbClr val="FF0000"/>
                </a:solidFill>
              </a:rPr>
              <a:t>DevOps </a:t>
            </a:r>
            <a:r>
              <a:rPr kumimoji="1" lang="zh-CN" altLang="en-US" dirty="0">
                <a:solidFill>
                  <a:srgbClr val="FF0000"/>
                </a:solidFill>
              </a:rPr>
              <a:t>核心实践形成 </a:t>
            </a:r>
            <a:r>
              <a:rPr kumimoji="1" lang="en-US" altLang="zh-CN" dirty="0">
                <a:solidFill>
                  <a:srgbClr val="FF0000"/>
                </a:solidFill>
              </a:rPr>
              <a:t>CI-CD-CF (</a:t>
            </a:r>
            <a:r>
              <a:rPr kumimoji="1" lang="zh-CN" altLang="en-US" dirty="0">
                <a:solidFill>
                  <a:srgbClr val="FF0000"/>
                </a:solidFill>
              </a:rPr>
              <a:t>持续反馈</a:t>
            </a:r>
            <a:r>
              <a:rPr kumimoji="1" lang="en-US" altLang="zh-CN" dirty="0">
                <a:solidFill>
                  <a:srgbClr val="FF0000"/>
                </a:solidFill>
              </a:rPr>
              <a:t>) </a:t>
            </a:r>
            <a:r>
              <a:rPr kumimoji="1" lang="zh-CN" altLang="en-US" dirty="0">
                <a:solidFill>
                  <a:srgbClr val="FF0000"/>
                </a:solidFill>
              </a:rPr>
              <a:t>闭环。高度自动化是显著特征；协作和透明是关键。依赖工具链支撑，更重要是将工具和实践融合成文化和流程，实现“更快地交付更可靠的软件”。</a:t>
            </a:r>
            <a:endParaRPr kumimoji="1" lang="zh-CN" altLang="en-US" dirty="0">
              <a:solidFill>
                <a:srgbClr val="FF0000"/>
              </a:solidFill>
            </a:endParaRPr>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与相关概念 </a:t>
            </a:r>
            <a:r>
              <a:rPr kumimoji="1" lang="en-US" altLang="zh-CN" dirty="0"/>
              <a:t>- vs. Agile (</a:t>
            </a:r>
            <a:r>
              <a:rPr kumimoji="1" lang="zh-CN" altLang="en-US" dirty="0"/>
              <a:t>敏捷</a:t>
            </a:r>
            <a:r>
              <a:rPr kumimoji="1" lang="en-US" altLang="zh-CN" dirty="0"/>
              <a:t>)</a:t>
            </a:r>
            <a:endParaRPr kumimoji="1" lang="zh-CN" altLang="en-US" dirty="0"/>
          </a:p>
        </p:txBody>
      </p:sp>
      <p:sp>
        <p:nvSpPr>
          <p:cNvPr id="4" name="内容占位符 3"/>
          <p:cNvSpPr>
            <a:spLocks noGrp="1"/>
          </p:cNvSpPr>
          <p:nvPr>
            <p:ph idx="1"/>
          </p:nvPr>
        </p:nvSpPr>
        <p:spPr/>
        <p:txBody>
          <a:bodyPr>
            <a:normAutofit fontScale="70000" lnSpcReduction="20000"/>
          </a:bodyPr>
          <a:lstStyle/>
          <a:p>
            <a:r>
              <a:rPr kumimoji="1" lang="zh-CN" altLang="en-US" dirty="0"/>
              <a:t>敏捷 </a:t>
            </a:r>
            <a:r>
              <a:rPr kumimoji="1" lang="en-US" altLang="zh-CN" dirty="0"/>
              <a:t>(Agile):</a:t>
            </a:r>
            <a:endParaRPr kumimoji="1" lang="en-US" altLang="zh-CN" dirty="0"/>
          </a:p>
          <a:p>
            <a:pPr lvl="1"/>
            <a:r>
              <a:rPr kumimoji="1" lang="zh-CN" altLang="en-US" dirty="0"/>
              <a:t>核心：项目和产品开发方法学，提高开发过程灵活性和响应速度。</a:t>
            </a:r>
            <a:endParaRPr kumimoji="1" lang="zh-CN" altLang="en-US" dirty="0"/>
          </a:p>
          <a:p>
            <a:pPr lvl="1"/>
            <a:r>
              <a:rPr kumimoji="1" lang="zh-CN" altLang="en-US" dirty="0"/>
              <a:t>关注点：开发团队内部效率 </a:t>
            </a:r>
            <a:r>
              <a:rPr kumimoji="1" lang="en-US" altLang="zh-CN" dirty="0"/>
              <a:t>(</a:t>
            </a:r>
            <a:r>
              <a:rPr kumimoji="1" lang="zh-CN" altLang="en-US" dirty="0"/>
              <a:t>每日站会、短迭代、用户故事驱动</a:t>
            </a:r>
            <a:r>
              <a:rPr kumimoji="1" lang="en-US" altLang="zh-CN" dirty="0"/>
              <a:t>)</a:t>
            </a:r>
            <a:r>
              <a:rPr kumimoji="1" lang="zh-CN" altLang="en-US" dirty="0"/>
              <a:t>，与客户持续反馈，快速响应需求变更。</a:t>
            </a:r>
            <a:endParaRPr kumimoji="1" lang="zh-CN" altLang="en-US" dirty="0"/>
          </a:p>
          <a:p>
            <a:pPr lvl="1"/>
            <a:r>
              <a:rPr kumimoji="1" lang="zh-CN" altLang="en-US" dirty="0"/>
              <a:t>目标：“如何更有效地开发软件”。</a:t>
            </a:r>
            <a:endParaRPr kumimoji="1" lang="zh-CN" altLang="en-US" dirty="0"/>
          </a:p>
          <a:p>
            <a:r>
              <a:rPr kumimoji="1" lang="en-US" altLang="zh-CN" dirty="0"/>
              <a:t>DevOps:</a:t>
            </a:r>
            <a:endParaRPr kumimoji="1" lang="en-US" altLang="zh-CN" dirty="0"/>
          </a:p>
          <a:p>
            <a:pPr lvl="1"/>
            <a:r>
              <a:rPr kumimoji="1" lang="zh-CN" altLang="en-US" dirty="0"/>
              <a:t>核心：扩展敏捷理念，范围从开发延伸到软件交付和运维全生命周期。</a:t>
            </a:r>
            <a:endParaRPr kumimoji="1" lang="zh-CN" altLang="en-US" dirty="0"/>
          </a:p>
          <a:p>
            <a:pPr lvl="1"/>
            <a:r>
              <a:rPr kumimoji="1" lang="zh-CN" altLang="en-US" dirty="0"/>
              <a:t>关注点：开发与运维协作，打破壁垒，实现从开发到部署的持续流动。</a:t>
            </a:r>
            <a:endParaRPr kumimoji="1" lang="zh-CN" altLang="en-US" dirty="0"/>
          </a:p>
          <a:p>
            <a:pPr lvl="1"/>
            <a:r>
              <a:rPr kumimoji="1" lang="zh-CN" altLang="en-US" dirty="0"/>
              <a:t>目标：“如何更快更可靠地交付软件”。</a:t>
            </a:r>
            <a:endParaRPr kumimoji="1" lang="zh-CN" altLang="en-US" dirty="0"/>
          </a:p>
          <a:p>
            <a:r>
              <a:rPr kumimoji="1" lang="zh-CN" altLang="en-US" dirty="0"/>
              <a:t>互补性</a:t>
            </a:r>
            <a:r>
              <a:rPr kumimoji="1" lang="en-US" altLang="zh-CN" dirty="0"/>
              <a:t>: </a:t>
            </a:r>
            <a:r>
              <a:rPr kumimoji="1" lang="zh-CN" altLang="en-US" dirty="0"/>
              <a:t>敏捷提供快速交付增量功能的框架，</a:t>
            </a:r>
            <a:r>
              <a:rPr kumimoji="1" lang="en-US" altLang="zh-CN" dirty="0"/>
              <a:t>DevOps </a:t>
            </a:r>
            <a:r>
              <a:rPr kumimoji="1" lang="zh-CN" altLang="en-US" dirty="0"/>
              <a:t>确保功能顺畅、安全部署上线。</a:t>
            </a:r>
            <a:endParaRPr kumimoji="1" lang="zh-CN" altLang="en-US" dirty="0"/>
          </a:p>
          <a:p>
            <a:r>
              <a:rPr kumimoji="1" lang="zh-CN" altLang="en-US" dirty="0"/>
              <a:t>实践差异</a:t>
            </a:r>
            <a:r>
              <a:rPr kumimoji="1" lang="en-US" altLang="zh-CN" dirty="0"/>
              <a:t>: </a:t>
            </a:r>
            <a:r>
              <a:rPr kumimoji="1" lang="zh-CN" altLang="en-US" dirty="0"/>
              <a:t>敏捷遵循 </a:t>
            </a:r>
            <a:r>
              <a:rPr kumimoji="1" lang="en-US" altLang="zh-CN" dirty="0"/>
              <a:t>Scrum/Kanban</a:t>
            </a:r>
            <a:r>
              <a:rPr kumimoji="1" lang="zh-CN" altLang="en-US" dirty="0"/>
              <a:t>，短迭代交付增量；</a:t>
            </a:r>
            <a:r>
              <a:rPr kumimoji="1" lang="en-US" altLang="zh-CN" dirty="0"/>
              <a:t>DevOps </a:t>
            </a:r>
            <a:r>
              <a:rPr kumimoji="1" lang="zh-CN" altLang="en-US" dirty="0"/>
              <a:t>在敏捷产出基础上引入 </a:t>
            </a:r>
            <a:r>
              <a:rPr kumimoji="1" lang="en-US" altLang="zh-CN" dirty="0"/>
              <a:t>CI/CD</a:t>
            </a:r>
            <a:r>
              <a:rPr kumimoji="1" lang="zh-CN" altLang="en-US" dirty="0"/>
              <a:t>、自动化部署、监控等，快速推向生产。</a:t>
            </a:r>
            <a:endParaRPr kumimoji="1" lang="zh-CN" altLang="en-US" dirty="0"/>
          </a:p>
          <a:p>
            <a:r>
              <a:rPr kumimoji="1" lang="zh-CN" altLang="en-US" dirty="0"/>
              <a:t>概括</a:t>
            </a:r>
            <a:r>
              <a:rPr kumimoji="1" lang="en-US" altLang="zh-CN" dirty="0"/>
              <a:t>: </a:t>
            </a:r>
            <a:r>
              <a:rPr kumimoji="1" lang="zh-CN" altLang="en-US" dirty="0"/>
              <a:t>敏捷强调组织结构和开发流程敏捷性，</a:t>
            </a:r>
            <a:r>
              <a:rPr kumimoji="1" lang="en-US" altLang="zh-CN" dirty="0"/>
              <a:t>DevOps </a:t>
            </a:r>
            <a:r>
              <a:rPr kumimoji="1" lang="zh-CN" altLang="en-US" dirty="0"/>
              <a:t>强调跨职能协作和交付流程自动化。</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与相关概念 </a:t>
            </a:r>
            <a:r>
              <a:rPr kumimoji="1" lang="en-US" altLang="zh-CN" dirty="0"/>
              <a:t>- vs. CI/CD</a:t>
            </a:r>
            <a:endParaRPr kumimoji="1" lang="zh-CN" altLang="en-US" dirty="0"/>
          </a:p>
        </p:txBody>
      </p:sp>
      <p:sp>
        <p:nvSpPr>
          <p:cNvPr id="4" name="内容占位符 3"/>
          <p:cNvSpPr>
            <a:spLocks noGrp="1"/>
          </p:cNvSpPr>
          <p:nvPr>
            <p:ph idx="1"/>
          </p:nvPr>
        </p:nvSpPr>
        <p:spPr/>
        <p:txBody>
          <a:bodyPr>
            <a:normAutofit/>
          </a:bodyPr>
          <a:lstStyle/>
          <a:p>
            <a:r>
              <a:rPr kumimoji="1" lang="en-US" altLang="zh-CN" dirty="0"/>
              <a:t>DevOps vs. CI/CD:</a:t>
            </a:r>
            <a:endParaRPr kumimoji="1" lang="en-US" altLang="zh-CN" dirty="0"/>
          </a:p>
          <a:p>
            <a:r>
              <a:rPr kumimoji="1" lang="zh-CN" altLang="en-US" dirty="0"/>
              <a:t>关系：</a:t>
            </a:r>
            <a:r>
              <a:rPr kumimoji="1" lang="en-US" altLang="zh-CN" dirty="0"/>
              <a:t>CI/CD (</a:t>
            </a:r>
            <a:r>
              <a:rPr kumimoji="1" lang="zh-CN" altLang="en-US" dirty="0"/>
              <a:t>持续集成</a:t>
            </a:r>
            <a:r>
              <a:rPr kumimoji="1" lang="en-US" altLang="zh-CN" dirty="0"/>
              <a:t>/</a:t>
            </a:r>
            <a:r>
              <a:rPr kumimoji="1" lang="zh-CN" altLang="en-US" dirty="0"/>
              <a:t>持续交付</a:t>
            </a:r>
            <a:r>
              <a:rPr kumimoji="1" lang="en-US" altLang="zh-CN" dirty="0"/>
              <a:t>) </a:t>
            </a:r>
            <a:r>
              <a:rPr kumimoji="1" lang="zh-CN" altLang="en-US" dirty="0"/>
              <a:t>是技术实践，</a:t>
            </a:r>
            <a:r>
              <a:rPr kumimoji="1" lang="en-US" altLang="zh-CN" dirty="0"/>
              <a:t>DevOps </a:t>
            </a:r>
            <a:r>
              <a:rPr kumimoji="1" lang="zh-CN" altLang="en-US" dirty="0"/>
              <a:t>是文化和流程理念。</a:t>
            </a:r>
            <a:r>
              <a:rPr kumimoji="1" lang="en-US" altLang="zh-CN" dirty="0"/>
              <a:t>CI/CD </a:t>
            </a:r>
            <a:r>
              <a:rPr kumimoji="1" lang="zh-CN" altLang="en-US" dirty="0"/>
              <a:t>是实现 </a:t>
            </a:r>
            <a:r>
              <a:rPr kumimoji="1" lang="en-US" altLang="zh-CN" dirty="0"/>
              <a:t>DevOps </a:t>
            </a:r>
            <a:r>
              <a:rPr kumimoji="1" lang="zh-CN" altLang="en-US" dirty="0"/>
              <a:t>目标的核心实践手段之一。</a:t>
            </a:r>
            <a:endParaRPr kumimoji="1" lang="zh-CN" altLang="en-US" dirty="0"/>
          </a:p>
          <a:p>
            <a:r>
              <a:rPr kumimoji="1" lang="zh-CN" altLang="en-US" dirty="0"/>
              <a:t>区别：没有 </a:t>
            </a:r>
            <a:r>
              <a:rPr kumimoji="1" lang="en-US" altLang="zh-CN" dirty="0"/>
              <a:t>CI/CD </a:t>
            </a:r>
            <a:r>
              <a:rPr kumimoji="1" lang="zh-CN" altLang="en-US" dirty="0"/>
              <a:t>很难实现 </a:t>
            </a:r>
            <a:r>
              <a:rPr kumimoji="1" lang="en-US" altLang="zh-CN" dirty="0"/>
              <a:t>DevOps</a:t>
            </a:r>
            <a:r>
              <a:rPr kumimoji="1" lang="zh-CN" altLang="en-US" dirty="0"/>
              <a:t>，但仅有 </a:t>
            </a:r>
            <a:r>
              <a:rPr kumimoji="1" lang="en-US" altLang="zh-CN" dirty="0"/>
              <a:t>CI/CD </a:t>
            </a:r>
            <a:r>
              <a:rPr kumimoji="1" lang="zh-CN" altLang="en-US" dirty="0"/>
              <a:t>工具不代表完成 </a:t>
            </a:r>
            <a:r>
              <a:rPr kumimoji="1" lang="en-US" altLang="zh-CN" dirty="0"/>
              <a:t>DevOps </a:t>
            </a:r>
            <a:r>
              <a:rPr kumimoji="1" lang="zh-CN" altLang="en-US" dirty="0"/>
              <a:t>转型。</a:t>
            </a:r>
            <a:r>
              <a:rPr kumimoji="1" lang="en-US" altLang="zh-CN" dirty="0"/>
              <a:t>CI/CD </a:t>
            </a:r>
            <a:r>
              <a:rPr kumimoji="1" lang="zh-CN" altLang="en-US" dirty="0"/>
              <a:t>关注代码构建、测试、部署自动化；</a:t>
            </a:r>
            <a:r>
              <a:rPr kumimoji="1" lang="en-US" altLang="zh-CN" dirty="0"/>
              <a:t>DevOps </a:t>
            </a:r>
            <a:r>
              <a:rPr kumimoji="1" lang="zh-CN" altLang="en-US" dirty="0"/>
              <a:t>涵盖人、流程、工具范围更广，包括组织和文化。</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kumimoji="1" lang="en-US" altLang="zh-CN" dirty="0"/>
              <a:t>DevOps </a:t>
            </a:r>
            <a:r>
              <a:rPr kumimoji="1" lang="zh-CN" altLang="en-US" dirty="0"/>
              <a:t>与相关概念 </a:t>
            </a:r>
            <a:r>
              <a:rPr kumimoji="1" lang="en-US" altLang="zh-CN" dirty="0"/>
              <a:t>- vs. Cloud Native </a:t>
            </a:r>
            <a:endParaRPr kumimoji="1" lang="zh-CN" altLang="en-US" dirty="0"/>
          </a:p>
        </p:txBody>
      </p:sp>
      <p:sp>
        <p:nvSpPr>
          <p:cNvPr id="4" name="内容占位符 3"/>
          <p:cNvSpPr>
            <a:spLocks noGrp="1"/>
          </p:cNvSpPr>
          <p:nvPr>
            <p:ph idx="1"/>
          </p:nvPr>
        </p:nvSpPr>
        <p:spPr>
          <a:xfrm>
            <a:off x="838200" y="1289956"/>
            <a:ext cx="10515600" cy="5481813"/>
          </a:xfrm>
        </p:spPr>
        <p:txBody>
          <a:bodyPr>
            <a:normAutofit fontScale="77500" lnSpcReduction="20000"/>
          </a:bodyPr>
          <a:lstStyle/>
          <a:p>
            <a:r>
              <a:rPr kumimoji="1" lang="zh-CN" altLang="en-US" dirty="0">
                <a:solidFill>
                  <a:srgbClr val="FF0000"/>
                </a:solidFill>
              </a:rPr>
              <a:t>云原生定义：利用云计算优势设计部署应用的架构理念 </a:t>
            </a:r>
            <a:r>
              <a:rPr kumimoji="1" lang="en-US" altLang="zh-CN" dirty="0">
                <a:solidFill>
                  <a:srgbClr val="FF0000"/>
                </a:solidFill>
              </a:rPr>
              <a:t>(</a:t>
            </a:r>
            <a:r>
              <a:rPr kumimoji="1" lang="zh-CN" altLang="en-US" dirty="0">
                <a:solidFill>
                  <a:srgbClr val="FF0000"/>
                </a:solidFill>
              </a:rPr>
              <a:t>容器化、微服务、不可变基础设施等</a:t>
            </a:r>
            <a:r>
              <a:rPr kumimoji="1" lang="en-US" altLang="zh-CN" dirty="0">
                <a:solidFill>
                  <a:srgbClr val="FF0000"/>
                </a:solidFill>
              </a:rPr>
              <a:t>)</a:t>
            </a:r>
            <a:r>
              <a:rPr kumimoji="1" lang="zh-CN" altLang="en-US" dirty="0">
                <a:solidFill>
                  <a:srgbClr val="FF0000"/>
                </a:solidFill>
              </a:rPr>
              <a:t>。强调应用如何构建运行以适应云环境弹性和分布式特性。</a:t>
            </a:r>
            <a:endParaRPr kumimoji="1" lang="en-US" altLang="zh-CN" dirty="0">
              <a:solidFill>
                <a:srgbClr val="FF0000"/>
              </a:solidFill>
            </a:endParaRPr>
          </a:p>
          <a:p>
            <a:r>
              <a:rPr kumimoji="1" lang="en-US" altLang="zh-CN" dirty="0"/>
              <a:t>DevOps </a:t>
            </a:r>
            <a:r>
              <a:rPr kumimoji="1" lang="zh-CN" altLang="en-US" dirty="0"/>
              <a:t>定义：强调应用如何快速可靠交付。</a:t>
            </a:r>
            <a:endParaRPr kumimoji="1" lang="zh-CN" altLang="en-US" dirty="0"/>
          </a:p>
          <a:p>
            <a:r>
              <a:rPr kumimoji="1" lang="zh-CN" altLang="en-US" dirty="0"/>
              <a:t>目标一致：都为提升交付速度和弹性。</a:t>
            </a:r>
            <a:endParaRPr kumimoji="1" lang="zh-CN" altLang="en-US" dirty="0"/>
          </a:p>
          <a:p>
            <a:r>
              <a:rPr kumimoji="1" lang="zh-CN" altLang="en-US" dirty="0"/>
              <a:t>切入点不同：</a:t>
            </a:r>
            <a:r>
              <a:rPr kumimoji="1" lang="zh-CN" altLang="en-US" dirty="0">
                <a:solidFill>
                  <a:srgbClr val="FF0000"/>
                </a:solidFill>
              </a:rPr>
              <a:t>云原生关注架构，</a:t>
            </a:r>
            <a:r>
              <a:rPr kumimoji="1" lang="en-US" altLang="zh-CN" dirty="0">
                <a:solidFill>
                  <a:srgbClr val="FF0000"/>
                </a:solidFill>
              </a:rPr>
              <a:t>DevOps </a:t>
            </a:r>
            <a:r>
              <a:rPr kumimoji="1" lang="zh-CN" altLang="en-US" dirty="0">
                <a:solidFill>
                  <a:srgbClr val="FF0000"/>
                </a:solidFill>
              </a:rPr>
              <a:t>关注流程。</a:t>
            </a:r>
            <a:endParaRPr kumimoji="1" lang="zh-CN" altLang="en-US" dirty="0">
              <a:solidFill>
                <a:srgbClr val="FF0000"/>
              </a:solidFill>
            </a:endParaRPr>
          </a:p>
          <a:p>
            <a:r>
              <a:rPr kumimoji="1" lang="zh-CN" altLang="en-US" dirty="0"/>
              <a:t>相互促进：</a:t>
            </a:r>
            <a:r>
              <a:rPr kumimoji="1" lang="en-US" altLang="zh-CN" dirty="0">
                <a:solidFill>
                  <a:srgbClr val="FF0000"/>
                </a:solidFill>
              </a:rPr>
              <a:t>Cloud Native </a:t>
            </a:r>
            <a:r>
              <a:rPr kumimoji="1" lang="zh-CN" altLang="en-US" dirty="0">
                <a:solidFill>
                  <a:srgbClr val="FF0000"/>
                </a:solidFill>
              </a:rPr>
              <a:t>应用天然需要 </a:t>
            </a:r>
            <a:r>
              <a:rPr kumimoji="1" lang="en-US" altLang="zh-CN" dirty="0">
                <a:solidFill>
                  <a:srgbClr val="FF0000"/>
                </a:solidFill>
              </a:rPr>
              <a:t>DevOps </a:t>
            </a:r>
            <a:r>
              <a:rPr kumimoji="1" lang="zh-CN" altLang="en-US" dirty="0">
                <a:solidFill>
                  <a:srgbClr val="FF0000"/>
                </a:solidFill>
              </a:rPr>
              <a:t>实践支撑 </a:t>
            </a:r>
            <a:r>
              <a:rPr kumimoji="1" lang="en-US" altLang="zh-CN" dirty="0">
                <a:solidFill>
                  <a:srgbClr val="FF0000"/>
                </a:solidFill>
              </a:rPr>
              <a:t>(</a:t>
            </a:r>
            <a:r>
              <a:rPr kumimoji="1" lang="zh-CN" altLang="en-US" dirty="0">
                <a:solidFill>
                  <a:srgbClr val="FF0000"/>
                </a:solidFill>
              </a:rPr>
              <a:t>如微服务需要 </a:t>
            </a:r>
            <a:r>
              <a:rPr kumimoji="1" lang="en-US" altLang="zh-CN" dirty="0">
                <a:solidFill>
                  <a:srgbClr val="FF0000"/>
                </a:solidFill>
              </a:rPr>
              <a:t>CI/CD)</a:t>
            </a:r>
            <a:r>
              <a:rPr kumimoji="1" lang="zh-CN" altLang="en-US" dirty="0">
                <a:solidFill>
                  <a:srgbClr val="FF0000"/>
                </a:solidFill>
              </a:rPr>
              <a:t>。</a:t>
            </a:r>
            <a:r>
              <a:rPr kumimoji="1" lang="en-US" altLang="zh-CN" dirty="0">
                <a:solidFill>
                  <a:srgbClr val="FF0000"/>
                </a:solidFill>
              </a:rPr>
              <a:t>DevOps </a:t>
            </a:r>
            <a:r>
              <a:rPr kumimoji="1" lang="zh-CN" altLang="en-US" dirty="0">
                <a:solidFill>
                  <a:srgbClr val="FF0000"/>
                </a:solidFill>
              </a:rPr>
              <a:t>需要弹性云资源支持频繁部署测试。</a:t>
            </a:r>
            <a:r>
              <a:rPr kumimoji="1" lang="zh-CN" altLang="en-US" dirty="0"/>
              <a:t>云的弹性需 </a:t>
            </a:r>
            <a:r>
              <a:rPr kumimoji="1" lang="en-US" altLang="zh-CN" dirty="0"/>
              <a:t>DevOps </a:t>
            </a:r>
            <a:r>
              <a:rPr kumimoji="1" lang="zh-CN" altLang="en-US" dirty="0"/>
              <a:t>自动化才能高效利用。</a:t>
            </a:r>
            <a:endParaRPr kumimoji="1" lang="zh-CN" altLang="en-US" dirty="0"/>
          </a:p>
          <a:p>
            <a:r>
              <a:rPr kumimoji="1" lang="zh-CN" altLang="en-US" dirty="0"/>
              <a:t>关系总结：</a:t>
            </a:r>
            <a:r>
              <a:rPr kumimoji="1" lang="en-US" altLang="zh-CN" dirty="0"/>
              <a:t>DevOps </a:t>
            </a:r>
            <a:r>
              <a:rPr kumimoji="1" lang="zh-CN" altLang="en-US" dirty="0"/>
              <a:t>是过程方法，</a:t>
            </a:r>
            <a:r>
              <a:rPr kumimoji="1" lang="en-US" altLang="zh-CN" dirty="0"/>
              <a:t>Cloud Native </a:t>
            </a:r>
            <a:r>
              <a:rPr kumimoji="1" lang="zh-CN" altLang="en-US" dirty="0"/>
              <a:t>是应用架构。二者高度协同，都以加速交付为目标，都推崇自动化和协作。</a:t>
            </a:r>
            <a:endParaRPr kumimoji="1" lang="zh-CN" altLang="en-US" dirty="0"/>
          </a:p>
          <a:p>
            <a:r>
              <a:rPr kumimoji="1" lang="zh-CN" altLang="en-US" dirty="0"/>
              <a:t>实践结合：团队常同时推进 </a:t>
            </a:r>
            <a:r>
              <a:rPr kumimoji="1" lang="en-US" altLang="zh-CN" dirty="0"/>
              <a:t>DevOps </a:t>
            </a:r>
            <a:r>
              <a:rPr kumimoji="1" lang="zh-CN" altLang="en-US" dirty="0"/>
              <a:t>文化和云原生技术 </a:t>
            </a:r>
            <a:r>
              <a:rPr kumimoji="1" lang="en-US" altLang="zh-CN" dirty="0"/>
              <a:t>(</a:t>
            </a:r>
            <a:r>
              <a:rPr kumimoji="1" lang="zh-CN" altLang="en-US" dirty="0"/>
              <a:t>应用容器化部署到云，建立 </a:t>
            </a:r>
            <a:r>
              <a:rPr kumimoji="1" lang="en-US" altLang="zh-CN" dirty="0"/>
              <a:t>CI/CD </a:t>
            </a:r>
            <a:r>
              <a:rPr kumimoji="1" lang="zh-CN" altLang="en-US" dirty="0"/>
              <a:t>流水线和监控</a:t>
            </a:r>
            <a:r>
              <a:rPr kumimoji="1" lang="en-US" altLang="zh-CN" dirty="0"/>
              <a:t>)</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DevOps </a:t>
            </a:r>
            <a:r>
              <a:rPr kumimoji="1" lang="zh-CN" altLang="en-US" dirty="0"/>
              <a:t>与相关概念 </a:t>
            </a:r>
            <a:r>
              <a:rPr kumimoji="1" lang="en-US" altLang="zh-CN" dirty="0"/>
              <a:t>- vs. AIOps</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en-US" altLang="zh-CN" dirty="0"/>
              <a:t>AIOps </a:t>
            </a:r>
            <a:r>
              <a:rPr kumimoji="1" lang="zh-CN" altLang="en-US" dirty="0"/>
              <a:t>定义：利用 </a:t>
            </a:r>
            <a:r>
              <a:rPr kumimoji="1" lang="en-US" altLang="zh-CN" dirty="0"/>
              <a:t>AI </a:t>
            </a:r>
            <a:r>
              <a:rPr kumimoji="1" lang="zh-CN" altLang="en-US" dirty="0"/>
              <a:t>技术提升 </a:t>
            </a:r>
            <a:r>
              <a:rPr kumimoji="1" lang="en-US" altLang="zh-CN" dirty="0"/>
              <a:t>IT </a:t>
            </a:r>
            <a:r>
              <a:rPr kumimoji="1" lang="zh-CN" altLang="en-US" dirty="0"/>
              <a:t>运维智能化水平 </a:t>
            </a:r>
            <a:r>
              <a:rPr kumimoji="1" lang="en-US" altLang="zh-CN" dirty="0"/>
              <a:t>(</a:t>
            </a:r>
            <a:r>
              <a:rPr kumimoji="1" lang="zh-CN" altLang="en-US" dirty="0"/>
              <a:t>机器学习分析监控数据、自动发现异常、定位根因等</a:t>
            </a:r>
            <a:r>
              <a:rPr kumimoji="1" lang="en-US" altLang="zh-CN" dirty="0"/>
              <a:t>)</a:t>
            </a:r>
            <a:r>
              <a:rPr kumimoji="1" lang="zh-CN" altLang="en-US" dirty="0"/>
              <a:t>。是运维领域 </a:t>
            </a:r>
            <a:r>
              <a:rPr kumimoji="1" lang="en-US" altLang="zh-CN" dirty="0"/>
              <a:t>AI </a:t>
            </a:r>
            <a:r>
              <a:rPr kumimoji="1" lang="zh-CN" altLang="en-US" dirty="0"/>
              <a:t>工具集和实践集。</a:t>
            </a:r>
            <a:endParaRPr kumimoji="1" lang="en-US" altLang="zh-CN" dirty="0"/>
          </a:p>
          <a:p>
            <a:r>
              <a:rPr kumimoji="1" lang="en-US" altLang="zh-CN" dirty="0"/>
              <a:t>DevOps </a:t>
            </a:r>
            <a:r>
              <a:rPr kumimoji="1" lang="zh-CN" altLang="en-US" dirty="0"/>
              <a:t>定义：关注流程和协作，本质不直接涉 </a:t>
            </a:r>
            <a:r>
              <a:rPr kumimoji="1" lang="en-US" altLang="zh-CN" dirty="0"/>
              <a:t>AI</a:t>
            </a:r>
            <a:r>
              <a:rPr kumimoji="1" lang="zh-CN" altLang="en-US" dirty="0"/>
              <a:t>。</a:t>
            </a:r>
            <a:endParaRPr kumimoji="1" lang="en-US" altLang="zh-CN" dirty="0"/>
          </a:p>
          <a:p>
            <a:r>
              <a:rPr kumimoji="1" lang="zh-CN" altLang="en-US" dirty="0"/>
              <a:t>关系理解：</a:t>
            </a:r>
            <a:r>
              <a:rPr kumimoji="1" lang="en-US" altLang="zh-CN" dirty="0"/>
              <a:t>DevOps </a:t>
            </a:r>
            <a:r>
              <a:rPr kumimoji="1" lang="zh-CN" altLang="en-US" dirty="0"/>
              <a:t>为敏捷高效运维提供机制和文化基础，</a:t>
            </a:r>
            <a:r>
              <a:rPr kumimoji="1" lang="en-US" altLang="zh-CN" dirty="0"/>
              <a:t>AIOps </a:t>
            </a:r>
            <a:r>
              <a:rPr kumimoji="1" lang="zh-CN" altLang="en-US" dirty="0"/>
              <a:t>为复杂运维场景提供智能化手段。</a:t>
            </a:r>
            <a:endParaRPr kumimoji="1" lang="en-US" altLang="zh-CN" dirty="0"/>
          </a:p>
          <a:p>
            <a:r>
              <a:rPr kumimoji="1" lang="zh-CN" altLang="en-US" dirty="0"/>
              <a:t>互相支撑：</a:t>
            </a:r>
            <a:r>
              <a:rPr kumimoji="1" lang="en-US" altLang="zh-CN" dirty="0"/>
              <a:t>DevOps </a:t>
            </a:r>
            <a:r>
              <a:rPr kumimoji="1" lang="zh-CN" altLang="en-US" dirty="0"/>
              <a:t>实施使数据收集和流程自动化成为可能，为 </a:t>
            </a:r>
            <a:r>
              <a:rPr kumimoji="1" lang="en-US" altLang="zh-CN" dirty="0"/>
              <a:t>AI </a:t>
            </a:r>
            <a:r>
              <a:rPr kumimoji="1" lang="zh-CN" altLang="en-US" dirty="0"/>
              <a:t>算法提供用武之地 </a:t>
            </a:r>
            <a:r>
              <a:rPr kumimoji="1" lang="en-US" altLang="zh-CN" dirty="0"/>
              <a:t>(</a:t>
            </a:r>
            <a:r>
              <a:rPr kumimoji="1" lang="zh-CN" altLang="en-US" dirty="0"/>
              <a:t>监控日志性能指标等大数据</a:t>
            </a:r>
            <a:r>
              <a:rPr kumimoji="1" lang="en-US" altLang="zh-CN" dirty="0"/>
              <a:t>)</a:t>
            </a:r>
            <a:r>
              <a:rPr kumimoji="1" lang="zh-CN" altLang="en-US" dirty="0"/>
              <a:t>。</a:t>
            </a:r>
            <a:r>
              <a:rPr kumimoji="1" lang="en-US" altLang="zh-CN" dirty="0"/>
              <a:t>AIOps </a:t>
            </a:r>
            <a:r>
              <a:rPr kumimoji="1" lang="zh-CN" altLang="en-US" dirty="0"/>
              <a:t>工具可基于数据做模式识别、预测故障、自动恢复，与 </a:t>
            </a:r>
            <a:r>
              <a:rPr kumimoji="1" lang="en-US" altLang="zh-CN" dirty="0"/>
              <a:t>DevOps </a:t>
            </a:r>
            <a:r>
              <a:rPr kumimoji="1" lang="zh-CN" altLang="en-US" dirty="0"/>
              <a:t>目标一致 </a:t>
            </a:r>
            <a:r>
              <a:rPr kumimoji="1" lang="en-US" altLang="zh-CN" dirty="0"/>
              <a:t>(</a:t>
            </a:r>
            <a:r>
              <a:rPr kumimoji="1" lang="zh-CN" altLang="en-US" dirty="0"/>
              <a:t>缩短 </a:t>
            </a:r>
            <a:r>
              <a:rPr kumimoji="1" lang="en-US" altLang="zh-CN" dirty="0"/>
              <a:t>MTTR</a:t>
            </a:r>
            <a:r>
              <a:rPr kumimoji="1" lang="zh-CN" altLang="en-US" dirty="0"/>
              <a:t>、减少人工干预</a:t>
            </a:r>
            <a:r>
              <a:rPr kumimoji="1" lang="en-US" altLang="zh-CN" dirty="0"/>
              <a:t>)</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err="1"/>
              <a:t>DevSecOps</a:t>
            </a:r>
            <a:r>
              <a:rPr kumimoji="1" lang="en-US" altLang="zh-CN" dirty="0"/>
              <a:t> </a:t>
            </a:r>
            <a:r>
              <a:rPr kumimoji="1" lang="zh-CN" altLang="en-US" dirty="0"/>
              <a:t>的定义、发展与实践方法 </a:t>
            </a:r>
            <a:r>
              <a:rPr kumimoji="1" lang="en-US" altLang="zh-CN" dirty="0"/>
              <a:t>- </a:t>
            </a:r>
            <a:r>
              <a:rPr kumimoji="1" lang="zh-CN" altLang="en-US" dirty="0"/>
              <a:t>定义与左移 </a:t>
            </a:r>
            <a:r>
              <a:rPr kumimoji="1" lang="en-US" altLang="zh-CN" dirty="0"/>
              <a:t>(1/2)</a:t>
            </a:r>
            <a:endParaRPr kumimoji="1" lang="zh-CN" altLang="en-US" dirty="0"/>
          </a:p>
        </p:txBody>
      </p:sp>
      <p:sp>
        <p:nvSpPr>
          <p:cNvPr id="4" name="内容占位符 3"/>
          <p:cNvSpPr>
            <a:spLocks noGrp="1"/>
          </p:cNvSpPr>
          <p:nvPr>
            <p:ph idx="1"/>
          </p:nvPr>
        </p:nvSpPr>
        <p:spPr>
          <a:xfrm>
            <a:off x="838200" y="1289956"/>
            <a:ext cx="10515600" cy="5481813"/>
          </a:xfrm>
        </p:spPr>
        <p:txBody>
          <a:bodyPr>
            <a:normAutofit fontScale="70000" lnSpcReduction="20000"/>
          </a:bodyPr>
          <a:lstStyle/>
          <a:p>
            <a:r>
              <a:rPr kumimoji="1" lang="en-US" altLang="zh-CN" dirty="0" err="1"/>
              <a:t>DevSecOps</a:t>
            </a:r>
            <a:r>
              <a:rPr kumimoji="1" lang="en-US" altLang="zh-CN" dirty="0"/>
              <a:t> </a:t>
            </a:r>
            <a:r>
              <a:rPr kumimoji="1" lang="zh-CN" altLang="en-US" dirty="0"/>
              <a:t>诞生背景</a:t>
            </a:r>
            <a:r>
              <a:rPr kumimoji="1" lang="en-US" altLang="zh-CN" dirty="0"/>
              <a:t>: </a:t>
            </a:r>
            <a:r>
              <a:rPr kumimoji="1" lang="zh-CN" altLang="en-US" dirty="0"/>
              <a:t>随着 </a:t>
            </a:r>
            <a:r>
              <a:rPr kumimoji="1" lang="en-US" altLang="zh-CN" dirty="0"/>
              <a:t>DevOps </a:t>
            </a:r>
            <a:r>
              <a:rPr kumimoji="1" lang="zh-CN" altLang="en-US" dirty="0"/>
              <a:t>实践深入，意识到安全 </a:t>
            </a:r>
            <a:r>
              <a:rPr kumimoji="1" lang="en-US" altLang="zh-CN" dirty="0"/>
              <a:t>(Security) </a:t>
            </a:r>
            <a:r>
              <a:rPr kumimoji="1" lang="zh-CN" altLang="en-US" dirty="0"/>
              <a:t>应融入 </a:t>
            </a:r>
            <a:r>
              <a:rPr kumimoji="1" lang="en-US" altLang="zh-CN" dirty="0"/>
              <a:t>DevOps </a:t>
            </a:r>
            <a:r>
              <a:rPr kumimoji="1" lang="zh-CN" altLang="en-US" dirty="0"/>
              <a:t>过程，而非最后检查。</a:t>
            </a:r>
            <a:endParaRPr kumimoji="1" lang="zh-CN" altLang="en-US" dirty="0"/>
          </a:p>
          <a:p>
            <a:r>
              <a:rPr kumimoji="1" lang="zh-CN" altLang="en-US" dirty="0"/>
              <a:t>定义</a:t>
            </a:r>
            <a:r>
              <a:rPr kumimoji="1" lang="en-US" altLang="zh-CN" dirty="0"/>
              <a:t>: </a:t>
            </a:r>
            <a:r>
              <a:rPr kumimoji="1" lang="en-US" altLang="zh-CN" dirty="0" err="1">
                <a:solidFill>
                  <a:srgbClr val="FF0000"/>
                </a:solidFill>
              </a:rPr>
              <a:t>DevSecOps</a:t>
            </a:r>
            <a:r>
              <a:rPr kumimoji="1" lang="en-US" altLang="zh-CN" dirty="0">
                <a:solidFill>
                  <a:srgbClr val="FF0000"/>
                </a:solidFill>
              </a:rPr>
              <a:t> = </a:t>
            </a:r>
            <a:r>
              <a:rPr kumimoji="1" lang="zh-CN" altLang="en-US" dirty="0">
                <a:solidFill>
                  <a:srgbClr val="FF0000"/>
                </a:solidFill>
              </a:rPr>
              <a:t>开发 </a:t>
            </a:r>
            <a:r>
              <a:rPr kumimoji="1" lang="en-US" altLang="zh-CN" dirty="0">
                <a:solidFill>
                  <a:srgbClr val="FF0000"/>
                </a:solidFill>
              </a:rPr>
              <a:t>(Dev) + </a:t>
            </a:r>
            <a:r>
              <a:rPr kumimoji="1" lang="zh-CN" altLang="en-US" dirty="0">
                <a:solidFill>
                  <a:srgbClr val="FF0000"/>
                </a:solidFill>
              </a:rPr>
              <a:t>安全 </a:t>
            </a:r>
            <a:r>
              <a:rPr kumimoji="1" lang="en-US" altLang="zh-CN" dirty="0">
                <a:solidFill>
                  <a:srgbClr val="FF0000"/>
                </a:solidFill>
              </a:rPr>
              <a:t>(Sec) + </a:t>
            </a:r>
            <a:r>
              <a:rPr kumimoji="1" lang="zh-CN" altLang="en-US" dirty="0">
                <a:solidFill>
                  <a:srgbClr val="FF0000"/>
                </a:solidFill>
              </a:rPr>
              <a:t>运维 </a:t>
            </a:r>
            <a:r>
              <a:rPr kumimoji="1" lang="en-US" altLang="zh-CN" dirty="0">
                <a:solidFill>
                  <a:srgbClr val="FF0000"/>
                </a:solidFill>
              </a:rPr>
              <a:t>(Ops) </a:t>
            </a:r>
            <a:r>
              <a:rPr kumimoji="1" lang="zh-CN" altLang="en-US" dirty="0">
                <a:solidFill>
                  <a:srgbClr val="FF0000"/>
                </a:solidFill>
              </a:rPr>
              <a:t>的融合</a:t>
            </a:r>
            <a:r>
              <a:rPr kumimoji="1" lang="zh-CN" altLang="en-US" dirty="0"/>
              <a:t>。</a:t>
            </a:r>
            <a:endParaRPr kumimoji="1" lang="zh-CN" altLang="en-US" dirty="0"/>
          </a:p>
          <a:p>
            <a:r>
              <a:rPr kumimoji="1" lang="zh-CN" altLang="en-US" dirty="0"/>
              <a:t>核心目标</a:t>
            </a:r>
            <a:r>
              <a:rPr kumimoji="1" lang="en-US" altLang="zh-CN" dirty="0"/>
              <a:t>: </a:t>
            </a:r>
            <a:r>
              <a:rPr kumimoji="1" lang="zh-CN" altLang="en-US" dirty="0"/>
              <a:t>将安全保障集成到软件开发生命周期各阶段，而非仅上线前被动检查 </a:t>
            </a:r>
            <a:r>
              <a:rPr kumimoji="1" lang="en-US" altLang="zh-CN" dirty="0"/>
              <a:t>(What is </a:t>
            </a:r>
            <a:r>
              <a:rPr kumimoji="1" lang="en-US" altLang="zh-CN" dirty="0" err="1"/>
              <a:t>DevSecOps</a:t>
            </a:r>
            <a:r>
              <a:rPr kumimoji="1" lang="en-US" altLang="zh-CN" dirty="0"/>
              <a:t>?)</a:t>
            </a:r>
            <a:r>
              <a:rPr kumimoji="1" lang="zh-CN" altLang="en-US" dirty="0"/>
              <a:t>。</a:t>
            </a:r>
            <a:endParaRPr kumimoji="1" lang="zh-CN" altLang="en-US" dirty="0"/>
          </a:p>
          <a:p>
            <a:r>
              <a:rPr kumimoji="1" lang="zh-CN" altLang="en-US" dirty="0"/>
              <a:t>观念转变</a:t>
            </a:r>
            <a:r>
              <a:rPr kumimoji="1" lang="en-US" altLang="zh-CN" dirty="0"/>
              <a:t>: </a:t>
            </a:r>
            <a:r>
              <a:rPr kumimoji="1" lang="zh-CN" altLang="en-US" dirty="0"/>
              <a:t>安全不再是独立团队责任，而是 </a:t>
            </a:r>
            <a:r>
              <a:rPr kumimoji="1" lang="en-US" altLang="zh-CN" dirty="0"/>
              <a:t>DevOps </a:t>
            </a:r>
            <a:r>
              <a:rPr kumimoji="1" lang="zh-CN" altLang="en-US" dirty="0"/>
              <a:t>团队共享责任，需“左移” </a:t>
            </a:r>
            <a:r>
              <a:rPr kumimoji="1" lang="en-US" altLang="zh-CN" dirty="0"/>
              <a:t>(Shift Left) </a:t>
            </a:r>
            <a:r>
              <a:rPr kumimoji="1" lang="zh-CN" altLang="en-US" dirty="0"/>
              <a:t>到开发之初就考虑。</a:t>
            </a:r>
            <a:endParaRPr kumimoji="1" lang="zh-CN" altLang="en-US" dirty="0"/>
          </a:p>
          <a:p>
            <a:r>
              <a:rPr kumimoji="1" lang="zh-CN" altLang="en-US" dirty="0"/>
              <a:t>传统模式痛点</a:t>
            </a:r>
            <a:r>
              <a:rPr kumimoji="1" lang="en-US" altLang="zh-CN" dirty="0"/>
              <a:t>: </a:t>
            </a:r>
            <a:r>
              <a:rPr kumimoji="1" lang="zh-CN" altLang="en-US" dirty="0"/>
              <a:t>安全被视为发布前最后关卡，由独立团队做渗透测试</a:t>
            </a:r>
            <a:r>
              <a:rPr kumimoji="1" lang="en-US" altLang="zh-CN" dirty="0"/>
              <a:t>/</a:t>
            </a:r>
            <a:r>
              <a:rPr kumimoji="1" lang="zh-CN" altLang="en-US" dirty="0"/>
              <a:t>审核。在开发周期长时勉强可行。</a:t>
            </a:r>
            <a:endParaRPr kumimoji="1" lang="zh-CN" altLang="en-US" dirty="0"/>
          </a:p>
          <a:p>
            <a:r>
              <a:rPr kumimoji="1" lang="en-US" altLang="zh-CN" dirty="0"/>
              <a:t>DevOps </a:t>
            </a:r>
            <a:r>
              <a:rPr kumimoji="1" lang="zh-CN" altLang="en-US" dirty="0"/>
              <a:t>时代挑战</a:t>
            </a:r>
            <a:r>
              <a:rPr kumimoji="1" lang="en-US" altLang="zh-CN" dirty="0"/>
              <a:t>: </a:t>
            </a:r>
            <a:r>
              <a:rPr kumimoji="1" lang="zh-CN" altLang="en-US" dirty="0"/>
              <a:t>发布频率从数月变数周甚至每天，传统后置安全审查成新瓶颈 </a:t>
            </a:r>
            <a:r>
              <a:rPr kumimoji="1" lang="en-US" altLang="zh-CN" dirty="0"/>
              <a:t>(What is </a:t>
            </a:r>
            <a:r>
              <a:rPr kumimoji="1" lang="en-US" altLang="zh-CN" dirty="0" err="1"/>
              <a:t>DevSecOps</a:t>
            </a:r>
            <a:r>
              <a:rPr kumimoji="1" lang="en-US" altLang="zh-CN" dirty="0"/>
              <a:t>?)</a:t>
            </a:r>
            <a:r>
              <a:rPr kumimoji="1" lang="zh-CN" altLang="en-US" dirty="0"/>
              <a:t>。戏言：“开发运维跑太快，把安全甩在后面”。</a:t>
            </a:r>
            <a:endParaRPr kumimoji="1" lang="zh-CN" altLang="en-US" dirty="0"/>
          </a:p>
          <a:p>
            <a:r>
              <a:rPr kumimoji="1" lang="zh-CN" altLang="en-US" dirty="0"/>
              <a:t>“安全左移” </a:t>
            </a:r>
            <a:r>
              <a:rPr kumimoji="1" lang="en-US" altLang="zh-CN" dirty="0"/>
              <a:t>(Shift Left Security): </a:t>
            </a:r>
            <a:r>
              <a:rPr kumimoji="1" lang="zh-CN" altLang="en-US" dirty="0"/>
              <a:t>解决之道，在开发和集成环节就开展安全工作。强调内建安全 </a:t>
            </a:r>
            <a:r>
              <a:rPr kumimoji="1" lang="en-US" altLang="zh-CN" dirty="0"/>
              <a:t>(Build Security In) </a:t>
            </a:r>
            <a:r>
              <a:rPr kumimoji="1" lang="zh-CN" altLang="en-US" dirty="0"/>
              <a:t>而非事后补救 </a:t>
            </a:r>
            <a:r>
              <a:rPr kumimoji="1" lang="en-US" altLang="zh-CN" dirty="0"/>
              <a:t>(Bolt Security On)</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err="1"/>
              <a:t>DevSecOps</a:t>
            </a:r>
            <a:r>
              <a:rPr kumimoji="1" lang="en-US" altLang="zh-CN" dirty="0"/>
              <a:t> </a:t>
            </a:r>
            <a:r>
              <a:rPr kumimoji="1" lang="zh-CN" altLang="en-US" dirty="0"/>
              <a:t>的定义、发展与实践方法 </a:t>
            </a:r>
            <a:r>
              <a:rPr kumimoji="1" lang="en-US" altLang="zh-CN" dirty="0"/>
              <a:t>- </a:t>
            </a:r>
            <a:r>
              <a:rPr kumimoji="1" lang="zh-CN" altLang="en-US" dirty="0"/>
              <a:t>实践与趋势 </a:t>
            </a:r>
            <a:r>
              <a:rPr kumimoji="1" lang="en-US" altLang="zh-CN" dirty="0"/>
              <a:t>(2/2)</a:t>
            </a:r>
            <a:endParaRPr kumimoji="1" lang="zh-CN" altLang="en-US" dirty="0"/>
          </a:p>
        </p:txBody>
      </p:sp>
      <p:sp>
        <p:nvSpPr>
          <p:cNvPr id="4" name="内容占位符 3"/>
          <p:cNvSpPr>
            <a:spLocks noGrp="1"/>
          </p:cNvSpPr>
          <p:nvPr>
            <p:ph idx="1"/>
          </p:nvPr>
        </p:nvSpPr>
        <p:spPr/>
        <p:txBody>
          <a:bodyPr>
            <a:normAutofit fontScale="77500" lnSpcReduction="20000"/>
          </a:bodyPr>
          <a:lstStyle/>
          <a:p>
            <a:r>
              <a:rPr kumimoji="1" lang="zh-CN" altLang="en-US" dirty="0"/>
              <a:t>安全需求融入规划</a:t>
            </a:r>
            <a:r>
              <a:rPr kumimoji="1" lang="en-US" altLang="zh-CN" dirty="0"/>
              <a:t>: </a:t>
            </a:r>
            <a:r>
              <a:rPr kumimoji="1" lang="zh-CN" altLang="en-US" dirty="0"/>
              <a:t>计划阶段评估风险合规，</a:t>
            </a:r>
            <a:r>
              <a:rPr kumimoji="1" lang="zh-CN" altLang="en-US" dirty="0">
                <a:solidFill>
                  <a:srgbClr val="FF0000"/>
                </a:solidFill>
              </a:rPr>
              <a:t>用户故事同时定义安全验收标准</a:t>
            </a:r>
            <a:r>
              <a:rPr kumimoji="1" lang="zh-CN" altLang="en-US" dirty="0"/>
              <a:t>。开发</a:t>
            </a:r>
            <a:r>
              <a:rPr kumimoji="1" lang="en-US" altLang="zh-CN" dirty="0"/>
              <a:t>/</a:t>
            </a:r>
            <a:r>
              <a:rPr kumimoji="1" lang="zh-CN" altLang="en-US" dirty="0"/>
              <a:t>运维</a:t>
            </a:r>
            <a:r>
              <a:rPr kumimoji="1" lang="en-US" altLang="zh-CN" dirty="0"/>
              <a:t>/</a:t>
            </a:r>
            <a:r>
              <a:rPr kumimoji="1" lang="zh-CN" altLang="en-US" dirty="0"/>
              <a:t>安全共同参与需求讨论。</a:t>
            </a:r>
            <a:endParaRPr kumimoji="1" lang="zh-CN" altLang="en-US" dirty="0"/>
          </a:p>
          <a:p>
            <a:r>
              <a:rPr kumimoji="1" lang="zh-CN" altLang="en-US" dirty="0"/>
              <a:t>安全编码实践</a:t>
            </a:r>
            <a:r>
              <a:rPr kumimoji="1" lang="en-US" altLang="zh-CN" dirty="0"/>
              <a:t>: </a:t>
            </a:r>
            <a:r>
              <a:rPr kumimoji="1" lang="zh-CN" altLang="en-US" dirty="0"/>
              <a:t>开发人员接受培训，遵循规范 </a:t>
            </a:r>
            <a:r>
              <a:rPr kumimoji="1" lang="en-US" altLang="zh-CN" dirty="0"/>
              <a:t>(</a:t>
            </a:r>
            <a:r>
              <a:rPr kumimoji="1" lang="zh-CN" altLang="en-US" dirty="0"/>
              <a:t>防 </a:t>
            </a:r>
            <a:r>
              <a:rPr kumimoji="1" lang="en-US" altLang="zh-CN" dirty="0"/>
              <a:t>SQL </a:t>
            </a:r>
            <a:r>
              <a:rPr kumimoji="1" lang="zh-CN" altLang="en-US" dirty="0"/>
              <a:t>注入</a:t>
            </a:r>
            <a:r>
              <a:rPr kumimoji="1" lang="en-US" altLang="zh-CN" dirty="0"/>
              <a:t>/XSS)</a:t>
            </a:r>
            <a:r>
              <a:rPr kumimoji="1" lang="zh-CN" altLang="en-US" dirty="0"/>
              <a:t>。引入静态代码分析 </a:t>
            </a:r>
            <a:r>
              <a:rPr kumimoji="1" lang="en-US" altLang="zh-CN" dirty="0"/>
              <a:t>(SAST) </a:t>
            </a:r>
            <a:r>
              <a:rPr kumimoji="1" lang="zh-CN" altLang="en-US" dirty="0"/>
              <a:t>工具，代码合并前自动扫描漏洞。安全问题作 </a:t>
            </a:r>
            <a:r>
              <a:rPr kumimoji="1" lang="en-US" altLang="zh-CN" dirty="0"/>
              <a:t>bug </a:t>
            </a:r>
            <a:r>
              <a:rPr kumimoji="1" lang="zh-CN" altLang="en-US" dirty="0"/>
              <a:t>跟踪。</a:t>
            </a:r>
            <a:endParaRPr kumimoji="1" lang="zh-CN" altLang="en-US" dirty="0"/>
          </a:p>
          <a:p>
            <a:r>
              <a:rPr kumimoji="1" lang="zh-CN" altLang="en-US" dirty="0"/>
              <a:t>自动化安全测试</a:t>
            </a:r>
            <a:r>
              <a:rPr kumimoji="1" lang="en-US" altLang="zh-CN" dirty="0"/>
              <a:t>: CI </a:t>
            </a:r>
            <a:r>
              <a:rPr kumimoji="1" lang="zh-CN" altLang="en-US" dirty="0"/>
              <a:t>流水线加入 </a:t>
            </a:r>
            <a:r>
              <a:rPr kumimoji="1" lang="en-US" altLang="zh-CN" dirty="0"/>
              <a:t>SAST </a:t>
            </a:r>
            <a:r>
              <a:rPr kumimoji="1" lang="zh-CN" altLang="en-US" dirty="0"/>
              <a:t>和 </a:t>
            </a:r>
            <a:r>
              <a:rPr kumimoji="1" lang="en-US" altLang="zh-CN" dirty="0"/>
              <a:t>DAST (</a:t>
            </a:r>
            <a:r>
              <a:rPr kumimoji="1" lang="zh-CN" altLang="en-US" dirty="0"/>
              <a:t>动态应用安全测试</a:t>
            </a:r>
            <a:r>
              <a:rPr kumimoji="1" lang="en-US" altLang="zh-CN" dirty="0"/>
              <a:t>) </a:t>
            </a:r>
            <a:r>
              <a:rPr kumimoji="1" lang="zh-CN" altLang="en-US" dirty="0"/>
              <a:t>工具。容器镜像安全扫描 </a:t>
            </a:r>
            <a:r>
              <a:rPr kumimoji="1" lang="en-US" altLang="zh-CN" dirty="0"/>
              <a:t>(</a:t>
            </a:r>
            <a:r>
              <a:rPr kumimoji="1" lang="zh-CN" altLang="en-US" dirty="0"/>
              <a:t>检查已知漏洞</a:t>
            </a:r>
            <a:r>
              <a:rPr kumimoji="1" lang="en-US" altLang="zh-CN" dirty="0"/>
              <a:t>/</a:t>
            </a:r>
            <a:r>
              <a:rPr kumimoji="1" lang="zh-CN" altLang="en-US" dirty="0"/>
              <a:t>不合规配置 </a:t>
            </a:r>
            <a:r>
              <a:rPr kumimoji="1" lang="en-US" altLang="zh-CN" dirty="0"/>
              <a:t>Importance of Image Scanning in </a:t>
            </a:r>
            <a:r>
              <a:rPr kumimoji="1" lang="en-US" altLang="zh-CN" dirty="0" err="1"/>
              <a:t>DevSecOps</a:t>
            </a:r>
            <a:r>
              <a:rPr kumimoji="1" lang="en-US" altLang="zh-CN" dirty="0"/>
              <a:t> – Azure </a:t>
            </a:r>
            <a:r>
              <a:rPr kumimoji="1" lang="en-US" altLang="zh-CN" dirty="0" err="1"/>
              <a:t>Devops</a:t>
            </a:r>
            <a:r>
              <a:rPr kumimoji="1" lang="en-US" altLang="zh-CN" dirty="0"/>
              <a:t> ...)</a:t>
            </a:r>
            <a:r>
              <a:rPr kumimoji="1" lang="zh-CN" altLang="en-US" dirty="0"/>
              <a:t>。安全测试同普通测试一样，每次构建</a:t>
            </a:r>
            <a:r>
              <a:rPr kumimoji="1" lang="en-US" altLang="zh-CN" dirty="0"/>
              <a:t>/</a:t>
            </a:r>
            <a:r>
              <a:rPr kumimoji="1" lang="zh-CN" altLang="en-US" dirty="0"/>
              <a:t>部署运行。</a:t>
            </a:r>
            <a:endParaRPr kumimoji="1" lang="zh-CN" altLang="en-US" dirty="0"/>
          </a:p>
          <a:p>
            <a:r>
              <a:rPr kumimoji="1" lang="zh-CN" altLang="en-US" dirty="0"/>
              <a:t>基础设施和依赖安全</a:t>
            </a:r>
            <a:r>
              <a:rPr kumimoji="1" lang="en-US" altLang="zh-CN" dirty="0"/>
              <a:t>: </a:t>
            </a:r>
            <a:r>
              <a:rPr kumimoji="1" lang="zh-CN" altLang="en-US" dirty="0"/>
              <a:t>利用 </a:t>
            </a:r>
            <a:r>
              <a:rPr kumimoji="1" lang="en-US" altLang="zh-CN" dirty="0" err="1"/>
              <a:t>IaC</a:t>
            </a:r>
            <a:r>
              <a:rPr kumimoji="1" lang="en-US" altLang="zh-CN" dirty="0"/>
              <a:t> </a:t>
            </a:r>
            <a:r>
              <a:rPr kumimoji="1" lang="zh-CN" altLang="en-US" dirty="0"/>
              <a:t>对基础设施配置应用安全策略 </a:t>
            </a:r>
            <a:r>
              <a:rPr kumimoji="1" lang="en-US" altLang="zh-CN" dirty="0"/>
              <a:t>(</a:t>
            </a:r>
            <a:r>
              <a:rPr kumimoji="1" lang="zh-CN" altLang="en-US" dirty="0"/>
              <a:t>端口限制</a:t>
            </a:r>
            <a:r>
              <a:rPr kumimoji="1" lang="en-US" altLang="zh-CN" dirty="0"/>
              <a:t>/</a:t>
            </a:r>
            <a:r>
              <a:rPr kumimoji="1" lang="zh-CN" altLang="en-US" dirty="0"/>
              <a:t>加密</a:t>
            </a:r>
            <a:r>
              <a:rPr kumimoji="1" lang="en-US" altLang="zh-CN" dirty="0"/>
              <a:t>) </a:t>
            </a:r>
            <a:r>
              <a:rPr kumimoji="1" lang="zh-CN" altLang="en-US" dirty="0"/>
              <a:t>并代码审查</a:t>
            </a:r>
            <a:r>
              <a:rPr kumimoji="1" lang="en-US" altLang="zh-CN" dirty="0"/>
              <a:t>/</a:t>
            </a:r>
            <a:r>
              <a:rPr kumimoji="1" lang="zh-CN" altLang="en-US" dirty="0"/>
              <a:t>扫描。做软件成分分析 </a:t>
            </a:r>
            <a:r>
              <a:rPr kumimoji="1" lang="en-US" altLang="zh-CN" dirty="0"/>
              <a:t>(SCA)</a:t>
            </a:r>
            <a:r>
              <a:rPr kumimoji="1" lang="zh-CN" altLang="en-US" dirty="0"/>
              <a:t>，识别第三方库漏洞。</a:t>
            </a:r>
            <a:endParaRPr kumimoji="1" lang="zh-CN" altLang="en-US" dirty="0"/>
          </a:p>
          <a:p>
            <a:r>
              <a:rPr kumimoji="1" lang="zh-CN" altLang="en-US" dirty="0"/>
              <a:t>持续监控与防护</a:t>
            </a:r>
            <a:r>
              <a:rPr kumimoji="1" lang="en-US" altLang="zh-CN" dirty="0"/>
              <a:t>: </a:t>
            </a:r>
            <a:r>
              <a:rPr kumimoji="1" lang="zh-CN" altLang="en-US" dirty="0"/>
              <a:t>部署入侵检测、</a:t>
            </a:r>
            <a:r>
              <a:rPr kumimoji="1" lang="en-US" altLang="zh-CN" dirty="0"/>
              <a:t>WAF </a:t>
            </a:r>
            <a:r>
              <a:rPr kumimoji="1" lang="zh-CN" altLang="en-US" dirty="0"/>
              <a:t>防火墙，安全日志入集中监控。安全事件发生时，团队快速响应、修复、触发 </a:t>
            </a:r>
            <a:r>
              <a:rPr kumimoji="1" lang="en-US" altLang="zh-CN" dirty="0"/>
              <a:t>CI/CD </a:t>
            </a:r>
            <a:r>
              <a:rPr kumimoji="1" lang="zh-CN" altLang="en-US" dirty="0"/>
              <a:t>紧急更新。形成闭环反馈。</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常用 </a:t>
            </a:r>
            <a:r>
              <a:rPr kumimoji="1" lang="en-US" altLang="zh-CN" dirty="0"/>
              <a:t>DevOps </a:t>
            </a:r>
            <a:r>
              <a:rPr kumimoji="1" lang="zh-CN" altLang="en-US" dirty="0"/>
              <a:t>术语表</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zh-CN" altLang="en-US" dirty="0"/>
              <a:t>蓝绿部署 </a:t>
            </a:r>
            <a:r>
              <a:rPr kumimoji="1" lang="en-US" altLang="zh-CN" dirty="0"/>
              <a:t>(Blue-Green Deployment):</a:t>
            </a:r>
            <a:endParaRPr kumimoji="1" lang="en-US" altLang="zh-CN" dirty="0"/>
          </a:p>
          <a:p>
            <a:pPr lvl="1"/>
            <a:r>
              <a:rPr kumimoji="1" lang="zh-CN" altLang="en-US" dirty="0"/>
              <a:t>定义：零停机部署策略。维护两套环境：蓝 </a:t>
            </a:r>
            <a:r>
              <a:rPr kumimoji="1" lang="en-US" altLang="zh-CN" dirty="0"/>
              <a:t>(</a:t>
            </a:r>
            <a:r>
              <a:rPr kumimoji="1" lang="zh-CN" altLang="en-US" dirty="0"/>
              <a:t>当前生产</a:t>
            </a:r>
            <a:r>
              <a:rPr kumimoji="1" lang="en-US" altLang="zh-CN" dirty="0"/>
              <a:t>)</a:t>
            </a:r>
            <a:r>
              <a:rPr kumimoji="1" lang="zh-CN" altLang="en-US" dirty="0"/>
              <a:t>，绿 </a:t>
            </a:r>
            <a:r>
              <a:rPr kumimoji="1" lang="en-US" altLang="zh-CN" dirty="0"/>
              <a:t>(</a:t>
            </a:r>
            <a:r>
              <a:rPr kumimoji="1" lang="zh-CN" altLang="en-US" dirty="0"/>
              <a:t>部署新版</a:t>
            </a:r>
            <a:r>
              <a:rPr kumimoji="1" lang="en-US" altLang="zh-CN" dirty="0"/>
              <a:t>)</a:t>
            </a:r>
            <a:r>
              <a:rPr kumimoji="1" lang="zh-CN" altLang="en-US" dirty="0"/>
              <a:t>。</a:t>
            </a:r>
            <a:endParaRPr kumimoji="1" lang="zh-CN" altLang="en-US" dirty="0"/>
          </a:p>
          <a:p>
            <a:pPr lvl="1"/>
            <a:r>
              <a:rPr kumimoji="1" lang="zh-CN" altLang="en-US" dirty="0"/>
              <a:t>流程：测试验证绿环境正常后，流量从蓝切到绿。切换瞬时完成。</a:t>
            </a:r>
            <a:endParaRPr kumimoji="1" lang="zh-CN" altLang="en-US" dirty="0"/>
          </a:p>
          <a:p>
            <a:pPr lvl="1"/>
            <a:r>
              <a:rPr kumimoji="1" lang="zh-CN" altLang="en-US" dirty="0"/>
              <a:t>优缺点：切换快，回退易 </a:t>
            </a:r>
            <a:r>
              <a:rPr kumimoji="1" lang="en-US" altLang="zh-CN" dirty="0"/>
              <a:t>(</a:t>
            </a:r>
            <a:r>
              <a:rPr kumimoji="1" lang="zh-CN" altLang="en-US" dirty="0"/>
              <a:t>切回蓝</a:t>
            </a:r>
            <a:r>
              <a:rPr kumimoji="1" lang="en-US" altLang="zh-CN" dirty="0"/>
              <a:t>)</a:t>
            </a:r>
            <a:r>
              <a:rPr kumimoji="1" lang="zh-CN" altLang="en-US" dirty="0"/>
              <a:t>；需双倍资源；一次性切换有风险。</a:t>
            </a:r>
            <a:endParaRPr kumimoji="1" lang="zh-CN" altLang="en-US" dirty="0"/>
          </a:p>
          <a:p>
            <a:pPr lvl="1"/>
            <a:r>
              <a:rPr kumimoji="1" lang="zh-CN" altLang="en-US" dirty="0"/>
              <a:t>适用：要求短暂无缝切换场景，成本较高。</a:t>
            </a:r>
            <a:endParaRPr kumimoji="1" lang="en-US" altLang="zh-CN" dirty="0"/>
          </a:p>
          <a:p>
            <a:r>
              <a:rPr kumimoji="1" lang="zh-CN" altLang="en-US" dirty="0">
                <a:solidFill>
                  <a:srgbClr val="FF0000"/>
                </a:solidFill>
              </a:rPr>
              <a:t>金丝雀发布 </a:t>
            </a:r>
            <a:r>
              <a:rPr kumimoji="1" lang="en-US" altLang="zh-CN" dirty="0">
                <a:solidFill>
                  <a:srgbClr val="FF0000"/>
                </a:solidFill>
              </a:rPr>
              <a:t>(Canary Deployment):</a:t>
            </a:r>
            <a:endParaRPr kumimoji="1" lang="en-US" altLang="zh-CN" dirty="0">
              <a:solidFill>
                <a:srgbClr val="FF0000"/>
              </a:solidFill>
            </a:endParaRPr>
          </a:p>
          <a:p>
            <a:pPr lvl="1"/>
            <a:r>
              <a:rPr kumimoji="1" lang="zh-CN" altLang="en-US" dirty="0"/>
              <a:t>定义：渐进式部署策略，源自“矿井金丝雀”预警。</a:t>
            </a:r>
            <a:endParaRPr kumimoji="1" lang="zh-CN" altLang="en-US" dirty="0"/>
          </a:p>
          <a:p>
            <a:pPr lvl="1"/>
            <a:r>
              <a:rPr kumimoji="1" lang="zh-CN" altLang="en-US" dirty="0"/>
              <a:t>流程：仅将一小部分用户</a:t>
            </a:r>
            <a:r>
              <a:rPr kumimoji="1" lang="en-US" altLang="zh-CN" dirty="0"/>
              <a:t>/</a:t>
            </a:r>
            <a:r>
              <a:rPr kumimoji="1" lang="zh-CN" altLang="en-US" dirty="0"/>
              <a:t>流量切换到新版本，其余仍用旧版。观察新版运行情况，无异常则逐步扩大新版流量比例，最终 </a:t>
            </a:r>
            <a:r>
              <a:rPr kumimoji="1" lang="en-US" altLang="zh-CN" dirty="0"/>
              <a:t>100% </a:t>
            </a:r>
            <a:r>
              <a:rPr kumimoji="1" lang="zh-CN" altLang="en-US" dirty="0"/>
              <a:t>迁移。有问题可及时止损</a:t>
            </a:r>
            <a:r>
              <a:rPr kumimoji="1" lang="en-US" altLang="zh-CN" dirty="0"/>
              <a:t>/</a:t>
            </a:r>
            <a:r>
              <a:rPr kumimoji="1" lang="zh-CN" altLang="en-US" dirty="0"/>
              <a:t>回滚。</a:t>
            </a:r>
            <a:endParaRPr kumimoji="1" lang="zh-CN" altLang="en-US" dirty="0"/>
          </a:p>
          <a:p>
            <a:pPr lvl="1"/>
            <a:r>
              <a:rPr kumimoji="1" lang="zh-CN" altLang="en-US" dirty="0"/>
              <a:t>优缺点：更安全可控，常与 </a:t>
            </a:r>
            <a:r>
              <a:rPr kumimoji="1" lang="en-US" altLang="zh-CN" dirty="0"/>
              <a:t>A/B </a:t>
            </a:r>
            <a:r>
              <a:rPr kumimoji="1" lang="zh-CN" altLang="en-US" dirty="0"/>
              <a:t>测试结合；需实现按用户</a:t>
            </a:r>
            <a:r>
              <a:rPr kumimoji="1" lang="en-US" altLang="zh-CN" dirty="0"/>
              <a:t>/</a:t>
            </a:r>
            <a:r>
              <a:rPr kumimoji="1" lang="zh-CN" altLang="en-US" dirty="0"/>
              <a:t>流量分割的路由机制。</a:t>
            </a:r>
            <a:endParaRPr kumimoji="1" lang="zh-CN" altLang="en-US" dirty="0"/>
          </a:p>
          <a:p>
            <a:pPr lvl="1"/>
            <a:r>
              <a:rPr kumimoji="1" lang="zh-CN" altLang="en-US" dirty="0"/>
              <a:t>适用：风险最低的发布策略之一。</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a:p>
        </p:txBody>
      </p:sp>
      <p:sp>
        <p:nvSpPr>
          <p:cNvPr id="4" name="内容占位符 3"/>
          <p:cNvSpPr>
            <a:spLocks noGrp="1"/>
          </p:cNvSpPr>
          <p:nvPr>
            <p:ph idx="1"/>
          </p:nvPr>
        </p:nvSpPr>
        <p:spPr/>
        <p:txBody>
          <a:bodyPr>
            <a:normAutofit fontScale="77500" lnSpcReduction="20000"/>
          </a:bodyPr>
          <a:lstStyle/>
          <a:p>
            <a:r>
              <a:rPr kumimoji="1" lang="zh-CN" altLang="en-US" dirty="0"/>
              <a:t>基础设施即代码 </a:t>
            </a:r>
            <a:r>
              <a:rPr kumimoji="1" lang="en-US" altLang="zh-CN" dirty="0"/>
              <a:t>(</a:t>
            </a:r>
            <a:r>
              <a:rPr kumimoji="1" lang="en-US" altLang="zh-CN" dirty="0" err="1"/>
              <a:t>IaC</a:t>
            </a:r>
            <a:r>
              <a:rPr kumimoji="1" lang="en-US" altLang="zh-CN" dirty="0"/>
              <a:t>, Infrastructure as Code):</a:t>
            </a:r>
            <a:endParaRPr kumimoji="1" lang="en-US" altLang="zh-CN" dirty="0"/>
          </a:p>
          <a:p>
            <a:pPr lvl="1"/>
            <a:r>
              <a:rPr kumimoji="1" lang="zh-CN" altLang="en-US" dirty="0"/>
              <a:t>定义：用代码定义和管理 </a:t>
            </a:r>
            <a:r>
              <a:rPr kumimoji="1" lang="en-US" altLang="zh-CN" dirty="0"/>
              <a:t>IT </a:t>
            </a:r>
            <a:r>
              <a:rPr kumimoji="1" lang="zh-CN" altLang="en-US" dirty="0"/>
              <a:t>基础设施 </a:t>
            </a:r>
            <a:r>
              <a:rPr kumimoji="1" lang="en-US" altLang="zh-CN" dirty="0"/>
              <a:t>(</a:t>
            </a:r>
            <a:r>
              <a:rPr kumimoji="1" lang="zh-CN" altLang="en-US" dirty="0"/>
              <a:t>服务器、网络、存储等</a:t>
            </a:r>
            <a:r>
              <a:rPr kumimoji="1" lang="en-US" altLang="zh-CN" dirty="0"/>
              <a:t>) </a:t>
            </a:r>
            <a:r>
              <a:rPr kumimoji="1" lang="zh-CN" altLang="en-US" dirty="0"/>
              <a:t>的实践。</a:t>
            </a:r>
            <a:endParaRPr kumimoji="1" lang="zh-CN" altLang="en-US" dirty="0"/>
          </a:p>
          <a:p>
            <a:pPr lvl="1"/>
            <a:r>
              <a:rPr kumimoji="1" lang="zh-CN" altLang="en-US" dirty="0"/>
              <a:t>工具：</a:t>
            </a:r>
            <a:r>
              <a:rPr kumimoji="1" lang="en-US" altLang="zh-CN" dirty="0"/>
              <a:t>Terraform, CloudFormation </a:t>
            </a:r>
            <a:r>
              <a:rPr kumimoji="1" lang="zh-CN" altLang="en-US" dirty="0"/>
              <a:t>等。</a:t>
            </a:r>
            <a:endParaRPr kumimoji="1" lang="zh-CN" altLang="en-US" dirty="0"/>
          </a:p>
          <a:p>
            <a:pPr lvl="1"/>
            <a:r>
              <a:rPr kumimoji="1" lang="zh-CN" altLang="en-US" dirty="0"/>
              <a:t>实践：用脚本</a:t>
            </a:r>
            <a:r>
              <a:rPr kumimoji="1" lang="en-US" altLang="zh-CN" dirty="0"/>
              <a:t>/</a:t>
            </a:r>
            <a:r>
              <a:rPr kumimoji="1" lang="zh-CN" altLang="en-US" dirty="0"/>
              <a:t>配置文件描述所需资源，自动化创建</a:t>
            </a:r>
            <a:r>
              <a:rPr kumimoji="1" lang="en-US" altLang="zh-CN" dirty="0"/>
              <a:t>/</a:t>
            </a:r>
            <a:r>
              <a:rPr kumimoji="1" lang="zh-CN" altLang="en-US" dirty="0"/>
              <a:t>更新。配置可版本控制、代码审查、重复执行。</a:t>
            </a:r>
            <a:endParaRPr kumimoji="1" lang="zh-CN" altLang="en-US" dirty="0"/>
          </a:p>
          <a:p>
            <a:pPr lvl="1"/>
            <a:r>
              <a:rPr kumimoji="1" lang="zh-CN" altLang="en-US" dirty="0"/>
              <a:t>效果：环境配置统一可重复，部署</a:t>
            </a:r>
            <a:r>
              <a:rPr kumimoji="1" lang="en-US" altLang="zh-CN" dirty="0"/>
              <a:t>/</a:t>
            </a:r>
            <a:r>
              <a:rPr kumimoji="1" lang="zh-CN" altLang="en-US" dirty="0"/>
              <a:t>恢复快速可靠，减少人为错误，提高一致性伸缩性。</a:t>
            </a:r>
            <a:endParaRPr kumimoji="1" lang="zh-CN" altLang="en-US" dirty="0"/>
          </a:p>
          <a:p>
            <a:r>
              <a:rPr kumimoji="1" lang="zh-CN" altLang="en-US" dirty="0"/>
              <a:t>微服务 </a:t>
            </a:r>
            <a:r>
              <a:rPr kumimoji="1" lang="en-US" altLang="zh-CN" dirty="0"/>
              <a:t>(Microservices):</a:t>
            </a:r>
            <a:endParaRPr kumimoji="1" lang="en-US" altLang="zh-CN" dirty="0"/>
          </a:p>
          <a:p>
            <a:pPr lvl="1"/>
            <a:r>
              <a:rPr kumimoji="1" lang="zh-CN" altLang="en-US" dirty="0"/>
              <a:t>定义：软件架构风格，将应用拆分为一组小的、独立部署的服务，每个服务专注单一业务能力。</a:t>
            </a:r>
            <a:endParaRPr kumimoji="1" lang="zh-CN" altLang="en-US" dirty="0"/>
          </a:p>
          <a:p>
            <a:pPr lvl="1"/>
            <a:r>
              <a:rPr kumimoji="1" lang="zh-CN" altLang="en-US" dirty="0"/>
              <a:t>与 </a:t>
            </a:r>
            <a:r>
              <a:rPr kumimoji="1" lang="en-US" altLang="zh-CN" dirty="0"/>
              <a:t>DevOps </a:t>
            </a:r>
            <a:r>
              <a:rPr kumimoji="1" lang="zh-CN" altLang="en-US" dirty="0"/>
              <a:t>关系：相辅相成。服务粒度小，可独立开发部署，使 </a:t>
            </a:r>
            <a:r>
              <a:rPr kumimoji="1" lang="en-US" altLang="zh-CN" dirty="0"/>
              <a:t>CD </a:t>
            </a:r>
            <a:r>
              <a:rPr kumimoji="1" lang="zh-CN" altLang="en-US" dirty="0"/>
              <a:t>更易。每个服务由小团队 </a:t>
            </a:r>
            <a:r>
              <a:rPr kumimoji="1" lang="en-US" altLang="zh-CN" dirty="0"/>
              <a:t>(“</a:t>
            </a:r>
            <a:r>
              <a:rPr kumimoji="1" lang="zh-CN" altLang="en-US" dirty="0"/>
              <a:t>两披萨团队”</a:t>
            </a:r>
            <a:r>
              <a:rPr kumimoji="1" lang="en-US" altLang="zh-CN" dirty="0"/>
              <a:t>) </a:t>
            </a:r>
            <a:r>
              <a:rPr kumimoji="1" lang="zh-CN" altLang="en-US" dirty="0"/>
              <a:t>负责全生命周期。</a:t>
            </a:r>
            <a:endParaRPr kumimoji="1" lang="zh-CN" altLang="en-US" dirty="0"/>
          </a:p>
          <a:p>
            <a:pPr lvl="1"/>
            <a:r>
              <a:rPr kumimoji="1" lang="zh-CN" altLang="en-US" dirty="0"/>
              <a:t>特点：部署频率高，需成熟 </a:t>
            </a:r>
            <a:r>
              <a:rPr kumimoji="1" lang="en-US" altLang="zh-CN" dirty="0"/>
              <a:t>CI/CD </a:t>
            </a:r>
            <a:r>
              <a:rPr kumimoji="1" lang="zh-CN" altLang="en-US" dirty="0"/>
              <a:t>和监控。通过 </a:t>
            </a:r>
            <a:r>
              <a:rPr kumimoji="1" lang="en-US" altLang="zh-CN" dirty="0"/>
              <a:t>DevOps </a:t>
            </a:r>
            <a:r>
              <a:rPr kumimoji="1" lang="zh-CN" altLang="en-US" dirty="0"/>
              <a:t>实现弹性伸缩和故障隔离。</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zh-CN" altLang="en-US" dirty="0"/>
              <a:t>持续监控 </a:t>
            </a:r>
            <a:r>
              <a:rPr kumimoji="1" lang="en-US" altLang="zh-CN" dirty="0"/>
              <a:t>(Continuous Monitoring):</a:t>
            </a:r>
            <a:endParaRPr kumimoji="1" lang="en-US" altLang="zh-CN" dirty="0"/>
          </a:p>
          <a:p>
            <a:pPr lvl="1"/>
            <a:r>
              <a:rPr kumimoji="1" lang="zh-CN" altLang="en-US" dirty="0"/>
              <a:t>定义：应用和基础设施上线后，持续收集性能指标、日志、用户行为等数据并监视。</a:t>
            </a:r>
            <a:endParaRPr kumimoji="1" lang="zh-CN" altLang="en-US" dirty="0"/>
          </a:p>
          <a:p>
            <a:pPr lvl="1"/>
            <a:r>
              <a:rPr kumimoji="1" lang="zh-CN" altLang="en-US" dirty="0"/>
              <a:t>实践：实时了解系统健康，及时发现异常 </a:t>
            </a:r>
            <a:r>
              <a:rPr kumimoji="1" lang="en-US" altLang="zh-CN" dirty="0"/>
              <a:t>(</a:t>
            </a:r>
            <a:r>
              <a:rPr kumimoji="1" lang="zh-CN" altLang="en-US" dirty="0"/>
              <a:t>响应时间突增、错误率升高等</a:t>
            </a:r>
            <a:r>
              <a:rPr kumimoji="1" lang="en-US" altLang="zh-CN" dirty="0"/>
              <a:t>)</a:t>
            </a:r>
            <a:r>
              <a:rPr kumimoji="1" lang="zh-CN" altLang="en-US" dirty="0"/>
              <a:t>。通常伴随告警机制。</a:t>
            </a:r>
            <a:endParaRPr kumimoji="1" lang="zh-CN" altLang="en-US" dirty="0"/>
          </a:p>
          <a:p>
            <a:pPr lvl="1"/>
            <a:r>
              <a:rPr kumimoji="1" lang="zh-CN" altLang="en-US" dirty="0"/>
              <a:t>作用：持续反馈的重要组成，数据反馈驱动下一次迭代。</a:t>
            </a:r>
            <a:endParaRPr kumimoji="1" lang="zh-CN" altLang="en-US" dirty="0"/>
          </a:p>
          <a:p>
            <a:pPr lvl="1"/>
            <a:r>
              <a:rPr kumimoji="1" lang="zh-CN" altLang="en-US" dirty="0"/>
              <a:t>工具：</a:t>
            </a:r>
            <a:r>
              <a:rPr kumimoji="1" lang="en-US" altLang="zh-CN" dirty="0"/>
              <a:t>Prometheus, Grafana, ELK </a:t>
            </a:r>
            <a:r>
              <a:rPr kumimoji="1" lang="zh-CN" altLang="en-US" dirty="0"/>
              <a:t>栈。</a:t>
            </a:r>
            <a:endParaRPr kumimoji="1" lang="en-US" altLang="zh-CN" dirty="0"/>
          </a:p>
          <a:p>
            <a:r>
              <a:rPr kumimoji="1" lang="en-US" altLang="zh-CN" dirty="0"/>
              <a:t>MTTR (Mean Time to Recovery/Restore):</a:t>
            </a:r>
            <a:endParaRPr kumimoji="1" lang="en-US" altLang="zh-CN" dirty="0"/>
          </a:p>
          <a:p>
            <a:pPr lvl="1"/>
            <a:r>
              <a:rPr kumimoji="1" lang="zh-CN" altLang="en-US" dirty="0"/>
              <a:t>定义：平均恢复时间，从故障发生到修复完成的平均时长。</a:t>
            </a:r>
            <a:endParaRPr kumimoji="1" lang="zh-CN" altLang="en-US" dirty="0"/>
          </a:p>
          <a:p>
            <a:pPr lvl="1"/>
            <a:r>
              <a:rPr kumimoji="1" lang="zh-CN" altLang="en-US" dirty="0"/>
              <a:t>意义：</a:t>
            </a:r>
            <a:r>
              <a:rPr kumimoji="1" lang="en-US" altLang="zh-CN" dirty="0"/>
              <a:t>DevOps </a:t>
            </a:r>
            <a:r>
              <a:rPr kumimoji="1" lang="zh-CN" altLang="en-US" dirty="0"/>
              <a:t>度量中反映发布稳定性和运维效率的关键指标。高绩效团队 </a:t>
            </a:r>
            <a:r>
              <a:rPr kumimoji="1" lang="en-US" altLang="zh-CN" dirty="0"/>
              <a:t>MTTR </a:t>
            </a:r>
            <a:r>
              <a:rPr kumimoji="1" lang="zh-CN" altLang="en-US" dirty="0"/>
              <a:t>在小时内，低绩效需数天。</a:t>
            </a:r>
            <a:endParaRPr kumimoji="1" lang="zh-CN" altLang="en-US" dirty="0"/>
          </a:p>
          <a:p>
            <a:pPr lvl="1"/>
            <a:r>
              <a:rPr kumimoji="1" lang="zh-CN" altLang="en-US" dirty="0"/>
              <a:t>改进方式：自动化监控、快速回滚、高效协作可大幅降低 </a:t>
            </a:r>
            <a:r>
              <a:rPr kumimoji="1" lang="en-US" altLang="zh-CN" dirty="0"/>
              <a:t>MTTR</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lang="en-US" altLang="zh-CN" dirty="0"/>
              <a:t>DORA</a:t>
            </a:r>
            <a:r>
              <a:rPr lang="zh-CN" altLang="en-US" dirty="0"/>
              <a:t>（</a:t>
            </a:r>
            <a:r>
              <a:rPr lang="en-US" altLang="zh-CN" dirty="0"/>
              <a:t>DevOps Research and Assessment</a:t>
            </a:r>
            <a:r>
              <a:rPr lang="zh-CN" altLang="en-US" dirty="0"/>
              <a:t>）指标体系</a:t>
            </a:r>
            <a:endParaRPr lang="zh-CN" altLang="en-US" dirty="0"/>
          </a:p>
        </p:txBody>
      </p:sp>
      <p:sp>
        <p:nvSpPr>
          <p:cNvPr id="4" name="内容占位符 3"/>
          <p:cNvSpPr>
            <a:spLocks noGrp="1"/>
          </p:cNvSpPr>
          <p:nvPr>
            <p:ph idx="1"/>
          </p:nvPr>
        </p:nvSpPr>
        <p:spPr/>
        <p:txBody>
          <a:bodyPr/>
          <a:lstStyle/>
          <a:p>
            <a:r>
              <a:rPr lang="zh-CN" altLang="en-US" b="1" dirty="0"/>
              <a:t>部署频率（</a:t>
            </a:r>
            <a:r>
              <a:rPr lang="en-US" altLang="zh-CN" b="1" dirty="0"/>
              <a:t>Deployment Frequency</a:t>
            </a:r>
            <a:r>
              <a:rPr lang="zh-CN" altLang="en-US" b="1" dirty="0"/>
              <a:t>）</a:t>
            </a:r>
            <a:endParaRPr lang="zh-CN" altLang="en-US" b="1" dirty="0"/>
          </a:p>
          <a:p>
            <a:r>
              <a:rPr lang="zh-CN" altLang="en-US" dirty="0"/>
              <a:t>部署频率是指团队或组织在给定时间范围内将代码成功部署到生产环境的频率，通常以每日、每周、每月或更低的频率进行统计。</a:t>
            </a:r>
            <a:endParaRPr lang="zh-CN" altLang="en-US" dirty="0"/>
          </a:p>
          <a:p>
            <a:endParaRPr kumimoji="1" lang="zh-CN" altLang="en-US" dirty="0"/>
          </a:p>
        </p:txBody>
      </p:sp>
      <p:pic>
        <p:nvPicPr>
          <p:cNvPr id="5" name="图片 4"/>
          <p:cNvPicPr>
            <a:picLocks noChangeAspect="1"/>
          </p:cNvPicPr>
          <p:nvPr/>
        </p:nvPicPr>
        <p:blipFill>
          <a:blip r:embed="rId1"/>
          <a:stretch>
            <a:fillRect/>
          </a:stretch>
        </p:blipFill>
        <p:spPr>
          <a:xfrm>
            <a:off x="3697442" y="3385064"/>
            <a:ext cx="4991100" cy="31750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lstStyle/>
          <a:p>
            <a:r>
              <a:rPr lang="zh-CN" altLang="en-US" b="1" dirty="0"/>
              <a:t>变更前置时间（</a:t>
            </a:r>
            <a:r>
              <a:rPr lang="en-US" altLang="zh-CN" b="1" dirty="0"/>
              <a:t>Lead Time for Changes</a:t>
            </a:r>
            <a:r>
              <a:rPr lang="zh-CN" altLang="en-US" b="1" dirty="0"/>
              <a:t>）</a:t>
            </a:r>
            <a:endParaRPr lang="zh-CN" altLang="en-US" b="1" dirty="0"/>
          </a:p>
          <a:p>
            <a:r>
              <a:rPr lang="zh-CN" altLang="en-US" dirty="0"/>
              <a:t>变更前置时间指从代码提交到代码成功部署到生产环境所需的时间，也即从开发人员开始写代码到客户真正获得该变更的间隔时长。</a:t>
            </a:r>
            <a:endParaRPr lang="zh-CN" altLang="en-US" dirty="0"/>
          </a:p>
          <a:p>
            <a:endParaRPr kumimoji="1" lang="zh-CN" altLang="en-US" dirty="0"/>
          </a:p>
        </p:txBody>
      </p:sp>
      <p:pic>
        <p:nvPicPr>
          <p:cNvPr id="5" name="图片 4"/>
          <p:cNvPicPr>
            <a:picLocks noChangeAspect="1"/>
          </p:cNvPicPr>
          <p:nvPr/>
        </p:nvPicPr>
        <p:blipFill>
          <a:blip r:embed="rId1"/>
          <a:stretch>
            <a:fillRect/>
          </a:stretch>
        </p:blipFill>
        <p:spPr>
          <a:xfrm>
            <a:off x="3735542" y="3270764"/>
            <a:ext cx="4914900" cy="32893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lstStyle/>
          <a:p>
            <a:r>
              <a:rPr lang="zh-CN" altLang="en-US" b="1" dirty="0"/>
              <a:t>变更失败率（</a:t>
            </a:r>
            <a:r>
              <a:rPr lang="en-US" altLang="zh-CN" b="1" dirty="0"/>
              <a:t>Change Failure Rate</a:t>
            </a:r>
            <a:r>
              <a:rPr lang="zh-CN" altLang="en-US" b="1" dirty="0"/>
              <a:t>）</a:t>
            </a:r>
            <a:endParaRPr lang="zh-CN" altLang="en-US" b="1" dirty="0"/>
          </a:p>
          <a:p>
            <a:r>
              <a:rPr lang="zh-CN" altLang="en-US" dirty="0"/>
              <a:t>变更失败率是指部署到生产环境后的代码变更引发故障或问题，导致需要紧急修复、回滚或出现服务降级等情况的比例。</a:t>
            </a:r>
            <a:endParaRPr lang="zh-CN" altLang="en-US" dirty="0"/>
          </a:p>
          <a:p>
            <a:endParaRPr kumimoji="1" lang="zh-CN" altLang="en-US" dirty="0"/>
          </a:p>
        </p:txBody>
      </p:sp>
      <p:pic>
        <p:nvPicPr>
          <p:cNvPr id="5" name="图片 4"/>
          <p:cNvPicPr>
            <a:picLocks noChangeAspect="1"/>
          </p:cNvPicPr>
          <p:nvPr/>
        </p:nvPicPr>
        <p:blipFill>
          <a:blip r:embed="rId1"/>
          <a:stretch>
            <a:fillRect/>
          </a:stretch>
        </p:blipFill>
        <p:spPr>
          <a:xfrm>
            <a:off x="3822700" y="3282444"/>
            <a:ext cx="4546600" cy="31242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lstStyle/>
          <a:p>
            <a:r>
              <a:rPr lang="zh-CN" altLang="en-US" b="1" dirty="0"/>
              <a:t>平均恢复时间（</a:t>
            </a:r>
            <a:r>
              <a:rPr lang="en-US" altLang="zh-CN" b="1" dirty="0"/>
              <a:t>Mean Time To Restore, MTTR</a:t>
            </a:r>
            <a:r>
              <a:rPr lang="zh-CN" altLang="en-US" b="1" dirty="0"/>
              <a:t>）</a:t>
            </a:r>
            <a:endParaRPr lang="zh-CN" altLang="en-US" b="1" dirty="0"/>
          </a:p>
          <a:p>
            <a:r>
              <a:rPr lang="zh-CN" altLang="en-US" dirty="0"/>
              <a:t>平均恢复时间是指当生产环境出现故障或服务降级时，从故障发生到完全恢复正常服务所需的平均时间。</a:t>
            </a:r>
            <a:endParaRPr lang="zh-CN" altLang="en-US" dirty="0"/>
          </a:p>
          <a:p>
            <a:endParaRPr kumimoji="1" lang="zh-CN" altLang="en-US" dirty="0"/>
          </a:p>
        </p:txBody>
      </p:sp>
      <p:pic>
        <p:nvPicPr>
          <p:cNvPr id="5" name="图片 4"/>
          <p:cNvPicPr>
            <a:picLocks noChangeAspect="1"/>
          </p:cNvPicPr>
          <p:nvPr/>
        </p:nvPicPr>
        <p:blipFill>
          <a:blip r:embed="rId1"/>
          <a:stretch>
            <a:fillRect/>
          </a:stretch>
        </p:blipFill>
        <p:spPr>
          <a:xfrm>
            <a:off x="3721100" y="3397764"/>
            <a:ext cx="4749800" cy="31623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lstStyle/>
          <a:p>
            <a:pPr>
              <a:buFont typeface="Arial" panose="020B0604020202020204" pitchFamily="34" charset="0"/>
              <a:buChar char="•"/>
            </a:pPr>
            <a:r>
              <a:rPr lang="zh-CN" altLang="en-US" b="1" dirty="0"/>
              <a:t>部署频率</a:t>
            </a:r>
            <a:r>
              <a:rPr lang="zh-CN" altLang="en-US" dirty="0"/>
              <a:t>和</a:t>
            </a:r>
            <a:r>
              <a:rPr lang="zh-CN" altLang="en-US" b="1" dirty="0"/>
              <a:t>变更前置时间</a:t>
            </a:r>
            <a:r>
              <a:rPr lang="zh-CN" altLang="en-US" dirty="0"/>
              <a:t>体现了交付的</a:t>
            </a:r>
            <a:r>
              <a:rPr lang="zh-CN" altLang="en-US" b="1" dirty="0"/>
              <a:t>速度和效率</a:t>
            </a:r>
            <a:r>
              <a:rPr lang="zh-CN" altLang="en-US" dirty="0"/>
              <a:t>。</a:t>
            </a:r>
            <a:endParaRPr lang="zh-CN" altLang="en-US" dirty="0"/>
          </a:p>
          <a:p>
            <a:pPr>
              <a:buFont typeface="Arial" panose="020B0604020202020204" pitchFamily="34" charset="0"/>
              <a:buChar char="•"/>
            </a:pPr>
            <a:r>
              <a:rPr lang="zh-CN" altLang="en-US" b="1" dirty="0"/>
              <a:t>变更失败率</a:t>
            </a:r>
            <a:r>
              <a:rPr lang="zh-CN" altLang="en-US" dirty="0"/>
              <a:t>和</a:t>
            </a:r>
            <a:r>
              <a:rPr lang="zh-CN" altLang="en-US" b="1" dirty="0"/>
              <a:t>平均恢复时间</a:t>
            </a:r>
            <a:r>
              <a:rPr lang="zh-CN" altLang="en-US" dirty="0"/>
              <a:t>则体现了交付的</a:t>
            </a:r>
            <a:r>
              <a:rPr lang="zh-CN" altLang="en-US" b="1" dirty="0"/>
              <a:t>质量和稳定性</a:t>
            </a:r>
            <a:r>
              <a:rPr lang="zh-CN" altLang="en-US" dirty="0"/>
              <a:t>。</a:t>
            </a:r>
            <a:endParaRPr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0</TotalTime>
  <Words>5720</Words>
  <Application>WPS 演示</Application>
  <PresentationFormat>宽屏</PresentationFormat>
  <Paragraphs>211</Paragraphs>
  <Slides>22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Arial</vt:lpstr>
      <vt:lpstr>宋体</vt:lpstr>
      <vt:lpstr>Wingdings</vt:lpstr>
      <vt:lpstr>Times New Roman</vt:lpstr>
      <vt:lpstr>微软雅黑</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category>第一PPT模板网-WWW.1PPT.COM</cp:category>
  <cp:lastModifiedBy>Ethereal_YC</cp:lastModifiedBy>
  <cp:revision>33</cp:revision>
  <dcterms:created xsi:type="dcterms:W3CDTF">2025-04-07T07:05:00Z</dcterms:created>
  <dcterms:modified xsi:type="dcterms:W3CDTF">2025-06-14T12:33:44Z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2052-12.1.0.21541</vt:lpwstr>
  </property>
</Properties>
</file>
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337" r:id="rId3"/>
    <p:sldId id="344" r:id="rId4"/>
    <p:sldId id="360" r:id="rId5"/>
    <p:sldId id="361" r:id="rId6"/>
    <p:sldId id="362" r:id="rId7"/>
    <p:sldId id="363" r:id="rId8"/>
    <p:sldId id="364" r:id="rId9"/>
    <p:sldId id="373" r:id="rId10"/>
    <p:sldId id="374" r:id="rId11"/>
    <p:sldId id="365" r:id="rId12"/>
    <p:sldId id="450" r:id="rId13"/>
    <p:sldId id="451" r:id="rId14"/>
    <p:sldId id="452" r:id="rId15"/>
    <p:sldId id="375" r:id="rId16"/>
    <p:sldId id="376" r:id="rId17"/>
    <p:sldId id="377" r:id="rId18"/>
    <p:sldId id="378" r:id="rId19"/>
    <p:sldId id="372" r:id="rId20"/>
    <p:sldId id="379" r:id="rId21"/>
    <p:sldId id="380" r:id="rId22"/>
    <p:sldId id="381" r:id="rId23"/>
    <p:sldId id="382" r:id="rId24"/>
    <p:sldId id="34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muel Garcia" initials="SG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1857"/>
    <a:srgbClr val="000000"/>
    <a:srgbClr val="2C78BD"/>
    <a:srgbClr val="FEB813"/>
    <a:srgbClr val="870078"/>
    <a:srgbClr val="6A005F"/>
    <a:srgbClr val="760068"/>
    <a:srgbClr val="500048"/>
    <a:srgbClr val="A2008F"/>
    <a:srgbClr val="C000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814" autoAdjust="0"/>
    <p:restoredTop sz="78045" autoAdjust="0"/>
  </p:normalViewPr>
  <p:slideViewPr>
    <p:cSldViewPr snapToGrid="0" showGuides="1">
      <p:cViewPr varScale="1">
        <p:scale>
          <a:sx n="110" d="100"/>
          <a:sy n="110" d="100"/>
        </p:scale>
        <p:origin x="200" y="568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3012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7D45F-9B06-4FD6-B80D-63AF92FC02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3F7F3-BE4C-4D86-9918-24458AE0A27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2F98C7-9395-4E9A-96EC-DE4C39432A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64DB0-CCE3-4363-801A-A01AADC6398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11208694" y="6320412"/>
            <a:ext cx="575959" cy="537587"/>
          </a:xfrm>
          <a:prstGeom prst="rect">
            <a:avLst/>
          </a:prstGeom>
          <a:solidFill>
            <a:srgbClr val="6A00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10801349" y="6406644"/>
            <a:ext cx="1390651" cy="365125"/>
          </a:xfrm>
        </p:spPr>
        <p:txBody>
          <a:bodyPr/>
          <a:lstStyle>
            <a:lvl1pPr algn="ctr">
              <a:defRPr sz="2000" b="1">
                <a:solidFill>
                  <a:schemeClr val="bg1"/>
                </a:solidFill>
              </a:defRPr>
            </a:lvl1pPr>
          </a:lstStyle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0768" y="120576"/>
            <a:ext cx="657379" cy="653562"/>
            <a:chOff x="10920675" y="2008140"/>
            <a:chExt cx="576000" cy="576000"/>
          </a:xfrm>
        </p:grpSpPr>
        <p:sp>
          <p:nvSpPr>
            <p:cNvPr id="14" name="矩形 13"/>
            <p:cNvSpPr/>
            <p:nvPr/>
          </p:nvSpPr>
          <p:spPr>
            <a:xfrm>
              <a:off x="11172675" y="2260140"/>
              <a:ext cx="324000" cy="324000"/>
            </a:xfrm>
            <a:prstGeom prst="rect">
              <a:avLst/>
            </a:prstGeom>
            <a:solidFill>
              <a:srgbClr val="870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5" name="矩形 14"/>
            <p:cNvSpPr/>
            <p:nvPr/>
          </p:nvSpPr>
          <p:spPr>
            <a:xfrm>
              <a:off x="10920675" y="2008140"/>
              <a:ext cx="252000" cy="252000"/>
            </a:xfrm>
            <a:prstGeom prst="rect">
              <a:avLst/>
            </a:prstGeom>
            <a:solidFill>
              <a:srgbClr val="6A00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7" name="文本占位符 16"/>
          <p:cNvSpPr>
            <a:spLocks noGrp="1"/>
          </p:cNvSpPr>
          <p:nvPr>
            <p:ph type="body" sz="quarter" idx="13"/>
          </p:nvPr>
        </p:nvSpPr>
        <p:spPr>
          <a:xfrm>
            <a:off x="1032184" y="297936"/>
            <a:ext cx="10321616" cy="584775"/>
          </a:xfrm>
        </p:spPr>
        <p:txBody>
          <a:bodyPr wrap="square" anchor="ctr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 i="0" baseline="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838200" y="1289956"/>
            <a:ext cx="10515600" cy="4887007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/>
            </a:lvl1pPr>
            <a:lvl2pPr marL="685800" indent="-228600">
              <a:buFont typeface="Wingdings" panose="05000000000000000000" pitchFamily="2" charset="2"/>
              <a:buChar char="n"/>
              <a:defRPr/>
            </a:lvl2pPr>
            <a:lvl3pPr marL="1143000" indent="-228600">
              <a:buFont typeface="Wingdings" panose="05000000000000000000" pitchFamily="2" charset="2"/>
              <a:buChar char="u"/>
              <a:defRPr/>
            </a:lvl3pPr>
            <a:lvl4pPr marL="1600200" indent="-228600">
              <a:buFont typeface="Wingdings" panose="05000000000000000000" pitchFamily="2" charset="2"/>
              <a:buChar char="Ø"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0" y="2697654"/>
            <a:ext cx="12192000" cy="1462692"/>
            <a:chOff x="0" y="2878638"/>
            <a:chExt cx="9144000" cy="1034852"/>
          </a:xfrm>
        </p:grpSpPr>
        <p:sp>
          <p:nvSpPr>
            <p:cNvPr id="7" name="矩形 6"/>
            <p:cNvSpPr/>
            <p:nvPr/>
          </p:nvSpPr>
          <p:spPr>
            <a:xfrm>
              <a:off x="0" y="3607982"/>
              <a:ext cx="9144000" cy="305508"/>
            </a:xfrm>
            <a:prstGeom prst="rect">
              <a:avLst/>
            </a:prstGeom>
            <a:solidFill>
              <a:srgbClr val="453D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/>
          </p:nvSpPr>
          <p:spPr>
            <a:xfrm>
              <a:off x="0" y="2878638"/>
              <a:ext cx="9144000" cy="729343"/>
            </a:xfrm>
            <a:prstGeom prst="rect">
              <a:avLst/>
            </a:prstGeom>
            <a:solidFill>
              <a:srgbClr val="6A00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10934299" y="1892024"/>
            <a:ext cx="693020" cy="653562"/>
            <a:chOff x="10920675" y="2008140"/>
            <a:chExt cx="576000" cy="576000"/>
          </a:xfrm>
        </p:grpSpPr>
        <p:sp>
          <p:nvSpPr>
            <p:cNvPr id="11" name="矩形 10"/>
            <p:cNvSpPr/>
            <p:nvPr/>
          </p:nvSpPr>
          <p:spPr>
            <a:xfrm>
              <a:off x="11172675" y="2260140"/>
              <a:ext cx="324000" cy="324000"/>
            </a:xfrm>
            <a:prstGeom prst="rect">
              <a:avLst/>
            </a:prstGeom>
            <a:solidFill>
              <a:srgbClr val="870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2" name="矩形 11"/>
            <p:cNvSpPr/>
            <p:nvPr/>
          </p:nvSpPr>
          <p:spPr>
            <a:xfrm>
              <a:off x="10920675" y="2008140"/>
              <a:ext cx="252000" cy="252000"/>
            </a:xfrm>
            <a:prstGeom prst="rect">
              <a:avLst/>
            </a:prstGeom>
            <a:solidFill>
              <a:srgbClr val="6A00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4" name="Freeform 5"/>
          <p:cNvSpPr>
            <a:spLocks noEditPoints="1"/>
          </p:cNvSpPr>
          <p:nvPr userDrawn="1"/>
        </p:nvSpPr>
        <p:spPr bwMode="auto">
          <a:xfrm>
            <a:off x="11026467" y="2954360"/>
            <a:ext cx="600852" cy="516114"/>
          </a:xfrm>
          <a:custGeom>
            <a:avLst/>
            <a:gdLst>
              <a:gd name="T0" fmla="*/ 17 w 68"/>
              <a:gd name="T1" fmla="*/ 26 h 60"/>
              <a:gd name="T2" fmla="*/ 33 w 68"/>
              <a:gd name="T3" fmla="*/ 31 h 60"/>
              <a:gd name="T4" fmla="*/ 33 w 68"/>
              <a:gd name="T5" fmla="*/ 31 h 60"/>
              <a:gd name="T6" fmla="*/ 49 w 68"/>
              <a:gd name="T7" fmla="*/ 26 h 60"/>
              <a:gd name="T8" fmla="*/ 34 w 68"/>
              <a:gd name="T9" fmla="*/ 18 h 60"/>
              <a:gd name="T10" fmla="*/ 59 w 68"/>
              <a:gd name="T11" fmla="*/ 16 h 60"/>
              <a:gd name="T12" fmla="*/ 55 w 68"/>
              <a:gd name="T13" fmla="*/ 23 h 60"/>
              <a:gd name="T14" fmla="*/ 56 w 68"/>
              <a:gd name="T15" fmla="*/ 15 h 60"/>
              <a:gd name="T16" fmla="*/ 56 w 68"/>
              <a:gd name="T17" fmla="*/ 12 h 60"/>
              <a:gd name="T18" fmla="*/ 52 w 68"/>
              <a:gd name="T19" fmla="*/ 23 h 60"/>
              <a:gd name="T20" fmla="*/ 68 w 68"/>
              <a:gd name="T21" fmla="*/ 32 h 60"/>
              <a:gd name="T22" fmla="*/ 68 w 68"/>
              <a:gd name="T23" fmla="*/ 34 h 60"/>
              <a:gd name="T24" fmla="*/ 67 w 68"/>
              <a:gd name="T25" fmla="*/ 34 h 60"/>
              <a:gd name="T26" fmla="*/ 29 w 68"/>
              <a:gd name="T27" fmla="*/ 50 h 60"/>
              <a:gd name="T28" fmla="*/ 68 w 68"/>
              <a:gd name="T29" fmla="*/ 45 h 60"/>
              <a:gd name="T30" fmla="*/ 30 w 68"/>
              <a:gd name="T31" fmla="*/ 60 h 60"/>
              <a:gd name="T32" fmla="*/ 28 w 68"/>
              <a:gd name="T33" fmla="*/ 59 h 60"/>
              <a:gd name="T34" fmla="*/ 3 w 68"/>
              <a:gd name="T35" fmla="*/ 25 h 60"/>
              <a:gd name="T36" fmla="*/ 14 w 68"/>
              <a:gd name="T37" fmla="*/ 23 h 60"/>
              <a:gd name="T38" fmla="*/ 1 w 68"/>
              <a:gd name="T39" fmla="*/ 10 h 60"/>
              <a:gd name="T40" fmla="*/ 32 w 68"/>
              <a:gd name="T41" fmla="*/ 0 h 60"/>
              <a:gd name="T42" fmla="*/ 65 w 68"/>
              <a:gd name="T43" fmla="*/ 9 h 60"/>
              <a:gd name="T44" fmla="*/ 59 w 68"/>
              <a:gd name="T45" fmla="*/ 14 h 60"/>
              <a:gd name="T46" fmla="*/ 59 w 68"/>
              <a:gd name="T47" fmla="*/ 16 h 60"/>
              <a:gd name="T48" fmla="*/ 58 w 68"/>
              <a:gd name="T49" fmla="*/ 9 h 60"/>
              <a:gd name="T50" fmla="*/ 33 w 68"/>
              <a:gd name="T51" fmla="*/ 4 h 60"/>
              <a:gd name="T52" fmla="*/ 33 w 68"/>
              <a:gd name="T53" fmla="*/ 8 h 60"/>
              <a:gd name="T54" fmla="*/ 54 w 68"/>
              <a:gd name="T55" fmla="*/ 10 h 60"/>
              <a:gd name="T56" fmla="*/ 32 w 68"/>
              <a:gd name="T57" fmla="*/ 53 h 60"/>
              <a:gd name="T58" fmla="*/ 67 w 68"/>
              <a:gd name="T59" fmla="*/ 42 h 60"/>
              <a:gd name="T60" fmla="*/ 32 w 68"/>
              <a:gd name="T61" fmla="*/ 49 h 60"/>
              <a:gd name="T62" fmla="*/ 67 w 68"/>
              <a:gd name="T63" fmla="*/ 40 h 60"/>
              <a:gd name="T64" fmla="*/ 32 w 68"/>
              <a:gd name="T65" fmla="*/ 49 h 60"/>
              <a:gd name="T66" fmla="*/ 32 w 68"/>
              <a:gd name="T67" fmla="*/ 47 h 60"/>
              <a:gd name="T68" fmla="*/ 67 w 68"/>
              <a:gd name="T69" fmla="*/ 36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8" h="60">
                <a:moveTo>
                  <a:pt x="17" y="14"/>
                </a:moveTo>
                <a:cubicBezTo>
                  <a:pt x="17" y="26"/>
                  <a:pt x="17" y="26"/>
                  <a:pt x="17" y="26"/>
                </a:cubicBezTo>
                <a:cubicBezTo>
                  <a:pt x="17" y="26"/>
                  <a:pt x="18" y="27"/>
                  <a:pt x="18" y="27"/>
                </a:cubicBezTo>
                <a:cubicBezTo>
                  <a:pt x="22" y="28"/>
                  <a:pt x="29" y="31"/>
                  <a:pt x="33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6" y="31"/>
                  <a:pt x="39" y="30"/>
                  <a:pt x="41" y="30"/>
                </a:cubicBezTo>
                <a:cubicBezTo>
                  <a:pt x="45" y="29"/>
                  <a:pt x="47" y="27"/>
                  <a:pt x="49" y="26"/>
                </a:cubicBezTo>
                <a:cubicBezTo>
                  <a:pt x="49" y="14"/>
                  <a:pt x="49" y="14"/>
                  <a:pt x="49" y="14"/>
                </a:cubicBezTo>
                <a:cubicBezTo>
                  <a:pt x="34" y="18"/>
                  <a:pt x="34" y="18"/>
                  <a:pt x="34" y="18"/>
                </a:cubicBezTo>
                <a:cubicBezTo>
                  <a:pt x="17" y="14"/>
                  <a:pt x="17" y="14"/>
                  <a:pt x="17" y="14"/>
                </a:cubicBezTo>
                <a:close/>
                <a:moveTo>
                  <a:pt x="59" y="16"/>
                </a:moveTo>
                <a:cubicBezTo>
                  <a:pt x="61" y="23"/>
                  <a:pt x="61" y="23"/>
                  <a:pt x="61" y="23"/>
                </a:cubicBezTo>
                <a:cubicBezTo>
                  <a:pt x="59" y="25"/>
                  <a:pt x="57" y="25"/>
                  <a:pt x="55" y="23"/>
                </a:cubicBezTo>
                <a:cubicBezTo>
                  <a:pt x="56" y="16"/>
                  <a:pt x="56" y="16"/>
                  <a:pt x="56" y="16"/>
                </a:cubicBezTo>
                <a:cubicBezTo>
                  <a:pt x="56" y="16"/>
                  <a:pt x="56" y="16"/>
                  <a:pt x="56" y="15"/>
                </a:cubicBezTo>
                <a:cubicBezTo>
                  <a:pt x="56" y="15"/>
                  <a:pt x="56" y="14"/>
                  <a:pt x="56" y="14"/>
                </a:cubicBezTo>
                <a:cubicBezTo>
                  <a:pt x="56" y="12"/>
                  <a:pt x="56" y="12"/>
                  <a:pt x="56" y="12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23"/>
                  <a:pt x="52" y="23"/>
                  <a:pt x="52" y="23"/>
                </a:cubicBezTo>
                <a:cubicBezTo>
                  <a:pt x="68" y="30"/>
                  <a:pt x="68" y="30"/>
                  <a:pt x="68" y="30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4"/>
                  <a:pt x="68" y="34"/>
                  <a:pt x="68" y="34"/>
                </a:cubicBezTo>
                <a:cubicBezTo>
                  <a:pt x="68" y="34"/>
                  <a:pt x="68" y="34"/>
                  <a:pt x="68" y="34"/>
                </a:cubicBezTo>
                <a:cubicBezTo>
                  <a:pt x="68" y="34"/>
                  <a:pt x="68" y="34"/>
                  <a:pt x="68" y="34"/>
                </a:cubicBezTo>
                <a:cubicBezTo>
                  <a:pt x="67" y="34"/>
                  <a:pt x="67" y="34"/>
                  <a:pt x="67" y="34"/>
                </a:cubicBezTo>
                <a:cubicBezTo>
                  <a:pt x="30" y="44"/>
                  <a:pt x="30" y="44"/>
                  <a:pt x="30" y="44"/>
                </a:cubicBezTo>
                <a:cubicBezTo>
                  <a:pt x="29" y="46"/>
                  <a:pt x="29" y="48"/>
                  <a:pt x="29" y="50"/>
                </a:cubicBezTo>
                <a:cubicBezTo>
                  <a:pt x="29" y="52"/>
                  <a:pt x="29" y="54"/>
                  <a:pt x="30" y="56"/>
                </a:cubicBezTo>
                <a:cubicBezTo>
                  <a:pt x="68" y="45"/>
                  <a:pt x="68" y="45"/>
                  <a:pt x="68" y="45"/>
                </a:cubicBezTo>
                <a:cubicBezTo>
                  <a:pt x="68" y="48"/>
                  <a:pt x="68" y="48"/>
                  <a:pt x="68" y="48"/>
                </a:cubicBezTo>
                <a:cubicBezTo>
                  <a:pt x="30" y="60"/>
                  <a:pt x="30" y="60"/>
                  <a:pt x="30" y="60"/>
                </a:cubicBezTo>
                <a:cubicBezTo>
                  <a:pt x="29" y="60"/>
                  <a:pt x="29" y="60"/>
                  <a:pt x="29" y="60"/>
                </a:cubicBezTo>
                <a:cubicBezTo>
                  <a:pt x="28" y="59"/>
                  <a:pt x="28" y="59"/>
                  <a:pt x="28" y="59"/>
                </a:cubicBezTo>
                <a:cubicBezTo>
                  <a:pt x="3" y="38"/>
                  <a:pt x="3" y="38"/>
                  <a:pt x="3" y="38"/>
                </a:cubicBezTo>
                <a:cubicBezTo>
                  <a:pt x="2" y="34"/>
                  <a:pt x="1" y="30"/>
                  <a:pt x="3" y="25"/>
                </a:cubicBezTo>
                <a:cubicBezTo>
                  <a:pt x="3" y="25"/>
                  <a:pt x="3" y="25"/>
                  <a:pt x="3" y="25"/>
                </a:cubicBezTo>
                <a:cubicBezTo>
                  <a:pt x="14" y="23"/>
                  <a:pt x="14" y="23"/>
                  <a:pt x="14" y="23"/>
                </a:cubicBezTo>
                <a:cubicBezTo>
                  <a:pt x="14" y="13"/>
                  <a:pt x="14" y="13"/>
                  <a:pt x="14" y="13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8"/>
                  <a:pt x="0" y="8"/>
                  <a:pt x="0" y="8"/>
                </a:cubicBezTo>
                <a:cubicBezTo>
                  <a:pt x="32" y="0"/>
                  <a:pt x="32" y="0"/>
                  <a:pt x="32" y="0"/>
                </a:cubicBezTo>
                <a:cubicBezTo>
                  <a:pt x="65" y="7"/>
                  <a:pt x="65" y="7"/>
                  <a:pt x="65" y="7"/>
                </a:cubicBezTo>
                <a:cubicBezTo>
                  <a:pt x="65" y="9"/>
                  <a:pt x="65" y="9"/>
                  <a:pt x="65" y="9"/>
                </a:cubicBezTo>
                <a:cubicBezTo>
                  <a:pt x="59" y="11"/>
                  <a:pt x="59" y="11"/>
                  <a:pt x="59" y="11"/>
                </a:cubicBezTo>
                <a:cubicBezTo>
                  <a:pt x="59" y="14"/>
                  <a:pt x="59" y="14"/>
                  <a:pt x="59" y="14"/>
                </a:cubicBezTo>
                <a:cubicBezTo>
                  <a:pt x="59" y="14"/>
                  <a:pt x="59" y="15"/>
                  <a:pt x="59" y="15"/>
                </a:cubicBezTo>
                <a:cubicBezTo>
                  <a:pt x="59" y="16"/>
                  <a:pt x="59" y="16"/>
                  <a:pt x="59" y="16"/>
                </a:cubicBezTo>
                <a:close/>
                <a:moveTo>
                  <a:pt x="54" y="10"/>
                </a:moveTo>
                <a:cubicBezTo>
                  <a:pt x="58" y="9"/>
                  <a:pt x="58" y="9"/>
                  <a:pt x="58" y="9"/>
                </a:cubicBezTo>
                <a:cubicBezTo>
                  <a:pt x="36" y="5"/>
                  <a:pt x="36" y="5"/>
                  <a:pt x="36" y="5"/>
                </a:cubicBezTo>
                <a:cubicBezTo>
                  <a:pt x="36" y="4"/>
                  <a:pt x="34" y="4"/>
                  <a:pt x="33" y="4"/>
                </a:cubicBezTo>
                <a:cubicBezTo>
                  <a:pt x="31" y="4"/>
                  <a:pt x="29" y="5"/>
                  <a:pt x="29" y="6"/>
                </a:cubicBezTo>
                <a:cubicBezTo>
                  <a:pt x="29" y="7"/>
                  <a:pt x="31" y="8"/>
                  <a:pt x="33" y="8"/>
                </a:cubicBezTo>
                <a:cubicBezTo>
                  <a:pt x="34" y="8"/>
                  <a:pt x="35" y="8"/>
                  <a:pt x="36" y="7"/>
                </a:cubicBezTo>
                <a:cubicBezTo>
                  <a:pt x="54" y="10"/>
                  <a:pt x="54" y="10"/>
                  <a:pt x="54" y="10"/>
                </a:cubicBezTo>
                <a:close/>
                <a:moveTo>
                  <a:pt x="32" y="52"/>
                </a:moveTo>
                <a:cubicBezTo>
                  <a:pt x="32" y="53"/>
                  <a:pt x="32" y="53"/>
                  <a:pt x="32" y="53"/>
                </a:cubicBezTo>
                <a:cubicBezTo>
                  <a:pt x="67" y="43"/>
                  <a:pt x="67" y="43"/>
                  <a:pt x="67" y="43"/>
                </a:cubicBezTo>
                <a:cubicBezTo>
                  <a:pt x="67" y="42"/>
                  <a:pt x="67" y="42"/>
                  <a:pt x="67" y="42"/>
                </a:cubicBezTo>
                <a:cubicBezTo>
                  <a:pt x="32" y="52"/>
                  <a:pt x="32" y="52"/>
                  <a:pt x="32" y="52"/>
                </a:cubicBezTo>
                <a:close/>
                <a:moveTo>
                  <a:pt x="32" y="49"/>
                </a:moveTo>
                <a:cubicBezTo>
                  <a:pt x="32" y="49"/>
                  <a:pt x="32" y="49"/>
                  <a:pt x="32" y="49"/>
                </a:cubicBezTo>
                <a:cubicBezTo>
                  <a:pt x="67" y="40"/>
                  <a:pt x="67" y="40"/>
                  <a:pt x="67" y="40"/>
                </a:cubicBezTo>
                <a:cubicBezTo>
                  <a:pt x="67" y="39"/>
                  <a:pt x="67" y="39"/>
                  <a:pt x="67" y="39"/>
                </a:cubicBezTo>
                <a:cubicBezTo>
                  <a:pt x="32" y="49"/>
                  <a:pt x="32" y="49"/>
                  <a:pt x="32" y="49"/>
                </a:cubicBezTo>
                <a:close/>
                <a:moveTo>
                  <a:pt x="31" y="46"/>
                </a:moveTo>
                <a:cubicBezTo>
                  <a:pt x="32" y="47"/>
                  <a:pt x="32" y="47"/>
                  <a:pt x="32" y="47"/>
                </a:cubicBezTo>
                <a:cubicBezTo>
                  <a:pt x="67" y="37"/>
                  <a:pt x="67" y="37"/>
                  <a:pt x="67" y="37"/>
                </a:cubicBezTo>
                <a:cubicBezTo>
                  <a:pt x="67" y="36"/>
                  <a:pt x="67" y="36"/>
                  <a:pt x="67" y="36"/>
                </a:cubicBezTo>
                <a:lnTo>
                  <a:pt x="31" y="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362" y="2429346"/>
            <a:ext cx="1596121" cy="1999307"/>
          </a:xfrm>
          <a:prstGeom prst="rect">
            <a:avLst/>
          </a:prstGeom>
        </p:spPr>
      </p:pic>
      <p:sp>
        <p:nvSpPr>
          <p:cNvPr id="20" name="文本占位符 19"/>
          <p:cNvSpPr>
            <a:spLocks noGrp="1"/>
          </p:cNvSpPr>
          <p:nvPr>
            <p:ph type="body" sz="quarter" idx="10"/>
          </p:nvPr>
        </p:nvSpPr>
        <p:spPr>
          <a:xfrm>
            <a:off x="2587484" y="2695225"/>
            <a:ext cx="8438981" cy="10308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="1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1" name="文本占位符 19"/>
          <p:cNvSpPr>
            <a:spLocks noGrp="1"/>
          </p:cNvSpPr>
          <p:nvPr>
            <p:ph type="body" sz="quarter" idx="11"/>
          </p:nvPr>
        </p:nvSpPr>
        <p:spPr>
          <a:xfrm>
            <a:off x="2587484" y="3738042"/>
            <a:ext cx="8438981" cy="42230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2"/>
          </p:nvPr>
        </p:nvSpPr>
        <p:spPr>
          <a:xfrm>
            <a:off x="6658709" y="4846566"/>
            <a:ext cx="5148903" cy="91440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3216275" cy="6858000"/>
          </a:xfrm>
          <a:prstGeom prst="rect">
            <a:avLst/>
          </a:prstGeom>
          <a:solidFill>
            <a:srgbClr val="6A00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0" y="3152001"/>
            <a:ext cx="32162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000" b="1" dirty="0">
                <a:solidFill>
                  <a:schemeClr val="bg1"/>
                </a:solidFill>
                <a:cs typeface="Times New Roman" panose="02020603050405020304" pitchFamily="18" charset="0"/>
              </a:rPr>
              <a:t>CONTENTS</a:t>
            </a:r>
            <a:endParaRPr lang="zh-CN" altLang="en-US" sz="3000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致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0" y="851038"/>
            <a:ext cx="12192000" cy="875445"/>
            <a:chOff x="0" y="3019996"/>
            <a:chExt cx="9144000" cy="893494"/>
          </a:xfrm>
        </p:grpSpPr>
        <p:sp>
          <p:nvSpPr>
            <p:cNvPr id="7" name="矩形 6"/>
            <p:cNvSpPr/>
            <p:nvPr/>
          </p:nvSpPr>
          <p:spPr>
            <a:xfrm>
              <a:off x="0" y="3607982"/>
              <a:ext cx="9144000" cy="305508"/>
            </a:xfrm>
            <a:prstGeom prst="rect">
              <a:avLst/>
            </a:prstGeom>
            <a:solidFill>
              <a:srgbClr val="453D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/>
          </p:nvSpPr>
          <p:spPr>
            <a:xfrm>
              <a:off x="0" y="3019996"/>
              <a:ext cx="9144000" cy="587986"/>
            </a:xfrm>
            <a:prstGeom prst="rect">
              <a:avLst/>
            </a:prstGeom>
            <a:solidFill>
              <a:srgbClr val="6A00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29" y="629102"/>
            <a:ext cx="1051611" cy="132178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054413" y="2828835"/>
            <a:ext cx="40831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b="1" dirty="0">
                <a:solidFill>
                  <a:srgbClr val="6A005F"/>
                </a:solidFill>
              </a:rPr>
              <a:t>THANKS</a:t>
            </a:r>
            <a:endParaRPr lang="zh-CN" altLang="en-US" sz="7200" b="1" dirty="0">
              <a:solidFill>
                <a:srgbClr val="6A005F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027" y="6036473"/>
            <a:ext cx="1508760" cy="477982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868" y="5977892"/>
            <a:ext cx="2161309" cy="595143"/>
          </a:xfrm>
          <a:prstGeom prst="rect">
            <a:avLst/>
          </a:prstGeom>
        </p:spPr>
      </p:pic>
      <p:sp>
        <p:nvSpPr>
          <p:cNvPr id="17" name="文本占位符 16"/>
          <p:cNvSpPr>
            <a:spLocks noGrp="1"/>
          </p:cNvSpPr>
          <p:nvPr>
            <p:ph type="body" sz="quarter" idx="10"/>
          </p:nvPr>
        </p:nvSpPr>
        <p:spPr>
          <a:xfrm>
            <a:off x="1875440" y="851037"/>
            <a:ext cx="9844611" cy="57610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8" name="文本占位符 16"/>
          <p:cNvSpPr>
            <a:spLocks noGrp="1"/>
          </p:cNvSpPr>
          <p:nvPr>
            <p:ph type="body" sz="quarter" idx="11"/>
          </p:nvPr>
        </p:nvSpPr>
        <p:spPr>
          <a:xfrm>
            <a:off x="1875440" y="1427146"/>
            <a:ext cx="9844611" cy="29933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2"/>
          </p:nvPr>
        </p:nvSpPr>
        <p:spPr>
          <a:xfrm>
            <a:off x="3373886" y="4589847"/>
            <a:ext cx="5444225" cy="108334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6A005F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ACE84-866A-C549-9C7F-F20C55C6912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altLang="zh-CN"/>
              <a:t>Dong Shao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800" kern="1200" baseline="0">
          <a:solidFill>
            <a:srgbClr val="6A005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400" kern="1200" baseline="0">
          <a:solidFill>
            <a:srgbClr val="6A005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000" kern="1200" baseline="0">
          <a:solidFill>
            <a:srgbClr val="6A005F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1800" kern="1200" baseline="0">
          <a:solidFill>
            <a:srgbClr val="6A005F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1800" kern="1200" baseline="0">
          <a:solidFill>
            <a:srgbClr val="6A005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TDD</a:t>
            </a:r>
            <a:r>
              <a:rPr lang="zh-CN" altLang="en-US" dirty="0"/>
              <a:t>、</a:t>
            </a:r>
            <a:r>
              <a:rPr lang="zh-CN" altLang="en-US"/>
              <a:t>敏捷设计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敏捷测试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Inter"/>
              </a:rPr>
              <a:t>我们将在编码前逐分钟编写测试。我们会永久保留这些测试，并经常一起运行它们。我们还会从客户的角度推导出测试。</a:t>
            </a:r>
            <a:endParaRPr lang="en-US" altLang="zh-CN" b="0" i="0" dirty="0">
              <a:effectLst/>
              <a:latin typeface="Inter"/>
            </a:endParaRPr>
          </a:p>
          <a:p>
            <a:r>
              <a:rPr kumimoji="1" lang="zh-CN" altLang="en-US" dirty="0">
                <a:latin typeface="Inter"/>
              </a:rPr>
              <a:t>测试应当是</a:t>
            </a:r>
            <a:r>
              <a:rPr kumimoji="1" lang="zh-CN" altLang="en-US" dirty="0">
                <a:solidFill>
                  <a:srgbClr val="FF0000"/>
                </a:solidFill>
                <a:latin typeface="Inter"/>
              </a:rPr>
              <a:t>独立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Inter"/>
              </a:rPr>
              <a:t>且自动的</a:t>
            </a:r>
            <a:endParaRPr lang="en-US" altLang="zh-CN" b="0" i="0" dirty="0">
              <a:solidFill>
                <a:srgbClr val="FF0000"/>
              </a:solidFill>
              <a:effectLst/>
              <a:latin typeface="Inter"/>
            </a:endParaRPr>
          </a:p>
          <a:p>
            <a:pPr lvl="1"/>
            <a:r>
              <a:rPr kumimoji="1" lang="zh-CN" altLang="en-US" dirty="0">
                <a:solidFill>
                  <a:schemeClr val="tx1"/>
                </a:solidFill>
              </a:rPr>
              <a:t>首先，每个测试都不会与其他测试相互影响。</a:t>
            </a:r>
            <a:endParaRPr kumimoji="1" lang="zh-CN" altLang="en-US" dirty="0">
              <a:solidFill>
                <a:schemeClr val="tx1"/>
              </a:solidFill>
            </a:endParaRPr>
          </a:p>
          <a:p>
            <a:pPr lvl="1"/>
            <a:r>
              <a:rPr kumimoji="1" lang="zh-CN" altLang="en-US" dirty="0">
                <a:solidFill>
                  <a:schemeClr val="tx1"/>
                </a:solidFill>
              </a:rPr>
              <a:t>这些测试是自动化的。</a:t>
            </a:r>
            <a:endParaRPr kumimoji="1" lang="zh-CN" altLang="en-US" dirty="0">
              <a:solidFill>
                <a:schemeClr val="tx1"/>
              </a:solidFill>
            </a:endParaRPr>
          </a:p>
          <a:p>
            <a:pPr lvl="2"/>
            <a:r>
              <a:rPr kumimoji="1" lang="zh-CN" altLang="en-US" dirty="0">
                <a:solidFill>
                  <a:schemeClr val="tx1"/>
                </a:solidFill>
              </a:rPr>
              <a:t>当压力增大、人们工作过度、人的判断力开始失效时，测试的价值就体现出来了。所以测试必须是自动化的，能够对系统的运行状况给出明确的通过 </a:t>
            </a:r>
            <a:r>
              <a:rPr kumimoji="1" lang="en-US" altLang="zh-CN" dirty="0">
                <a:solidFill>
                  <a:schemeClr val="tx1"/>
                </a:solidFill>
              </a:rPr>
              <a:t>/ </a:t>
            </a:r>
            <a:r>
              <a:rPr kumimoji="1" lang="zh-CN" altLang="en-US" dirty="0">
                <a:solidFill>
                  <a:schemeClr val="tx1"/>
                </a:solidFill>
              </a:rPr>
              <a:t>不通过的指示。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做有价值的测试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你应该测试那些可能会出问题的东西。</a:t>
            </a:r>
            <a:endParaRPr kumimoji="1" lang="zh-CN" altLang="en-US" dirty="0"/>
          </a:p>
          <a:p>
            <a:r>
              <a:rPr kumimoji="1" lang="zh-CN" altLang="en-US" dirty="0"/>
              <a:t>测试就像是一场赌博。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测试能带来回报的一种情况是，你本以为不会通过的测试居然通过了。</a:t>
            </a:r>
            <a:endParaRPr kumimoji="1" lang="zh-CN" altLang="en-US" dirty="0"/>
          </a:p>
          <a:p>
            <a:r>
              <a:rPr kumimoji="1" lang="zh-CN" altLang="en-US" dirty="0"/>
              <a:t>你只应该编写那些能带来回报的测试。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程序员测试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zh-CN" altLang="en-US" dirty="0"/>
              <a:t>如果某个方法的接口哪怕有一点不清晰，那么在编写该方法之前先编写一个测试。</a:t>
            </a:r>
            <a:endParaRPr kumimoji="1" lang="zh-CN" altLang="en-US" dirty="0"/>
          </a:p>
          <a:p>
            <a:r>
              <a:rPr kumimoji="1" lang="zh-CN" altLang="en-US" dirty="0"/>
              <a:t>如果接口清晰，但你觉得实现过程哪怕有一点复杂，那么在编写该方法之前先编写一个测试。</a:t>
            </a:r>
            <a:endParaRPr kumimoji="1" lang="zh-CN" altLang="en-US" dirty="0"/>
          </a:p>
          <a:p>
            <a:r>
              <a:rPr kumimoji="1" lang="zh-CN" altLang="en-US" dirty="0"/>
              <a:t>如果你想到代码在某种特殊情况下应按预期运行，那么编写一个测试来描述这种情况。</a:t>
            </a:r>
            <a:endParaRPr kumimoji="1" lang="zh-CN" altLang="en-US" dirty="0"/>
          </a:p>
          <a:p>
            <a:r>
              <a:rPr kumimoji="1" lang="zh-CN" altLang="en-US" dirty="0"/>
              <a:t>如果你之后发现了一个问题，那么编写一个测试来隔离这个问题。</a:t>
            </a:r>
            <a:endParaRPr kumimoji="1" lang="zh-CN" altLang="en-US" dirty="0"/>
          </a:p>
          <a:p>
            <a:r>
              <a:rPr kumimoji="1" lang="zh-CN" altLang="en-US" dirty="0"/>
              <a:t>如果你准备重构一些代码，却不确定其预期行为，且针对该行为方面还没有测试，那么先编写一个测试。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程序员逐个方法地编写测试。</a:t>
            </a:r>
            <a:endParaRPr kumimoji="1" lang="zh-CN" altLang="en-US" dirty="0"/>
          </a:p>
          <a:p>
            <a:r>
              <a:rPr kumimoji="1" lang="zh-CN" altLang="en-US" dirty="0"/>
              <a:t>程序员编写的单元测试始终以 </a:t>
            </a:r>
            <a:r>
              <a:rPr kumimoji="1" lang="en-US" altLang="zh-CN" dirty="0"/>
              <a:t>100% </a:t>
            </a:r>
            <a:r>
              <a:rPr kumimoji="1" lang="zh-CN" altLang="en-US" dirty="0"/>
              <a:t>的通过率运行。</a:t>
            </a:r>
            <a:endParaRPr kumimoji="1" lang="zh-CN" altLang="en-US" dirty="0"/>
          </a:p>
          <a:p>
            <a:r>
              <a:rPr kumimoji="1" lang="zh-CN" altLang="en-US" dirty="0"/>
              <a:t>由于程序员控制着单元测试的编写和执行，他们能够使测试完全保持同步。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客户测试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客户逐个故事地编写测试。</a:t>
            </a:r>
            <a:endParaRPr kumimoji="1" lang="zh-CN" altLang="en-US" dirty="0"/>
          </a:p>
          <a:p>
            <a:r>
              <a:rPr kumimoji="1" lang="zh-CN" altLang="en-US" dirty="0"/>
              <a:t>他们需要问自己的问题是：“在我确信这个故事完成之前，需要检查哪些内容？” 他们想出的每个场景都会转化为一个测试，在这种情况下是一个功能测试。</a:t>
            </a:r>
            <a:endParaRPr kumimoji="1" lang="en-US" altLang="zh-CN" dirty="0"/>
          </a:p>
          <a:p>
            <a:r>
              <a:rPr kumimoji="1" lang="zh-CN" altLang="en-US" dirty="0"/>
              <a:t>功能测试并非总是能 </a:t>
            </a:r>
            <a:r>
              <a:rPr kumimoji="1" lang="en-US" altLang="zh-CN" dirty="0"/>
              <a:t>100% </a:t>
            </a:r>
            <a:r>
              <a:rPr kumimoji="1" lang="zh-CN" altLang="en-US" dirty="0"/>
              <a:t>正常运行。</a:t>
            </a:r>
            <a:endParaRPr kumimoji="1" lang="zh-CN" altLang="en-US" dirty="0"/>
          </a:p>
          <a:p>
            <a:r>
              <a:rPr kumimoji="1" lang="zh-CN" altLang="en-US" dirty="0"/>
              <a:t>客户通常无法自行编写功能测试。</a:t>
            </a:r>
            <a:endParaRPr kumimoji="1" lang="zh-CN" altLang="en-US" dirty="0"/>
          </a:p>
          <a:p>
            <a:r>
              <a:rPr kumimoji="1" lang="zh-CN" altLang="en-US" dirty="0"/>
              <a:t>这就是为什么无论规模大小，极限编程（</a:t>
            </a:r>
            <a:r>
              <a:rPr kumimoji="1" lang="en-US" altLang="zh-CN" dirty="0"/>
              <a:t>XP</a:t>
            </a:r>
            <a:r>
              <a:rPr kumimoji="1" lang="zh-CN" altLang="en-US" dirty="0"/>
              <a:t>）团队至少要有一名专职测试人员。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其他可能的测试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并行测试 </a:t>
            </a:r>
            <a:r>
              <a:rPr kumimoji="1" lang="en-US" altLang="zh-CN" dirty="0"/>
              <a:t>—— </a:t>
            </a:r>
            <a:r>
              <a:rPr kumimoji="1" lang="zh-CN" altLang="en-US" dirty="0"/>
              <a:t>一种旨在证明新系统的运行与旧系统完全一致的测试。</a:t>
            </a:r>
            <a:endParaRPr kumimoji="1" lang="zh-CN" altLang="en-US" dirty="0"/>
          </a:p>
          <a:p>
            <a:r>
              <a:rPr kumimoji="1" lang="zh-CN" altLang="en-US" dirty="0"/>
              <a:t>压力测试 </a:t>
            </a:r>
            <a:r>
              <a:rPr kumimoji="1" lang="en-US" altLang="zh-CN" dirty="0"/>
              <a:t>—— </a:t>
            </a:r>
            <a:r>
              <a:rPr kumimoji="1" lang="zh-CN" altLang="en-US" dirty="0"/>
              <a:t>一种旨在模拟可能出现的最恶劣负载情况的测试。压力测试适用于性能特征不易预测的复杂系统。</a:t>
            </a:r>
            <a:endParaRPr kumimoji="1" lang="zh-CN" altLang="en-US" dirty="0"/>
          </a:p>
          <a:p>
            <a:r>
              <a:rPr kumimoji="1" lang="zh-CN" altLang="en-US" dirty="0"/>
              <a:t>随机测试 </a:t>
            </a:r>
            <a:r>
              <a:rPr kumimoji="1" lang="en-US" altLang="zh-CN" dirty="0"/>
              <a:t>—— </a:t>
            </a:r>
            <a:r>
              <a:rPr kumimoji="1" lang="zh-CN" altLang="en-US" dirty="0"/>
              <a:t>一种旨在确保系统在面对无意义输入时能合理响应的测试。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zh-CN" dirty="0"/>
              <a:t>TDD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fontAlgn="base"/>
            <a:r>
              <a:rPr lang="zh-CN" altLang="en-US" b="0" i="0" u="none" strike="noStrike" dirty="0">
                <a:effectLst/>
              </a:rPr>
              <a:t>通过</a:t>
            </a:r>
            <a:r>
              <a:rPr lang="zh-CN" altLang="en-US" b="1" i="0" u="none" strike="noStrike" dirty="0">
                <a:effectLst/>
                <a:latin typeface="inherit"/>
              </a:rPr>
              <a:t>先写测试再写实现</a:t>
            </a:r>
            <a:r>
              <a:rPr lang="zh-CN" altLang="en-US" b="0" i="0" u="none" strike="noStrike" dirty="0">
                <a:effectLst/>
              </a:rPr>
              <a:t>的逆向流程驱动代码设计：</a:t>
            </a:r>
            <a:endParaRPr lang="zh-CN" altLang="en-US" b="0" i="0" u="none" strike="noStrike" dirty="0">
              <a:effectLst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✅ ​</a:t>
            </a:r>
            <a:r>
              <a:rPr lang="zh-CN" altLang="en-US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三阶段循环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：红（失败测试）→ 绿（通过实现）→ 重构（优化代码）</a:t>
            </a:r>
            <a:endParaRPr lang="zh-CN" altLang="en-US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🎯 ​</a:t>
            </a:r>
            <a:r>
              <a:rPr lang="zh-CN" altLang="en-US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终极目标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：创建</a:t>
            </a:r>
            <a:r>
              <a:rPr lang="zh-CN" altLang="en-US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可测试、可维护、最小化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的代码</a:t>
            </a:r>
            <a:endParaRPr lang="en-US" altLang="zh-CN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pPr algn="l" fontAlgn="base"/>
            <a:r>
              <a:rPr lang="en-US" altLang="zh-CN" b="1" i="0" u="none" strike="noStrike" dirty="0">
                <a:effectLst/>
              </a:rPr>
              <a:t>2. ​</a:t>
            </a:r>
            <a:r>
              <a:rPr lang="zh-CN" altLang="en-US" b="1" i="0" u="none" strike="noStrike" dirty="0">
                <a:effectLst/>
                <a:latin typeface="inherit"/>
              </a:rPr>
              <a:t>标准流程（红绿重构循环）​</a:t>
            </a:r>
            <a:endParaRPr lang="zh-CN" altLang="en-US" b="1" i="0" u="none" strike="noStrike" dirty="0">
              <a:effectLst/>
            </a:endParaRPr>
          </a:p>
          <a:p>
            <a:pPr lvl="1" fontAlgn="base"/>
            <a:r>
              <a:rPr lang="en-US" altLang="zh-CN" b="0" i="0" u="none" strike="noStrike" dirty="0">
                <a:effectLst/>
              </a:rPr>
              <a:t>1️⃣ ​</a:t>
            </a:r>
            <a:r>
              <a:rPr lang="zh-CN" altLang="en-US" b="1" i="0" u="none" strike="noStrike" dirty="0">
                <a:effectLst/>
                <a:latin typeface="inherit"/>
              </a:rPr>
              <a:t>编写失败测试</a:t>
            </a:r>
            <a:r>
              <a:rPr lang="zh-CN" altLang="en-US" b="0" i="0" u="none" strike="noStrike" dirty="0">
                <a:effectLst/>
              </a:rPr>
              <a:t>：仅定义接口与预期行为（如</a:t>
            </a:r>
            <a:r>
              <a:rPr lang="en-US" altLang="zh-CN" b="0" i="0" u="none" strike="noStrike" dirty="0">
                <a:effectLst/>
              </a:rPr>
              <a:t>add(2,3)</a:t>
            </a:r>
            <a:r>
              <a:rPr lang="zh-CN" altLang="en-US" b="0" i="0" u="none" strike="noStrike" dirty="0">
                <a:effectLst/>
              </a:rPr>
              <a:t>应返回</a:t>
            </a:r>
            <a:r>
              <a:rPr lang="en-US" altLang="zh-CN" b="0" i="0" u="none" strike="noStrike" dirty="0">
                <a:effectLst/>
              </a:rPr>
              <a:t>5</a:t>
            </a:r>
            <a:r>
              <a:rPr lang="zh-CN" altLang="en-US" b="0" i="0" u="none" strike="noStrike" dirty="0">
                <a:effectLst/>
              </a:rPr>
              <a:t>）</a:t>
            </a:r>
            <a:br>
              <a:rPr lang="zh-CN" altLang="en-US" b="0" i="0" u="none" strike="noStrike" dirty="0">
                <a:effectLst/>
              </a:rPr>
            </a:br>
            <a:r>
              <a:rPr lang="en-US" altLang="zh-CN" b="0" i="0" u="none" strike="noStrike" dirty="0">
                <a:effectLst/>
              </a:rPr>
              <a:t>2️⃣ ​</a:t>
            </a:r>
            <a:r>
              <a:rPr lang="zh-CN" altLang="en-US" b="1" i="0" u="none" strike="noStrike" dirty="0">
                <a:effectLst/>
                <a:latin typeface="inherit"/>
              </a:rPr>
              <a:t>快速实现通过</a:t>
            </a:r>
            <a:r>
              <a:rPr lang="zh-CN" altLang="en-US" b="0" i="0" u="none" strike="noStrike" dirty="0">
                <a:effectLst/>
              </a:rPr>
              <a:t>：用最简单代码让测试变绿（如</a:t>
            </a:r>
            <a:r>
              <a:rPr lang="en-US" altLang="zh-CN" b="0" i="0" u="none" strike="noStrike" dirty="0">
                <a:effectLst/>
              </a:rPr>
              <a:t>return 5</a:t>
            </a:r>
            <a:r>
              <a:rPr lang="zh-CN" altLang="en-US" b="0" i="0" u="none" strike="noStrike" dirty="0">
                <a:effectLst/>
              </a:rPr>
              <a:t>硬编码）</a:t>
            </a:r>
            <a:br>
              <a:rPr lang="zh-CN" altLang="en-US" b="0" i="0" u="none" strike="noStrike" dirty="0">
                <a:effectLst/>
              </a:rPr>
            </a:br>
            <a:r>
              <a:rPr lang="en-US" altLang="zh-CN" b="0" i="0" u="none" strike="noStrike" dirty="0">
                <a:effectLst/>
              </a:rPr>
              <a:t>3️⃣ ​</a:t>
            </a:r>
            <a:r>
              <a:rPr lang="zh-CN" altLang="en-US" b="1" i="0" u="none" strike="noStrike" dirty="0">
                <a:effectLst/>
                <a:latin typeface="inherit"/>
              </a:rPr>
              <a:t>逐步泛化</a:t>
            </a:r>
            <a:r>
              <a:rPr lang="zh-CN" altLang="en-US" b="0" i="0" u="none" strike="noStrike" dirty="0">
                <a:effectLst/>
              </a:rPr>
              <a:t>：补充更多测试案例，消除硬编码（如增加</a:t>
            </a:r>
            <a:r>
              <a:rPr lang="en-US" altLang="zh-CN" b="0" i="0" u="none" strike="noStrike" dirty="0">
                <a:effectLst/>
              </a:rPr>
              <a:t>add(4,5)</a:t>
            </a:r>
            <a:r>
              <a:rPr lang="zh-CN" altLang="en-US" b="0" i="0" u="none" strike="noStrike" dirty="0">
                <a:effectLst/>
              </a:rPr>
              <a:t>测试）</a:t>
            </a:r>
            <a:br>
              <a:rPr lang="zh-CN" altLang="en-US" b="0" i="0" u="none" strike="noStrike" dirty="0">
                <a:effectLst/>
              </a:rPr>
            </a:br>
            <a:r>
              <a:rPr lang="en-US" altLang="zh-CN" b="0" i="0" u="none" strike="noStrike" dirty="0">
                <a:effectLst/>
              </a:rPr>
              <a:t>4️⃣ ​</a:t>
            </a:r>
            <a:r>
              <a:rPr lang="zh-CN" altLang="en-US" b="1" i="0" u="none" strike="noStrike" dirty="0">
                <a:effectLst/>
                <a:latin typeface="inherit"/>
              </a:rPr>
              <a:t>持续重构</a:t>
            </a:r>
            <a:r>
              <a:rPr lang="zh-CN" altLang="en-US" b="0" i="0" u="none" strike="noStrike" dirty="0">
                <a:effectLst/>
              </a:rPr>
              <a:t>：在测试保护下优化代码结构</a:t>
            </a:r>
            <a:endParaRPr lang="zh-CN" altLang="en-US" b="0" i="0" u="none" strike="noStrike" dirty="0">
              <a:effectLst/>
            </a:endParaRPr>
          </a:p>
          <a:p>
            <a:pPr fontAlgn="base">
              <a:buFont typeface="Arial" panose="020B0604020202020204" pitchFamily="34" charset="0"/>
              <a:buChar char="•"/>
            </a:pPr>
            <a:endParaRPr lang="zh-CN" altLang="en-US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 fontAlgn="base"/>
            <a:r>
              <a:rPr lang="zh-CN" altLang="en-US" b="1" i="0" u="none" strike="noStrike" dirty="0">
                <a:effectLst/>
                <a:latin typeface="inherit"/>
              </a:rPr>
              <a:t>核心价值</a:t>
            </a:r>
            <a:endParaRPr lang="zh-CN" altLang="en-US" b="1" i="0" u="none" strike="noStrike" dirty="0">
              <a:effectLst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🛡️ ​</a:t>
            </a:r>
            <a:r>
              <a:rPr lang="zh-CN" altLang="en-US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缺陷预防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：每行代码都有对应测试，减少回归错误</a:t>
            </a:r>
            <a:endParaRPr lang="zh-CN" altLang="en-US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🧩 ​</a:t>
            </a:r>
            <a:r>
              <a:rPr lang="zh-CN" altLang="en-US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设计引导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：迫使开发者先思考接口而非实现细节</a:t>
            </a:r>
            <a:endParaRPr lang="zh-CN" altLang="en-US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📉 ​</a:t>
            </a:r>
            <a:r>
              <a:rPr lang="zh-CN" altLang="en-US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降低耦合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：天然产生模块化、可测试的代码结构</a:t>
            </a:r>
            <a:endParaRPr lang="zh-CN" altLang="en-US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📚 ​</a:t>
            </a:r>
            <a:r>
              <a:rPr lang="zh-CN" altLang="en-US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活的文档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：测试用例显式描述系统行为</a:t>
            </a:r>
            <a:endParaRPr lang="en-US" altLang="zh-CN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pPr algn="l" fontAlgn="base"/>
            <a:r>
              <a:rPr lang="zh-CN" altLang="en-US" b="1" i="0" u="none" strike="noStrike" dirty="0">
                <a:effectLst/>
                <a:latin typeface="inherit"/>
              </a:rPr>
              <a:t>挑战与对策</a:t>
            </a:r>
            <a:endParaRPr lang="zh-CN" altLang="en-US" b="1" i="0" u="none" strike="noStrike" dirty="0">
              <a:effectLst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⚠️ ​</a:t>
            </a:r>
            <a:r>
              <a:rPr lang="zh-CN" altLang="en-US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学习曲线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：需掌握测试框架（如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JUnit/</a:t>
            </a:r>
            <a:r>
              <a:rPr lang="en-US" altLang="zh-CN" b="0" i="0" u="none" strike="noStrike" dirty="0" err="1">
                <a:effectLst/>
                <a:latin typeface="inherit"/>
                <a:ea typeface="PingFang SC" panose="020B0400000000000000" pitchFamily="34" charset="-122"/>
              </a:rPr>
              <a:t>pytest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）和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Mock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技术</a:t>
            </a:r>
            <a:endParaRPr lang="zh-CN" altLang="en-US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🕒 ​</a:t>
            </a:r>
            <a:r>
              <a:rPr lang="zh-CN" altLang="en-US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初期耗时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：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20-30%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额外时间成本（长期维护成本下降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50%+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）</a:t>
            </a:r>
            <a:endParaRPr lang="zh-CN" altLang="en-US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altLang="zh-CN" b="0" i="0" u="none" strike="noStrike" dirty="0">
                <a:solidFill>
                  <a:srgbClr val="E31857"/>
                </a:solidFill>
                <a:effectLst/>
                <a:latin typeface="inherit"/>
                <a:ea typeface="PingFang SC" panose="020B0400000000000000" pitchFamily="34" charset="-122"/>
              </a:rPr>
              <a:t>"</a:t>
            </a:r>
            <a:r>
              <a:rPr lang="zh-CN" altLang="en-US" b="0" i="0" u="none" strike="noStrike" dirty="0">
                <a:solidFill>
                  <a:srgbClr val="E31857"/>
                </a:solidFill>
                <a:effectLst/>
                <a:latin typeface="inherit"/>
                <a:ea typeface="PingFang SC" panose="020B0400000000000000" pitchFamily="34" charset="-122"/>
              </a:rPr>
              <a:t>测试不是质量保证部门的工作，而是设计工具</a:t>
            </a:r>
            <a:r>
              <a:rPr lang="en-US" altLang="zh-CN" b="0" i="0" u="none" strike="noStrike" dirty="0">
                <a:solidFill>
                  <a:srgbClr val="E31857"/>
                </a:solidFill>
                <a:effectLst/>
                <a:latin typeface="inherit"/>
                <a:ea typeface="PingFang SC" panose="020B0400000000000000" pitchFamily="34" charset="-122"/>
              </a:rPr>
              <a:t>"</a:t>
            </a:r>
            <a:endParaRPr lang="zh-CN" altLang="en-US" b="0" i="0" u="none" strike="noStrike" dirty="0">
              <a:solidFill>
                <a:srgbClr val="E31857"/>
              </a:solidFill>
              <a:effectLst/>
              <a:latin typeface="inherit"/>
              <a:ea typeface="PingFang SC" panose="020B0400000000000000" pitchFamily="34" charset="-122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endParaRPr lang="zh-CN" altLang="en-US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113270"/>
            <a:ext cx="10321616" cy="954107"/>
          </a:xfrm>
        </p:spPr>
        <p:txBody>
          <a:bodyPr/>
          <a:lstStyle/>
          <a:p>
            <a:r>
              <a:rPr kumimoji="1" lang="en-US" altLang="zh-CN" dirty="0"/>
              <a:t>Is Design Dead?</a:t>
            </a:r>
            <a:r>
              <a:rPr kumimoji="1" lang="zh-CN" altLang="en-US" dirty="0"/>
              <a:t> </a:t>
            </a:r>
            <a:br>
              <a:rPr kumimoji="1" lang="en-US" altLang="zh-CN" dirty="0"/>
            </a:br>
            <a:r>
              <a:rPr kumimoji="1" lang="en-US" altLang="zh-CN" sz="2400" dirty="0"/>
              <a:t>Extreme Programming and the Evolution of Software Design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b="0" i="0" dirty="0">
                <a:effectLst/>
                <a:latin typeface="Inter"/>
              </a:rPr>
              <a:t>对于许多只是短暂接触过极限编程的人来说，极限编程似乎意味着软件设计的消亡。</a:t>
            </a:r>
            <a:endParaRPr lang="en-US" altLang="zh-CN" b="0" i="0" dirty="0">
              <a:effectLst/>
              <a:latin typeface="Inter"/>
            </a:endParaRPr>
          </a:p>
          <a:p>
            <a:r>
              <a:rPr lang="zh-CN" altLang="en-US" b="0" i="0" dirty="0">
                <a:effectLst/>
                <a:latin typeface="Inter"/>
              </a:rPr>
              <a:t>不仅许多设计活动被嘲笑为 “前期大设计”，而且诸如统一建模语言（</a:t>
            </a:r>
            <a:r>
              <a:rPr lang="en-US" altLang="zh-CN" b="0" i="0" dirty="0">
                <a:effectLst/>
                <a:latin typeface="Inter"/>
              </a:rPr>
              <a:t>UML</a:t>
            </a:r>
            <a:r>
              <a:rPr lang="zh-CN" altLang="en-US" b="0" i="0" dirty="0">
                <a:effectLst/>
                <a:latin typeface="Inter"/>
              </a:rPr>
              <a:t>）、灵活框架，甚至设计模式等设计技术都被淡化，甚至完全被忽视。</a:t>
            </a:r>
            <a:endParaRPr lang="en-US" altLang="zh-CN" b="0" i="0" dirty="0">
              <a:effectLst/>
              <a:latin typeface="Inter"/>
            </a:endParaRPr>
          </a:p>
          <a:p>
            <a:r>
              <a:rPr lang="zh-CN" altLang="en-US" b="0" i="0" dirty="0">
                <a:effectLst/>
                <a:latin typeface="Inter"/>
              </a:rPr>
              <a:t>事实上，极限编程涉及大量的设计工作，但它采用的方式与传统的软件流程有所不同。</a:t>
            </a:r>
            <a:endParaRPr lang="en-US" altLang="zh-CN" b="0" i="0" dirty="0">
              <a:effectLst/>
              <a:latin typeface="Inter"/>
            </a:endParaRPr>
          </a:p>
          <a:p>
            <a:pPr lvl="1"/>
            <a:r>
              <a:rPr lang="zh-CN" altLang="en-US" b="0" i="0" dirty="0">
                <a:effectLst/>
                <a:latin typeface="Inter"/>
              </a:rPr>
              <a:t>极限编程通过一些实践，让演进式设计这一概念重焕生机，使演进成为一种可行的设计策略。</a:t>
            </a:r>
            <a:endParaRPr lang="en-US" altLang="zh-CN" b="0" i="0" dirty="0">
              <a:effectLst/>
              <a:latin typeface="Inter"/>
            </a:endParaRPr>
          </a:p>
          <a:p>
            <a:pPr lvl="1"/>
            <a:r>
              <a:rPr lang="zh-CN" altLang="en-US" b="0" i="0" dirty="0">
                <a:effectLst/>
                <a:latin typeface="Inter"/>
              </a:rPr>
              <a:t>它也带来了新的挑战，要求设计师掌握新的技能，比如如何进行简单设计、如何通过重构保持设计的简洁，以及如何以演进的方式运用设计模式。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计划设计与演进式设计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设计是为了长期轻松修改软件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r>
              <a:rPr kumimoji="1" lang="zh-CN" altLang="en-US" dirty="0"/>
              <a:t>演进式设计：系统设计随实现过程逐渐生长。</a:t>
            </a:r>
            <a:r>
              <a:rPr kumimoji="1" lang="en-US" altLang="zh-CN" dirty="0"/>
              <a:t>Code-fix</a:t>
            </a:r>
            <a:endParaRPr kumimoji="1" lang="en-US" altLang="zh-CN" dirty="0"/>
          </a:p>
          <a:p>
            <a:r>
              <a:rPr kumimoji="1" lang="zh-CN" altLang="en-US" dirty="0"/>
              <a:t>计划设计</a:t>
            </a:r>
            <a:r>
              <a:rPr kumimoji="1" lang="en-US" altLang="zh-CN" dirty="0"/>
              <a:t>:</a:t>
            </a:r>
            <a:r>
              <a:rPr kumimoji="1" lang="zh-CN" altLang="en-US" dirty="0"/>
              <a:t>理念源自其他工程领域</a:t>
            </a:r>
            <a:r>
              <a:rPr kumimoji="1" lang="en-US" altLang="zh-CN" dirty="0"/>
              <a:t>.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建造狗屋时，你可以随便找些木头拼出大致形状；但建造摩天大楼时，这种方式会导致中途倒塌。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软件的计划：设计师提前思考重大问题。他们无需编码，因为其工作是设计而非构建。因此他们可以使用</a:t>
            </a:r>
            <a:r>
              <a:rPr kumimoji="1" lang="en-US" altLang="zh-CN" dirty="0"/>
              <a:t>UML</a:t>
            </a:r>
            <a:r>
              <a:rPr kumimoji="1" lang="zh-CN" altLang="en-US" dirty="0"/>
              <a:t>等设计技术，摆脱编程细节，在更抽象层面工作。设计完成后可转交给另一团队（甚至公司）构建。由于设计师从宏观视角思考，他们能避免导致软件熵增的战术决策。程序员遵循设计方向，只要遵从设计，就能构建良好系统。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计划设计方法在许多方面优于“编码</a:t>
            </a:r>
            <a:r>
              <a:rPr kumimoji="1" lang="en-US" altLang="zh-CN" dirty="0"/>
              <a:t>-</a:t>
            </a:r>
            <a:r>
              <a:rPr kumimoji="1" lang="zh-CN" altLang="en-US" dirty="0"/>
              <a:t>修复”式演进设计，但也有缺陷：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编程时必然遇到设计未考虑的问题：临时修改，熵增。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文化冲突：设计师因技能经验被选中，但忙于设计导致编码时间减少；失去程序员的尊重。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zh-CN" dirty="0"/>
              <a:t>XP</a:t>
            </a:r>
            <a:r>
              <a:rPr kumimoji="1" lang="zh-CN" altLang="en-US" dirty="0"/>
              <a:t>的赋能实践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en-US" altLang="zh-CN" dirty="0"/>
              <a:t>XP</a:t>
            </a:r>
            <a:r>
              <a:rPr kumimoji="1" lang="zh-CN" altLang="en-US" dirty="0"/>
              <a:t>倡导演进式设计而非计划设计。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随意的设计决策和软件熵增会使演进式设计无法奏效。</a:t>
            </a:r>
            <a:endParaRPr kumimoji="1" lang="en-US" altLang="zh-CN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u="none" strike="noStrike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XP</a:t>
            </a:r>
            <a:r>
              <a:rPr lang="zh-CN" altLang="en-US" b="0" i="0" u="none" strike="noStrike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的突破性假设：</a:t>
            </a:r>
            <a:endParaRPr lang="zh-CN" altLang="en-US" b="0" i="0" u="none" strike="noStrike" dirty="0">
              <a:solidFill>
                <a:schemeClr val="tx1"/>
              </a:solidFill>
              <a:effectLst/>
              <a:latin typeface="PT Serif" panose="020A06030405050202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通过实践</a:t>
            </a:r>
            <a:r>
              <a:rPr lang="en-US" altLang="zh-CN" b="0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"</a:t>
            </a:r>
            <a:r>
              <a:rPr lang="zh-CN" altLang="en-US" b="0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压平</a:t>
            </a:r>
            <a:r>
              <a:rPr lang="en-US" altLang="zh-CN" b="0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"</a:t>
            </a:r>
            <a:r>
              <a:rPr lang="zh-CN" altLang="en-US" b="0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变更曲线</a:t>
            </a:r>
            <a:endParaRPr lang="zh-CN" altLang="en-US" b="0" i="0" u="none" strike="noStrike" dirty="0">
              <a:solidFill>
                <a:srgbClr val="FF0000"/>
              </a:solidFill>
              <a:effectLst/>
              <a:latin typeface="PT Serif" panose="020A06030405050202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核心使能实践的三位一体：</a:t>
            </a:r>
            <a:r>
              <a:rPr lang="en-US" altLang="zh-CN" b="0" i="0" u="none" strike="noStrike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Testing → Continuous Integration → Refactoring</a:t>
            </a:r>
            <a:endParaRPr lang="zh-CN" altLang="en-US" b="0" i="0" u="none" strike="noStrike" dirty="0">
              <a:solidFill>
                <a:schemeClr val="tx1"/>
              </a:solidFill>
              <a:effectLst/>
              <a:latin typeface="PT Serif" panose="020A0603040505020204" pitchFamily="18" charset="0"/>
            </a:endParaRPr>
          </a:p>
          <a:p>
            <a:r>
              <a:rPr kumimoji="1" lang="zh-CN" altLang="en-US" dirty="0"/>
              <a:t>赋能实践的核心是</a:t>
            </a:r>
            <a:r>
              <a:rPr kumimoji="1" lang="zh-CN" altLang="en-US" dirty="0">
                <a:solidFill>
                  <a:srgbClr val="FF0000"/>
                </a:solidFill>
              </a:rPr>
              <a:t>测试</a:t>
            </a:r>
            <a:r>
              <a:rPr kumimoji="1" lang="zh-CN" altLang="en-US" dirty="0"/>
              <a:t>和</a:t>
            </a:r>
            <a:r>
              <a:rPr kumimoji="1" lang="zh-CN" altLang="en-US" dirty="0">
                <a:solidFill>
                  <a:srgbClr val="FF0000"/>
                </a:solidFill>
              </a:rPr>
              <a:t>持续集成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没有测试提供的安全保障，</a:t>
            </a:r>
            <a:r>
              <a:rPr kumimoji="1" lang="en-US" altLang="zh-CN" dirty="0"/>
              <a:t>XP</a:t>
            </a:r>
            <a:r>
              <a:rPr kumimoji="1" lang="zh-CN" altLang="en-US" dirty="0"/>
              <a:t>的其他部分无法实施。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持续集成保持团队同步，让你能放心修改而无需担心集成问题。</a:t>
            </a:r>
            <a:endParaRPr kumimoji="1" lang="en-US" altLang="zh-CN" dirty="0"/>
          </a:p>
          <a:p>
            <a:r>
              <a:rPr kumimoji="1" lang="en-US" altLang="zh-CN" dirty="0"/>
              <a:t>Jim Highsmith</a:t>
            </a:r>
            <a:r>
              <a:rPr kumimoji="1" lang="zh-CN" altLang="en-US" dirty="0"/>
              <a:t>在其</a:t>
            </a:r>
            <a:r>
              <a:rPr kumimoji="1" lang="en-US" altLang="zh-CN" dirty="0"/>
              <a:t>XP</a:t>
            </a:r>
            <a:r>
              <a:rPr kumimoji="1" lang="zh-CN" altLang="en-US" dirty="0"/>
              <a:t>总结中用天平作类比：一端是计划设计，另一端是重构。传统方法中计划设计占主导，因为假设后期无法修改；当变更成本降低时，更多设计可通过后期重构完成。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简单设计的四大准则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zh-CN" altLang="en-US" b="0" i="0" u="none" strike="noStrike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通过所有测试</a:t>
            </a:r>
            <a:endParaRPr lang="zh-CN" altLang="en-US" b="0" i="0" u="none" strike="noStrike" dirty="0">
              <a:solidFill>
                <a:schemeClr val="tx1"/>
              </a:solidFill>
              <a:effectLst/>
              <a:latin typeface="PT Serif" panose="020A06030405050202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zh-CN" altLang="en-US" b="0" i="0" u="none" strike="noStrike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消除重复</a:t>
            </a:r>
            <a:endParaRPr lang="en-US" altLang="zh-CN" b="0" i="0" u="none" strike="noStrike" dirty="0">
              <a:solidFill>
                <a:schemeClr val="tx1"/>
              </a:solidFill>
              <a:effectLst/>
              <a:latin typeface="PT Serif" panose="020A06030405050202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zh-CN" altLang="en-US" b="0" i="0" u="none" strike="noStrike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清晰表达意图</a:t>
            </a:r>
            <a:endParaRPr lang="zh-CN" altLang="en-US" b="0" i="0" u="none" strike="noStrike" dirty="0">
              <a:solidFill>
                <a:schemeClr val="tx1"/>
              </a:solidFill>
              <a:effectLst/>
              <a:latin typeface="PT Serif" panose="020A06030405050202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zh-CN" altLang="en-US" b="0" i="0" u="none" strike="noStrike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最小化元素数量</a:t>
            </a:r>
            <a:r>
              <a:rPr lang="zh-CN" altLang="en-US" b="0" i="0" u="none" strike="noStrike" dirty="0">
                <a:solidFill>
                  <a:schemeClr val="tx1"/>
                </a:solidFill>
                <a:effectLst/>
                <a:latin typeface="var(--monospace)"/>
              </a:rPr>
              <a:t> </a:t>
            </a:r>
            <a:br>
              <a:rPr lang="zh-CN" altLang="en-US" dirty="0"/>
            </a:b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zh-CN" dirty="0"/>
              <a:t>YAGNI</a:t>
            </a:r>
            <a:r>
              <a:rPr kumimoji="1" lang="zh-CN" altLang="en-US" dirty="0"/>
              <a:t>（</a:t>
            </a:r>
            <a:r>
              <a:rPr kumimoji="1" lang="en-US" altLang="zh-CN" dirty="0"/>
              <a:t>"You aren't </a:t>
            </a:r>
            <a:r>
              <a:rPr kumimoji="1" lang="en-US" altLang="zh-CN" dirty="0" err="1"/>
              <a:t>gonna</a:t>
            </a:r>
            <a:r>
              <a:rPr kumimoji="1" lang="en-US" altLang="zh-CN" dirty="0"/>
              <a:t> need it"</a:t>
            </a:r>
            <a:r>
              <a:rPr kumimoji="1" lang="zh-CN" altLang="en-US" dirty="0"/>
              <a:t>）原则的经济学</a:t>
            </a:r>
            <a:endParaRPr kumimoji="1"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32184" y="1320541"/>
            <a:ext cx="9779000" cy="18034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32184" y="3734059"/>
            <a:ext cx="95114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zh-CN" altLang="en-US" sz="3200" b="1" i="0" u="none" strike="noStrike" dirty="0">
                <a:effectLst/>
                <a:latin typeface="inherit"/>
              </a:rPr>
              <a:t>数据实证</a:t>
            </a:r>
            <a:r>
              <a:rPr lang="zh-CN" altLang="en-US" sz="3200" b="0" i="0" u="none" strike="noStrike" dirty="0">
                <a:effectLst/>
              </a:rPr>
              <a:t>：</a:t>
            </a:r>
            <a:endParaRPr lang="zh-CN" altLang="en-US" sz="3200" b="0" i="0" u="none" strike="noStrike" dirty="0">
              <a:effectLst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zh-CN" altLang="en-US" sz="3200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超前开发功能的</a:t>
            </a:r>
            <a:r>
              <a:rPr lang="zh-CN" altLang="en-US" sz="3200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实际使用率</a:t>
            </a:r>
            <a:r>
              <a:rPr lang="en-US" altLang="zh-CN" sz="3200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&lt;20%</a:t>
            </a:r>
            <a:endParaRPr lang="en-US" altLang="zh-CN" sz="3200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zh-CN" altLang="en-US" sz="3200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每行</a:t>
            </a:r>
            <a:r>
              <a:rPr lang="en-US" altLang="zh-CN" sz="3200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"</a:t>
            </a:r>
            <a:r>
              <a:rPr lang="zh-CN" altLang="en-US" sz="3200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预留代码</a:t>
            </a:r>
            <a:r>
              <a:rPr lang="en-US" altLang="zh-CN" sz="3200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"</a:t>
            </a:r>
            <a:r>
              <a:rPr lang="zh-CN" altLang="en-US" sz="3200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的</a:t>
            </a:r>
            <a:r>
              <a:rPr lang="zh-CN" altLang="en-US" sz="3200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年维护成本</a:t>
            </a:r>
            <a:r>
              <a:rPr lang="zh-CN" altLang="en-US" sz="3200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≈</a:t>
            </a:r>
            <a:r>
              <a:rPr lang="en-US" altLang="zh-CN" sz="3200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$4</a:t>
            </a:r>
            <a:endParaRPr lang="zh-CN" altLang="en-US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297936"/>
            <a:ext cx="10321616" cy="584775"/>
          </a:xfrm>
        </p:spPr>
        <p:txBody>
          <a:bodyPr/>
          <a:lstStyle/>
          <a:p>
            <a:r>
              <a:rPr lang="zh-CN" altLang="en-US" b="1" i="0" u="none" strike="noStrike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⚖️ 边际成本陷阱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>
                <a:effectLst/>
                <a:latin typeface="inherit"/>
              </a:rPr>
              <a:t>假设开发某功能的当前成本为</a:t>
            </a:r>
            <a:r>
              <a:rPr lang="en-US" altLang="zh-CN" b="0" dirty="0">
                <a:effectLst/>
                <a:latin typeface="inherit"/>
              </a:rPr>
              <a:t>C</a:t>
            </a:r>
            <a:br>
              <a:rPr lang="en-US" altLang="zh-CN" dirty="0">
                <a:latin typeface="inherit"/>
              </a:rPr>
            </a:br>
            <a:r>
              <a:rPr lang="en-US" altLang="zh-CN" b="0" dirty="0">
                <a:effectLst/>
                <a:latin typeface="inherit"/>
              </a:rPr>
              <a:t> </a:t>
            </a:r>
            <a:r>
              <a:rPr lang="zh-CN" altLang="en-US" dirty="0"/>
              <a:t>若提前</a:t>
            </a:r>
            <a:r>
              <a:rPr lang="en-US" altLang="zh-CN" dirty="0"/>
              <a:t>N</a:t>
            </a:r>
            <a:r>
              <a:rPr lang="zh-CN" altLang="en-US" dirty="0"/>
              <a:t>个周期开发： 总成本 </a:t>
            </a:r>
            <a:r>
              <a:rPr lang="en-US" altLang="zh-CN" dirty="0"/>
              <a:t>= C × (1 + </a:t>
            </a:r>
            <a:r>
              <a:rPr lang="zh-CN" altLang="en-US" dirty="0"/>
              <a:t>维护率</a:t>
            </a:r>
            <a:r>
              <a:rPr lang="en-US" altLang="zh-CN" dirty="0"/>
              <a:t>)^N </a:t>
            </a:r>
            <a:br>
              <a:rPr lang="en-US" altLang="zh-CN" dirty="0"/>
            </a:br>
            <a:r>
              <a:rPr lang="zh-CN" altLang="en-US" dirty="0"/>
              <a:t>而实际需求出现时的成本可能仅为</a:t>
            </a:r>
            <a:r>
              <a:rPr lang="en-US" altLang="zh-CN" dirty="0"/>
              <a:t>C×0.7</a:t>
            </a:r>
            <a:r>
              <a:rPr lang="zh-CN" altLang="en-US" dirty="0"/>
              <a:t>（技术演进） </a:t>
            </a:r>
            <a:endParaRPr lang="en-US" altLang="zh-CN" dirty="0"/>
          </a:p>
          <a:p>
            <a:r>
              <a:rPr lang="zh-CN" altLang="en-US" b="0" i="1" u="none" strike="noStrike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案例</a:t>
            </a:r>
            <a:r>
              <a:rPr lang="zh-CN" altLang="en-US" b="0" i="0" u="none" strike="noStrike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：某支付系统提前开发加密货币接口，</a:t>
            </a:r>
            <a:r>
              <a:rPr lang="en-US" altLang="zh-CN" b="0" i="0" u="none" strike="noStrike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3</a:t>
            </a:r>
            <a:r>
              <a:rPr lang="zh-CN" altLang="en-US" b="0" i="0" u="none" strike="noStrike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年后实际需求出现时需重构，总成本增加</a:t>
            </a:r>
            <a:r>
              <a:rPr lang="en-US" altLang="zh-CN" b="0" i="0" u="none" strike="noStrike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230%</a:t>
            </a:r>
            <a:endParaRPr lang="en-US" altLang="zh-CN" b="0" i="0" u="none" strike="noStrike" dirty="0"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r>
              <a:rPr kumimoji="1" lang="zh-CN" altLang="en-US" dirty="0"/>
              <a:t>程序员成本：</a:t>
            </a:r>
            <a:r>
              <a:rPr kumimoji="1" lang="en-US" altLang="zh-CN" dirty="0"/>
              <a:t>120 </a:t>
            </a:r>
            <a:r>
              <a:rPr kumimoji="1" lang="zh-CN" altLang="en-US" dirty="0"/>
              <a:t>美元</a:t>
            </a:r>
            <a:r>
              <a:rPr kumimoji="1" lang="en-US" altLang="zh-CN" dirty="0"/>
              <a:t>/</a:t>
            </a:r>
            <a:r>
              <a:rPr kumimoji="1" lang="zh-CN" altLang="en-US" dirty="0"/>
              <a:t>小时（硅谷）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297936"/>
            <a:ext cx="10321616" cy="584775"/>
          </a:xfrm>
        </p:spPr>
        <p:txBody>
          <a:bodyPr/>
          <a:lstStyle/>
          <a:p>
            <a:r>
              <a:rPr lang="zh-CN" altLang="en-US" b="1" i="0" u="none" strike="noStrike" dirty="0">
                <a:effectLst/>
                <a:latin typeface="inherit"/>
              </a:rPr>
              <a:t>决策框架（成本验证矩阵）​</a:t>
            </a:r>
            <a:endParaRPr lang="zh-CN" altLang="en-US" b="1" i="0" u="none" strike="noStrike" dirty="0">
              <a:effectLst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1289955"/>
            <a:ext cx="10515600" cy="5481813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b="0" dirty="0">
                <a:effectLst/>
                <a:latin typeface="inherit"/>
              </a:rPr>
              <a:t>是否开发 </a:t>
            </a:r>
            <a:r>
              <a:rPr lang="en-US" altLang="zh-CN" b="0" dirty="0">
                <a:effectLst/>
                <a:latin typeface="inherit"/>
              </a:rPr>
              <a:t>= </a:t>
            </a:r>
            <a:br>
              <a:rPr lang="en-US" altLang="zh-CN" dirty="0">
                <a:latin typeface="inherit"/>
              </a:rPr>
            </a:br>
            <a:r>
              <a:rPr lang="en-US" altLang="zh-CN" b="0" dirty="0">
                <a:effectLst/>
                <a:latin typeface="inherit"/>
              </a:rPr>
              <a:t>[</a:t>
            </a:r>
            <a:r>
              <a:rPr lang="zh-CN" altLang="en-US" b="0" dirty="0">
                <a:effectLst/>
                <a:latin typeface="inherit"/>
              </a:rPr>
              <a:t>当前需求强度</a:t>
            </a:r>
            <a:r>
              <a:rPr lang="en-US" altLang="zh-CN" b="0" dirty="0">
                <a:effectLst/>
                <a:latin typeface="inherit"/>
              </a:rPr>
              <a:t>] </a:t>
            </a:r>
            <a:r>
              <a:rPr lang="en-US" altLang="zh-CN" dirty="0"/>
              <a:t>× [</a:t>
            </a:r>
            <a:r>
              <a:rPr lang="zh-CN" altLang="en-US" dirty="0"/>
              <a:t>功能存活率预测</a:t>
            </a:r>
            <a:r>
              <a:rPr lang="en-US" altLang="zh-CN" dirty="0"/>
              <a:t>] ÷ [</a:t>
            </a:r>
            <a:r>
              <a:rPr lang="zh-CN" altLang="en-US" dirty="0"/>
              <a:t>技术贬值因子</a:t>
            </a:r>
            <a:r>
              <a:rPr lang="en-US" altLang="zh-CN" dirty="0"/>
              <a:t>] </a:t>
            </a:r>
            <a:br>
              <a:rPr lang="en-US" altLang="zh-CN" dirty="0"/>
            </a:br>
            <a:r>
              <a:rPr lang="en-US" altLang="zh-CN" dirty="0"/>
              <a:t>&gt; </a:t>
            </a:r>
            <a:r>
              <a:rPr lang="zh-CN" altLang="en-US" dirty="0"/>
              <a:t>经济阈值（建议≥</a:t>
            </a:r>
            <a:r>
              <a:rPr lang="en-US" altLang="zh-CN" dirty="0"/>
              <a:t>1.5</a:t>
            </a:r>
            <a:r>
              <a:rPr lang="zh-CN" altLang="en-US" dirty="0"/>
              <a:t>） </a:t>
            </a:r>
            <a:endParaRPr lang="en-US" altLang="zh-CN" dirty="0"/>
          </a:p>
          <a:p>
            <a:pPr algn="l" fontAlgn="base"/>
            <a:r>
              <a:rPr lang="zh-CN" altLang="en-US" b="1" i="0" u="none" strike="noStrike" dirty="0">
                <a:effectLst/>
                <a:latin typeface="inherit"/>
              </a:rPr>
              <a:t>行业实践证据</a:t>
            </a:r>
            <a:endParaRPr lang="zh-CN" altLang="en-US" b="1" i="0" u="none" strike="noStrike" dirty="0">
              <a:effectLst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AWS Lambda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诞生过程：初期拒绝预置扩展机制，通过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150+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次按需迭代达成市场契合</a:t>
            </a:r>
            <a:endParaRPr lang="zh-CN" altLang="en-US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腾讯微信支付：红包功能初期仅用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300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行代码实现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MVP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，避免设计通用支付路由系统</a:t>
            </a:r>
            <a:endParaRPr lang="zh-CN" altLang="en-US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solidFill>
                  <a:srgbClr val="FF0000"/>
                </a:solidFill>
                <a:effectLst/>
                <a:latin typeface="inherit"/>
                <a:ea typeface="PingFang SC" panose="020B0400000000000000" pitchFamily="34" charset="-122"/>
              </a:rPr>
              <a:t>抗辩案例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：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Linux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内核调度器因未预留实时性支持，导致后期重构成本激增</a:t>
            </a:r>
            <a:endParaRPr lang="en-US" altLang="zh-CN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altLang="zh-CN" b="1" i="0" u="none" strike="noStrike" dirty="0">
                <a:solidFill>
                  <a:srgbClr val="FF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YAGNI</a:t>
            </a:r>
            <a:r>
              <a:rPr lang="zh-CN" altLang="en-US" b="1" i="0" u="none" strike="noStrike" dirty="0">
                <a:solidFill>
                  <a:srgbClr val="FF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不是反对设计，而是要求用经济学证据驱动每行代码的投资决策。​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重构的纪律性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在不改变代码外部可见行为的前提下，​</a:t>
            </a:r>
            <a:r>
              <a:rPr lang="zh-CN" altLang="en-US" b="1" i="0" u="none" strike="noStrike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持续优化代码内部结构</a:t>
            </a:r>
            <a:r>
              <a:rPr lang="zh-CN" altLang="en-US" b="0" i="0" u="none" strike="noStrike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的技术。</a:t>
            </a:r>
            <a:endParaRPr lang="en-US" altLang="zh-CN" b="0" i="0" u="none" strike="noStrike" dirty="0"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🧩 ​</a:t>
            </a:r>
            <a:r>
              <a:rPr lang="zh-CN" altLang="en-US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提升可读性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：使代码更易理解（如重命名变量、拆分复杂函数）</a:t>
            </a:r>
            <a:endParaRPr lang="zh-CN" altLang="en-US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🛠️ ​</a:t>
            </a:r>
            <a:r>
              <a:rPr lang="zh-CN" altLang="en-US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降低维护成本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：消除代码异味（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Code Smells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），例如重复代码、过长方法</a:t>
            </a:r>
            <a:endParaRPr lang="zh-CN" altLang="en-US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🚀 ​</a:t>
            </a:r>
            <a:r>
              <a:rPr lang="zh-CN" altLang="en-US" b="1" i="0" u="none" strike="noStrike" dirty="0">
                <a:effectLst/>
                <a:latin typeface="inherit"/>
                <a:ea typeface="PingFang SC" panose="020B0400000000000000" pitchFamily="34" charset="-122"/>
              </a:rPr>
              <a:t>支持演化式设计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：通过小步改进适应需求变化，避免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"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大设计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" </a:t>
            </a:r>
            <a:endParaRPr lang="en-US" altLang="zh-CN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工具：</a:t>
            </a:r>
            <a:endParaRPr lang="en-US" altLang="zh-CN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🔍 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IDE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自动化重构：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IntelliJ/Eclipse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的提取方法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/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变量等快捷操作</a:t>
            </a:r>
            <a:endParaRPr lang="zh-CN" altLang="en-US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✅ 测试框架：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JUnit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（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Java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）、</a:t>
            </a:r>
            <a:r>
              <a:rPr lang="en-US" altLang="zh-CN" b="0" i="0" u="none" strike="noStrike" dirty="0" err="1">
                <a:effectLst/>
                <a:latin typeface="inherit"/>
                <a:ea typeface="PingFang SC" panose="020B0400000000000000" pitchFamily="34" charset="-122"/>
              </a:rPr>
              <a:t>pytest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（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Python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）等快速验证行为</a:t>
            </a:r>
            <a:endParaRPr lang="zh-CN" altLang="en-US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📉 代码质量扫描：</a:t>
            </a:r>
            <a:r>
              <a:rPr lang="en-US" altLang="zh-CN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SonarQube</a:t>
            </a:r>
            <a:r>
              <a:rPr lang="zh-CN" altLang="en-US" b="0" i="0" u="none" strike="noStrike" dirty="0">
                <a:effectLst/>
                <a:latin typeface="inherit"/>
                <a:ea typeface="PingFang SC" panose="020B0400000000000000" pitchFamily="34" charset="-122"/>
              </a:rPr>
              <a:t>检测重复代码、圈复杂度等异味</a:t>
            </a:r>
            <a:endParaRPr lang="zh-CN" altLang="en-US" b="0" i="0" u="none" strike="noStrike" dirty="0">
              <a:effectLst/>
              <a:latin typeface="inherit"/>
              <a:ea typeface="PingFang SC" panose="020B0400000000000000" pitchFamily="34" charset="-122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solidFill>
                  <a:srgbClr val="E31857"/>
                </a:solidFill>
                <a:effectLst/>
                <a:latin typeface="PT Serif" panose="020A0603040505020204" pitchFamily="18" charset="0"/>
              </a:rPr>
              <a:t>与临时调整的本质区别：</a:t>
            </a:r>
            <a:endParaRPr lang="zh-CN" altLang="en-US" b="0" i="0" u="none" strike="noStrike" dirty="0">
              <a:solidFill>
                <a:srgbClr val="E31857"/>
              </a:solidFill>
              <a:effectLst/>
              <a:latin typeface="PT Serif" panose="020A06030405050202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solidFill>
                  <a:srgbClr val="E31857"/>
                </a:solidFill>
                <a:effectLst/>
                <a:latin typeface="PT Serif" panose="020A0603040505020204" pitchFamily="18" charset="0"/>
              </a:rPr>
              <a:t>测试保护下的安全重构</a:t>
            </a:r>
            <a:endParaRPr lang="en-US" altLang="zh-CN" b="0" i="0" u="none" strike="noStrike" dirty="0">
              <a:solidFill>
                <a:srgbClr val="E31857"/>
              </a:solidFill>
              <a:effectLst/>
              <a:latin typeface="PT Serif" panose="020A060304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solidFill>
                  <a:srgbClr val="E31857"/>
                </a:solidFill>
                <a:effectLst/>
                <a:latin typeface="PT Serif" panose="020A0603040505020204" pitchFamily="18" charset="0"/>
              </a:rPr>
              <a:t>重构不是推倒重写，而是让代码随时间越变越优雅的持续艺术。​</a:t>
            </a:r>
            <a:endParaRPr lang="zh-CN" altLang="en-US" b="0" i="0" u="none" strike="noStrike" dirty="0">
              <a:solidFill>
                <a:srgbClr val="E31857"/>
              </a:solidFill>
              <a:effectLst/>
              <a:latin typeface="PT Serif" panose="020A0603040505020204" pitchFamily="18" charset="0"/>
            </a:endParaRPr>
          </a:p>
          <a:p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生长式架构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软件架构指系统的核心元素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难以修改的部分，是其余部分的基础。</a:t>
            </a:r>
            <a:endParaRPr kumimoji="1" lang="en-US" altLang="zh-CN" dirty="0"/>
          </a:p>
          <a:p>
            <a:r>
              <a:rPr kumimoji="1" lang="zh-CN" altLang="en-US" dirty="0"/>
              <a:t>最激进的</a:t>
            </a:r>
            <a:r>
              <a:rPr kumimoji="1" lang="en-US" altLang="zh-CN" dirty="0"/>
              <a:t>XP</a:t>
            </a:r>
            <a:r>
              <a:rPr kumimoji="1" lang="zh-CN" altLang="en-US" dirty="0"/>
              <a:t>实践者（</a:t>
            </a:r>
            <a:r>
              <a:rPr kumimoji="1" lang="en-US" altLang="zh-CN" dirty="0"/>
              <a:t>Kent Beck</a:t>
            </a:r>
            <a:r>
              <a:rPr kumimoji="1" lang="zh-CN" altLang="en-US" dirty="0"/>
              <a:t>、</a:t>
            </a:r>
            <a:r>
              <a:rPr kumimoji="1" lang="en-US" altLang="zh-CN" dirty="0"/>
              <a:t>Ron Jeffries</a:t>
            </a:r>
            <a:r>
              <a:rPr kumimoji="1" lang="zh-CN" altLang="en-US" dirty="0"/>
              <a:t>、</a:t>
            </a:r>
            <a:r>
              <a:rPr kumimoji="1" lang="en-US" altLang="zh-CN" dirty="0"/>
              <a:t>Bob Martin</a:t>
            </a:r>
            <a:r>
              <a:rPr kumimoji="1" lang="zh-CN" altLang="en-US" dirty="0"/>
              <a:t>）确实越来越避免前期架构设计：在真正需要前不引入数据库，先用文件后期重构。</a:t>
            </a:r>
            <a:endParaRPr kumimoji="1" lang="en-US" altLang="zh-CN" dirty="0"/>
          </a:p>
          <a:p>
            <a:r>
              <a:rPr kumimoji="1" lang="en-US" altLang="zh-CN" dirty="0"/>
              <a:t>Martin</a:t>
            </a:r>
            <a:r>
              <a:rPr kumimoji="1" lang="zh-CN" altLang="en-US" dirty="0"/>
              <a:t> </a:t>
            </a:r>
            <a:r>
              <a:rPr kumimoji="1" lang="en-US" altLang="zh-CN" dirty="0"/>
              <a:t>Fowler</a:t>
            </a:r>
            <a:r>
              <a:rPr kumimoji="1" lang="zh-CN" altLang="en-US" dirty="0"/>
              <a:t>建议：</a:t>
            </a:r>
            <a:r>
              <a:rPr kumimoji="1" lang="zh-CN" altLang="en-US" dirty="0">
                <a:solidFill>
                  <a:srgbClr val="FF0000"/>
                </a:solidFill>
              </a:rPr>
              <a:t>评估可能架构。</a:t>
            </a:r>
            <a:r>
              <a:rPr kumimoji="1" lang="zh-CN" altLang="en-US" dirty="0"/>
              <a:t>若预期海量多用户数据，首日就用数据库；若复杂业务逻辑，引入领域模型。但遵从</a:t>
            </a:r>
            <a:r>
              <a:rPr kumimoji="1" lang="en-US" altLang="zh-CN" dirty="0"/>
              <a:t>YAGNI</a:t>
            </a:r>
            <a:r>
              <a:rPr kumimoji="1" lang="zh-CN" altLang="en-US" dirty="0"/>
              <a:t>，存疑时倾向简单。随时准备简化未增价值的架构部分。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zh-CN" dirty="0"/>
              <a:t>UML</a:t>
            </a:r>
            <a:r>
              <a:rPr kumimoji="1" lang="zh-CN" altLang="en-US" dirty="0"/>
              <a:t>与</a:t>
            </a:r>
            <a:r>
              <a:rPr kumimoji="1" lang="en-US" altLang="zh-CN" dirty="0"/>
              <a:t>XP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“有用则用”</a:t>
            </a:r>
            <a:endParaRPr kumimoji="1" lang="en-US" altLang="zh-CN" dirty="0"/>
          </a:p>
          <a:p>
            <a:r>
              <a:rPr kumimoji="1" lang="zh-CN" altLang="en-US" dirty="0"/>
              <a:t>目标为沟通。选择重要内容，忽略次要。图表无需全面，代码才是全面信息源。</a:t>
            </a:r>
            <a:endParaRPr kumimoji="1" lang="en-US" altLang="zh-CN" dirty="0"/>
          </a:p>
          <a:p>
            <a:r>
              <a:rPr kumimoji="1" lang="zh-CN" altLang="en-US" dirty="0"/>
              <a:t>编码前可以用图表探索设计。但需：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- </a:t>
            </a:r>
            <a:r>
              <a:rPr kumimoji="1" lang="zh-CN" altLang="en-US" dirty="0"/>
              <a:t>保持简短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- </a:t>
            </a:r>
            <a:r>
              <a:rPr kumimoji="1" lang="zh-CN" altLang="en-US" dirty="0"/>
              <a:t>不解决所有细节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- </a:t>
            </a:r>
            <a:r>
              <a:rPr kumimoji="1" lang="zh-CN" altLang="en-US" dirty="0"/>
              <a:t>视设计为草图而非终稿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可逆性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通过</a:t>
            </a:r>
            <a:r>
              <a:rPr kumimoji="1" lang="zh-CN" altLang="en-US" dirty="0">
                <a:solidFill>
                  <a:srgbClr val="FF0000"/>
                </a:solidFill>
              </a:rPr>
              <a:t>降低流程中的不可逆性</a:t>
            </a:r>
            <a:r>
              <a:rPr kumimoji="1" lang="zh-CN" altLang="en-US" dirty="0"/>
              <a:t>来应对复杂性。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决策的不可逆性是复杂性的主要来源。如果能轻松改变决策，就无需执着于</a:t>
            </a:r>
            <a:r>
              <a:rPr kumimoji="1" lang="en-US" altLang="zh-CN" dirty="0"/>
              <a:t>"</a:t>
            </a:r>
            <a:r>
              <a:rPr kumimoji="1" lang="zh-CN" altLang="en-US" dirty="0"/>
              <a:t>一次性做对</a:t>
            </a:r>
            <a:r>
              <a:rPr kumimoji="1" lang="en-US" altLang="zh-CN" dirty="0"/>
              <a:t>"——</a:t>
            </a:r>
            <a:r>
              <a:rPr kumimoji="1" lang="zh-CN" altLang="en-US" dirty="0"/>
              <a:t>这极大简化了问题。对演进式设计的启示在于：设计师需要思考如何避免决策的不可逆性。与其试图现在就做出完美决策，不如寻找方法将决策推迟（以获得更多信息），或让决策在未来能被轻松逆转。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敏捷方法重视版本控制系</a:t>
            </a:r>
            <a:r>
              <a:rPr kumimoji="1" lang="zh-CN" altLang="en-US" dirty="0"/>
              <a:t>统。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所以，设计已死？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/>
            <a:r>
              <a:rPr lang="zh-CN" altLang="en-US" b="0" i="0" u="none" strike="noStrike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绝非如此，但</a:t>
            </a:r>
            <a:r>
              <a:rPr lang="zh-CN" altLang="en-US" b="1" i="0" u="none" strike="noStrike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设计的本质已然改变</a:t>
            </a:r>
            <a:r>
              <a:rPr lang="zh-CN" altLang="en-US" b="0" i="0" u="none" strike="noStrike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。</a:t>
            </a:r>
            <a:r>
              <a:rPr lang="en-US" altLang="zh-CN" b="0" i="0" u="none" strike="noStrike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XP</a:t>
            </a:r>
            <a:r>
              <a:rPr lang="zh-CN" altLang="en-US" b="0" i="0" u="none" strike="noStrike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设计需要以下技能：</a:t>
            </a:r>
            <a:endParaRPr lang="zh-CN" altLang="en-US" b="0" i="0" u="none" strike="noStrike" dirty="0">
              <a:solidFill>
                <a:schemeClr val="tx1"/>
              </a:solidFill>
              <a:effectLst/>
              <a:latin typeface="PT Serif" panose="020A06030405050202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b="1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持续保持代码清晰简洁的渴望</a:t>
            </a:r>
            <a:endParaRPr lang="zh-CN" altLang="en-US" b="0" i="0" u="none" strike="noStrike" dirty="0">
              <a:solidFill>
                <a:srgbClr val="FF0000"/>
              </a:solidFill>
              <a:effectLst/>
              <a:latin typeface="PT Serif" panose="020A06030405050202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b="1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通过重构自信改进代码的能力</a:t>
            </a:r>
            <a:endParaRPr lang="zh-CN" altLang="en-US" b="0" i="0" u="none" strike="noStrike" dirty="0">
              <a:solidFill>
                <a:srgbClr val="FF0000"/>
              </a:solidFill>
              <a:effectLst/>
              <a:latin typeface="PT Serif" panose="020A06030405050202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b="1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精通模式（</a:t>
            </a:r>
            <a:r>
              <a:rPr lang="en-US" altLang="zh-CN" b="1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design</a:t>
            </a:r>
            <a:r>
              <a:rPr lang="zh-CN" altLang="en-US" b="1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 </a:t>
            </a:r>
            <a:r>
              <a:rPr lang="en-US" altLang="zh-CN" b="1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pattern</a:t>
            </a:r>
            <a:r>
              <a:rPr lang="zh-CN" altLang="en-US" b="1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）：不仅理解解决方案，更懂应用时机与演进路径</a:t>
            </a:r>
            <a:endParaRPr lang="zh-CN" altLang="en-US" b="0" i="0" u="none" strike="noStrike" dirty="0">
              <a:solidFill>
                <a:srgbClr val="FF0000"/>
              </a:solidFill>
              <a:effectLst/>
              <a:latin typeface="PT Serif" panose="020A06030405050202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b="1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预见变化的眼光：知晓今日决策终将改变</a:t>
            </a:r>
            <a:endParaRPr lang="zh-CN" altLang="en-US" b="0" i="0" u="none" strike="noStrike" dirty="0">
              <a:solidFill>
                <a:srgbClr val="FF0000"/>
              </a:solidFill>
              <a:effectLst/>
              <a:latin typeface="PT Serif" panose="020A06030405050202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b="1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运用代码、图表及最重要的</a:t>
            </a:r>
            <a:r>
              <a:rPr lang="en-US" altLang="zh-CN" b="1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——</a:t>
            </a:r>
            <a:r>
              <a:rPr lang="zh-CN" altLang="en-US" b="1" i="0" u="none" strike="noStrike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对话，向相关人员传达设计</a:t>
            </a:r>
            <a:endParaRPr lang="zh-CN" altLang="en-US" b="0" i="0" u="none" strike="noStrike" dirty="0">
              <a:solidFill>
                <a:srgbClr val="FF0000"/>
              </a:solidFill>
              <a:effectLst/>
              <a:latin typeface="PT Serif" panose="020A0603040505020204" pitchFamily="18" charset="0"/>
            </a:endParaRPr>
          </a:p>
          <a:p>
            <a:r>
              <a:rPr kumimoji="1" lang="zh-CN" altLang="en-US" dirty="0"/>
              <a:t>这是很难的技能组合，但优秀设计向来艰难。</a:t>
            </a:r>
            <a:r>
              <a:rPr kumimoji="1" lang="en-US" altLang="zh-CN" dirty="0"/>
              <a:t>XP</a:t>
            </a:r>
            <a:r>
              <a:rPr kumimoji="1" lang="zh-CN" altLang="en-US" dirty="0"/>
              <a:t>并未使其变易。但</a:t>
            </a:r>
            <a:r>
              <a:rPr kumimoji="1" lang="en-US" altLang="zh-CN" dirty="0"/>
              <a:t>XP</a:t>
            </a:r>
            <a:r>
              <a:rPr kumimoji="1" lang="zh-CN" altLang="en-US" dirty="0"/>
              <a:t>确实提供了思考有效设计的新视角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它让演进式设计重获新生。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南大紫">
      <a:dk1>
        <a:srgbClr val="6A005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lides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</Template>
  <TotalTime>0</TotalTime>
  <Words>3698</Words>
  <Application>WPS 演示</Application>
  <PresentationFormat>宽屏</PresentationFormat>
  <Paragraphs>217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7" baseType="lpstr">
      <vt:lpstr>Arial</vt:lpstr>
      <vt:lpstr>宋体</vt:lpstr>
      <vt:lpstr>Wingdings</vt:lpstr>
      <vt:lpstr>Times New Roman</vt:lpstr>
      <vt:lpstr>Inter</vt:lpstr>
      <vt:lpstr>Segoe Print</vt:lpstr>
      <vt:lpstr>inherit</vt:lpstr>
      <vt:lpstr>PingFang SC</vt:lpstr>
      <vt:lpstr>微软雅黑</vt:lpstr>
      <vt:lpstr>Arial Unicode MS</vt:lpstr>
      <vt:lpstr>Calibri</vt:lpstr>
      <vt:lpstr>PT Serif</vt:lpstr>
      <vt:lpstr>var(--monospace)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栋 邵</dc:creator>
  <dc:description>第一PPT模板网-WWW.1PPT.COM</dc:description>
  <cp:category>第一PPT模板网-WWW.1PPT.COM</cp:category>
  <cp:lastModifiedBy>Ethereal_YC</cp:lastModifiedBy>
  <cp:revision>45</cp:revision>
  <dcterms:created xsi:type="dcterms:W3CDTF">2025-03-18T05:39:00Z</dcterms:created>
  <dcterms:modified xsi:type="dcterms:W3CDTF">2025-06-14T03:14:47Z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AC13F161FBC3290550F89F62C78629F4</vt:lpwstr>
  </property>
  <property fmtid="{D5CDD505-2E9C-101B-9397-08002B2CF9AE}" pid="3" name="KSOProductBuildVer">
    <vt:lpwstr>2052-12.1.0.21541</vt:lpwstr>
  </property>
</Properties>
</file>
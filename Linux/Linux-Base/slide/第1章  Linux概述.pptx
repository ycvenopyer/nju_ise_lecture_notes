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-60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14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ACEAEE9F-438F-47A9-9989-66B85522CD3B}" type="datetimeFigureOut">
              <a:rPr lang="zh-CN" altLang="en-US" smtClean="0"/>
              <a:t>2013/1/28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3B2690D9-FB96-4FD5-9678-893DD399C6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概述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什么是</a:t>
            </a: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？在所有关于</a:t>
            </a: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的问题中，没有比这个更基本的了。简单地说，</a:t>
            </a: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是一种操作系统，可以安装在包括服务器、个人电脑、乃至</a:t>
            </a:r>
            <a:r>
              <a:rPr lang="en-US" altLang="zh-CN" b="0" i="0" u="none" strike="noStrike" baseline="0" dirty="0" smtClean="0">
                <a:latin typeface="Times New Roman"/>
              </a:rPr>
              <a:t>PDA</a:t>
            </a:r>
            <a:r>
              <a:rPr lang="zh-CN" altLang="en-US" b="0" i="0" u="none" strike="noStrike" baseline="0" dirty="0" smtClean="0">
                <a:latin typeface="Times New Roman"/>
              </a:rPr>
              <a:t>、手机、打印机等各类设备中。尝试一个新的操作系统难免让人心潮澎湃，如果读者之前还没有接触过</a:t>
            </a: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的话，在正式开始安装和使用</a:t>
            </a: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之前，首先让自己放松，试着做几个深呼吸，然后跟随本章的介绍来整理一下同</a:t>
            </a: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有关的思绪。</a:t>
            </a:r>
          </a:p>
        </p:txBody>
      </p:sp>
    </p:spTree>
    <p:extLst>
      <p:ext uri="{BB962C8B-B14F-4D97-AF65-F5344CB8AC3E}">
        <p14:creationId xmlns:p14="http://schemas.microsoft.com/office/powerpoint/2010/main" val="80901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1.1  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的起源和发展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起源和发展是一段令人着迷的历史。这里面包含着太多颠覆“常理”的事件和思想，促成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成长壮大的“神奇”力量总是被人津津乐道，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所创造的传奇有时候让初次接触它的人感到不可思议。</a:t>
            </a:r>
          </a:p>
        </p:txBody>
      </p:sp>
    </p:spTree>
    <p:extLst>
      <p:ext uri="{BB962C8B-B14F-4D97-AF65-F5344CB8AC3E}">
        <p14:creationId xmlns:p14="http://schemas.microsoft.com/office/powerpoint/2010/main" val="3990754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1.1.1  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的起源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1.Linux</a:t>
            </a:r>
            <a:r>
              <a:rPr lang="zh-CN" altLang="en-US" b="0" i="0" u="none" strike="noStrike" baseline="0" smtClean="0">
                <a:latin typeface="Times New Roman"/>
              </a:rPr>
              <a:t>的产生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2.Linux</a:t>
            </a:r>
            <a:r>
              <a:rPr lang="zh-CN" altLang="en-US" b="0" i="0" u="none" strike="noStrike" baseline="0" smtClean="0">
                <a:latin typeface="Times New Roman"/>
              </a:rPr>
              <a:t>的发展</a:t>
            </a:r>
          </a:p>
        </p:txBody>
      </p:sp>
    </p:spTree>
    <p:extLst>
      <p:ext uri="{BB962C8B-B14F-4D97-AF65-F5344CB8AC3E}">
        <p14:creationId xmlns:p14="http://schemas.microsoft.com/office/powerpoint/2010/main" val="234761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追溯到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UNIX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1.UNIX</a:t>
            </a:r>
            <a:r>
              <a:rPr lang="zh-CN" altLang="en-US" b="0" i="0" u="none" strike="noStrike" baseline="0" smtClean="0">
                <a:latin typeface="Times New Roman"/>
              </a:rPr>
              <a:t>的产生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2.UNIX</a:t>
            </a:r>
            <a:r>
              <a:rPr lang="zh-CN" altLang="en-US" b="0" i="0" u="none" strike="noStrike" baseline="0" smtClean="0">
                <a:latin typeface="Times New Roman"/>
              </a:rPr>
              <a:t>的发展</a:t>
            </a:r>
          </a:p>
        </p:txBody>
      </p:sp>
    </p:spTree>
    <p:extLst>
      <p:ext uri="{BB962C8B-B14F-4D97-AF65-F5344CB8AC3E}">
        <p14:creationId xmlns:p14="http://schemas.microsoft.com/office/powerpoint/2010/main" val="24519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1.1.3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影响世界的开源潮流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>
              <a:buNone/>
            </a:pP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的开源</a:t>
            </a:r>
          </a:p>
        </p:txBody>
      </p:sp>
    </p:spTree>
    <p:extLst>
      <p:ext uri="{BB962C8B-B14F-4D97-AF65-F5344CB8AC3E}">
        <p14:creationId xmlns:p14="http://schemas.microsoft.com/office/powerpoint/2010/main" val="8078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1.1.4  GNU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公共许可证：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GPL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1.Linux</a:t>
            </a:r>
            <a:r>
              <a:rPr lang="zh-CN" altLang="en-US" b="0" i="0" u="none" strike="noStrike" baseline="0" smtClean="0">
                <a:latin typeface="Times New Roman"/>
              </a:rPr>
              <a:t>软件自由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2.GNU</a:t>
            </a:r>
            <a:r>
              <a:rPr lang="zh-CN" altLang="en-US" b="0" i="0" u="none" strike="noStrike" baseline="0" smtClean="0">
                <a:latin typeface="Times New Roman"/>
              </a:rPr>
              <a:t>公共许可证协议</a:t>
            </a:r>
          </a:p>
        </p:txBody>
      </p:sp>
    </p:spTree>
    <p:extLst>
      <p:ext uri="{BB962C8B-B14F-4D97-AF65-F5344CB8AC3E}">
        <p14:creationId xmlns:p14="http://schemas.microsoft.com/office/powerpoint/2010/main" val="95597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为什么选择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Linux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已经占据了这个世界大部分电脑的屏幕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从</a:t>
            </a:r>
            <a:r>
              <a:rPr lang="en-US" altLang="zh-CN" b="0" i="0" u="none" strike="noStrike" baseline="0" smtClean="0">
                <a:latin typeface="Times New Roman"/>
              </a:rPr>
              <a:t>PC</a:t>
            </a:r>
            <a:r>
              <a:rPr lang="zh-CN" altLang="en-US" b="0" i="0" u="none" strike="noStrike" baseline="0" smtClean="0">
                <a:latin typeface="Times New Roman"/>
              </a:rPr>
              <a:t>到服务器。如果已经习惯了在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下工作，有什么必要选择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呢？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的开发模式从某个角度回答了这个问题。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是免费的，用户并不需要为使用这个系统交付任何费用。当然，这并不是唯一的，也不是最重要的理由。相对于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和其他操作系统，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拥有其独特的优势。这些优势使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长期以来得到了大量的应用和支持，并在最近几年收获了爆炸性的发展。</a:t>
            </a:r>
          </a:p>
        </p:txBody>
      </p:sp>
    </p:spTree>
    <p:extLst>
      <p:ext uri="{BB962C8B-B14F-4D97-AF65-F5344CB8AC3E}">
        <p14:creationId xmlns:p14="http://schemas.microsoft.com/office/powerpoint/2010/main" val="706081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作为服务器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1.Linux</a:t>
            </a:r>
            <a:r>
              <a:rPr lang="zh-CN" altLang="en-US" b="0" i="0" u="none" strike="noStrike" baseline="0" smtClean="0">
                <a:latin typeface="Times New Roman"/>
              </a:rPr>
              <a:t>作为服务器的优点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2Linux</a:t>
            </a:r>
            <a:r>
              <a:rPr lang="zh-CN" altLang="en-US" b="0" i="0" u="none" strike="noStrike" baseline="0" smtClean="0">
                <a:latin typeface="Times New Roman"/>
              </a:rPr>
              <a:t>的地位</a:t>
            </a:r>
          </a:p>
        </p:txBody>
      </p:sp>
    </p:spTree>
    <p:extLst>
      <p:ext uri="{BB962C8B-B14F-4D97-AF65-F5344CB8AC3E}">
        <p14:creationId xmlns:p14="http://schemas.microsoft.com/office/powerpoint/2010/main" val="2160339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作为桌面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1.Linux</a:t>
            </a:r>
            <a:r>
              <a:rPr lang="zh-CN" altLang="en-US" b="0" i="0" u="none" strike="noStrike" baseline="0" smtClean="0">
                <a:latin typeface="Times New Roman"/>
              </a:rPr>
              <a:t>作为桌面的优点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2.Linux</a:t>
            </a:r>
            <a:r>
              <a:rPr lang="zh-CN" altLang="en-US" b="0" i="0" u="none" strike="noStrike" baseline="0" smtClean="0">
                <a:latin typeface="Times New Roman"/>
              </a:rPr>
              <a:t>与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比较的优点</a:t>
            </a:r>
          </a:p>
        </p:txBody>
      </p:sp>
    </p:spTree>
    <p:extLst>
      <p:ext uri="{BB962C8B-B14F-4D97-AF65-F5344CB8AC3E}">
        <p14:creationId xmlns:p14="http://schemas.microsoft.com/office/powerpoint/2010/main" val="286068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1.3  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的发行版本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严格说来，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这个词并不能指代本书所要介绍的这个（或者说几个）操作系统。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实际上只定义了一个操作系统内核，这个内核由</a:t>
            </a:r>
            <a:r>
              <a:rPr lang="en-US" altLang="zh-CN" b="0" i="0" u="none" strike="noStrike" baseline="0" smtClean="0">
                <a:latin typeface="Times New Roman"/>
              </a:rPr>
              <a:t>kernel.org</a:t>
            </a:r>
            <a:r>
              <a:rPr lang="zh-CN" altLang="en-US" b="0" i="0" u="none" strike="noStrike" baseline="0" smtClean="0">
                <a:latin typeface="Times New Roman"/>
              </a:rPr>
              <a:t>负责维护。不同的企业和组织在此基础上开发了一系列辅助软件，打包发布自己的“发行版本”。各种发行版本可以“非常不同”，却是建立在同一个基础之上的。</a:t>
            </a:r>
          </a:p>
        </p:txBody>
      </p:sp>
    </p:spTree>
    <p:extLst>
      <p:ext uri="{BB962C8B-B14F-4D97-AF65-F5344CB8AC3E}">
        <p14:creationId xmlns:p14="http://schemas.microsoft.com/office/powerpoint/2010/main" val="3589776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不同的发行版本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126399"/>
              </p:ext>
            </p:extLst>
          </p:nvPr>
        </p:nvGraphicFramePr>
        <p:xfrm>
          <a:off x="899592" y="2708920"/>
          <a:ext cx="7416824" cy="341445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889807"/>
                <a:gridCol w="1578300"/>
                <a:gridCol w="3948717"/>
              </a:tblGrid>
              <a:tr h="599053">
                <a:tc>
                  <a:txBody>
                    <a:bodyPr/>
                    <a:lstStyle/>
                    <a:p>
                      <a:pPr algn="ctr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zh-CN" sz="1200" dirty="0">
                          <a:effectLst/>
                        </a:rPr>
                        <a:t>发 行 版 本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zh-CN" sz="1200">
                          <a:effectLst/>
                        </a:rPr>
                        <a:t>官 方 网 站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zh-CN" sz="1200" dirty="0">
                          <a:effectLst/>
                        </a:rPr>
                        <a:t>说</a:t>
                      </a:r>
                      <a:r>
                        <a:rPr lang="en-US" sz="1200" dirty="0">
                          <a:effectLst/>
                        </a:rPr>
                        <a:t>    </a:t>
                      </a:r>
                      <a:r>
                        <a:rPr lang="zh-CN" sz="1200" dirty="0">
                          <a:effectLst/>
                        </a:rPr>
                        <a:t>明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3800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CentOS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www.centos.org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zh-CN" sz="1200">
                          <a:effectLst/>
                        </a:rPr>
                        <a:t>模仿</a:t>
                      </a:r>
                      <a:r>
                        <a:rPr lang="en-US" sz="1200">
                          <a:effectLst/>
                        </a:rPr>
                        <a:t>Red Hat Enterprise Linux</a:t>
                      </a:r>
                      <a:r>
                        <a:rPr lang="zh-CN" sz="1200">
                          <a:effectLst/>
                        </a:rPr>
                        <a:t>的非商业发行版本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3800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Debian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www.debian.org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zh-CN" sz="1200">
                          <a:effectLst/>
                        </a:rPr>
                        <a:t>免费的非商业发行版本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3800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Fedora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fedoraproject.org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Red Hat</a:t>
                      </a:r>
                      <a:r>
                        <a:rPr lang="zh-CN" sz="1200">
                          <a:effectLst/>
                        </a:rPr>
                        <a:t>公司赞助的社区项目免费发行版本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3800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Gentoo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www.gentoo.org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zh-CN" sz="1200">
                          <a:effectLst/>
                        </a:rPr>
                        <a:t>基于源代码编译的发行版本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47972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Mandriva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www.mandriva.com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zh-CN" sz="1200">
                          <a:effectLst/>
                        </a:rPr>
                        <a:t>前身</a:t>
                      </a:r>
                      <a:r>
                        <a:rPr lang="en-US" sz="1200">
                          <a:effectLst/>
                        </a:rPr>
                        <a:t>Mandrakelinux</a:t>
                      </a:r>
                      <a:r>
                        <a:rPr lang="zh-CN" sz="1200">
                          <a:effectLst/>
                        </a:rPr>
                        <a:t>，第一个为非技术类用户设计的</a:t>
                      </a:r>
                      <a:r>
                        <a:rPr lang="en-US" sz="1200">
                          <a:effectLst/>
                        </a:rPr>
                        <a:t>Linux</a:t>
                      </a:r>
                      <a:r>
                        <a:rPr lang="zh-CN" sz="1200">
                          <a:effectLst/>
                        </a:rPr>
                        <a:t>发行版本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3800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openSUSE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www.opensuse.org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SUSE Linux</a:t>
                      </a:r>
                      <a:r>
                        <a:rPr lang="zh-CN" sz="1200">
                          <a:effectLst/>
                        </a:rPr>
                        <a:t>的免费发行版本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3800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Red Flag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www.redflag-linux.com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zh-CN" sz="1200">
                          <a:effectLst/>
                        </a:rPr>
                        <a:t>国内发展最好的</a:t>
                      </a:r>
                      <a:r>
                        <a:rPr lang="en-US" sz="1200">
                          <a:effectLst/>
                        </a:rPr>
                        <a:t>Linux</a:t>
                      </a:r>
                      <a:r>
                        <a:rPr lang="zh-CN" sz="1200">
                          <a:effectLst/>
                        </a:rPr>
                        <a:t>发行版本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3800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Red Hat Enterprise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www.redhat.com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Red Hat</a:t>
                      </a:r>
                      <a:r>
                        <a:rPr lang="zh-CN" sz="1200">
                          <a:effectLst/>
                        </a:rPr>
                        <a:t>公司的企业级商业化发行版本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3800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SUSE Linux Enterprise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www.suse.com/linux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Novell</a:t>
                      </a:r>
                      <a:r>
                        <a:rPr lang="zh-CN" sz="1200">
                          <a:effectLst/>
                        </a:rPr>
                        <a:t>公司的企业级商业化</a:t>
                      </a:r>
                      <a:r>
                        <a:rPr lang="en-US" sz="1200">
                          <a:effectLst/>
                        </a:rPr>
                        <a:t>Linux</a:t>
                      </a:r>
                      <a:r>
                        <a:rPr lang="zh-CN" sz="1200">
                          <a:effectLst/>
                        </a:rPr>
                        <a:t>发行版本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3800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TurboLinux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www.turbolinux.com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zh-CN" sz="1200">
                          <a:effectLst/>
                        </a:rPr>
                        <a:t>在中国和日本取得较大成功的发行版本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3800"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Ubuntu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en-US" sz="1200">
                          <a:effectLst/>
                        </a:rPr>
                        <a:t>www.ubuntu.com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20"/>
                        </a:lnSpc>
                        <a:spcAft>
                          <a:spcPts val="120"/>
                        </a:spcAft>
                      </a:pPr>
                      <a:r>
                        <a:rPr lang="zh-CN" sz="1200" dirty="0">
                          <a:effectLst/>
                        </a:rPr>
                        <a:t>类似于</a:t>
                      </a:r>
                      <a:r>
                        <a:rPr lang="en-US" sz="1200" dirty="0" err="1">
                          <a:effectLst/>
                        </a:rPr>
                        <a:t>Debian</a:t>
                      </a:r>
                      <a:r>
                        <a:rPr lang="zh-CN" sz="1200" dirty="0">
                          <a:effectLst/>
                        </a:rPr>
                        <a:t>的免费发行版本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1428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哪种发行版本最好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>
              <a:buNone/>
            </a:pP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版本的选择</a:t>
            </a:r>
          </a:p>
        </p:txBody>
      </p:sp>
    </p:spTree>
    <p:extLst>
      <p:ext uri="{BB962C8B-B14F-4D97-AF65-F5344CB8AC3E}">
        <p14:creationId xmlns:p14="http://schemas.microsoft.com/office/powerpoint/2010/main" val="1267571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1.3.3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本书选择的发行版本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1.Ubuntu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2.OpenSUSE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54" y="3717032"/>
            <a:ext cx="3483501" cy="260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402" y="3727850"/>
            <a:ext cx="3473007" cy="260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6688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1.4  Internet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上的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资源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089454"/>
              </p:ext>
            </p:extLst>
          </p:nvPr>
        </p:nvGraphicFramePr>
        <p:xfrm>
          <a:off x="827584" y="2276872"/>
          <a:ext cx="7416824" cy="167204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74507"/>
                <a:gridCol w="4742317"/>
              </a:tblGrid>
              <a:tr h="207291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 dirty="0">
                          <a:effectLst/>
                        </a:rPr>
                        <a:t>国 外 网 站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>
                          <a:effectLst/>
                        </a:rPr>
                        <a:t>说</a:t>
                      </a:r>
                      <a:r>
                        <a:rPr lang="en-US" sz="1200" kern="50">
                          <a:effectLst/>
                        </a:rPr>
                        <a:t>    </a:t>
                      </a:r>
                      <a:r>
                        <a:rPr lang="zh-CN" sz="1200" kern="50">
                          <a:effectLst/>
                        </a:rPr>
                        <a:t>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209250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lwn.net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 dirty="0">
                          <a:effectLst/>
                        </a:rPr>
                        <a:t>来自</a:t>
                      </a:r>
                      <a:r>
                        <a:rPr lang="en-US" sz="1200" kern="50" dirty="0">
                          <a:effectLst/>
                        </a:rPr>
                        <a:t>Linux</a:t>
                      </a:r>
                      <a:r>
                        <a:rPr lang="zh-CN" sz="1200" kern="50" dirty="0">
                          <a:effectLst/>
                        </a:rPr>
                        <a:t>和开放源代码界的新闻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09250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http://freecode.com/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>
                          <a:effectLst/>
                        </a:rPr>
                        <a:t>最齐全的</a:t>
                      </a:r>
                      <a:r>
                        <a:rPr lang="en-US" sz="1200" kern="50">
                          <a:effectLst/>
                        </a:rPr>
                        <a:t>Linux/UNIX</a:t>
                      </a:r>
                      <a:r>
                        <a:rPr lang="zh-CN" sz="1200" kern="50">
                          <a:effectLst/>
                        </a:rPr>
                        <a:t>软件库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209250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www.justlinux.com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 dirty="0">
                          <a:effectLst/>
                        </a:rPr>
                        <a:t>信息齐全的</a:t>
                      </a:r>
                      <a:r>
                        <a:rPr lang="en-US" sz="1200" kern="50" dirty="0">
                          <a:effectLst/>
                        </a:rPr>
                        <a:t>Linux</a:t>
                      </a:r>
                      <a:r>
                        <a:rPr lang="zh-CN" sz="1200" kern="50" dirty="0">
                          <a:effectLst/>
                        </a:rPr>
                        <a:t>学习网站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209250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www.kernel.org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Linux</a:t>
                      </a:r>
                      <a:r>
                        <a:rPr lang="zh-CN" sz="1200" kern="50">
                          <a:effectLst/>
                        </a:rPr>
                        <a:t>内核的官方网站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209250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www.linux.com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>
                          <a:effectLst/>
                        </a:rPr>
                        <a:t>提供全方位的</a:t>
                      </a:r>
                      <a:r>
                        <a:rPr lang="en-US" sz="1200" kern="50">
                          <a:effectLst/>
                        </a:rPr>
                        <a:t>Linux</a:t>
                      </a:r>
                      <a:r>
                        <a:rPr lang="zh-CN" sz="1200" kern="50">
                          <a:effectLst/>
                        </a:rPr>
                        <a:t>信息（尽管不是官方网站）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209250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www.linuxhq.com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>
                          <a:effectLst/>
                        </a:rPr>
                        <a:t>提供内核信息和补丁的汇总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209250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www.linuxtoday.com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 dirty="0">
                          <a:effectLst/>
                        </a:rPr>
                        <a:t>非常完整的</a:t>
                      </a:r>
                      <a:r>
                        <a:rPr lang="en-US" sz="1200" kern="50" dirty="0">
                          <a:effectLst/>
                        </a:rPr>
                        <a:t>Linux</a:t>
                      </a:r>
                      <a:r>
                        <a:rPr lang="zh-CN" sz="1200" kern="50" dirty="0">
                          <a:effectLst/>
                        </a:rPr>
                        <a:t>新闻站点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787730"/>
              </p:ext>
            </p:extLst>
          </p:nvPr>
        </p:nvGraphicFramePr>
        <p:xfrm>
          <a:off x="827584" y="4221088"/>
          <a:ext cx="7416824" cy="115212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73023"/>
                <a:gridCol w="4743801"/>
              </a:tblGrid>
              <a:tr h="234376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 dirty="0">
                          <a:effectLst/>
                        </a:rPr>
                        <a:t>国 内 网 站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>
                          <a:effectLst/>
                        </a:rPr>
                        <a:t>说</a:t>
                      </a:r>
                      <a:r>
                        <a:rPr lang="en-US" sz="1200" kern="50">
                          <a:effectLst/>
                        </a:rPr>
                        <a:t>    </a:t>
                      </a:r>
                      <a:r>
                        <a:rPr lang="zh-CN" sz="1200" kern="50">
                          <a:effectLst/>
                        </a:rPr>
                        <a:t>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1462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www.chinaunix.net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>
                          <a:effectLst/>
                        </a:rPr>
                        <a:t>国内最大的</a:t>
                      </a:r>
                      <a:r>
                        <a:rPr lang="en-US" sz="1200" kern="50">
                          <a:effectLst/>
                        </a:rPr>
                        <a:t>Linux/Unix</a:t>
                      </a:r>
                      <a:r>
                        <a:rPr lang="zh-CN" sz="1200" kern="50">
                          <a:effectLst/>
                        </a:rPr>
                        <a:t>技术社区网站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4376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www.linuxeden.com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 dirty="0">
                          <a:effectLst/>
                        </a:rPr>
                        <a:t>Linux</a:t>
                      </a:r>
                      <a:r>
                        <a:rPr lang="zh-CN" sz="1200" kern="50" dirty="0">
                          <a:effectLst/>
                        </a:rPr>
                        <a:t>伊甸园，最大的中文开源资讯门户网站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4376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www.linuxfans.org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>
                          <a:effectLst/>
                        </a:rPr>
                        <a:t>中国</a:t>
                      </a:r>
                      <a:r>
                        <a:rPr lang="en-US" sz="1200" kern="50">
                          <a:effectLst/>
                        </a:rPr>
                        <a:t>Linux</a:t>
                      </a:r>
                      <a:r>
                        <a:rPr lang="zh-CN" sz="1200" kern="50">
                          <a:effectLst/>
                        </a:rPr>
                        <a:t>公社，拥有自己的</a:t>
                      </a:r>
                      <a:r>
                        <a:rPr lang="en-US" sz="1200" kern="50">
                          <a:effectLst/>
                        </a:rPr>
                        <a:t>Linux</a:t>
                      </a:r>
                      <a:r>
                        <a:rPr lang="zh-CN" sz="1200" kern="50">
                          <a:effectLst/>
                        </a:rPr>
                        <a:t>发行版本</a:t>
                      </a:r>
                      <a:r>
                        <a:rPr lang="en-US" sz="1200" kern="50">
                          <a:effectLst/>
                        </a:rPr>
                        <a:t>Magic Linux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34376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200" kern="50">
                          <a:effectLst/>
                        </a:rPr>
                        <a:t>www.linuxsir.org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200" kern="50" dirty="0">
                          <a:effectLst/>
                        </a:rPr>
                        <a:t>提供</a:t>
                      </a:r>
                      <a:r>
                        <a:rPr lang="en-US" sz="1200" kern="50" dirty="0">
                          <a:effectLst/>
                        </a:rPr>
                        <a:t>Linux</a:t>
                      </a:r>
                      <a:r>
                        <a:rPr lang="zh-CN" sz="1200" kern="50" dirty="0">
                          <a:effectLst/>
                        </a:rPr>
                        <a:t>各种资源、包括资讯、软件、手册等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3336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12</TotalTime>
  <Words>713</Words>
  <Application>Microsoft Office PowerPoint</Application>
  <PresentationFormat>全屏显示(4:3)</PresentationFormat>
  <Paragraphs>94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波形</vt:lpstr>
      <vt:lpstr>第1章  Linux概述</vt:lpstr>
      <vt:lpstr>1.1  Linux的起源和发展</vt:lpstr>
      <vt:lpstr>1.1.1  Linux的起源</vt:lpstr>
      <vt:lpstr>1.1.2  追溯到UNIX</vt:lpstr>
      <vt:lpstr>1.1.3  影响世界的开源潮流</vt:lpstr>
      <vt:lpstr>1.1.4  GNU公共许可证：GPL</vt:lpstr>
      <vt:lpstr>1.2  为什么选择Linux</vt:lpstr>
      <vt:lpstr>1.2.1  作为服务器</vt:lpstr>
      <vt:lpstr>1.2.2  作为桌面</vt:lpstr>
      <vt:lpstr>1.3  Linux的发行版本</vt:lpstr>
      <vt:lpstr>1.3.1  不同的发行版本</vt:lpstr>
      <vt:lpstr>1.3.2  哪种发行版本最好</vt:lpstr>
      <vt:lpstr>1.3.3  本书选择的发行版本</vt:lpstr>
      <vt:lpstr>1.4  Internet上的Linux资源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Linux概述</dc:title>
  <dc:creator>User</dc:creator>
  <cp:lastModifiedBy>User</cp:lastModifiedBy>
  <cp:revision>2</cp:revision>
  <dcterms:created xsi:type="dcterms:W3CDTF">2013-01-28T09:51:30Z</dcterms:created>
  <dcterms:modified xsi:type="dcterms:W3CDTF">2013-01-28T10:04:15Z</dcterms:modified>
</cp:coreProperties>
</file>
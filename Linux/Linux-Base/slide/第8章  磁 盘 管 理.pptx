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63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B843E6-4BD2-4B68-ABCE-14C7F7DE23F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B843E6-4BD2-4B68-ABCE-14C7F7DE23F6}" type="slidenum">
              <a:rPr lang="zh-CN" altLang="en-US" smtClean="0"/>
              <a:t>‹#›</a:t>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B843E6-4BD2-4B68-ABCE-14C7F7DE23F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0B843E6-4BD2-4B68-ABCE-14C7F7DE23F6}" type="slidenum">
              <a:rPr lang="zh-CN" altLang="en-US" smtClean="0"/>
              <a:t>‹#›</a:t>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0B843E6-4BD2-4B68-ABCE-14C7F7DE23F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0B843E6-4BD2-4B68-ABCE-14C7F7DE23F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90B843E6-4BD2-4B68-ABCE-14C7F7DE23F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0B843E6-4BD2-4B68-ABCE-14C7F7DE23F6}" type="slidenum">
              <a:rPr lang="zh-CN" altLang="en-US" smtClean="0"/>
              <a:t>‹#›</a:t>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0B843E6-4BD2-4B68-ABCE-14C7F7DE23F6}" type="slidenum">
              <a:rPr lang="zh-CN" altLang="en-US" smtClean="0"/>
              <a:t>‹#›</a:t>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B843E6-4BD2-4B68-ABCE-14C7F7DE23F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B843E6-4BD2-4B68-ABCE-14C7F7DE23F6}" type="slidenum">
              <a:rPr lang="zh-CN" altLang="en-US" smtClean="0"/>
              <a:t>‹#›</a:t>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10E9B5D-7021-4C94-B4A9-B3EC96993D32}" type="datetimeFigureOut">
              <a:rPr lang="zh-CN" altLang="en-US" smtClean="0"/>
              <a:t>2013/1/29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0B843E6-4BD2-4B68-ABCE-14C7F7DE23F6}" type="slidenum">
              <a:rPr lang="zh-CN" altLang="en-US" smtClean="0"/>
              <a:t>‹#›</a:t>
            </a:fld>
            <a:endParaRPr lang="zh-CN" altLang="en-US"/>
          </a:p>
        </p:txBody>
      </p:sp>
    </p:spTree>
    <p:extLst>
      <p:ext uri="{BB962C8B-B14F-4D97-AF65-F5344CB8AC3E}">
        <p14:creationId xmlns:p14="http://schemas.microsoft.com/office/powerpoint/2010/main" val="1390911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410E9B5D-7021-4C94-B4A9-B3EC96993D32}" type="datetimeFigureOut">
              <a:rPr lang="zh-CN" altLang="en-US" smtClean="0"/>
              <a:t>2013/1/29</a:t>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90B843E6-4BD2-4B68-ABCE-14C7F7DE23F6}" type="slidenum">
              <a:rPr lang="zh-CN" altLang="en-US" smtClean="0"/>
              <a:t>‹#›</a:t>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0" i="0" u="none" strike="noStrike" kern="1800" baseline="0" smtClean="0">
                <a:latin typeface="Times New Roman"/>
                <a:ea typeface="黑体"/>
              </a:rPr>
              <a:t>第</a:t>
            </a:r>
            <a:r>
              <a:rPr lang="en-US" altLang="zh-CN" b="1" i="0" u="none" strike="noStrike" kern="1800" baseline="0" smtClean="0">
                <a:latin typeface="Times New Roman"/>
                <a:ea typeface="黑体"/>
              </a:rPr>
              <a:t>8</a:t>
            </a:r>
            <a:r>
              <a:rPr lang="zh-CN" altLang="en-US" b="0" i="0" u="none" strike="noStrike" kern="1800" baseline="0" smtClean="0">
                <a:latin typeface="Times New Roman"/>
                <a:ea typeface="黑体"/>
              </a:rPr>
              <a:t>章  磁 盘 管 理</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尽管在过去的几十年里，计算机硬件技术得到了飞速的发展，但磁盘这一古老的存储介质仍然是几乎所有电脑的必备。本章介绍</a:t>
            </a:r>
            <a:r>
              <a:rPr lang="en-US" altLang="zh-CN" b="0" i="0" u="none" strike="noStrike" baseline="0" smtClean="0">
                <a:latin typeface="Times New Roman"/>
              </a:rPr>
              <a:t>Linux</a:t>
            </a:r>
            <a:r>
              <a:rPr lang="zh-CN" altLang="en-US" b="0" i="0" u="none" strike="noStrike" baseline="0" smtClean="0">
                <a:latin typeface="Times New Roman"/>
              </a:rPr>
              <a:t>下的磁盘管理，包括</a:t>
            </a:r>
            <a:r>
              <a:rPr lang="en-US" altLang="zh-CN" b="0" i="0" u="none" strike="noStrike" baseline="0" smtClean="0">
                <a:latin typeface="Times New Roman"/>
              </a:rPr>
              <a:t>Linux</a:t>
            </a:r>
            <a:r>
              <a:rPr lang="zh-CN" altLang="en-US" b="0" i="0" u="none" strike="noStrike" baseline="0" smtClean="0">
                <a:latin typeface="Times New Roman"/>
              </a:rPr>
              <a:t>文件系统的概念及使用、硬盘分区及格式化、使用外部设备、文件归档及备份等。本章对于普通用户和系统管理员都有一定的借鉴作用。</a:t>
            </a:r>
          </a:p>
        </p:txBody>
      </p:sp>
    </p:spTree>
    <p:extLst>
      <p:ext uri="{BB962C8B-B14F-4D97-AF65-F5344CB8AC3E}">
        <p14:creationId xmlns:p14="http://schemas.microsoft.com/office/powerpoint/2010/main" val="2181738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  </a:t>
            </a:r>
            <a:r>
              <a:rPr lang="zh-CN" altLang="en-US" b="0" i="0" u="none" strike="noStrike" kern="1800" baseline="0" smtClean="0">
                <a:latin typeface="Times New Roman"/>
                <a:ea typeface="黑体"/>
              </a:rPr>
              <a:t>关 于 硬 盘</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1.SCSI</a:t>
            </a:r>
            <a:r>
              <a:rPr lang="zh-CN" altLang="en-US" b="0" i="0" u="none" strike="noStrike" baseline="0" smtClean="0">
                <a:latin typeface="Times New Roman"/>
              </a:rPr>
              <a:t>硬盘</a:t>
            </a:r>
          </a:p>
          <a:p>
            <a:pPr marR="0" lvl="0" rtl="0"/>
            <a:r>
              <a:rPr lang="en-US" altLang="zh-CN" b="0" i="0" u="none" strike="noStrike" baseline="0" smtClean="0">
                <a:latin typeface="Times New Roman"/>
              </a:rPr>
              <a:t>2.IDE</a:t>
            </a:r>
            <a:r>
              <a:rPr lang="zh-CN" altLang="en-US" b="0" i="0" u="none" strike="noStrike" baseline="0" smtClean="0">
                <a:latin typeface="Times New Roman"/>
              </a:rPr>
              <a:t>硬盘</a:t>
            </a:r>
          </a:p>
        </p:txBody>
      </p:sp>
    </p:spTree>
    <p:extLst>
      <p:ext uri="{BB962C8B-B14F-4D97-AF65-F5344CB8AC3E}">
        <p14:creationId xmlns:p14="http://schemas.microsoft.com/office/powerpoint/2010/main" val="651438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8.2  Linux</a:t>
            </a:r>
            <a:r>
              <a:rPr lang="zh-CN" altLang="en-US" b="0" i="0" u="none" strike="noStrike" kern="1800" baseline="0" smtClean="0">
                <a:latin typeface="Times New Roman"/>
                <a:ea typeface="黑体"/>
              </a:rPr>
              <a:t>文件系统</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smtClean="0">
                <a:latin typeface="Times New Roman"/>
              </a:rPr>
              <a:t>操作系统必须用一种特定的方式对磁盘进行操作。例如怎样存储一个文件？怎样表示一个目录？怎样知道某个特定的文件存储在硬盘的哪个位置？这些问题都可以通过文件系统来解决。简单来说，文件系统是一种对物理空间的组织方式，通常在格式化硬盘时创建。在</a:t>
            </a:r>
            <a:r>
              <a:rPr lang="en-US" altLang="zh-CN" b="0" i="0" u="none" strike="noStrike" baseline="0" smtClean="0">
                <a:latin typeface="Times New Roman"/>
              </a:rPr>
              <a:t>Windows</a:t>
            </a:r>
            <a:r>
              <a:rPr lang="zh-CN" altLang="en-US" b="0" i="0" u="none" strike="noStrike" baseline="0" smtClean="0">
                <a:latin typeface="Times New Roman"/>
              </a:rPr>
              <a:t>下，有</a:t>
            </a:r>
            <a:r>
              <a:rPr lang="en-US" altLang="zh-CN" b="0" i="0" u="none" strike="noStrike" baseline="0" smtClean="0">
                <a:latin typeface="Times New Roman"/>
              </a:rPr>
              <a:t>NTFS</a:t>
            </a:r>
            <a:r>
              <a:rPr lang="zh-CN" altLang="en-US" b="0" i="0" u="none" strike="noStrike" baseline="0" smtClean="0">
                <a:latin typeface="Times New Roman"/>
              </a:rPr>
              <a:t>和</a:t>
            </a:r>
            <a:r>
              <a:rPr lang="en-US" altLang="zh-CN" b="0" i="0" u="none" strike="noStrike" baseline="0" smtClean="0">
                <a:latin typeface="Times New Roman"/>
              </a:rPr>
              <a:t>FAT</a:t>
            </a:r>
            <a:r>
              <a:rPr lang="zh-CN" altLang="en-US" b="0" i="0" u="none" strike="noStrike" baseline="0" smtClean="0">
                <a:latin typeface="Times New Roman"/>
              </a:rPr>
              <a:t>两种文件系统。同样地，</a:t>
            </a:r>
            <a:r>
              <a:rPr lang="en-US" altLang="zh-CN" b="0" i="0" u="none" strike="noStrike" baseline="0" smtClean="0">
                <a:latin typeface="Times New Roman"/>
              </a:rPr>
              <a:t>Linux</a:t>
            </a:r>
            <a:r>
              <a:rPr lang="zh-CN" altLang="en-US" b="0" i="0" u="none" strike="noStrike" baseline="0" smtClean="0">
                <a:latin typeface="Times New Roman"/>
              </a:rPr>
              <a:t>也有自己的文件系统并一直在快速演变，下面简要介绍其中最常用的几种。</a:t>
            </a:r>
          </a:p>
        </p:txBody>
      </p:sp>
    </p:spTree>
    <p:extLst>
      <p:ext uri="{BB962C8B-B14F-4D97-AF65-F5344CB8AC3E}">
        <p14:creationId xmlns:p14="http://schemas.microsoft.com/office/powerpoint/2010/main" val="1909758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8.2.1  ext3fs</a:t>
            </a:r>
            <a:r>
              <a:rPr lang="zh-CN" altLang="en-US" b="0" i="0" u="none" strike="noStrike" kern="1800" baseline="0" smtClean="0">
                <a:latin typeface="Times New Roman"/>
                <a:ea typeface="黑体"/>
              </a:rPr>
              <a:t>和</a:t>
            </a:r>
            <a:r>
              <a:rPr lang="en-US" altLang="zh-CN" b="0" i="0" u="none" strike="noStrike" kern="1800" baseline="0" smtClean="0">
                <a:latin typeface="Times New Roman"/>
                <a:ea typeface="黑体"/>
              </a:rPr>
              <a:t>ext4fs</a:t>
            </a:r>
            <a:r>
              <a:rPr lang="zh-CN" altLang="en-US" b="0" i="0" u="none" strike="noStrike" kern="1800" baseline="0" smtClean="0">
                <a:latin typeface="Times New Roman"/>
                <a:ea typeface="黑体"/>
              </a:rPr>
              <a:t>文件系统</a:t>
            </a:r>
            <a:endParaRPr lang="zh-CN" altLang="en-US" b="0" i="0" u="none" strike="noStrike" kern="1800" baseline="0" smtClean="0">
              <a:solidFill>
                <a:srgbClr val="FF0000"/>
              </a:solidFill>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1.ext3fs</a:t>
            </a:r>
            <a:r>
              <a:rPr lang="zh-CN" altLang="en-US" b="0" i="0" u="none" strike="noStrike" baseline="0" smtClean="0">
                <a:latin typeface="Times New Roman"/>
              </a:rPr>
              <a:t>文件系统</a:t>
            </a:r>
          </a:p>
          <a:p>
            <a:pPr marR="0" lvl="0" rtl="0"/>
            <a:r>
              <a:rPr lang="en-US" altLang="zh-CN" b="0" i="0" u="none" strike="noStrike" baseline="0" smtClean="0">
                <a:latin typeface="Times New Roman"/>
              </a:rPr>
              <a:t>2.ext4fs</a:t>
            </a:r>
            <a:r>
              <a:rPr lang="zh-CN" altLang="en-US" b="0" i="0" u="none" strike="noStrike" baseline="0" smtClean="0">
                <a:latin typeface="Times New Roman"/>
              </a:rPr>
              <a:t>文件系统</a:t>
            </a:r>
          </a:p>
        </p:txBody>
      </p:sp>
    </p:spTree>
    <p:extLst>
      <p:ext uri="{BB962C8B-B14F-4D97-AF65-F5344CB8AC3E}">
        <p14:creationId xmlns:p14="http://schemas.microsoft.com/office/powerpoint/2010/main" val="2192531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8.2.2  ReiserFS</a:t>
            </a:r>
            <a:r>
              <a:rPr lang="zh-CN" altLang="en-US" b="0" i="0" u="none" strike="noStrike" kern="1800" baseline="0" smtClean="0">
                <a:latin typeface="Times New Roman"/>
                <a:ea typeface="黑体"/>
              </a:rPr>
              <a:t>文件系统</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ReiserFS</a:t>
            </a:r>
            <a:r>
              <a:rPr lang="zh-CN" altLang="en-US" b="0" i="0" u="none" strike="noStrike" baseline="0" smtClean="0">
                <a:latin typeface="Times New Roman"/>
              </a:rPr>
              <a:t>文件习</a:t>
            </a:r>
          </a:p>
        </p:txBody>
      </p:sp>
    </p:spTree>
    <p:extLst>
      <p:ext uri="{BB962C8B-B14F-4D97-AF65-F5344CB8AC3E}">
        <p14:creationId xmlns:p14="http://schemas.microsoft.com/office/powerpoint/2010/main" val="935911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8.2.3  </a:t>
            </a:r>
            <a:r>
              <a:rPr lang="zh-CN" altLang="en-US" b="0" i="0" u="none" strike="noStrike" kern="1800" baseline="0" smtClean="0">
                <a:latin typeface="Times New Roman"/>
                <a:ea typeface="黑体"/>
              </a:rPr>
              <a:t>有关</a:t>
            </a:r>
            <a:r>
              <a:rPr lang="en-US" altLang="zh-CN" b="0" i="0" u="none" strike="noStrike" kern="1800" baseline="0" smtClean="0">
                <a:latin typeface="Times New Roman"/>
                <a:ea typeface="黑体"/>
              </a:rPr>
              <a:t>swap</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swap</a:t>
            </a:r>
            <a:r>
              <a:rPr lang="zh-CN" altLang="en-US" b="0" i="0" u="none" strike="noStrike" baseline="0" smtClean="0">
                <a:latin typeface="Times New Roman"/>
              </a:rPr>
              <a:t>概述</a:t>
            </a:r>
          </a:p>
        </p:txBody>
      </p:sp>
    </p:spTree>
    <p:extLst>
      <p:ext uri="{BB962C8B-B14F-4D97-AF65-F5344CB8AC3E}">
        <p14:creationId xmlns:p14="http://schemas.microsoft.com/office/powerpoint/2010/main" val="576569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8.3  </a:t>
            </a:r>
            <a:r>
              <a:rPr lang="zh-CN" altLang="en-US" b="0" i="0" u="none" strike="noStrike" kern="1800" baseline="0" smtClean="0">
                <a:latin typeface="Times New Roman"/>
                <a:ea typeface="黑体"/>
              </a:rPr>
              <a:t>挂载文件系统</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本节主要介绍</a:t>
            </a:r>
            <a:r>
              <a:rPr lang="en-US" altLang="zh-CN" b="0" i="0" u="none" strike="noStrike" baseline="0" smtClean="0">
                <a:latin typeface="Times New Roman"/>
              </a:rPr>
              <a:t>Linux</a:t>
            </a:r>
            <a:r>
              <a:rPr lang="zh-CN" altLang="en-US" b="0" i="0" u="none" strike="noStrike" baseline="0" smtClean="0">
                <a:latin typeface="Times New Roman"/>
              </a:rPr>
              <a:t>下文件系统的使用。尽管在安装的时候，</a:t>
            </a:r>
            <a:r>
              <a:rPr lang="en-US" altLang="zh-CN" b="0" i="0" u="none" strike="noStrike" baseline="0" smtClean="0">
                <a:latin typeface="Times New Roman"/>
              </a:rPr>
              <a:t>Linux</a:t>
            </a:r>
            <a:r>
              <a:rPr lang="zh-CN" altLang="en-US" b="0" i="0" u="none" strike="noStrike" baseline="0" smtClean="0">
                <a:latin typeface="Times New Roman"/>
              </a:rPr>
              <a:t>已经自动为用户配置了整个文件系统，但有些时候仍然需要手动挂载一些设备</a:t>
            </a:r>
            <a:r>
              <a:rPr lang="en-US" altLang="zh-CN" b="0" i="0" u="none" strike="noStrike" baseline="0" smtClean="0">
                <a:latin typeface="Times New Roman"/>
              </a:rPr>
              <a:t>——</a:t>
            </a:r>
            <a:r>
              <a:rPr lang="zh-CN" altLang="en-US" b="0" i="0" u="none" strike="noStrike" baseline="0" smtClean="0">
                <a:latin typeface="Times New Roman"/>
              </a:rPr>
              <a:t>在服务器上尤其如此。在详细讨论文件系统挂载之前，首先来看一个具体的例子。</a:t>
            </a:r>
          </a:p>
        </p:txBody>
      </p:sp>
    </p:spTree>
    <p:extLst>
      <p:ext uri="{BB962C8B-B14F-4D97-AF65-F5344CB8AC3E}">
        <p14:creationId xmlns:p14="http://schemas.microsoft.com/office/powerpoint/2010/main" val="4213224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8.3.1  </a:t>
            </a:r>
            <a:r>
              <a:rPr lang="zh-CN" altLang="en-US" b="0" i="0" u="none" strike="noStrike" kern="1800" baseline="0" smtClean="0">
                <a:latin typeface="Times New Roman"/>
                <a:ea typeface="黑体"/>
              </a:rPr>
              <a:t>快速上手：使用光盘</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挂载光盘</a:t>
            </a:r>
          </a:p>
        </p:txBody>
      </p:sp>
    </p:spTree>
    <p:extLst>
      <p:ext uri="{BB962C8B-B14F-4D97-AF65-F5344CB8AC3E}">
        <p14:creationId xmlns:p14="http://schemas.microsoft.com/office/powerpoint/2010/main" val="2304750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8.3.2  Linux</a:t>
            </a:r>
            <a:r>
              <a:rPr lang="zh-CN" altLang="en-US" b="0" i="0" u="none" strike="noStrike" kern="1800" baseline="0" smtClean="0">
                <a:latin typeface="Times New Roman"/>
                <a:ea typeface="黑体"/>
              </a:rPr>
              <a:t>下设备的表示方法</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1.</a:t>
            </a:r>
            <a:r>
              <a:rPr lang="zh-CN" altLang="en-US" b="0" i="0" u="none" strike="noStrike" baseline="0" smtClean="0">
                <a:latin typeface="Times New Roman"/>
              </a:rPr>
              <a:t>设备的存放位置</a:t>
            </a:r>
          </a:p>
          <a:p>
            <a:pPr marR="0" lvl="0" rtl="0"/>
            <a:r>
              <a:rPr lang="en-US" altLang="zh-CN" b="0" i="0" u="none" strike="noStrike" baseline="0" smtClean="0">
                <a:latin typeface="Times New Roman"/>
              </a:rPr>
              <a:t>2.</a:t>
            </a:r>
            <a:r>
              <a:rPr lang="zh-CN" altLang="en-US" b="0" i="0" u="none" strike="noStrike" baseline="0" smtClean="0">
                <a:latin typeface="Times New Roman"/>
              </a:rPr>
              <a:t>设备的表示方法</a:t>
            </a:r>
          </a:p>
        </p:txBody>
      </p:sp>
    </p:spTree>
    <p:extLst>
      <p:ext uri="{BB962C8B-B14F-4D97-AF65-F5344CB8AC3E}">
        <p14:creationId xmlns:p14="http://schemas.microsoft.com/office/powerpoint/2010/main" val="1322169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8.3.3  </a:t>
            </a:r>
            <a:r>
              <a:rPr lang="zh-CN" altLang="en-US" b="0" i="0" u="none" strike="noStrike" kern="1800" baseline="0" smtClean="0">
                <a:latin typeface="Times New Roman"/>
                <a:ea typeface="黑体"/>
              </a:rPr>
              <a:t>挂载文件系统：</a:t>
            </a:r>
            <a:r>
              <a:rPr lang="en-US" altLang="zh-CN" b="0" i="0" u="none" strike="noStrike" kern="1800" baseline="0" smtClean="0">
                <a:latin typeface="Times New Roman"/>
                <a:ea typeface="黑体"/>
              </a:rPr>
              <a:t>mount</a:t>
            </a:r>
            <a:r>
              <a:rPr lang="zh-CN" altLang="en-US" b="0" i="0" u="none" strike="noStrike" kern="1800" baseline="0" smtClean="0">
                <a:latin typeface="Times New Roman"/>
                <a:ea typeface="黑体"/>
              </a:rPr>
              <a:t>命令</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挂载文件系统</a:t>
            </a:r>
          </a:p>
        </p:txBody>
      </p:sp>
    </p:spTree>
    <p:extLst>
      <p:ext uri="{BB962C8B-B14F-4D97-AF65-F5344CB8AC3E}">
        <p14:creationId xmlns:p14="http://schemas.microsoft.com/office/powerpoint/2010/main" val="1374114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8.3.4</a:t>
            </a:r>
            <a:r>
              <a:rPr lang="zh-CN" altLang="en-US" b="0" i="0" u="none" strike="noStrike" kern="1800" baseline="0" smtClean="0">
                <a:latin typeface="Times New Roman"/>
                <a:ea typeface="黑体"/>
              </a:rPr>
              <a:t>  在启动的时候挂载文件系统：</a:t>
            </a:r>
            <a:r>
              <a:rPr lang="en-US" altLang="zh-CN" b="0" i="0" u="none" strike="noStrike" kern="1800" baseline="0" smtClean="0">
                <a:latin typeface="Times New Roman"/>
                <a:ea typeface="黑体"/>
              </a:rPr>
              <a:t>/etc/fstab</a:t>
            </a:r>
            <a:r>
              <a:rPr lang="zh-CN" altLang="en-US" b="0" i="0" u="none" strike="noStrike" kern="1800" baseline="0" smtClean="0">
                <a:latin typeface="Times New Roman"/>
                <a:ea typeface="黑体"/>
              </a:rPr>
              <a:t>文件</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设置开机自动挂载文件系统</a:t>
            </a:r>
          </a:p>
        </p:txBody>
      </p:sp>
    </p:spTree>
    <p:extLst>
      <p:ext uri="{BB962C8B-B14F-4D97-AF65-F5344CB8AC3E}">
        <p14:creationId xmlns:p14="http://schemas.microsoft.com/office/powerpoint/2010/main" val="3695487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8.3.5</a:t>
            </a:r>
            <a:r>
              <a:rPr lang="zh-CN" altLang="en-US" b="0" i="0" u="none" strike="noStrike" kern="1800" baseline="0" smtClean="0">
                <a:latin typeface="Times New Roman"/>
                <a:ea typeface="黑体"/>
              </a:rPr>
              <a:t>  为什么无法弹出光盘：卸载文件系统</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卸载文件系统</a:t>
            </a:r>
          </a:p>
        </p:txBody>
      </p:sp>
    </p:spTree>
    <p:extLst>
      <p:ext uri="{BB962C8B-B14F-4D97-AF65-F5344CB8AC3E}">
        <p14:creationId xmlns:p14="http://schemas.microsoft.com/office/powerpoint/2010/main" val="3818755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8.4  </a:t>
            </a:r>
            <a:r>
              <a:rPr lang="zh-CN" altLang="en-US" b="0" i="0" u="none" strike="noStrike" kern="1800" baseline="0" smtClean="0">
                <a:latin typeface="Times New Roman"/>
                <a:ea typeface="黑体"/>
              </a:rPr>
              <a:t>查看磁盘使用情况：</a:t>
            </a:r>
            <a:r>
              <a:rPr lang="en-US" altLang="zh-CN" b="0" i="0" u="none" strike="noStrike" kern="1800" baseline="0" smtClean="0">
                <a:latin typeface="Times New Roman"/>
                <a:ea typeface="黑体"/>
              </a:rPr>
              <a:t>df</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使用</a:t>
            </a:r>
            <a:r>
              <a:rPr lang="en-US" altLang="zh-CN" b="0" i="0" u="none" strike="noStrike" baseline="0" smtClean="0">
                <a:latin typeface="Times New Roman"/>
              </a:rPr>
              <a:t>df</a:t>
            </a:r>
            <a:r>
              <a:rPr lang="zh-CN" altLang="en-US" b="0" i="0" u="none" strike="noStrike" baseline="0" smtClean="0">
                <a:latin typeface="Times New Roman"/>
              </a:rPr>
              <a:t>命令查看磁盘使用情况</a:t>
            </a:r>
          </a:p>
        </p:txBody>
      </p:sp>
    </p:spTree>
    <p:extLst>
      <p:ext uri="{BB962C8B-B14F-4D97-AF65-F5344CB8AC3E}">
        <p14:creationId xmlns:p14="http://schemas.microsoft.com/office/powerpoint/2010/main" val="1947762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8.5  </a:t>
            </a:r>
            <a:r>
              <a:rPr lang="zh-CN" altLang="en-US" b="0" i="0" u="none" strike="noStrike" kern="1800" baseline="0" smtClean="0">
                <a:latin typeface="Times New Roman"/>
                <a:ea typeface="黑体"/>
              </a:rPr>
              <a:t>检查和修复文件系统：</a:t>
            </a:r>
            <a:r>
              <a:rPr lang="en-US" altLang="zh-CN" b="0" i="0" u="none" strike="noStrike" kern="1800" baseline="0" smtClean="0">
                <a:latin typeface="Times New Roman"/>
                <a:ea typeface="黑体"/>
              </a:rPr>
              <a:t>fsck</a:t>
            </a:r>
            <a:r>
              <a:rPr lang="zh-CN" altLang="en-US" b="0" i="0" u="none" strike="noStrike" kern="1800" baseline="0" smtClean="0">
                <a:latin typeface="Times New Roman"/>
                <a:ea typeface="黑体"/>
              </a:rPr>
              <a:t> </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使用</a:t>
            </a:r>
            <a:r>
              <a:rPr lang="en-US" altLang="zh-CN" b="0" i="0" u="none" strike="noStrike" baseline="0" smtClean="0">
                <a:latin typeface="Times New Roman"/>
              </a:rPr>
              <a:t>fsck</a:t>
            </a:r>
            <a:r>
              <a:rPr lang="zh-CN" altLang="en-US" b="0" i="0" u="none" strike="noStrike" baseline="0" smtClean="0">
                <a:latin typeface="Times New Roman"/>
              </a:rPr>
              <a:t>检查和修复文件系统</a:t>
            </a:r>
          </a:p>
        </p:txBody>
      </p:sp>
    </p:spTree>
    <p:extLst>
      <p:ext uri="{BB962C8B-B14F-4D97-AF65-F5344CB8AC3E}">
        <p14:creationId xmlns:p14="http://schemas.microsoft.com/office/powerpoint/2010/main" val="3023279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8.6  </a:t>
            </a:r>
            <a:r>
              <a:rPr lang="zh-CN" altLang="en-US" b="0" i="0" u="none" strike="noStrike" kern="1800" baseline="0" smtClean="0">
                <a:latin typeface="Times New Roman"/>
                <a:ea typeface="黑体"/>
              </a:rPr>
              <a:t>在磁盘上建立文件系统：</a:t>
            </a:r>
            <a:r>
              <a:rPr lang="en-US" altLang="zh-CN" b="0" i="0" u="none" strike="noStrike" kern="1800" baseline="0" smtClean="0">
                <a:latin typeface="Times New Roman"/>
                <a:ea typeface="黑体"/>
              </a:rPr>
              <a:t>mkfs</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创建不同类型的文件系统</a:t>
            </a:r>
          </a:p>
        </p:txBody>
      </p:sp>
    </p:spTree>
    <p:extLst>
      <p:ext uri="{BB962C8B-B14F-4D97-AF65-F5344CB8AC3E}">
        <p14:creationId xmlns:p14="http://schemas.microsoft.com/office/powerpoint/2010/main" val="3144180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8.7</a:t>
            </a:r>
            <a:r>
              <a:rPr lang="zh-CN" altLang="en-US" b="0" i="0" u="none" strike="noStrike" kern="1800" baseline="0" smtClean="0">
                <a:latin typeface="Times New Roman"/>
                <a:ea typeface="黑体"/>
              </a:rPr>
              <a:t>  使用</a:t>
            </a:r>
            <a:r>
              <a:rPr lang="en-US" altLang="zh-CN" b="0" i="0" u="none" strike="noStrike" kern="1800" baseline="0" smtClean="0">
                <a:latin typeface="Times New Roman"/>
                <a:ea typeface="黑体"/>
              </a:rPr>
              <a:t>USB</a:t>
            </a:r>
            <a:r>
              <a:rPr lang="zh-CN" altLang="en-US" b="0" i="0" u="none" strike="noStrike" kern="1800" baseline="0" smtClean="0">
                <a:latin typeface="Times New Roman"/>
                <a:ea typeface="黑体"/>
              </a:rPr>
              <a:t>设备</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1.</a:t>
            </a:r>
            <a:r>
              <a:rPr lang="zh-CN" altLang="en-US" b="0" i="0" u="none" strike="noStrike" baseline="0" smtClean="0">
                <a:latin typeface="Times New Roman"/>
              </a:rPr>
              <a:t>挂载</a:t>
            </a:r>
            <a:r>
              <a:rPr lang="en-US" altLang="zh-CN" b="0" i="0" u="none" strike="noStrike" baseline="0" smtClean="0">
                <a:latin typeface="Times New Roman"/>
              </a:rPr>
              <a:t>USB</a:t>
            </a:r>
            <a:r>
              <a:rPr lang="zh-CN" altLang="en-US" b="0" i="0" u="none" strike="noStrike" baseline="0" smtClean="0">
                <a:latin typeface="Times New Roman"/>
              </a:rPr>
              <a:t>设备</a:t>
            </a:r>
          </a:p>
          <a:p>
            <a:pPr marR="0" lvl="0" rtl="0"/>
            <a:r>
              <a:rPr lang="en-US" altLang="zh-CN" b="0" i="0" u="none" strike="noStrike" baseline="0" smtClean="0">
                <a:latin typeface="Times New Roman"/>
              </a:rPr>
              <a:t>2.</a:t>
            </a:r>
            <a:r>
              <a:rPr lang="zh-CN" altLang="en-US" b="0" i="0" u="none" strike="noStrike" baseline="0" smtClean="0">
                <a:latin typeface="Times New Roman"/>
              </a:rPr>
              <a:t>卸载</a:t>
            </a:r>
            <a:r>
              <a:rPr lang="en-US" altLang="zh-CN" b="0" i="0" u="none" strike="noStrike" baseline="0" smtClean="0">
                <a:latin typeface="Times New Roman"/>
              </a:rPr>
              <a:t>USB</a:t>
            </a:r>
            <a:r>
              <a:rPr lang="zh-CN" altLang="en-US" b="0" i="0" u="none" strike="noStrike" baseline="0" smtClean="0">
                <a:latin typeface="Times New Roman"/>
              </a:rPr>
              <a:t>设备</a:t>
            </a:r>
          </a:p>
        </p:txBody>
      </p:sp>
    </p:spTree>
    <p:extLst>
      <p:ext uri="{BB962C8B-B14F-4D97-AF65-F5344CB8AC3E}">
        <p14:creationId xmlns:p14="http://schemas.microsoft.com/office/powerpoint/2010/main" val="595065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8.8  </a:t>
            </a:r>
            <a:r>
              <a:rPr lang="zh-CN" altLang="en-US" b="0" i="0" u="none" strike="noStrike" kern="1800" baseline="0" smtClean="0">
                <a:latin typeface="Times New Roman"/>
                <a:ea typeface="黑体"/>
              </a:rPr>
              <a:t>压 缩 工 具</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经过压缩后的文件能够占用更少的磁盘空间。现在几乎所有的计算机用户都懂得使用压缩工具，尽管在大部分情况下是为了“打包”而不是“压缩”。在</a:t>
            </a:r>
            <a:r>
              <a:rPr lang="en-US" altLang="zh-CN" b="0" i="0" u="none" strike="noStrike" baseline="0" smtClean="0">
                <a:latin typeface="Times New Roman"/>
              </a:rPr>
              <a:t>Linux</a:t>
            </a:r>
            <a:r>
              <a:rPr lang="zh-CN" altLang="en-US" b="0" i="0" u="none" strike="noStrike" baseline="0" smtClean="0">
                <a:latin typeface="Times New Roman"/>
              </a:rPr>
              <a:t>的世界里，有太多的源代码需要压缩，读者将会看到这些压缩工具的确非常有用。</a:t>
            </a:r>
          </a:p>
        </p:txBody>
      </p:sp>
    </p:spTree>
    <p:extLst>
      <p:ext uri="{BB962C8B-B14F-4D97-AF65-F5344CB8AC3E}">
        <p14:creationId xmlns:p14="http://schemas.microsoft.com/office/powerpoint/2010/main" val="356592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8.8.1  </a:t>
            </a:r>
            <a:r>
              <a:rPr lang="zh-CN" altLang="en-US" b="0" i="0" u="none" strike="noStrike" kern="1800" baseline="0" smtClean="0">
                <a:latin typeface="Times New Roman"/>
                <a:ea typeface="黑体"/>
              </a:rPr>
              <a:t>压缩文件：</a:t>
            </a:r>
            <a:r>
              <a:rPr lang="en-US" altLang="zh-CN" b="0" i="0" u="none" strike="noStrike" kern="1800" baseline="0" smtClean="0">
                <a:latin typeface="Times New Roman"/>
                <a:ea typeface="黑体"/>
              </a:rPr>
              <a:t>gzip</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gzip</a:t>
            </a:r>
            <a:r>
              <a:rPr lang="zh-CN" altLang="en-US" b="0" i="0" u="none" strike="noStrike" baseline="0" smtClean="0">
                <a:latin typeface="Times New Roman"/>
              </a:rPr>
              <a:t>命令</a:t>
            </a:r>
          </a:p>
        </p:txBody>
      </p:sp>
    </p:spTree>
    <p:extLst>
      <p:ext uri="{BB962C8B-B14F-4D97-AF65-F5344CB8AC3E}">
        <p14:creationId xmlns:p14="http://schemas.microsoft.com/office/powerpoint/2010/main" val="3870781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8.8.2  </a:t>
            </a:r>
            <a:r>
              <a:rPr lang="zh-CN" altLang="en-US" b="0" i="0" u="none" strike="noStrike" kern="1800" baseline="0" smtClean="0">
                <a:latin typeface="Times New Roman"/>
                <a:ea typeface="黑体"/>
              </a:rPr>
              <a:t>更高的压缩率：</a:t>
            </a:r>
            <a:r>
              <a:rPr lang="en-US" altLang="zh-CN" b="0" i="0" u="none" strike="noStrike" kern="1800" baseline="0" smtClean="0">
                <a:latin typeface="Times New Roman"/>
                <a:ea typeface="黑体"/>
              </a:rPr>
              <a:t>bzip2</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2.bzip2</a:t>
            </a:r>
            <a:r>
              <a:rPr lang="zh-CN" altLang="en-US" b="0" i="0" u="none" strike="noStrike" baseline="0" smtClean="0">
                <a:latin typeface="Times New Roman"/>
              </a:rPr>
              <a:t>命令</a:t>
            </a:r>
          </a:p>
        </p:txBody>
      </p:sp>
    </p:spTree>
    <p:extLst>
      <p:ext uri="{BB962C8B-B14F-4D97-AF65-F5344CB8AC3E}">
        <p14:creationId xmlns:p14="http://schemas.microsoft.com/office/powerpoint/2010/main" val="4255431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8.8.3</a:t>
            </a:r>
            <a:r>
              <a:rPr lang="zh-CN" altLang="en-US" b="0" i="0" u="none" strike="noStrike" kern="1800" baseline="0" smtClean="0">
                <a:latin typeface="Times New Roman"/>
                <a:ea typeface="黑体"/>
              </a:rPr>
              <a:t>  支持</a:t>
            </a:r>
            <a:r>
              <a:rPr lang="en-US" altLang="zh-CN" b="0" i="0" u="none" strike="noStrike" kern="1800" baseline="0" smtClean="0">
                <a:latin typeface="Times New Roman"/>
                <a:ea typeface="黑体"/>
              </a:rPr>
              <a:t>rar</a:t>
            </a:r>
            <a:r>
              <a:rPr lang="zh-CN" altLang="en-US" b="0" i="0" u="none" strike="noStrike" kern="1800" baseline="0" smtClean="0">
                <a:latin typeface="Times New Roman"/>
                <a:ea typeface="黑体"/>
              </a:rPr>
              <a:t>格式</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rar</a:t>
            </a:r>
            <a:r>
              <a:rPr lang="zh-CN" altLang="en-US" b="0" i="0" u="none" strike="noStrike" baseline="0" smtClean="0">
                <a:latin typeface="Times New Roman"/>
              </a:rPr>
              <a:t>命令</a:t>
            </a:r>
          </a:p>
        </p:txBody>
      </p:sp>
    </p:spTree>
    <p:extLst>
      <p:ext uri="{BB962C8B-B14F-4D97-AF65-F5344CB8AC3E}">
        <p14:creationId xmlns:p14="http://schemas.microsoft.com/office/powerpoint/2010/main" val="1578639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8.9</a:t>
            </a:r>
            <a:r>
              <a:rPr lang="zh-CN" altLang="en-US" b="0" i="0" u="none" strike="noStrike" kern="1800" baseline="0" smtClean="0">
                <a:latin typeface="Times New Roman"/>
                <a:ea typeface="黑体"/>
              </a:rPr>
              <a:t>  存 档 工 具</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本节介绍</a:t>
            </a:r>
            <a:r>
              <a:rPr lang="en-US" altLang="zh-CN" b="0" i="0" u="none" strike="noStrike" baseline="0" smtClean="0">
                <a:latin typeface="Times New Roman"/>
              </a:rPr>
              <a:t>Linux</a:t>
            </a:r>
            <a:r>
              <a:rPr lang="zh-CN" altLang="en-US" b="0" i="0" u="none" strike="noStrike" baseline="0" smtClean="0">
                <a:latin typeface="Times New Roman"/>
              </a:rPr>
              <a:t>下的两个存档工具：</a:t>
            </a:r>
            <a:r>
              <a:rPr lang="en-US" altLang="zh-CN" b="0" i="0" u="none" strike="noStrike" baseline="0" smtClean="0">
                <a:latin typeface="Times New Roman"/>
              </a:rPr>
              <a:t>tar</a:t>
            </a:r>
            <a:r>
              <a:rPr lang="zh-CN" altLang="en-US" b="0" i="0" u="none" strike="noStrike" baseline="0" smtClean="0">
                <a:latin typeface="Times New Roman"/>
              </a:rPr>
              <a:t>和</a:t>
            </a:r>
            <a:r>
              <a:rPr lang="en-US" altLang="zh-CN" b="0" i="0" u="none" strike="noStrike" baseline="0" smtClean="0">
                <a:latin typeface="Times New Roman"/>
              </a:rPr>
              <a:t>dd</a:t>
            </a:r>
            <a:r>
              <a:rPr lang="zh-CN" altLang="en-US" b="0" i="0" u="none" strike="noStrike" baseline="0" smtClean="0">
                <a:latin typeface="Times New Roman"/>
              </a:rPr>
              <a:t>（相对而言，</a:t>
            </a:r>
            <a:r>
              <a:rPr lang="en-US" altLang="zh-CN" b="0" i="0" u="none" strike="noStrike" baseline="0" smtClean="0">
                <a:latin typeface="Times New Roman"/>
              </a:rPr>
              <a:t>tar</a:t>
            </a:r>
            <a:r>
              <a:rPr lang="zh-CN" altLang="en-US" b="0" i="0" u="none" strike="noStrike" baseline="0" smtClean="0">
                <a:latin typeface="Times New Roman"/>
              </a:rPr>
              <a:t>的使用更为广泛）。通常来说，存档总是同备份联系在一起，不过这里暂时还不会涉及这些内容。和备份有关的细节将安排在</a:t>
            </a:r>
            <a:r>
              <a:rPr lang="en-US" altLang="zh-CN" b="0" i="0" u="none" strike="noStrike" baseline="0" smtClean="0">
                <a:latin typeface="Times New Roman"/>
              </a:rPr>
              <a:t>8.12</a:t>
            </a:r>
            <a:r>
              <a:rPr lang="zh-CN" altLang="en-US" b="0" i="0" u="none" strike="noStrike" baseline="0" smtClean="0">
                <a:latin typeface="Times New Roman"/>
              </a:rPr>
              <a:t>节具体介绍。</a:t>
            </a:r>
          </a:p>
        </p:txBody>
      </p:sp>
    </p:spTree>
    <p:extLst>
      <p:ext uri="{BB962C8B-B14F-4D97-AF65-F5344CB8AC3E}">
        <p14:creationId xmlns:p14="http://schemas.microsoft.com/office/powerpoint/2010/main" val="1062970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8.9.1  </a:t>
            </a:r>
            <a:r>
              <a:rPr lang="zh-CN" altLang="en-US" b="0" i="0" u="none" strike="noStrike" kern="1800" baseline="0" smtClean="0">
                <a:latin typeface="Times New Roman"/>
                <a:ea typeface="黑体"/>
              </a:rPr>
              <a:t>文件打包：</a:t>
            </a:r>
            <a:r>
              <a:rPr lang="en-US" altLang="zh-CN" b="0" i="0" u="none" strike="noStrike" kern="1800" baseline="0" smtClean="0">
                <a:latin typeface="Times New Roman"/>
                <a:ea typeface="黑体"/>
              </a:rPr>
              <a:t>tar</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tar</a:t>
            </a:r>
            <a:r>
              <a:rPr lang="zh-CN" altLang="en-US" b="0" i="0" u="none" strike="noStrike" baseline="0" smtClean="0">
                <a:latin typeface="Times New Roman"/>
              </a:rPr>
              <a:t>命令</a:t>
            </a:r>
          </a:p>
        </p:txBody>
      </p:sp>
    </p:spTree>
    <p:extLst>
      <p:ext uri="{BB962C8B-B14F-4D97-AF65-F5344CB8AC3E}">
        <p14:creationId xmlns:p14="http://schemas.microsoft.com/office/powerpoint/2010/main" val="1683455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8.9.2</a:t>
            </a:r>
            <a:r>
              <a:rPr lang="zh-CN" altLang="en-US" b="0" i="0" u="none" strike="noStrike" kern="1800" baseline="0" smtClean="0">
                <a:latin typeface="Times New Roman"/>
                <a:ea typeface="黑体"/>
              </a:rPr>
              <a:t>  转移文件：</a:t>
            </a:r>
            <a:r>
              <a:rPr lang="en-US" altLang="zh-CN" b="0" i="0" u="none" strike="noStrike" kern="1800" baseline="0" smtClean="0">
                <a:latin typeface="Times New Roman"/>
                <a:ea typeface="黑体"/>
              </a:rPr>
              <a:t>dd</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dd</a:t>
            </a:r>
            <a:r>
              <a:rPr lang="zh-CN" altLang="en-US" b="0" i="0" u="none" strike="noStrike" baseline="0" smtClean="0">
                <a:latin typeface="Times New Roman"/>
              </a:rPr>
              <a:t>命令</a:t>
            </a:r>
          </a:p>
        </p:txBody>
      </p:sp>
    </p:spTree>
    <p:extLst>
      <p:ext uri="{BB962C8B-B14F-4D97-AF65-F5344CB8AC3E}">
        <p14:creationId xmlns:p14="http://schemas.microsoft.com/office/powerpoint/2010/main" val="1951726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8.10</a:t>
            </a:r>
            <a:r>
              <a:rPr lang="zh-CN" altLang="en-US" b="0" i="0" u="none" strike="noStrike" kern="1800" baseline="0" smtClean="0">
                <a:latin typeface="Times New Roman"/>
                <a:ea typeface="黑体"/>
              </a:rPr>
              <a:t>  进阶</a:t>
            </a:r>
            <a:r>
              <a:rPr lang="en-US" altLang="zh-CN" b="0" i="0" u="none" strike="noStrike" kern="1800" baseline="0" smtClean="0">
                <a:latin typeface="Times New Roman"/>
                <a:ea typeface="黑体"/>
              </a:rPr>
              <a:t>1</a:t>
            </a:r>
            <a:r>
              <a:rPr lang="zh-CN" altLang="en-US" b="0" i="0" u="none" strike="noStrike" kern="1800" baseline="0" smtClean="0">
                <a:latin typeface="Times New Roman"/>
                <a:ea typeface="黑体"/>
              </a:rPr>
              <a:t>：安装硬盘和分区</a:t>
            </a:r>
            <a:r>
              <a:rPr lang="en-US" altLang="zh-CN" b="0" i="0" u="none" strike="noStrike" kern="1800" baseline="0" smtClean="0">
                <a:latin typeface="Times New Roman"/>
                <a:ea typeface="宋体"/>
              </a:rPr>
              <a:t>——</a:t>
            </a:r>
            <a:r>
              <a:rPr lang="en-US" altLang="zh-CN" b="0" i="0" u="none" strike="noStrike" kern="1800" baseline="0" smtClean="0">
                <a:latin typeface="Times New Roman"/>
                <a:ea typeface="黑体"/>
              </a:rPr>
              <a:t>fdisk </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存储空间的增长总赶不上信息爆炸的速度。普通用户需要为下载的电影增加硬盘容量，网站管理员则要时刻关注用户上传的东西是否又把服务器的硬盘占满了。本节的目的不是教会读者如何把一块硬盘安装到机箱中，而是在连上电源线和数据线后怎样设置系统，并对新硬盘执行初始化。对于</a:t>
            </a:r>
            <a:r>
              <a:rPr lang="en-US" altLang="zh-CN" b="0" i="0" u="none" strike="noStrike" baseline="0" smtClean="0">
                <a:latin typeface="Times New Roman"/>
              </a:rPr>
              <a:t>Web</a:t>
            </a:r>
            <a:r>
              <a:rPr lang="zh-CN" altLang="en-US" b="0" i="0" u="none" strike="noStrike" baseline="0" smtClean="0">
                <a:latin typeface="Times New Roman"/>
              </a:rPr>
              <a:t>站点的管理员而言，这些操作变得越来越频繁。</a:t>
            </a:r>
          </a:p>
        </p:txBody>
      </p:sp>
    </p:spTree>
    <p:extLst>
      <p:ext uri="{BB962C8B-B14F-4D97-AF65-F5344CB8AC3E}">
        <p14:creationId xmlns:p14="http://schemas.microsoft.com/office/powerpoint/2010/main" val="35964476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8.10.1</a:t>
            </a:r>
            <a:r>
              <a:rPr lang="zh-CN" altLang="en-US" b="0" i="0" u="none" strike="noStrike" kern="1800" baseline="0" smtClean="0">
                <a:latin typeface="Times New Roman"/>
                <a:ea typeface="黑体"/>
              </a:rPr>
              <a:t>  使用</a:t>
            </a:r>
            <a:r>
              <a:rPr lang="en-US" altLang="zh-CN" b="0" i="0" u="none" strike="noStrike" kern="1800" baseline="0" smtClean="0">
                <a:latin typeface="Times New Roman"/>
                <a:ea typeface="黑体"/>
              </a:rPr>
              <a:t>fdisk</a:t>
            </a:r>
            <a:r>
              <a:rPr lang="zh-CN" altLang="en-US" b="0" i="0" u="none" strike="noStrike" kern="1800" baseline="0" smtClean="0">
                <a:latin typeface="Times New Roman"/>
                <a:ea typeface="黑体"/>
              </a:rPr>
              <a:t>建立分区表</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fdisk</a:t>
            </a:r>
            <a:r>
              <a:rPr lang="zh-CN" altLang="en-US" b="0" i="0" u="none" strike="noStrike" baseline="0" smtClean="0">
                <a:latin typeface="Times New Roman"/>
              </a:rPr>
              <a:t>命令</a:t>
            </a:r>
          </a:p>
        </p:txBody>
      </p:sp>
    </p:spTree>
    <p:extLst>
      <p:ext uri="{BB962C8B-B14F-4D97-AF65-F5344CB8AC3E}">
        <p14:creationId xmlns:p14="http://schemas.microsoft.com/office/powerpoint/2010/main" val="940201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8.10.2</a:t>
            </a:r>
            <a:r>
              <a:rPr lang="zh-CN" altLang="en-US" b="0" i="0" u="none" strike="noStrike" kern="1800" baseline="0" smtClean="0">
                <a:latin typeface="Times New Roman"/>
                <a:ea typeface="黑体"/>
              </a:rPr>
              <a:t>  使用</a:t>
            </a:r>
            <a:r>
              <a:rPr lang="en-US" altLang="zh-CN" b="0" i="0" u="none" strike="noStrike" kern="1800" baseline="0" smtClean="0">
                <a:latin typeface="Times New Roman"/>
                <a:ea typeface="黑体"/>
              </a:rPr>
              <a:t>mkfs</a:t>
            </a:r>
            <a:r>
              <a:rPr lang="zh-CN" altLang="en-US" b="0" i="0" u="none" strike="noStrike" kern="1800" baseline="0" smtClean="0">
                <a:latin typeface="Times New Roman"/>
                <a:ea typeface="黑体"/>
              </a:rPr>
              <a:t>建立</a:t>
            </a:r>
            <a:r>
              <a:rPr lang="en-US" altLang="zh-CN" b="0" i="0" u="none" strike="noStrike" kern="1800" baseline="0" smtClean="0">
                <a:latin typeface="Times New Roman"/>
                <a:ea typeface="黑体"/>
              </a:rPr>
              <a:t>ext3fs</a:t>
            </a:r>
            <a:r>
              <a:rPr lang="zh-CN" altLang="en-US" b="0" i="0" u="none" strike="noStrike" kern="1800" baseline="0" smtClean="0">
                <a:latin typeface="Times New Roman"/>
                <a:ea typeface="黑体"/>
              </a:rPr>
              <a:t>文件系统</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建立</a:t>
            </a:r>
            <a:r>
              <a:rPr lang="en-US" altLang="zh-CN" b="0" i="0" u="none" strike="noStrike" baseline="0" smtClean="0">
                <a:latin typeface="Times New Roman"/>
              </a:rPr>
              <a:t>ext3fs</a:t>
            </a:r>
            <a:r>
              <a:rPr lang="zh-CN" altLang="en-US" b="0" i="0" u="none" strike="noStrike" baseline="0" smtClean="0">
                <a:latin typeface="Times New Roman"/>
              </a:rPr>
              <a:t>文件系统</a:t>
            </a:r>
          </a:p>
        </p:txBody>
      </p:sp>
    </p:spTree>
    <p:extLst>
      <p:ext uri="{BB962C8B-B14F-4D97-AF65-F5344CB8AC3E}">
        <p14:creationId xmlns:p14="http://schemas.microsoft.com/office/powerpoint/2010/main" val="2899226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8.10.3</a:t>
            </a:r>
            <a:r>
              <a:rPr lang="zh-CN" altLang="en-US" b="0" i="0" u="none" strike="noStrike" kern="1800" baseline="0" smtClean="0">
                <a:latin typeface="Times New Roman"/>
                <a:ea typeface="黑体"/>
              </a:rPr>
              <a:t>  使用</a:t>
            </a:r>
            <a:r>
              <a:rPr lang="en-US" altLang="zh-CN" b="0" i="0" u="none" strike="noStrike" kern="1800" baseline="0" smtClean="0">
                <a:latin typeface="Times New Roman"/>
                <a:ea typeface="黑体"/>
              </a:rPr>
              <a:t>fsck</a:t>
            </a:r>
            <a:r>
              <a:rPr lang="zh-CN" altLang="en-US" b="0" i="0" u="none" strike="noStrike" kern="1800" baseline="0" smtClean="0">
                <a:latin typeface="Times New Roman"/>
                <a:ea typeface="黑体"/>
              </a:rPr>
              <a:t>检查文件系统</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检查文件系统</a:t>
            </a:r>
          </a:p>
        </p:txBody>
      </p:sp>
    </p:spTree>
    <p:extLst>
      <p:ext uri="{BB962C8B-B14F-4D97-AF65-F5344CB8AC3E}">
        <p14:creationId xmlns:p14="http://schemas.microsoft.com/office/powerpoint/2010/main" val="3166298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8.10.4  </a:t>
            </a:r>
            <a:r>
              <a:rPr lang="zh-CN" altLang="en-US" b="0" i="0" u="none" strike="noStrike" kern="1800" baseline="0" smtClean="0">
                <a:latin typeface="Times New Roman"/>
                <a:ea typeface="黑体"/>
              </a:rPr>
              <a:t>测试分区</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测试分区挂载点</a:t>
            </a:r>
          </a:p>
        </p:txBody>
      </p:sp>
    </p:spTree>
    <p:extLst>
      <p:ext uri="{BB962C8B-B14F-4D97-AF65-F5344CB8AC3E}">
        <p14:creationId xmlns:p14="http://schemas.microsoft.com/office/powerpoint/2010/main" val="139816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8.10.5</a:t>
            </a:r>
            <a:r>
              <a:rPr lang="zh-CN" altLang="en-US" b="0" i="0" u="none" strike="noStrike" kern="1800" baseline="0" smtClean="0">
                <a:latin typeface="Times New Roman"/>
                <a:ea typeface="黑体"/>
              </a:rPr>
              <a:t>  创建并激活交换分区</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1.</a:t>
            </a:r>
            <a:r>
              <a:rPr lang="zh-CN" altLang="en-US" b="0" i="0" u="none" strike="noStrike" baseline="0" smtClean="0">
                <a:latin typeface="Times New Roman"/>
              </a:rPr>
              <a:t>创建交换分区</a:t>
            </a:r>
          </a:p>
          <a:p>
            <a:pPr marR="0" lvl="0" rtl="0"/>
            <a:r>
              <a:rPr lang="en-US" altLang="zh-CN" b="0" i="0" u="none" strike="noStrike" baseline="0" smtClean="0">
                <a:latin typeface="Times New Roman"/>
              </a:rPr>
              <a:t>2.</a:t>
            </a:r>
            <a:r>
              <a:rPr lang="zh-CN" altLang="en-US" b="0" i="0" u="none" strike="noStrike" baseline="0" smtClean="0">
                <a:latin typeface="Times New Roman"/>
              </a:rPr>
              <a:t>激活交换分区</a:t>
            </a:r>
          </a:p>
        </p:txBody>
      </p:sp>
    </p:spTree>
    <p:extLst>
      <p:ext uri="{BB962C8B-B14F-4D97-AF65-F5344CB8AC3E}">
        <p14:creationId xmlns:p14="http://schemas.microsoft.com/office/powerpoint/2010/main" val="2360061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8.10.6</a:t>
            </a:r>
            <a:r>
              <a:rPr lang="zh-CN" altLang="en-US" b="0" i="0" u="none" strike="noStrike" kern="1800" baseline="0" smtClean="0">
                <a:latin typeface="Times New Roman"/>
                <a:ea typeface="黑体"/>
              </a:rPr>
              <a:t>  配置</a:t>
            </a:r>
            <a:r>
              <a:rPr lang="en-US" altLang="zh-CN" b="0" i="0" u="none" strike="noStrike" kern="1800" baseline="0" smtClean="0">
                <a:latin typeface="Times New Roman"/>
                <a:ea typeface="黑体"/>
              </a:rPr>
              <a:t>fstab</a:t>
            </a:r>
            <a:r>
              <a:rPr lang="zh-CN" altLang="en-US" b="0" i="0" u="none" strike="noStrike" kern="1800" baseline="0" smtClean="0">
                <a:latin typeface="Times New Roman"/>
                <a:ea typeface="黑体"/>
              </a:rPr>
              <a:t>文件</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加载文件系统到</a:t>
            </a:r>
            <a:r>
              <a:rPr lang="en-US" altLang="zh-CN" b="0" i="0" u="none" strike="noStrike" baseline="0" smtClean="0">
                <a:latin typeface="Times New Roman"/>
              </a:rPr>
              <a:t>fstab</a:t>
            </a:r>
            <a:r>
              <a:rPr lang="zh-CN" altLang="en-US" b="0" i="0" u="none" strike="noStrike" baseline="0" smtClean="0">
                <a:latin typeface="Times New Roman"/>
              </a:rPr>
              <a:t>文件中使的开机自动启动</a:t>
            </a:r>
          </a:p>
        </p:txBody>
      </p:sp>
    </p:spTree>
    <p:extLst>
      <p:ext uri="{BB962C8B-B14F-4D97-AF65-F5344CB8AC3E}">
        <p14:creationId xmlns:p14="http://schemas.microsoft.com/office/powerpoint/2010/main" val="38201269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8.10.7</a:t>
            </a:r>
            <a:r>
              <a:rPr lang="zh-CN" altLang="en-US" b="0" i="0" u="none" strike="noStrike" kern="1800" baseline="0" smtClean="0">
                <a:latin typeface="Times New Roman"/>
                <a:ea typeface="黑体"/>
              </a:rPr>
              <a:t>  重新启动系统</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进入急救模式</a:t>
            </a:r>
          </a:p>
        </p:txBody>
      </p:sp>
    </p:spTree>
    <p:extLst>
      <p:ext uri="{BB962C8B-B14F-4D97-AF65-F5344CB8AC3E}">
        <p14:creationId xmlns:p14="http://schemas.microsoft.com/office/powerpoint/2010/main" val="23033281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8.11</a:t>
            </a:r>
            <a:r>
              <a:rPr lang="zh-CN" altLang="en-US" b="0" i="0" u="none" strike="noStrike" kern="1800" baseline="0" smtClean="0">
                <a:latin typeface="Times New Roman"/>
                <a:ea typeface="黑体"/>
              </a:rPr>
              <a:t>  进阶</a:t>
            </a:r>
            <a:r>
              <a:rPr lang="en-US" altLang="zh-CN" b="0" i="0" u="none" strike="noStrike" kern="1800" baseline="0" smtClean="0">
                <a:latin typeface="Times New Roman"/>
                <a:ea typeface="黑体"/>
              </a:rPr>
              <a:t>2</a:t>
            </a:r>
            <a:r>
              <a:rPr lang="zh-CN" altLang="en-US" b="0" i="0" u="none" strike="noStrike" kern="1800" baseline="0" smtClean="0">
                <a:latin typeface="Times New Roman"/>
                <a:ea typeface="黑体"/>
              </a:rPr>
              <a:t>：高级硬盘管理</a:t>
            </a:r>
            <a:r>
              <a:rPr lang="en-US" altLang="zh-CN" b="0" i="0" u="none" strike="noStrike" kern="1800" baseline="0" smtClean="0">
                <a:latin typeface="Times New Roman"/>
                <a:ea typeface="宋体"/>
              </a:rPr>
              <a:t>——</a:t>
            </a:r>
            <a:r>
              <a:rPr lang="en-US" altLang="zh-CN" b="0" i="0" u="none" strike="noStrike" kern="1800" baseline="0" smtClean="0">
                <a:latin typeface="Times New Roman"/>
                <a:ea typeface="黑体"/>
              </a:rPr>
              <a:t>RAID</a:t>
            </a:r>
            <a:r>
              <a:rPr lang="zh-CN" altLang="en-US" b="0" i="0" u="none" strike="noStrike" kern="1800" baseline="0" smtClean="0">
                <a:latin typeface="Times New Roman"/>
                <a:ea typeface="黑体"/>
              </a:rPr>
              <a:t>和</a:t>
            </a:r>
            <a:r>
              <a:rPr lang="en-US" altLang="zh-CN" b="0" i="0" u="none" strike="noStrike" kern="1800" baseline="0" smtClean="0">
                <a:latin typeface="Times New Roman"/>
                <a:ea typeface="黑体"/>
              </a:rPr>
              <a:t>LVM</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本节介绍</a:t>
            </a:r>
            <a:r>
              <a:rPr lang="en-US" altLang="zh-CN" b="0" i="0" u="none" strike="noStrike" baseline="0" smtClean="0">
                <a:latin typeface="Times New Roman"/>
              </a:rPr>
              <a:t>Linux</a:t>
            </a:r>
            <a:r>
              <a:rPr lang="zh-CN" altLang="en-US" b="0" i="0" u="none" strike="noStrike" baseline="0" smtClean="0">
                <a:latin typeface="Times New Roman"/>
              </a:rPr>
              <a:t>下两个高级硬盘管理工具</a:t>
            </a:r>
            <a:r>
              <a:rPr lang="en-US" altLang="zh-CN" b="0" i="0" u="none" strike="noStrike" baseline="0" smtClean="0">
                <a:latin typeface="Times New Roman"/>
              </a:rPr>
              <a:t>RAID</a:t>
            </a:r>
            <a:r>
              <a:rPr lang="zh-CN" altLang="en-US" b="0" i="0" u="none" strike="noStrike" baseline="0" smtClean="0">
                <a:latin typeface="Times New Roman"/>
              </a:rPr>
              <a:t>和</a:t>
            </a:r>
            <a:r>
              <a:rPr lang="en-US" altLang="zh-CN" b="0" i="0" u="none" strike="noStrike" baseline="0" smtClean="0">
                <a:latin typeface="Times New Roman"/>
              </a:rPr>
              <a:t>LVM</a:t>
            </a:r>
            <a:r>
              <a:rPr lang="zh-CN" altLang="en-US" b="0" i="0" u="none" strike="noStrike" baseline="0" smtClean="0">
                <a:latin typeface="Times New Roman"/>
              </a:rPr>
              <a:t>。这两个工具对于服务器而言尤其有用</a:t>
            </a:r>
            <a:r>
              <a:rPr lang="en-US" altLang="zh-CN" b="0" i="0" u="none" strike="noStrike" baseline="0" smtClean="0">
                <a:latin typeface="Times New Roman"/>
              </a:rPr>
              <a:t>——</a:t>
            </a:r>
            <a:r>
              <a:rPr lang="zh-CN" altLang="en-US" b="0" i="0" u="none" strike="noStrike" baseline="0" smtClean="0">
                <a:latin typeface="Times New Roman"/>
              </a:rPr>
              <a:t>普通用户则很少有机会用到。因此这里只是简单地告诉读者世界上还有这两样东西，以及它们能做什么。有兴趣的读者可以查阅资料并自己动手实践。</a:t>
            </a:r>
          </a:p>
        </p:txBody>
      </p:sp>
    </p:spTree>
    <p:extLst>
      <p:ext uri="{BB962C8B-B14F-4D97-AF65-F5344CB8AC3E}">
        <p14:creationId xmlns:p14="http://schemas.microsoft.com/office/powerpoint/2010/main" val="34085618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8.11.1</a:t>
            </a:r>
            <a:r>
              <a:rPr lang="zh-CN" altLang="en-US" b="0" i="0" u="none" strike="noStrike" kern="1800" baseline="0" smtClean="0">
                <a:latin typeface="Times New Roman"/>
                <a:ea typeface="黑体"/>
              </a:rPr>
              <a:t>  独立磁盘冗余阵列：</a:t>
            </a:r>
            <a:r>
              <a:rPr lang="en-US" altLang="zh-CN" b="0" i="0" u="none" strike="noStrike" kern="1800" baseline="0" smtClean="0">
                <a:latin typeface="Times New Roman"/>
                <a:ea typeface="黑体"/>
              </a:rPr>
              <a:t>RAID</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RAID</a:t>
            </a:r>
            <a:r>
              <a:rPr lang="zh-CN" altLang="en-US" b="0" i="0" u="none" strike="noStrike" baseline="0" smtClean="0">
                <a:latin typeface="Times New Roman"/>
              </a:rPr>
              <a:t>概述</a:t>
            </a:r>
          </a:p>
        </p:txBody>
      </p:sp>
    </p:spTree>
    <p:extLst>
      <p:ext uri="{BB962C8B-B14F-4D97-AF65-F5344CB8AC3E}">
        <p14:creationId xmlns:p14="http://schemas.microsoft.com/office/powerpoint/2010/main" val="7037808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8.11.2</a:t>
            </a:r>
            <a:r>
              <a:rPr lang="zh-CN" altLang="en-US" b="0" i="0" u="none" strike="noStrike" kern="1800" baseline="0" smtClean="0">
                <a:latin typeface="Times New Roman"/>
                <a:ea typeface="黑体"/>
              </a:rPr>
              <a:t>  逻辑卷管理器：</a:t>
            </a:r>
            <a:r>
              <a:rPr lang="en-US" altLang="zh-CN" b="0" i="0" u="none" strike="noStrike" kern="1800" baseline="0" smtClean="0">
                <a:latin typeface="Times New Roman"/>
                <a:ea typeface="黑体"/>
              </a:rPr>
              <a:t>LVM</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创建逻辑卷</a:t>
            </a:r>
          </a:p>
        </p:txBody>
      </p:sp>
    </p:spTree>
    <p:extLst>
      <p:ext uri="{BB962C8B-B14F-4D97-AF65-F5344CB8AC3E}">
        <p14:creationId xmlns:p14="http://schemas.microsoft.com/office/powerpoint/2010/main" val="8714297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8.12</a:t>
            </a:r>
            <a:r>
              <a:rPr lang="zh-CN" altLang="en-US" b="0" i="0" u="none" strike="noStrike" kern="1800" baseline="0" smtClean="0">
                <a:latin typeface="Times New Roman"/>
                <a:ea typeface="黑体"/>
              </a:rPr>
              <a:t>  进阶</a:t>
            </a:r>
            <a:r>
              <a:rPr lang="en-US" altLang="zh-CN" b="0" i="0" u="none" strike="noStrike" kern="1800" baseline="0" smtClean="0">
                <a:latin typeface="Times New Roman"/>
                <a:ea typeface="黑体"/>
              </a:rPr>
              <a:t>3</a:t>
            </a:r>
            <a:r>
              <a:rPr lang="zh-CN" altLang="en-US" b="0" i="0" u="none" strike="noStrike" kern="1800" baseline="0" smtClean="0">
                <a:latin typeface="Times New Roman"/>
                <a:ea typeface="黑体"/>
              </a:rPr>
              <a:t>：备份你的工作和系统 </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本节主要是写给系统管理员的，当然这对普通用户也有所帮助。</a:t>
            </a:r>
            <a:r>
              <a:rPr lang="en-US" altLang="zh-CN" b="0" i="0" u="none" strike="noStrike" baseline="0" smtClean="0">
                <a:latin typeface="Times New Roman"/>
              </a:rPr>
              <a:t>Linux</a:t>
            </a:r>
            <a:r>
              <a:rPr lang="zh-CN" altLang="en-US" b="0" i="0" u="none" strike="noStrike" baseline="0" smtClean="0">
                <a:latin typeface="Times New Roman"/>
              </a:rPr>
              <a:t>上有很多工具可以用来备份系统，包括前面介绍的</a:t>
            </a:r>
            <a:r>
              <a:rPr lang="en-US" altLang="zh-CN" b="0" i="0" u="none" strike="noStrike" baseline="0" smtClean="0">
                <a:latin typeface="Times New Roman"/>
              </a:rPr>
              <a:t>tar</a:t>
            </a:r>
            <a:r>
              <a:rPr lang="zh-CN" altLang="en-US" b="0" i="0" u="none" strike="noStrike" baseline="0" smtClean="0">
                <a:latin typeface="Times New Roman"/>
              </a:rPr>
              <a:t>和</a:t>
            </a:r>
            <a:r>
              <a:rPr lang="en-US" altLang="zh-CN" b="0" i="0" u="none" strike="noStrike" baseline="0" smtClean="0">
                <a:latin typeface="Times New Roman"/>
              </a:rPr>
              <a:t>dd</a:t>
            </a:r>
            <a:r>
              <a:rPr lang="zh-CN" altLang="en-US" b="0" i="0" u="none" strike="noStrike" baseline="0" smtClean="0">
                <a:latin typeface="Times New Roman"/>
              </a:rPr>
              <a:t>。这里介绍两款相对“专业”的工具</a:t>
            </a:r>
            <a:r>
              <a:rPr lang="en-US" altLang="zh-CN" b="0" i="0" u="none" strike="noStrike" baseline="0" smtClean="0">
                <a:latin typeface="Times New Roman"/>
              </a:rPr>
              <a:t>dump</a:t>
            </a:r>
            <a:r>
              <a:rPr lang="zh-CN" altLang="en-US" b="0" i="0" u="none" strike="noStrike" baseline="0" smtClean="0">
                <a:latin typeface="Times New Roman"/>
              </a:rPr>
              <a:t>和</a:t>
            </a:r>
            <a:r>
              <a:rPr lang="en-US" altLang="zh-CN" b="0" i="0" u="none" strike="noStrike" baseline="0" smtClean="0">
                <a:latin typeface="Times New Roman"/>
              </a:rPr>
              <a:t>restore</a:t>
            </a:r>
            <a:r>
              <a:rPr lang="zh-CN" altLang="en-US" b="0" i="0" u="none" strike="noStrike" baseline="0" smtClean="0">
                <a:latin typeface="Times New Roman"/>
              </a:rPr>
              <a:t>。在一些情况下，它们会比</a:t>
            </a:r>
            <a:r>
              <a:rPr lang="en-US" altLang="zh-CN" b="0" i="0" u="none" strike="noStrike" baseline="0" smtClean="0">
                <a:latin typeface="Times New Roman"/>
              </a:rPr>
              <a:t>tar</a:t>
            </a:r>
            <a:r>
              <a:rPr lang="zh-CN" altLang="en-US" b="0" i="0" u="none" strike="noStrike" baseline="0" smtClean="0">
                <a:latin typeface="Times New Roman"/>
              </a:rPr>
              <a:t>更有效一些。在具体讨论备份工具的使用之前，首先关心一下和备份有关的一些问题。</a:t>
            </a:r>
          </a:p>
        </p:txBody>
      </p:sp>
    </p:spTree>
    <p:extLst>
      <p:ext uri="{BB962C8B-B14F-4D97-AF65-F5344CB8AC3E}">
        <p14:creationId xmlns:p14="http://schemas.microsoft.com/office/powerpoint/2010/main" val="3474173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8.12.1  </a:t>
            </a:r>
            <a:r>
              <a:rPr lang="zh-CN" altLang="en-US" b="0" i="0" u="none" strike="noStrike" kern="1800" baseline="0" smtClean="0">
                <a:latin typeface="Times New Roman"/>
                <a:ea typeface="黑体"/>
              </a:rPr>
              <a:t>为什么要做备份</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不做备份导致的灾难</a:t>
            </a:r>
          </a:p>
        </p:txBody>
      </p:sp>
    </p:spTree>
    <p:extLst>
      <p:ext uri="{BB962C8B-B14F-4D97-AF65-F5344CB8AC3E}">
        <p14:creationId xmlns:p14="http://schemas.microsoft.com/office/powerpoint/2010/main" val="10636248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8.12.2  </a:t>
            </a:r>
            <a:r>
              <a:rPr lang="zh-CN" altLang="en-US" b="0" i="0" u="none" strike="noStrike" kern="1800" baseline="0" smtClean="0">
                <a:latin typeface="Times New Roman"/>
                <a:ea typeface="黑体"/>
              </a:rPr>
              <a:t>选择备份机制</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1.</a:t>
            </a:r>
            <a:r>
              <a:rPr lang="zh-CN" altLang="en-US" b="0" i="0" u="none" strike="noStrike" baseline="0" smtClean="0">
                <a:latin typeface="Times New Roman"/>
              </a:rPr>
              <a:t>完整备份</a:t>
            </a:r>
          </a:p>
          <a:p>
            <a:pPr marR="0" lvl="0" rtl="0"/>
            <a:r>
              <a:rPr lang="en-US" altLang="zh-CN" b="0" i="0" u="none" strike="noStrike" baseline="0" smtClean="0">
                <a:latin typeface="Times New Roman"/>
              </a:rPr>
              <a:t>2.</a:t>
            </a:r>
            <a:r>
              <a:rPr lang="zh-CN" altLang="en-US" b="0" i="0" u="none" strike="noStrike" baseline="0" smtClean="0">
                <a:latin typeface="Times New Roman"/>
              </a:rPr>
              <a:t>增量备份</a:t>
            </a:r>
          </a:p>
        </p:txBody>
      </p:sp>
    </p:spTree>
    <p:extLst>
      <p:ext uri="{BB962C8B-B14F-4D97-AF65-F5344CB8AC3E}">
        <p14:creationId xmlns:p14="http://schemas.microsoft.com/office/powerpoint/2010/main" val="20024601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8.12.3  </a:t>
            </a:r>
            <a:r>
              <a:rPr lang="zh-CN" altLang="en-US" b="0" i="0" u="none" strike="noStrike" kern="1800" baseline="0" smtClean="0">
                <a:latin typeface="Times New Roman"/>
                <a:ea typeface="黑体"/>
              </a:rPr>
              <a:t>选择备份介质</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1.</a:t>
            </a:r>
            <a:r>
              <a:rPr lang="zh-CN" altLang="en-US" b="0" i="0" u="none" strike="noStrike" baseline="0" smtClean="0">
                <a:latin typeface="Times New Roman"/>
              </a:rPr>
              <a:t>通过刻录光盘来备份</a:t>
            </a:r>
          </a:p>
          <a:p>
            <a:pPr marR="0" lvl="0" rtl="0"/>
            <a:r>
              <a:rPr lang="en-US" altLang="zh-CN" b="0" i="0" u="none" strike="noStrike" baseline="0" smtClean="0">
                <a:latin typeface="Times New Roman"/>
              </a:rPr>
              <a:t>2.</a:t>
            </a:r>
            <a:r>
              <a:rPr lang="zh-CN" altLang="en-US" b="0" i="0" u="none" strike="noStrike" baseline="0" smtClean="0">
                <a:latin typeface="Times New Roman"/>
              </a:rPr>
              <a:t>通过移动硬盘来备份</a:t>
            </a:r>
          </a:p>
        </p:txBody>
      </p:sp>
    </p:spTree>
    <p:extLst>
      <p:ext uri="{BB962C8B-B14F-4D97-AF65-F5344CB8AC3E}">
        <p14:creationId xmlns:p14="http://schemas.microsoft.com/office/powerpoint/2010/main" val="2407772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8.12.4  </a:t>
            </a:r>
            <a:r>
              <a:rPr lang="zh-CN" altLang="en-US" b="0" i="0" u="none" strike="noStrike" kern="1800" baseline="0" smtClean="0">
                <a:latin typeface="Times New Roman"/>
                <a:ea typeface="黑体"/>
              </a:rPr>
              <a:t>备份文件系统：</a:t>
            </a:r>
            <a:r>
              <a:rPr lang="en-US" altLang="zh-CN" b="0" i="0" u="none" strike="noStrike" kern="1800" baseline="0" smtClean="0">
                <a:latin typeface="Times New Roman"/>
                <a:ea typeface="黑体"/>
              </a:rPr>
              <a:t>dump</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dump</a:t>
            </a:r>
            <a:r>
              <a:rPr lang="zh-CN" altLang="en-US" b="0" i="0" u="none" strike="noStrike" baseline="0" smtClean="0">
                <a:latin typeface="Times New Roman"/>
              </a:rPr>
              <a:t>命令</a:t>
            </a:r>
          </a:p>
        </p:txBody>
      </p:sp>
    </p:spTree>
    <p:extLst>
      <p:ext uri="{BB962C8B-B14F-4D97-AF65-F5344CB8AC3E}">
        <p14:creationId xmlns:p14="http://schemas.microsoft.com/office/powerpoint/2010/main" val="14234783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8.12.5  </a:t>
            </a:r>
            <a:r>
              <a:rPr lang="zh-CN" altLang="en-US" b="0" i="0" u="none" strike="noStrike" kern="1800" baseline="0" smtClean="0">
                <a:latin typeface="Times New Roman"/>
                <a:ea typeface="黑体"/>
              </a:rPr>
              <a:t>从灾难中恢复：</a:t>
            </a:r>
            <a:r>
              <a:rPr lang="en-US" altLang="zh-CN" b="0" i="0" u="none" strike="noStrike" kern="1800" baseline="0" smtClean="0">
                <a:latin typeface="Times New Roman"/>
                <a:ea typeface="黑体"/>
              </a:rPr>
              <a:t>restore</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restore</a:t>
            </a:r>
            <a:r>
              <a:rPr lang="zh-CN" altLang="en-US" b="0" i="0" u="none" strike="noStrike" baseline="0" smtClean="0">
                <a:latin typeface="Times New Roman"/>
              </a:rPr>
              <a:t>命令</a:t>
            </a:r>
          </a:p>
        </p:txBody>
      </p:sp>
    </p:spTree>
    <p:extLst>
      <p:ext uri="{BB962C8B-B14F-4D97-AF65-F5344CB8AC3E}">
        <p14:creationId xmlns:p14="http://schemas.microsoft.com/office/powerpoint/2010/main" val="26739987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8.12.6  </a:t>
            </a:r>
            <a:r>
              <a:rPr lang="zh-CN" altLang="en-US" b="0" i="0" u="none" strike="noStrike" kern="1800" baseline="0" smtClean="0">
                <a:latin typeface="Times New Roman"/>
                <a:ea typeface="黑体"/>
              </a:rPr>
              <a:t>让备份定时自动完成：</a:t>
            </a:r>
            <a:r>
              <a:rPr lang="en-US" altLang="zh-CN" b="0" i="0" u="none" strike="noStrike" kern="1800" baseline="0" smtClean="0">
                <a:latin typeface="Times New Roman"/>
                <a:ea typeface="黑体"/>
              </a:rPr>
              <a:t>cron</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使用</a:t>
            </a:r>
            <a:r>
              <a:rPr lang="en-US" altLang="zh-CN" b="0" i="0" u="none" strike="noStrike" baseline="0" smtClean="0">
                <a:latin typeface="Times New Roman"/>
              </a:rPr>
              <a:t>cron</a:t>
            </a:r>
            <a:r>
              <a:rPr lang="zh-CN" altLang="en-US" b="0" i="0" u="none" strike="noStrike" baseline="0" smtClean="0">
                <a:latin typeface="Times New Roman"/>
              </a:rPr>
              <a:t>命令设置定时自动备份</a:t>
            </a:r>
          </a:p>
        </p:txBody>
      </p:sp>
    </p:spTree>
    <p:extLst>
      <p:ext uri="{BB962C8B-B14F-4D97-AF65-F5344CB8AC3E}">
        <p14:creationId xmlns:p14="http://schemas.microsoft.com/office/powerpoint/2010/main" val="6765974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CCE8C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990</Words>
  <Application>Microsoft Office PowerPoint</Application>
  <PresentationFormat>全屏显示(4:3)</PresentationFormat>
  <Paragraphs>89</Paragraphs>
  <Slides>41</Slides>
  <Notes>0</Notes>
  <HiddenSlides>0</HiddenSlides>
  <MMClips>0</MMClips>
  <ScaleCrop>false</ScaleCrop>
  <HeadingPairs>
    <vt:vector size="4" baseType="variant">
      <vt:variant>
        <vt:lpstr>主题</vt:lpstr>
      </vt:variant>
      <vt:variant>
        <vt:i4>1</vt:i4>
      </vt:variant>
      <vt:variant>
        <vt:lpstr>幻灯片标题</vt:lpstr>
      </vt:variant>
      <vt:variant>
        <vt:i4>41</vt:i4>
      </vt:variant>
    </vt:vector>
  </HeadingPairs>
  <TitlesOfParts>
    <vt:vector size="42" baseType="lpstr">
      <vt:lpstr>波形</vt:lpstr>
      <vt:lpstr>第8章  磁 盘 管 理</vt:lpstr>
      <vt:lpstr>8.1  关 于 硬 盘</vt:lpstr>
      <vt:lpstr>8.2  Linux文件系统</vt:lpstr>
      <vt:lpstr>8.2.1  ext3fs和ext4fs文件系统</vt:lpstr>
      <vt:lpstr>8.2.2  ReiserFS文件系统</vt:lpstr>
      <vt:lpstr>8.2.3  有关swap</vt:lpstr>
      <vt:lpstr>8.3  挂载文件系统</vt:lpstr>
      <vt:lpstr>8.3.1  快速上手：使用光盘</vt:lpstr>
      <vt:lpstr>8.3.2  Linux下设备的表示方法</vt:lpstr>
      <vt:lpstr>8.3.3  挂载文件系统：mount命令</vt:lpstr>
      <vt:lpstr>8.3.4  在启动的时候挂载文件系统：/etc/fstab文件</vt:lpstr>
      <vt:lpstr>8.3.5  为什么无法弹出光盘：卸载文件系统</vt:lpstr>
      <vt:lpstr>8.4  查看磁盘使用情况：df</vt:lpstr>
      <vt:lpstr>8.5  检查和修复文件系统：fsck </vt:lpstr>
      <vt:lpstr>8.6  在磁盘上建立文件系统：mkfs</vt:lpstr>
      <vt:lpstr>8.7  使用USB设备</vt:lpstr>
      <vt:lpstr>8.8  压 缩 工 具</vt:lpstr>
      <vt:lpstr>8.8.1  压缩文件：gzip</vt:lpstr>
      <vt:lpstr>8.8.2  更高的压缩率：bzip2</vt:lpstr>
      <vt:lpstr>8.8.3  支持rar格式</vt:lpstr>
      <vt:lpstr>8.9  存 档 工 具</vt:lpstr>
      <vt:lpstr>8.9.1  文件打包：tar</vt:lpstr>
      <vt:lpstr>8.9.2  转移文件：dd</vt:lpstr>
      <vt:lpstr>8.10  进阶1：安装硬盘和分区——fdisk </vt:lpstr>
      <vt:lpstr>8.10.1  使用fdisk建立分区表</vt:lpstr>
      <vt:lpstr>8.10.2  使用mkfs建立ext3fs文件系统</vt:lpstr>
      <vt:lpstr>8.10.3  使用fsck检查文件系统</vt:lpstr>
      <vt:lpstr>8.10.4  测试分区</vt:lpstr>
      <vt:lpstr>8.10.5  创建并激活交换分区</vt:lpstr>
      <vt:lpstr>8.10.6  配置fstab文件</vt:lpstr>
      <vt:lpstr>8.10.7  重新启动系统</vt:lpstr>
      <vt:lpstr>8.11  进阶2：高级硬盘管理——RAID和LVM</vt:lpstr>
      <vt:lpstr>8.11.1  独立磁盘冗余阵列：RAID</vt:lpstr>
      <vt:lpstr>8.11.2  逻辑卷管理器：LVM</vt:lpstr>
      <vt:lpstr>8.12  进阶3：备份你的工作和系统 </vt:lpstr>
      <vt:lpstr>8.12.1  为什么要做备份</vt:lpstr>
      <vt:lpstr>8.12.2  选择备份机制</vt:lpstr>
      <vt:lpstr>8.12.3  选择备份介质</vt:lpstr>
      <vt:lpstr>8.12.4  备份文件系统：dump</vt:lpstr>
      <vt:lpstr>8.12.5  从灾难中恢复：restore</vt:lpstr>
      <vt:lpstr>8.12.6  让备份定时自动完成：cron</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第8章  磁 盘 管 理</dc:title>
  <dc:creator>User</dc:creator>
  <cp:lastModifiedBy>User</cp:lastModifiedBy>
  <cp:revision>1</cp:revision>
  <dcterms:created xsi:type="dcterms:W3CDTF">2013-01-29T02:54:10Z</dcterms:created>
  <dcterms:modified xsi:type="dcterms:W3CDTF">2013-01-29T02:54:45Z</dcterms:modified>
</cp:coreProperties>
</file>
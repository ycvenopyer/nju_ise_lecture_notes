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636"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40AA8967-1EA5-4C95-80E8-E1DFBC4A0D3A}" type="datetimeFigureOut">
              <a:rPr lang="zh-CN" altLang="en-US" smtClean="0"/>
              <a:t>2013/1/29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945476F-8472-47EB-A121-D16929A28F98}"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40AA8967-1EA5-4C95-80E8-E1DFBC4A0D3A}" type="datetimeFigureOut">
              <a:rPr lang="zh-CN" altLang="en-US" smtClean="0"/>
              <a:t>2013/1/29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945476F-8472-47EB-A121-D16929A28F98}" type="slidenum">
              <a:rPr lang="zh-CN" altLang="en-US" smtClean="0"/>
              <a:t>‹#›</a:t>
            </a:fld>
            <a:endParaRPr lang="zh-CN" altLang="en-US"/>
          </a:p>
        </p:txBody>
      </p:sp>
      <p:sp>
        <p:nvSpPr>
          <p:cNvPr id="7" name="Title 6"/>
          <p:cNvSpPr>
            <a:spLocks noGrp="1"/>
          </p:cNvSpPr>
          <p:nvPr>
            <p:ph type="title"/>
          </p:nvPr>
        </p:nvSpPr>
        <p:spPr/>
        <p:txBody>
          <a:bodyPr/>
          <a:lstStyle/>
          <a:p>
            <a:r>
              <a:rPr lang="zh-CN" altLang="en-US" smtClean="0"/>
              <a:t>单击此处编辑母版标题样式</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40AA8967-1EA5-4C95-80E8-E1DFBC4A0D3A}" type="datetimeFigureOut">
              <a:rPr lang="zh-CN" altLang="en-US" smtClean="0"/>
              <a:t>2013/1/29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945476F-8472-47EB-A121-D16929A28F98}"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5" name="Date Placeholder 4"/>
          <p:cNvSpPr>
            <a:spLocks noGrp="1"/>
          </p:cNvSpPr>
          <p:nvPr>
            <p:ph type="dt" sz="half" idx="10"/>
          </p:nvPr>
        </p:nvSpPr>
        <p:spPr/>
        <p:txBody>
          <a:bodyPr/>
          <a:lstStyle/>
          <a:p>
            <a:fld id="{40AA8967-1EA5-4C95-80E8-E1DFBC4A0D3A}" type="datetimeFigureOut">
              <a:rPr lang="zh-CN" altLang="en-US" smtClean="0"/>
              <a:t>2013/1/29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945476F-8472-47EB-A121-D16929A28F98}" type="slidenum">
              <a:rPr lang="zh-CN" altLang="en-US" smtClean="0"/>
              <a:t>‹#›</a:t>
            </a:fld>
            <a:endParaRPr lang="zh-CN" altLang="en-US"/>
          </a:p>
        </p:txBody>
      </p:sp>
      <p:sp>
        <p:nvSpPr>
          <p:cNvPr id="9" name="Content Placeholder 8"/>
          <p:cNvSpPr>
            <a:spLocks noGrp="1"/>
          </p:cNvSpPr>
          <p:nvPr>
            <p:ph sz="quarter" idx="13"/>
          </p:nvPr>
        </p:nvSpPr>
        <p:spPr>
          <a:xfrm>
            <a:off x="676655" y="2679192"/>
            <a:ext cx="3822192" cy="3447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40AA8967-1EA5-4C95-80E8-E1DFBC4A0D3A}" type="datetimeFigureOut">
              <a:rPr lang="zh-CN" altLang="en-US" smtClean="0"/>
              <a:t>2013/1/29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945476F-8472-47EB-A121-D16929A28F98}"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40AA8967-1EA5-4C95-80E8-E1DFBC4A0D3A}" type="datetimeFigureOut">
              <a:rPr lang="zh-CN" altLang="en-US" smtClean="0"/>
              <a:t>2013/1/29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945476F-8472-47EB-A121-D16929A28F98}"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40AA8967-1EA5-4C95-80E8-E1DFBC4A0D3A}" type="datetimeFigureOut">
              <a:rPr lang="zh-CN" altLang="en-US" smtClean="0"/>
              <a:t>2013/1/29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945476F-8472-47EB-A121-D16929A28F98}"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40AA8967-1EA5-4C95-80E8-E1DFBC4A0D3A}" type="datetimeFigureOut">
              <a:rPr lang="zh-CN" altLang="en-US" smtClean="0"/>
              <a:t>2013/1/29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945476F-8472-47EB-A121-D16929A28F98}" type="slidenum">
              <a:rPr lang="zh-CN" altLang="en-US" smtClean="0"/>
              <a:t>‹#›</a:t>
            </a:fld>
            <a:endParaRPr lang="zh-CN" alt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40AA8967-1EA5-4C95-80E8-E1DFBC4A0D3A}" type="datetimeFigureOut">
              <a:rPr lang="zh-CN" altLang="en-US" smtClean="0"/>
              <a:t>2013/1/29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945476F-8472-47EB-A121-D16929A28F98}" type="slidenum">
              <a:rPr lang="zh-CN" altLang="en-US" smtClean="0"/>
              <a:t>‹#›</a:t>
            </a:fld>
            <a:endParaRPr lang="zh-CN" alt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40AA8967-1EA5-4C95-80E8-E1DFBC4A0D3A}" type="datetimeFigureOut">
              <a:rPr lang="zh-CN" altLang="en-US" smtClean="0"/>
              <a:t>2013/1/29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945476F-8472-47EB-A121-D16929A28F98}"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40AA8967-1EA5-4C95-80E8-E1DFBC4A0D3A}" type="datetimeFigureOut">
              <a:rPr lang="zh-CN" altLang="en-US" smtClean="0"/>
              <a:t>2013/1/29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945476F-8472-47EB-A121-D16929A28F98}" type="slidenum">
              <a:rPr lang="zh-CN" altLang="en-US" smtClean="0"/>
              <a:t>‹#›</a:t>
            </a:fld>
            <a:endParaRPr lang="zh-CN" alt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40AA8967-1EA5-4C95-80E8-E1DFBC4A0D3A}" type="datetimeFigureOut">
              <a:rPr lang="zh-CN" altLang="en-US" smtClean="0"/>
              <a:t>2013/1/29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945476F-8472-47EB-A121-D16929A28F98}" type="slidenum">
              <a:rPr lang="zh-CN" altLang="en-US" smtClean="0"/>
              <a:t>‹#›</a:t>
            </a:fld>
            <a:endParaRPr lang="zh-CN" altLang="en-US"/>
          </a:p>
        </p:txBody>
      </p:sp>
    </p:spTree>
    <p:extLst>
      <p:ext uri="{BB962C8B-B14F-4D97-AF65-F5344CB8AC3E}">
        <p14:creationId xmlns:p14="http://schemas.microsoft.com/office/powerpoint/2010/main" val="3399156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40AA8967-1EA5-4C95-80E8-E1DFBC4A0D3A}" type="datetimeFigureOut">
              <a:rPr lang="zh-CN" altLang="en-US" smtClean="0"/>
              <a:t>2013/1/29</a:t>
            </a:fld>
            <a:endParaRPr lang="zh-CN" alt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zh-CN" alt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0945476F-8472-47EB-A121-D16929A28F98}" type="slidenum">
              <a:rPr lang="zh-CN" altLang="en-US" smtClean="0"/>
              <a:t>‹#›</a:t>
            </a:fld>
            <a:endParaRPr lang="zh-CN" alt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0" i="0" u="none" strike="noStrike" kern="1800" baseline="0" smtClean="0">
                <a:latin typeface="Times New Roman"/>
                <a:ea typeface="黑体"/>
              </a:rPr>
              <a:t>第</a:t>
            </a:r>
            <a:r>
              <a:rPr lang="en-US" altLang="zh-CN" b="1" i="0" u="none" strike="noStrike" kern="1800" baseline="0" smtClean="0">
                <a:latin typeface="Times New Roman"/>
                <a:ea typeface="黑体"/>
              </a:rPr>
              <a:t>7</a:t>
            </a:r>
            <a:r>
              <a:rPr lang="zh-CN" altLang="en-US" b="0" i="0" u="none" strike="noStrike" kern="1800" baseline="0" smtClean="0">
                <a:latin typeface="Times New Roman"/>
                <a:ea typeface="黑体"/>
              </a:rPr>
              <a:t>章  软件包管理</a:t>
            </a:r>
          </a:p>
        </p:txBody>
      </p:sp>
      <p:sp>
        <p:nvSpPr>
          <p:cNvPr id="3" name="文本占位符 2"/>
          <p:cNvSpPr>
            <a:spLocks noGrp="1"/>
          </p:cNvSpPr>
          <p:nvPr>
            <p:ph type="body" idx="1"/>
          </p:nvPr>
        </p:nvSpPr>
        <p:spPr/>
        <p:txBody>
          <a:bodyPr>
            <a:normAutofit/>
          </a:bodyPr>
          <a:lstStyle/>
          <a:p>
            <a:pPr marR="0" lvl="0" rtl="0"/>
            <a:r>
              <a:rPr lang="zh-CN" altLang="en-US" b="0" i="0" u="none" strike="noStrike" baseline="0" smtClean="0">
                <a:latin typeface="Times New Roman"/>
              </a:rPr>
              <a:t>顾名思义，软件包是将应用程序、配置文件和管理数据打包的产物。特定的软件包管理系统可以方便地安装和卸载软件包。如今，所有的</a:t>
            </a:r>
            <a:r>
              <a:rPr lang="en-US" altLang="zh-CN" b="0" i="0" u="none" strike="noStrike" baseline="0" smtClean="0">
                <a:latin typeface="Times New Roman"/>
              </a:rPr>
              <a:t>Linux</a:t>
            </a:r>
            <a:r>
              <a:rPr lang="zh-CN" altLang="en-US" b="0" i="0" u="none" strike="noStrike" baseline="0" smtClean="0">
                <a:latin typeface="Times New Roman"/>
              </a:rPr>
              <a:t>发行版都采用了某种形式的软件包系统，这使得在</a:t>
            </a:r>
            <a:r>
              <a:rPr lang="en-US" altLang="zh-CN" b="0" i="0" u="none" strike="noStrike" baseline="0" smtClean="0">
                <a:latin typeface="Times New Roman"/>
              </a:rPr>
              <a:t>Linux</a:t>
            </a:r>
            <a:r>
              <a:rPr lang="zh-CN" altLang="en-US" b="0" i="0" u="none" strike="noStrike" baseline="0" smtClean="0">
                <a:latin typeface="Times New Roman"/>
              </a:rPr>
              <a:t>上安装软件变得同在</a:t>
            </a:r>
            <a:r>
              <a:rPr lang="en-US" altLang="zh-CN" b="0" i="0" u="none" strike="noStrike" baseline="0" smtClean="0">
                <a:latin typeface="Times New Roman"/>
              </a:rPr>
              <a:t>Windows</a:t>
            </a:r>
            <a:r>
              <a:rPr lang="zh-CN" altLang="en-US" b="0" i="0" u="none" strike="noStrike" baseline="0" smtClean="0">
                <a:latin typeface="Times New Roman"/>
              </a:rPr>
              <a:t>下一样方便。常用的软件包格式有两种，这取决于所使用的发行版。</a:t>
            </a:r>
            <a:r>
              <a:rPr lang="en-US" altLang="zh-CN" b="0" i="0" u="none" strike="noStrike" baseline="0" smtClean="0">
                <a:latin typeface="Times New Roman"/>
              </a:rPr>
              <a:t>SUSE</a:t>
            </a:r>
            <a:r>
              <a:rPr lang="zh-CN" altLang="en-US" b="0" i="0" u="none" strike="noStrike" baseline="0" smtClean="0">
                <a:latin typeface="Times New Roman"/>
              </a:rPr>
              <a:t>、</a:t>
            </a:r>
            <a:r>
              <a:rPr lang="en-US" altLang="zh-CN" b="0" i="0" u="none" strike="noStrike" baseline="0" smtClean="0">
                <a:latin typeface="Times New Roman"/>
              </a:rPr>
              <a:t>Red Hat</a:t>
            </a:r>
            <a:r>
              <a:rPr lang="zh-CN" altLang="en-US" b="0" i="0" u="none" strike="noStrike" baseline="0" smtClean="0">
                <a:latin typeface="Times New Roman"/>
              </a:rPr>
              <a:t>、</a:t>
            </a:r>
            <a:r>
              <a:rPr lang="en-US" altLang="zh-CN" b="0" i="0" u="none" strike="noStrike" baseline="0" smtClean="0">
                <a:latin typeface="Times New Roman"/>
              </a:rPr>
              <a:t>Fedora</a:t>
            </a:r>
            <a:r>
              <a:rPr lang="zh-CN" altLang="en-US" b="0" i="0" u="none" strike="noStrike" baseline="0" smtClean="0">
                <a:latin typeface="Times New Roman"/>
              </a:rPr>
              <a:t>等发行版本使用</a:t>
            </a:r>
            <a:r>
              <a:rPr lang="en-US" altLang="zh-CN" b="0" i="0" u="none" strike="noStrike" baseline="0" smtClean="0">
                <a:latin typeface="Times New Roman"/>
              </a:rPr>
              <a:t>RPM</a:t>
            </a:r>
            <a:r>
              <a:rPr lang="zh-CN" altLang="en-US" b="0" i="0" u="none" strike="noStrike" baseline="0" smtClean="0">
                <a:latin typeface="Times New Roman"/>
              </a:rPr>
              <a:t>，而</a:t>
            </a:r>
            <a:r>
              <a:rPr lang="en-US" altLang="zh-CN" b="0" i="0" u="none" strike="noStrike" baseline="0" smtClean="0">
                <a:latin typeface="Times New Roman"/>
              </a:rPr>
              <a:t>Debian</a:t>
            </a:r>
            <a:r>
              <a:rPr lang="zh-CN" altLang="en-US" b="0" i="0" u="none" strike="noStrike" baseline="0" smtClean="0">
                <a:latin typeface="Times New Roman"/>
              </a:rPr>
              <a:t>和</a:t>
            </a:r>
            <a:r>
              <a:rPr lang="en-US" altLang="zh-CN" b="0" i="0" u="none" strike="noStrike" baseline="0" smtClean="0">
                <a:latin typeface="Times New Roman"/>
              </a:rPr>
              <a:t>Ubuntu</a:t>
            </a:r>
            <a:r>
              <a:rPr lang="zh-CN" altLang="en-US" b="0" i="0" u="none" strike="noStrike" baseline="0" smtClean="0">
                <a:latin typeface="Times New Roman"/>
              </a:rPr>
              <a:t>则使用</a:t>
            </a:r>
            <a:r>
              <a:rPr lang="en-US" altLang="zh-CN" b="0" i="0" u="none" strike="noStrike" baseline="0" smtClean="0">
                <a:latin typeface="Times New Roman"/>
              </a:rPr>
              <a:t>.deb</a:t>
            </a:r>
            <a:r>
              <a:rPr lang="zh-CN" altLang="en-US" b="0" i="0" u="none" strike="noStrike" baseline="0" smtClean="0">
                <a:latin typeface="Times New Roman"/>
              </a:rPr>
              <a:t>格式的软件包。</a:t>
            </a:r>
          </a:p>
        </p:txBody>
      </p:sp>
    </p:spTree>
    <p:extLst>
      <p:ext uri="{BB962C8B-B14F-4D97-AF65-F5344CB8AC3E}">
        <p14:creationId xmlns:p14="http://schemas.microsoft.com/office/powerpoint/2010/main" val="3078107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smtClean="0">
                <a:latin typeface="Times New Roman"/>
                <a:ea typeface="黑体"/>
              </a:rPr>
              <a:t>7.1  </a:t>
            </a:r>
            <a:r>
              <a:rPr lang="zh-CN" altLang="en-US" b="0" i="0" u="none" strike="noStrike" kern="1800" baseline="0" smtClean="0">
                <a:latin typeface="Times New Roman"/>
                <a:ea typeface="黑体"/>
              </a:rPr>
              <a:t>快速上手：安装和卸载</a:t>
            </a:r>
            <a:r>
              <a:rPr lang="en-US" altLang="zh-CN" b="0" i="0" u="none" strike="noStrike" kern="1800" baseline="0" smtClean="0">
                <a:latin typeface="Times New Roman"/>
                <a:ea typeface="黑体"/>
              </a:rPr>
              <a:t>Chrome</a:t>
            </a:r>
            <a:r>
              <a:rPr lang="zh-CN" altLang="en-US" b="0" i="0" u="none" strike="noStrike" kern="1800" baseline="0" smtClean="0">
                <a:latin typeface="Times New Roman"/>
                <a:ea typeface="黑体"/>
              </a:rPr>
              <a:t> </a:t>
            </a:r>
            <a:r>
              <a:rPr lang="en-US" altLang="zh-CN" b="0" i="0" u="none" strike="noStrike" kern="1800" baseline="0" smtClean="0">
                <a:latin typeface="Times New Roman"/>
                <a:ea typeface="黑体"/>
              </a:rPr>
              <a:t>for Linux</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Google Chrome</a:t>
            </a:r>
            <a:r>
              <a:rPr lang="zh-CN" altLang="en-US" b="0" i="0" u="none" strike="noStrike" baseline="0" smtClean="0">
                <a:latin typeface="Times New Roman"/>
              </a:rPr>
              <a:t>，又称</a:t>
            </a:r>
            <a:r>
              <a:rPr lang="en-US" altLang="zh-CN" b="0" i="0" u="none" strike="noStrike" baseline="0" smtClean="0">
                <a:latin typeface="Times New Roman"/>
              </a:rPr>
              <a:t>Google</a:t>
            </a:r>
            <a:r>
              <a:rPr lang="zh-CN" altLang="en-US" b="0" i="0" u="none" strike="noStrike" baseline="0" smtClean="0">
                <a:latin typeface="Times New Roman"/>
              </a:rPr>
              <a:t>浏览器，是一个由</a:t>
            </a:r>
            <a:r>
              <a:rPr lang="en-US" altLang="zh-CN" b="0" i="0" u="none" strike="noStrike" baseline="0" smtClean="0">
                <a:latin typeface="Times New Roman"/>
              </a:rPr>
              <a:t>Google</a:t>
            </a:r>
            <a:r>
              <a:rPr lang="zh-CN" altLang="en-US" b="0" i="0" u="none" strike="noStrike" baseline="0" smtClean="0">
                <a:latin typeface="Times New Roman"/>
              </a:rPr>
              <a:t>（谷歌）公司开发的开放原始码网页浏览器。该浏览器是基于其他开放原始码软件所撰写，包括</a:t>
            </a:r>
            <a:r>
              <a:rPr lang="en-US" altLang="zh-CN" b="0" i="0" u="none" strike="noStrike" baseline="0" smtClean="0">
                <a:latin typeface="Times New Roman"/>
              </a:rPr>
              <a:t>Webkit</a:t>
            </a:r>
            <a:r>
              <a:rPr lang="zh-CN" altLang="en-US" b="0" i="0" u="none" strike="noStrike" baseline="0" smtClean="0">
                <a:latin typeface="Times New Roman"/>
              </a:rPr>
              <a:t>和</a:t>
            </a:r>
            <a:r>
              <a:rPr lang="en-US" altLang="zh-CN" b="0" i="0" u="none" strike="noStrike" baseline="0" smtClean="0">
                <a:latin typeface="Times New Roman"/>
              </a:rPr>
              <a:t>Mozilla</a:t>
            </a:r>
            <a:r>
              <a:rPr lang="zh-CN" altLang="en-US" b="0" i="0" u="none" strike="noStrike" baseline="0" smtClean="0">
                <a:latin typeface="Times New Roman"/>
              </a:rPr>
              <a:t>，目标是提升稳定性、速度和安全性，并创造出简单且有效率的使用者界面。软件的名称是来自于称作</a:t>
            </a:r>
            <a:r>
              <a:rPr lang="en-US" altLang="zh-CN" b="0" i="0" u="none" strike="noStrike" baseline="0" smtClean="0">
                <a:latin typeface="Times New Roman"/>
              </a:rPr>
              <a:t>Chrome</a:t>
            </a:r>
            <a:r>
              <a:rPr lang="zh-CN" altLang="en-US" b="0" i="0" u="none" strike="noStrike" baseline="0" smtClean="0">
                <a:latin typeface="Times New Roman"/>
              </a:rPr>
              <a:t>的网路浏览器图形使用者界面（</a:t>
            </a:r>
            <a:r>
              <a:rPr lang="en-US" altLang="zh-CN" b="0" i="0" u="none" strike="noStrike" baseline="0" smtClean="0">
                <a:latin typeface="Times New Roman"/>
              </a:rPr>
              <a:t>GUI</a:t>
            </a:r>
            <a:r>
              <a:rPr lang="zh-CN" altLang="en-US" b="0" i="0" u="none" strike="noStrike" baseline="0" smtClean="0">
                <a:latin typeface="Times New Roman"/>
              </a:rPr>
              <a:t>）。</a:t>
            </a:r>
            <a:endParaRPr lang="zh-CN" altLang="en-US" b="0" i="0" u="none" strike="noStrike" baseline="0" smtClean="0">
              <a:solidFill>
                <a:srgbClr val="FF0000"/>
              </a:solidFill>
              <a:latin typeface="Times New Roman"/>
            </a:endParaRPr>
          </a:p>
        </p:txBody>
      </p:sp>
    </p:spTree>
    <p:extLst>
      <p:ext uri="{BB962C8B-B14F-4D97-AF65-F5344CB8AC3E}">
        <p14:creationId xmlns:p14="http://schemas.microsoft.com/office/powerpoint/2010/main" val="471054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7.1.1  </a:t>
            </a:r>
            <a:r>
              <a:rPr lang="zh-CN" altLang="en-US" b="0" i="0" u="none" strike="noStrike" kern="1800" baseline="0" smtClean="0">
                <a:latin typeface="Times New Roman"/>
                <a:ea typeface="黑体"/>
              </a:rPr>
              <a:t>安装</a:t>
            </a:r>
            <a:r>
              <a:rPr lang="en-US" altLang="zh-CN" b="0" i="0" u="none" strike="noStrike" kern="1800" baseline="0" smtClean="0">
                <a:latin typeface="Times New Roman"/>
                <a:ea typeface="黑体"/>
              </a:rPr>
              <a:t>Chrome</a:t>
            </a:r>
            <a:r>
              <a:rPr lang="zh-CN" altLang="en-US" b="0" i="0" u="none" strike="noStrike" kern="1800" baseline="0" smtClean="0">
                <a:latin typeface="Times New Roman"/>
                <a:ea typeface="黑体"/>
              </a:rPr>
              <a:t> </a:t>
            </a:r>
            <a:r>
              <a:rPr lang="en-US" altLang="zh-CN" b="0" i="0" u="none" strike="noStrike" kern="1800" baseline="0" smtClean="0">
                <a:latin typeface="Times New Roman"/>
                <a:ea typeface="黑体"/>
              </a:rPr>
              <a:t>for Linux</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1.</a:t>
            </a:r>
            <a:r>
              <a:rPr lang="zh-CN" altLang="en-US" b="0" i="0" u="none" strike="noStrike" baseline="0" smtClean="0">
                <a:latin typeface="Times New Roman"/>
              </a:rPr>
              <a:t>下载软件</a:t>
            </a:r>
          </a:p>
          <a:p>
            <a:pPr marR="0" lvl="0" rtl="0"/>
            <a:r>
              <a:rPr lang="en-US" altLang="zh-CN" b="0" i="0" u="none" strike="noStrike" baseline="0" smtClean="0">
                <a:latin typeface="Times New Roman"/>
              </a:rPr>
              <a:t>2.</a:t>
            </a:r>
            <a:r>
              <a:rPr lang="zh-CN" altLang="en-US" b="0" i="0" u="none" strike="noStrike" baseline="0" smtClean="0">
                <a:latin typeface="Times New Roman"/>
              </a:rPr>
              <a:t>安装软件</a:t>
            </a:r>
          </a:p>
        </p:txBody>
      </p:sp>
    </p:spTree>
    <p:extLst>
      <p:ext uri="{BB962C8B-B14F-4D97-AF65-F5344CB8AC3E}">
        <p14:creationId xmlns:p14="http://schemas.microsoft.com/office/powerpoint/2010/main" val="3022289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7.1.2  </a:t>
            </a:r>
            <a:r>
              <a:rPr lang="zh-CN" altLang="en-US" b="0" i="0" u="none" strike="noStrike" kern="1800" baseline="0" smtClean="0">
                <a:latin typeface="Times New Roman"/>
                <a:ea typeface="黑体"/>
              </a:rPr>
              <a:t>运行</a:t>
            </a:r>
            <a:r>
              <a:rPr lang="en-US" altLang="zh-CN" b="0" i="0" u="none" strike="noStrike" kern="1800" baseline="0" smtClean="0">
                <a:latin typeface="Times New Roman"/>
                <a:ea typeface="黑体"/>
              </a:rPr>
              <a:t>Chrome</a:t>
            </a:r>
            <a:r>
              <a:rPr lang="zh-CN" altLang="en-US" b="0" i="0" u="none" strike="noStrike" kern="1800" baseline="0" smtClean="0">
                <a:latin typeface="Times New Roman"/>
                <a:ea typeface="黑体"/>
              </a:rPr>
              <a:t> </a:t>
            </a:r>
            <a:r>
              <a:rPr lang="en-US" altLang="zh-CN" b="0" i="0" u="none" strike="noStrike" kern="1800" baseline="0" smtClean="0">
                <a:latin typeface="Times New Roman"/>
                <a:ea typeface="黑体"/>
              </a:rPr>
              <a:t>for Linux</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运行</a:t>
            </a:r>
            <a:r>
              <a:rPr lang="en-US" altLang="zh-CN" b="0" i="0" u="none" strike="noStrike" baseline="0" smtClean="0">
                <a:latin typeface="Times New Roman"/>
              </a:rPr>
              <a:t>Chrome</a:t>
            </a:r>
            <a:r>
              <a:rPr lang="zh-CN" altLang="en-US" b="0" i="0" u="none" strike="noStrike" baseline="0" smtClean="0">
                <a:latin typeface="Times New Roman"/>
              </a:rPr>
              <a:t>浏览器</a:t>
            </a:r>
          </a:p>
        </p:txBody>
      </p:sp>
    </p:spTree>
    <p:extLst>
      <p:ext uri="{BB962C8B-B14F-4D97-AF65-F5344CB8AC3E}">
        <p14:creationId xmlns:p14="http://schemas.microsoft.com/office/powerpoint/2010/main" val="2303603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7.1.3  </a:t>
            </a:r>
            <a:r>
              <a:rPr lang="zh-CN" altLang="en-US" b="0" i="0" u="none" strike="noStrike" kern="1800" baseline="0" smtClean="0">
                <a:latin typeface="Times New Roman"/>
                <a:ea typeface="黑体"/>
              </a:rPr>
              <a:t>卸载</a:t>
            </a:r>
            <a:r>
              <a:rPr lang="en-US" altLang="zh-CN" b="0" i="0" u="none" strike="noStrike" kern="1800" baseline="0" smtClean="0">
                <a:latin typeface="Times New Roman"/>
                <a:ea typeface="黑体"/>
              </a:rPr>
              <a:t>Chrome</a:t>
            </a:r>
            <a:r>
              <a:rPr lang="zh-CN" altLang="en-US" b="0" i="0" u="none" strike="noStrike" kern="1800" baseline="0" smtClean="0">
                <a:latin typeface="Times New Roman"/>
                <a:ea typeface="黑体"/>
              </a:rPr>
              <a:t> </a:t>
            </a:r>
            <a:r>
              <a:rPr lang="en-US" altLang="zh-CN" b="0" i="0" u="none" strike="noStrike" kern="1800" baseline="0" smtClean="0">
                <a:latin typeface="Times New Roman"/>
                <a:ea typeface="黑体"/>
              </a:rPr>
              <a:t>for Linux</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卸载软件</a:t>
            </a:r>
          </a:p>
        </p:txBody>
      </p:sp>
    </p:spTree>
    <p:extLst>
      <p:ext uri="{BB962C8B-B14F-4D97-AF65-F5344CB8AC3E}">
        <p14:creationId xmlns:p14="http://schemas.microsoft.com/office/powerpoint/2010/main" val="1376659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7.2  </a:t>
            </a:r>
            <a:r>
              <a:rPr lang="zh-CN" altLang="en-US" b="0" i="0" u="none" strike="noStrike" kern="1800" baseline="0" smtClean="0">
                <a:latin typeface="Times New Roman"/>
                <a:ea typeface="黑体"/>
              </a:rPr>
              <a:t>软件包管理系统简述</a:t>
            </a:r>
            <a:endParaRPr lang="zh-CN" altLang="en-US" b="0" i="0" u="none" strike="noStrike" kern="1800" baseline="0" smtClean="0">
              <a:latin typeface="Times New Roman"/>
              <a:ea typeface="宋体"/>
            </a:endParaRPr>
          </a:p>
        </p:txBody>
      </p:sp>
      <p:sp>
        <p:nvSpPr>
          <p:cNvPr id="3" name="文本占位符 2"/>
          <p:cNvSpPr>
            <a:spLocks noGrp="1"/>
          </p:cNvSpPr>
          <p:nvPr>
            <p:ph type="body" idx="1"/>
          </p:nvPr>
        </p:nvSpPr>
        <p:spPr/>
        <p:txBody>
          <a:bodyPr>
            <a:normAutofit fontScale="47500" lnSpcReduction="20000"/>
          </a:bodyPr>
          <a:lstStyle/>
          <a:p>
            <a:pPr marR="0" lvl="0" rtl="0"/>
            <a:r>
              <a:rPr lang="zh-CN" altLang="en-US" b="0" i="0" u="none" strike="noStrike" baseline="0" smtClean="0">
                <a:latin typeface="Times New Roman"/>
              </a:rPr>
              <a:t>在早期的</a:t>
            </a:r>
            <a:r>
              <a:rPr lang="en-US" altLang="zh-CN" b="0" i="0" u="none" strike="noStrike" baseline="0" smtClean="0">
                <a:latin typeface="Times New Roman"/>
              </a:rPr>
              <a:t>UNIX/Linux</a:t>
            </a:r>
            <a:r>
              <a:rPr lang="zh-CN" altLang="en-US" b="0" i="0" u="none" strike="noStrike" baseline="0" smtClean="0">
                <a:latin typeface="Times New Roman"/>
              </a:rPr>
              <a:t>系统中，安装软件是一件相当费时费力的事情。系统管理员不得不直接从源代码编译软件，并为自己的系统做各种调整，甚至还要修改源代码。尽管以源代码形式发布的软件显著增强了用户定制的自由度，但在各种细小环节上耗费如此巨大的精力显然是缺乏效率的。于是，软件包的概念便应运而生了。</a:t>
            </a:r>
          </a:p>
          <a:p>
            <a:pPr marR="0" lvl="0" rtl="0"/>
            <a:r>
              <a:rPr lang="zh-CN" altLang="en-US" b="0" i="0" u="none" strike="noStrike" baseline="0" smtClean="0">
                <a:latin typeface="Times New Roman"/>
              </a:rPr>
              <a:t>软件包管理系统的应用使</a:t>
            </a:r>
            <a:r>
              <a:rPr lang="en-US" altLang="zh-CN" b="0" i="0" u="none" strike="noStrike" baseline="0" smtClean="0">
                <a:latin typeface="Times New Roman"/>
              </a:rPr>
              <a:t>Linux</a:t>
            </a:r>
            <a:r>
              <a:rPr lang="zh-CN" altLang="en-US" b="0" i="0" u="none" strike="noStrike" baseline="0" smtClean="0">
                <a:latin typeface="Times New Roman"/>
              </a:rPr>
              <a:t>管理员得以从无休止的兼容性问题中解脱出来。软件包使安装软件事实上成为一系列不可分割的原子操作。一旦发生错误，可以卸载软件包，也可以重新安装它们。同时，软件发行商甚至可以不用考虑补丁的问题，因为客户在安装新版本软件包的同时就把老版本替换掉了。</a:t>
            </a:r>
          </a:p>
          <a:p>
            <a:pPr marR="0" lvl="0" rtl="0"/>
            <a:r>
              <a:rPr lang="zh-CN" altLang="en-US" b="0" i="0" u="none" strike="noStrike" baseline="0" smtClean="0">
                <a:latin typeface="Times New Roman"/>
              </a:rPr>
              <a:t>当然，软件包并不是万能的。使用软件包系统安装软件同样需要考虑依赖性的问题。只有应用软件所依赖的所有库和支持都已经正确安装好了，软件才能被正确安装。一些高级软件包管理工具如</a:t>
            </a:r>
            <a:r>
              <a:rPr lang="en-US" altLang="zh-CN" b="0" i="0" u="none" strike="noStrike" baseline="0" smtClean="0">
                <a:latin typeface="Times New Roman"/>
              </a:rPr>
              <a:t>APT</a:t>
            </a:r>
            <a:r>
              <a:rPr lang="zh-CN" altLang="en-US" b="0" i="0" u="none" strike="noStrike" baseline="0" smtClean="0">
                <a:latin typeface="Times New Roman"/>
              </a:rPr>
              <a:t>和</a:t>
            </a:r>
            <a:r>
              <a:rPr lang="en-US" altLang="zh-CN" b="0" i="0" u="none" strike="noStrike" baseline="0" smtClean="0">
                <a:latin typeface="Times New Roman"/>
              </a:rPr>
              <a:t>yum</a:t>
            </a:r>
            <a:r>
              <a:rPr lang="zh-CN" altLang="en-US" b="0" i="0" u="none" strike="noStrike" baseline="0" smtClean="0">
                <a:latin typeface="Times New Roman"/>
              </a:rPr>
              <a:t>可以自动搜寻依赖关系并执行安装。这些高级软件包管理工具将在后文详细介绍。</a:t>
            </a:r>
          </a:p>
          <a:p>
            <a:pPr marR="0" lvl="0" rtl="0"/>
            <a:r>
              <a:rPr lang="zh-CN" altLang="en-US" b="0" i="0" u="none" strike="noStrike" baseline="0" smtClean="0">
                <a:latin typeface="Times New Roman"/>
              </a:rPr>
              <a:t>常用的软件包格式有两种。</a:t>
            </a:r>
            <a:r>
              <a:rPr lang="en-US" altLang="zh-CN" b="0" i="0" u="none" strike="noStrike" baseline="0" smtClean="0">
                <a:latin typeface="Times New Roman"/>
              </a:rPr>
              <a:t>RPM</a:t>
            </a:r>
            <a:r>
              <a:rPr lang="zh-CN" altLang="en-US" b="0" i="0" u="none" strike="noStrike" baseline="0" smtClean="0">
                <a:latin typeface="Times New Roman"/>
              </a:rPr>
              <a:t>即</a:t>
            </a:r>
            <a:r>
              <a:rPr lang="en-US" altLang="zh-CN" b="0" i="0" u="none" strike="noStrike" baseline="0" smtClean="0">
                <a:latin typeface="Times New Roman"/>
              </a:rPr>
              <a:t>Red Hat Package Manager</a:t>
            </a:r>
            <a:r>
              <a:rPr lang="zh-CN" altLang="en-US" b="0" i="0" u="none" strike="noStrike" baseline="0" smtClean="0">
                <a:latin typeface="Times New Roman"/>
              </a:rPr>
              <a:t>（</a:t>
            </a:r>
            <a:r>
              <a:rPr lang="en-US" altLang="zh-CN" b="0" i="0" u="none" strike="noStrike" baseline="0" smtClean="0">
                <a:latin typeface="Times New Roman"/>
              </a:rPr>
              <a:t>Red Hat</a:t>
            </a:r>
            <a:r>
              <a:rPr lang="zh-CN" altLang="en-US" b="0" i="0" u="none" strike="noStrike" baseline="0" smtClean="0">
                <a:latin typeface="Times New Roman"/>
              </a:rPr>
              <a:t>软件包管理器），最初由</a:t>
            </a:r>
            <a:r>
              <a:rPr lang="en-US" altLang="zh-CN" b="0" i="0" u="none" strike="noStrike" baseline="0" smtClean="0">
                <a:latin typeface="Times New Roman"/>
              </a:rPr>
              <a:t>Red Hat</a:t>
            </a:r>
            <a:r>
              <a:rPr lang="zh-CN" altLang="en-US" b="0" i="0" u="none" strike="noStrike" baseline="0" smtClean="0">
                <a:latin typeface="Times New Roman"/>
              </a:rPr>
              <a:t>公司开发并部署在其发行版中。如今已被大多数</a:t>
            </a:r>
            <a:r>
              <a:rPr lang="en-US" altLang="zh-CN" b="0" i="0" u="none" strike="noStrike" baseline="0" smtClean="0">
                <a:latin typeface="Times New Roman"/>
              </a:rPr>
              <a:t>Linux</a:t>
            </a:r>
            <a:r>
              <a:rPr lang="zh-CN" altLang="en-US" b="0" i="0" u="none" strike="noStrike" baseline="0" smtClean="0">
                <a:latin typeface="Times New Roman"/>
              </a:rPr>
              <a:t>发行版使用。另一种则是</a:t>
            </a:r>
            <a:r>
              <a:rPr lang="en-US" altLang="zh-CN" b="0" i="0" u="none" strike="noStrike" baseline="0" smtClean="0">
                <a:latin typeface="Times New Roman"/>
              </a:rPr>
              <a:t>Debian</a:t>
            </a:r>
            <a:r>
              <a:rPr lang="zh-CN" altLang="en-US" b="0" i="0" u="none" strike="noStrike" baseline="0" smtClean="0">
                <a:latin typeface="Times New Roman"/>
              </a:rPr>
              <a:t>和</a:t>
            </a:r>
            <a:r>
              <a:rPr lang="en-US" altLang="zh-CN" b="0" i="0" u="none" strike="noStrike" baseline="0" smtClean="0">
                <a:latin typeface="Times New Roman"/>
              </a:rPr>
              <a:t>Ubuntu</a:t>
            </a:r>
            <a:r>
              <a:rPr lang="zh-CN" altLang="en-US" b="0" i="0" u="none" strike="noStrike" baseline="0" smtClean="0">
                <a:latin typeface="Times New Roman"/>
              </a:rPr>
              <a:t>上使用的</a:t>
            </a:r>
            <a:r>
              <a:rPr lang="en-US" altLang="zh-CN" b="0" i="0" u="none" strike="noStrike" baseline="0" smtClean="0">
                <a:latin typeface="Times New Roman"/>
              </a:rPr>
              <a:t>.deb</a:t>
            </a:r>
            <a:r>
              <a:rPr lang="zh-CN" altLang="en-US" b="0" i="0" u="none" strike="noStrike" baseline="0" smtClean="0">
                <a:latin typeface="Times New Roman"/>
              </a:rPr>
              <a:t>格式。这两种格式提供基本类似的功能。</a:t>
            </a:r>
          </a:p>
          <a:p>
            <a:pPr marR="0" lvl="0" rtl="0"/>
            <a:r>
              <a:rPr lang="zh-CN" altLang="en-US" b="0" i="0" u="none" strike="noStrike" baseline="0" smtClean="0">
                <a:latin typeface="Times New Roman"/>
              </a:rPr>
              <a:t>如今，绝大多数</a:t>
            </a:r>
            <a:r>
              <a:rPr lang="en-US" altLang="zh-CN" b="0" i="0" u="none" strike="noStrike" baseline="0" smtClean="0">
                <a:latin typeface="Times New Roman"/>
              </a:rPr>
              <a:t>Linux</a:t>
            </a:r>
            <a:r>
              <a:rPr lang="zh-CN" altLang="en-US" b="0" i="0" u="none" strike="noStrike" baseline="0" smtClean="0">
                <a:latin typeface="Times New Roman"/>
              </a:rPr>
              <a:t>发行版都会使用高级软件包管理工具来进一步简化软件包安装的过程。常见的通用版本有</a:t>
            </a:r>
            <a:r>
              <a:rPr lang="en-US" altLang="zh-CN" b="0" i="0" u="none" strike="noStrike" baseline="0" smtClean="0">
                <a:latin typeface="Times New Roman"/>
              </a:rPr>
              <a:t>APT</a:t>
            </a:r>
            <a:r>
              <a:rPr lang="zh-CN" altLang="en-US" b="0" i="0" u="none" strike="noStrike" baseline="0" smtClean="0">
                <a:latin typeface="Times New Roman"/>
              </a:rPr>
              <a:t>和</a:t>
            </a:r>
            <a:r>
              <a:rPr lang="en-US" altLang="zh-CN" b="0" i="0" u="none" strike="noStrike" baseline="0" smtClean="0">
                <a:latin typeface="Times New Roman"/>
              </a:rPr>
              <a:t>yum</a:t>
            </a:r>
            <a:r>
              <a:rPr lang="zh-CN" altLang="en-US" b="0" i="0" u="none" strike="noStrike" baseline="0" smtClean="0">
                <a:latin typeface="Times New Roman"/>
              </a:rPr>
              <a:t>（其中</a:t>
            </a:r>
            <a:r>
              <a:rPr lang="en-US" altLang="zh-CN" b="0" i="0" u="none" strike="noStrike" baseline="0" smtClean="0">
                <a:latin typeface="Times New Roman"/>
              </a:rPr>
              <a:t>yum</a:t>
            </a:r>
            <a:r>
              <a:rPr lang="zh-CN" altLang="en-US" b="0" i="0" u="none" strike="noStrike" baseline="0" smtClean="0">
                <a:latin typeface="Times New Roman"/>
              </a:rPr>
              <a:t>只能用于</a:t>
            </a:r>
            <a:r>
              <a:rPr lang="en-US" altLang="zh-CN" b="0" i="0" u="none" strike="noStrike" baseline="0" smtClean="0">
                <a:latin typeface="Times New Roman"/>
              </a:rPr>
              <a:t>RPM</a:t>
            </a:r>
            <a:r>
              <a:rPr lang="zh-CN" altLang="en-US" b="0" i="0" u="none" strike="noStrike" baseline="0" smtClean="0">
                <a:latin typeface="Times New Roman"/>
              </a:rPr>
              <a:t>），它们都是免费的。一些主要的</a:t>
            </a:r>
            <a:r>
              <a:rPr lang="en-US" altLang="zh-CN" b="0" i="0" u="none" strike="noStrike" baseline="0" smtClean="0">
                <a:latin typeface="Times New Roman"/>
              </a:rPr>
              <a:t>Linux</a:t>
            </a:r>
            <a:r>
              <a:rPr lang="zh-CN" altLang="en-US" b="0" i="0" u="none" strike="noStrike" baseline="0" smtClean="0">
                <a:latin typeface="Times New Roman"/>
              </a:rPr>
              <a:t>发行商也会开发用于自己发行版的高级包管理工具，如</a:t>
            </a:r>
            <a:r>
              <a:rPr lang="en-US" altLang="zh-CN" b="0" i="0" u="none" strike="noStrike" baseline="0" smtClean="0">
                <a:latin typeface="Times New Roman"/>
              </a:rPr>
              <a:t>Red Hat</a:t>
            </a:r>
            <a:r>
              <a:rPr lang="zh-CN" altLang="en-US" b="0" i="0" u="none" strike="noStrike" baseline="0" smtClean="0">
                <a:latin typeface="Times New Roman"/>
              </a:rPr>
              <a:t>的</a:t>
            </a:r>
            <a:r>
              <a:rPr lang="en-US" altLang="zh-CN" b="0" i="0" u="none" strike="noStrike" baseline="0" smtClean="0">
                <a:latin typeface="Times New Roman"/>
              </a:rPr>
              <a:t>Red Hat Network</a:t>
            </a:r>
            <a:r>
              <a:rPr lang="zh-CN" altLang="en-US" b="0" i="0" u="none" strike="noStrike" baseline="0" smtClean="0">
                <a:latin typeface="Times New Roman"/>
              </a:rPr>
              <a:t>和</a:t>
            </a:r>
            <a:r>
              <a:rPr lang="en-US" altLang="zh-CN" b="0" i="0" u="none" strike="noStrike" baseline="0" smtClean="0">
                <a:latin typeface="Times New Roman"/>
              </a:rPr>
              <a:t>SUSE</a:t>
            </a:r>
            <a:r>
              <a:rPr lang="zh-CN" altLang="en-US" b="0" i="0" u="none" strike="noStrike" baseline="0" smtClean="0">
                <a:latin typeface="Times New Roman"/>
              </a:rPr>
              <a:t>的</a:t>
            </a:r>
            <a:r>
              <a:rPr lang="en-US" altLang="zh-CN" b="0" i="0" u="none" strike="noStrike" baseline="0" smtClean="0">
                <a:latin typeface="Times New Roman"/>
              </a:rPr>
              <a:t>ZENworks</a:t>
            </a:r>
            <a:r>
              <a:rPr lang="zh-CN" altLang="en-US" b="0" i="0" u="none" strike="noStrike" baseline="0" smtClean="0">
                <a:latin typeface="Times New Roman"/>
              </a:rPr>
              <a:t>。这些工具常常伴随着付费支持。</a:t>
            </a:r>
          </a:p>
          <a:p>
            <a:pPr marR="0" lvl="0" rtl="0"/>
            <a:r>
              <a:rPr lang="zh-CN" altLang="en-US" b="0" i="0" u="none" strike="noStrike" baseline="0" smtClean="0">
                <a:latin typeface="Times New Roman"/>
              </a:rPr>
              <a:t>高级软件包管理系统基于这样几个理念和目标：</a:t>
            </a:r>
          </a:p>
          <a:p>
            <a:pPr marR="0" lvl="0" rtl="0"/>
            <a:r>
              <a:rPr lang="zh-CN" altLang="en-US" b="0" i="0" u="none" strike="noStrike" baseline="0" smtClean="0">
                <a:latin typeface="Times New Roman"/>
              </a:rPr>
              <a:t>简化定位和下载软件包的过程；</a:t>
            </a:r>
          </a:p>
          <a:p>
            <a:pPr marR="0" lvl="0" rtl="0"/>
            <a:r>
              <a:rPr lang="zh-CN" altLang="en-US" b="0" i="0" u="none" strike="noStrike" baseline="0" smtClean="0">
                <a:latin typeface="Times New Roman"/>
              </a:rPr>
              <a:t>自动进行系统更新和升级；</a:t>
            </a:r>
          </a:p>
          <a:p>
            <a:pPr marR="0" lvl="0" rtl="0"/>
            <a:r>
              <a:rPr lang="zh-CN" altLang="en-US" b="0" i="0" u="none" strike="noStrike" baseline="0" smtClean="0">
                <a:latin typeface="Times New Roman"/>
              </a:rPr>
              <a:t>方便管理软件包件的依赖关系。</a:t>
            </a:r>
          </a:p>
          <a:p>
            <a:pPr marR="0" lvl="0" rtl="0"/>
            <a:r>
              <a:rPr lang="zh-CN" altLang="en-US" b="0" i="0" u="none" strike="noStrike" baseline="0" smtClean="0">
                <a:latin typeface="Times New Roman"/>
              </a:rPr>
              <a:t>接下来将首先介绍两个基本的软件包管理工具</a:t>
            </a:r>
            <a:r>
              <a:rPr lang="en-US" altLang="zh-CN" b="0" i="0" u="none" strike="noStrike" baseline="0" smtClean="0">
                <a:latin typeface="Times New Roman"/>
              </a:rPr>
              <a:t>rpm</a:t>
            </a:r>
            <a:r>
              <a:rPr lang="zh-CN" altLang="en-US" b="0" i="0" u="none" strike="noStrike" baseline="0" smtClean="0">
                <a:latin typeface="Times New Roman"/>
              </a:rPr>
              <a:t>和</a:t>
            </a:r>
            <a:r>
              <a:rPr lang="en-US" altLang="zh-CN" b="0" i="0" u="none" strike="noStrike" baseline="0" smtClean="0">
                <a:latin typeface="Times New Roman"/>
              </a:rPr>
              <a:t>dpkg</a:t>
            </a:r>
            <a:r>
              <a:rPr lang="zh-CN" altLang="en-US" b="0" i="0" u="none" strike="noStrike" baseline="0" smtClean="0">
                <a:latin typeface="Times New Roman"/>
              </a:rPr>
              <a:t>，随后将介绍</a:t>
            </a:r>
            <a:r>
              <a:rPr lang="en-US" altLang="zh-CN" b="0" i="0" u="none" strike="noStrike" baseline="0" smtClean="0">
                <a:latin typeface="Times New Roman"/>
              </a:rPr>
              <a:t>APT</a:t>
            </a:r>
            <a:r>
              <a:rPr lang="zh-CN" altLang="en-US" b="0" i="0" u="none" strike="noStrike" baseline="0" smtClean="0">
                <a:latin typeface="Times New Roman"/>
              </a:rPr>
              <a:t>的使用。最后在本章的“进阶”部分，将简要讨论从源代码安装软件的基本步骤</a:t>
            </a:r>
            <a:r>
              <a:rPr lang="en-US" altLang="zh-CN" b="0" i="0" u="none" strike="noStrike" baseline="0" smtClean="0">
                <a:latin typeface="Times New Roman"/>
              </a:rPr>
              <a:t>——</a:t>
            </a:r>
            <a:r>
              <a:rPr lang="zh-CN" altLang="en-US" b="0" i="0" u="none" strike="noStrike" baseline="0" smtClean="0">
                <a:latin typeface="Times New Roman"/>
              </a:rPr>
              <a:t>对于初学者而言，这个要求会比较高。</a:t>
            </a:r>
          </a:p>
        </p:txBody>
      </p:sp>
    </p:spTree>
    <p:extLst>
      <p:ext uri="{BB962C8B-B14F-4D97-AF65-F5344CB8AC3E}">
        <p14:creationId xmlns:p14="http://schemas.microsoft.com/office/powerpoint/2010/main" val="1601542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7.3</a:t>
            </a:r>
            <a:r>
              <a:rPr lang="zh-CN" altLang="en-US" b="0" i="0" u="none" strike="noStrike" kern="1800" baseline="0" smtClean="0">
                <a:latin typeface="Times New Roman"/>
                <a:ea typeface="黑体"/>
              </a:rPr>
              <a:t>  管理</a:t>
            </a:r>
            <a:r>
              <a:rPr lang="en-US" altLang="zh-CN" b="0" i="0" u="none" strike="noStrike" kern="1800" baseline="0" smtClean="0">
                <a:latin typeface="Times New Roman"/>
                <a:ea typeface="黑体"/>
              </a:rPr>
              <a:t>.deb</a:t>
            </a:r>
            <a:r>
              <a:rPr lang="zh-CN" altLang="en-US" b="0" i="0" u="none" strike="noStrike" kern="1800" baseline="0" smtClean="0">
                <a:latin typeface="Times New Roman"/>
                <a:ea typeface="黑体"/>
              </a:rPr>
              <a:t>软件包：</a:t>
            </a:r>
            <a:r>
              <a:rPr lang="en-US" altLang="zh-CN" b="0" i="0" u="none" strike="noStrike" kern="1800" baseline="0" smtClean="0">
                <a:latin typeface="Times New Roman"/>
                <a:ea typeface="黑体"/>
              </a:rPr>
              <a:t>dpkg</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本节将简要介绍</a:t>
            </a:r>
            <a:r>
              <a:rPr lang="en-US" altLang="zh-CN" b="0" i="0" u="none" strike="noStrike" baseline="0" smtClean="0">
                <a:latin typeface="Times New Roman"/>
              </a:rPr>
              <a:t>dpkg</a:t>
            </a:r>
            <a:r>
              <a:rPr lang="zh-CN" altLang="en-US" b="0" i="0" u="none" strike="noStrike" baseline="0" smtClean="0">
                <a:latin typeface="Times New Roman"/>
              </a:rPr>
              <a:t>的常用选项和注意事项，这个软件包工具主要用于</a:t>
            </a:r>
            <a:r>
              <a:rPr lang="en-US" altLang="zh-CN" b="0" i="0" u="none" strike="noStrike" baseline="0" smtClean="0">
                <a:latin typeface="Times New Roman"/>
              </a:rPr>
              <a:t>Debian</a:t>
            </a:r>
            <a:r>
              <a:rPr lang="zh-CN" altLang="en-US" b="0" i="0" u="none" strike="noStrike" baseline="0" smtClean="0">
                <a:latin typeface="Times New Roman"/>
              </a:rPr>
              <a:t>和</a:t>
            </a:r>
            <a:r>
              <a:rPr lang="en-US" altLang="zh-CN" b="0" i="0" u="none" strike="noStrike" baseline="0" smtClean="0">
                <a:latin typeface="Times New Roman"/>
              </a:rPr>
              <a:t>Ubuntu</a:t>
            </a:r>
            <a:r>
              <a:rPr lang="zh-CN" altLang="en-US" b="0" i="0" u="none" strike="noStrike" baseline="0" smtClean="0">
                <a:latin typeface="Times New Roman"/>
              </a:rPr>
              <a:t>这两个发行版本。限于篇幅，这里没有办法、也没有必要一一列出</a:t>
            </a:r>
            <a:r>
              <a:rPr lang="en-US" altLang="zh-CN" b="0" i="0" u="none" strike="noStrike" baseline="0" smtClean="0">
                <a:latin typeface="Times New Roman"/>
              </a:rPr>
              <a:t>dpkg</a:t>
            </a:r>
            <a:r>
              <a:rPr lang="zh-CN" altLang="en-US" b="0" i="0" u="none" strike="noStrike" baseline="0" smtClean="0">
                <a:latin typeface="Times New Roman"/>
              </a:rPr>
              <a:t>的所有选项和功能。读者可以通过</a:t>
            </a:r>
            <a:r>
              <a:rPr lang="en-US" altLang="zh-CN" b="0" i="0" u="none" strike="noStrike" baseline="0" smtClean="0">
                <a:latin typeface="Times New Roman"/>
              </a:rPr>
              <a:t>dpkg --help</a:t>
            </a:r>
            <a:r>
              <a:rPr lang="zh-CN" altLang="en-US" b="0" i="0" u="none" strike="noStrike" baseline="0" smtClean="0">
                <a:latin typeface="Times New Roman"/>
              </a:rPr>
              <a:t>获得该命令完整的帮助信息。</a:t>
            </a:r>
          </a:p>
        </p:txBody>
      </p:sp>
    </p:spTree>
    <p:extLst>
      <p:ext uri="{BB962C8B-B14F-4D97-AF65-F5344CB8AC3E}">
        <p14:creationId xmlns:p14="http://schemas.microsoft.com/office/powerpoint/2010/main" val="396830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7.3.1  </a:t>
            </a:r>
            <a:r>
              <a:rPr lang="zh-CN" altLang="en-US" b="0" i="0" u="none" strike="noStrike" kern="1800" baseline="0" smtClean="0">
                <a:latin typeface="Times New Roman"/>
                <a:ea typeface="黑体"/>
              </a:rPr>
              <a:t>安装软件包</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使用</a:t>
            </a:r>
            <a:r>
              <a:rPr lang="en-US" altLang="zh-CN" b="0" i="0" u="none" strike="noStrike" baseline="0" smtClean="0">
                <a:latin typeface="Times New Roman"/>
              </a:rPr>
              <a:t>dpkg</a:t>
            </a:r>
            <a:r>
              <a:rPr lang="zh-CN" altLang="en-US" b="0" i="0" u="none" strike="noStrike" baseline="0" smtClean="0">
                <a:latin typeface="Times New Roman"/>
              </a:rPr>
              <a:t>命令安装软件包</a:t>
            </a:r>
          </a:p>
        </p:txBody>
      </p:sp>
    </p:spTree>
    <p:extLst>
      <p:ext uri="{BB962C8B-B14F-4D97-AF65-F5344CB8AC3E}">
        <p14:creationId xmlns:p14="http://schemas.microsoft.com/office/powerpoint/2010/main" val="3262102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7.3.2  </a:t>
            </a:r>
            <a:r>
              <a:rPr lang="zh-CN" altLang="en-US" b="0" i="0" u="none" strike="noStrike" kern="1800" baseline="0" smtClean="0">
                <a:latin typeface="Times New Roman"/>
                <a:ea typeface="黑体"/>
              </a:rPr>
              <a:t>查看已安装的软件包</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查看已安装的软件包信息</a:t>
            </a:r>
          </a:p>
        </p:txBody>
      </p:sp>
    </p:spTree>
    <p:extLst>
      <p:ext uri="{BB962C8B-B14F-4D97-AF65-F5344CB8AC3E}">
        <p14:creationId xmlns:p14="http://schemas.microsoft.com/office/powerpoint/2010/main" val="3444161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7.3.3  </a:t>
            </a:r>
            <a:r>
              <a:rPr lang="zh-CN" altLang="en-US" b="0" i="0" u="none" strike="noStrike" kern="1800" baseline="0" smtClean="0">
                <a:latin typeface="Times New Roman"/>
                <a:ea typeface="黑体"/>
              </a:rPr>
              <a:t>卸载软件包</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卸载软件包</a:t>
            </a:r>
          </a:p>
        </p:txBody>
      </p:sp>
    </p:spTree>
    <p:extLst>
      <p:ext uri="{BB962C8B-B14F-4D97-AF65-F5344CB8AC3E}">
        <p14:creationId xmlns:p14="http://schemas.microsoft.com/office/powerpoint/2010/main" val="9172407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7.4</a:t>
            </a:r>
            <a:r>
              <a:rPr lang="zh-CN" altLang="en-US" b="0" i="0" u="none" strike="noStrike" kern="1800" baseline="0" smtClean="0">
                <a:latin typeface="Times New Roman"/>
                <a:ea typeface="黑体"/>
              </a:rPr>
              <a:t>  管理</a:t>
            </a:r>
            <a:r>
              <a:rPr lang="en-US" altLang="zh-CN" b="0" i="0" u="none" strike="noStrike" kern="1800" baseline="0" smtClean="0">
                <a:latin typeface="Times New Roman"/>
                <a:ea typeface="黑体"/>
              </a:rPr>
              <a:t>RPM</a:t>
            </a:r>
            <a:r>
              <a:rPr lang="zh-CN" altLang="en-US" b="0" i="0" u="none" strike="noStrike" kern="1800" baseline="0" smtClean="0">
                <a:latin typeface="Times New Roman"/>
                <a:ea typeface="黑体"/>
              </a:rPr>
              <a:t>软件包：</a:t>
            </a:r>
            <a:r>
              <a:rPr lang="en-US" altLang="zh-CN" b="0" i="0" u="none" strike="noStrike" kern="1800" baseline="0" smtClean="0">
                <a:latin typeface="Times New Roman"/>
                <a:ea typeface="黑体"/>
              </a:rPr>
              <a:t>rpm</a:t>
            </a:r>
            <a:endParaRPr lang="zh-CN" altLang="en-US" b="0" i="0" u="none" strike="noStrike" kern="1800" baseline="0" smtClean="0">
              <a:latin typeface="Times New Roman"/>
              <a:ea typeface="宋体"/>
            </a:endParaRP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类似地，</a:t>
            </a:r>
            <a:r>
              <a:rPr lang="en-US" altLang="zh-CN" b="0" i="0" u="none" strike="noStrike" baseline="0" smtClean="0">
                <a:latin typeface="Times New Roman"/>
              </a:rPr>
              <a:t>rpm</a:t>
            </a:r>
            <a:r>
              <a:rPr lang="zh-CN" altLang="en-US" b="0" i="0" u="none" strike="noStrike" baseline="0" smtClean="0">
                <a:latin typeface="Times New Roman"/>
              </a:rPr>
              <a:t>工具用于管理</a:t>
            </a:r>
            <a:r>
              <a:rPr lang="en-US" altLang="zh-CN" b="0" i="0" u="none" strike="noStrike" baseline="0" smtClean="0">
                <a:latin typeface="Times New Roman"/>
              </a:rPr>
              <a:t>.rpm</a:t>
            </a:r>
            <a:r>
              <a:rPr lang="zh-CN" altLang="en-US" b="0" i="0" u="none" strike="noStrike" baseline="0" smtClean="0">
                <a:latin typeface="Times New Roman"/>
              </a:rPr>
              <a:t>格式的软件包。这个软件包管理工具用于绝大多数的</a:t>
            </a:r>
            <a:r>
              <a:rPr lang="en-US" altLang="zh-CN" b="0" i="0" u="none" strike="noStrike" baseline="0" smtClean="0">
                <a:latin typeface="Times New Roman"/>
              </a:rPr>
              <a:t>Linux</a:t>
            </a:r>
            <a:r>
              <a:rPr lang="zh-CN" altLang="en-US" b="0" i="0" u="none" strike="noStrike" baseline="0" smtClean="0">
                <a:latin typeface="Times New Roman"/>
              </a:rPr>
              <a:t>发行版本，如</a:t>
            </a:r>
            <a:r>
              <a:rPr lang="en-US" altLang="zh-CN" b="0" i="0" u="none" strike="noStrike" baseline="0" smtClean="0">
                <a:latin typeface="Times New Roman"/>
              </a:rPr>
              <a:t>Red Hat</a:t>
            </a:r>
            <a:r>
              <a:rPr lang="zh-CN" altLang="en-US" b="0" i="0" u="none" strike="noStrike" baseline="0" smtClean="0">
                <a:latin typeface="Times New Roman"/>
              </a:rPr>
              <a:t>、</a:t>
            </a:r>
            <a:r>
              <a:rPr lang="en-US" altLang="zh-CN" b="0" i="0" u="none" strike="noStrike" baseline="0" smtClean="0">
                <a:latin typeface="Times New Roman"/>
              </a:rPr>
              <a:t>openSUSE</a:t>
            </a:r>
            <a:r>
              <a:rPr lang="zh-CN" altLang="en-US" b="0" i="0" u="none" strike="noStrike" baseline="0" smtClean="0">
                <a:latin typeface="Times New Roman"/>
              </a:rPr>
              <a:t>等。下面简要介绍其使用方法及相关注意事项。</a:t>
            </a:r>
            <a:r>
              <a:rPr lang="en-US" altLang="zh-CN" b="0" i="0" u="none" strike="noStrike" baseline="0" smtClean="0">
                <a:latin typeface="Times New Roman"/>
              </a:rPr>
              <a:t>rpm</a:t>
            </a:r>
            <a:r>
              <a:rPr lang="zh-CN" altLang="en-US" b="0" i="0" u="none" strike="noStrike" baseline="0" smtClean="0">
                <a:latin typeface="Times New Roman"/>
              </a:rPr>
              <a:t>的更多高级功能可以参考其用户手册。</a:t>
            </a:r>
          </a:p>
        </p:txBody>
      </p:sp>
    </p:spTree>
    <p:extLst>
      <p:ext uri="{BB962C8B-B14F-4D97-AF65-F5344CB8AC3E}">
        <p14:creationId xmlns:p14="http://schemas.microsoft.com/office/powerpoint/2010/main" val="288081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7.4.1  </a:t>
            </a:r>
            <a:r>
              <a:rPr lang="zh-CN" altLang="en-US" b="0" i="0" u="none" strike="noStrike" kern="1800" baseline="0" smtClean="0">
                <a:latin typeface="Times New Roman"/>
                <a:ea typeface="黑体"/>
              </a:rPr>
              <a:t>安装软件包</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使用</a:t>
            </a:r>
            <a:r>
              <a:rPr lang="en-US" altLang="zh-CN" b="0" i="0" u="none" strike="noStrike" baseline="0" smtClean="0">
                <a:latin typeface="Times New Roman"/>
              </a:rPr>
              <a:t>rpm</a:t>
            </a:r>
            <a:r>
              <a:rPr lang="zh-CN" altLang="en-US" b="0" i="0" u="none" strike="noStrike" baseline="0" smtClean="0">
                <a:latin typeface="Times New Roman"/>
              </a:rPr>
              <a:t>命令安装软件包</a:t>
            </a:r>
          </a:p>
        </p:txBody>
      </p:sp>
    </p:spTree>
    <p:extLst>
      <p:ext uri="{BB962C8B-B14F-4D97-AF65-F5344CB8AC3E}">
        <p14:creationId xmlns:p14="http://schemas.microsoft.com/office/powerpoint/2010/main" val="3757947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7.4.2  </a:t>
            </a:r>
            <a:r>
              <a:rPr lang="zh-CN" altLang="en-US" b="0" i="0" u="none" strike="noStrike" kern="1800" baseline="0" smtClean="0">
                <a:latin typeface="Times New Roman"/>
                <a:ea typeface="黑体"/>
              </a:rPr>
              <a:t>升级软件包</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升级</a:t>
            </a:r>
            <a:r>
              <a:rPr lang="en-US" altLang="zh-CN" b="0" i="0" u="none" strike="noStrike" baseline="0" smtClean="0">
                <a:latin typeface="Times New Roman"/>
              </a:rPr>
              <a:t>rpm</a:t>
            </a:r>
            <a:r>
              <a:rPr lang="zh-CN" altLang="en-US" b="0" i="0" u="none" strike="noStrike" baseline="0" smtClean="0">
                <a:latin typeface="Times New Roman"/>
              </a:rPr>
              <a:t>软件包</a:t>
            </a:r>
          </a:p>
        </p:txBody>
      </p:sp>
    </p:spTree>
    <p:extLst>
      <p:ext uri="{BB962C8B-B14F-4D97-AF65-F5344CB8AC3E}">
        <p14:creationId xmlns:p14="http://schemas.microsoft.com/office/powerpoint/2010/main" val="2015107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7.4.3</a:t>
            </a:r>
            <a:r>
              <a:rPr lang="zh-CN" altLang="en-US" b="0" i="0" u="none" strike="noStrike" kern="1800" baseline="0" smtClean="0">
                <a:latin typeface="Times New Roman"/>
                <a:ea typeface="黑体"/>
              </a:rPr>
              <a:t>  查看已安装的软件包</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查看已安装的</a:t>
            </a:r>
            <a:r>
              <a:rPr lang="en-US" altLang="zh-CN" b="0" i="0" u="none" strike="noStrike" baseline="0" smtClean="0">
                <a:latin typeface="Times New Roman"/>
              </a:rPr>
              <a:t>rpm</a:t>
            </a:r>
            <a:r>
              <a:rPr lang="zh-CN" altLang="en-US" b="0" i="0" u="none" strike="noStrike" baseline="0" smtClean="0">
                <a:latin typeface="Times New Roman"/>
              </a:rPr>
              <a:t>软件包</a:t>
            </a:r>
          </a:p>
        </p:txBody>
      </p:sp>
    </p:spTree>
    <p:extLst>
      <p:ext uri="{BB962C8B-B14F-4D97-AF65-F5344CB8AC3E}">
        <p14:creationId xmlns:p14="http://schemas.microsoft.com/office/powerpoint/2010/main" val="4290325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7.4.4</a:t>
            </a:r>
            <a:r>
              <a:rPr lang="zh-CN" altLang="en-US" b="0" i="0" u="none" strike="noStrike" kern="1800" baseline="0" smtClean="0">
                <a:latin typeface="Times New Roman"/>
                <a:ea typeface="黑体"/>
              </a:rPr>
              <a:t>  卸载软件包</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卸载</a:t>
            </a:r>
            <a:r>
              <a:rPr lang="en-US" altLang="zh-CN" b="0" i="0" u="none" strike="noStrike" baseline="0" smtClean="0">
                <a:latin typeface="Times New Roman"/>
              </a:rPr>
              <a:t>rpm</a:t>
            </a:r>
            <a:r>
              <a:rPr lang="zh-CN" altLang="en-US" b="0" i="0" u="none" strike="noStrike" baseline="0" smtClean="0">
                <a:latin typeface="Times New Roman"/>
              </a:rPr>
              <a:t>软件包</a:t>
            </a:r>
          </a:p>
        </p:txBody>
      </p:sp>
    </p:spTree>
    <p:extLst>
      <p:ext uri="{BB962C8B-B14F-4D97-AF65-F5344CB8AC3E}">
        <p14:creationId xmlns:p14="http://schemas.microsoft.com/office/powerpoint/2010/main" val="2987674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7.5  </a:t>
            </a:r>
            <a:r>
              <a:rPr lang="zh-CN" altLang="en-US" b="0" i="0" u="none" strike="noStrike" kern="1800" baseline="0" smtClean="0">
                <a:latin typeface="Times New Roman"/>
                <a:ea typeface="黑体"/>
              </a:rPr>
              <a:t>高级软件包工具：</a:t>
            </a:r>
            <a:r>
              <a:rPr lang="en-US" altLang="zh-CN" b="0" i="0" u="none" strike="noStrike" kern="1800" baseline="0" smtClean="0">
                <a:latin typeface="Times New Roman"/>
                <a:ea typeface="黑体"/>
              </a:rPr>
              <a:t>APT</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rpm</a:t>
            </a:r>
            <a:r>
              <a:rPr lang="zh-CN" altLang="en-US" b="0" i="0" u="none" strike="noStrike" baseline="0" smtClean="0">
                <a:latin typeface="Times New Roman"/>
              </a:rPr>
              <a:t>和</a:t>
            </a:r>
            <a:r>
              <a:rPr lang="en-US" altLang="zh-CN" b="0" i="0" u="none" strike="noStrike" baseline="0" smtClean="0">
                <a:latin typeface="Times New Roman"/>
              </a:rPr>
              <a:t>dpkg</a:t>
            </a:r>
            <a:r>
              <a:rPr lang="zh-CN" altLang="en-US" b="0" i="0" u="none" strike="noStrike" baseline="0" smtClean="0">
                <a:latin typeface="Times New Roman"/>
              </a:rPr>
              <a:t>这些软件包管理器的出现，大大减少了安装软件的工作量。但系统管理员遗憾地发现，这些工具仍然不能有效地解决依赖性问题。为了安装某个软件，管理员不得不常常陷入“</a:t>
            </a:r>
            <a:r>
              <a:rPr lang="en-US" altLang="zh-CN" b="0" i="0" u="none" strike="noStrike" baseline="0" smtClean="0">
                <a:latin typeface="Times New Roman"/>
              </a:rPr>
              <a:t>A</a:t>
            </a:r>
            <a:r>
              <a:rPr lang="zh-CN" altLang="en-US" b="0" i="0" u="none" strike="noStrike" baseline="0" smtClean="0">
                <a:latin typeface="Times New Roman"/>
              </a:rPr>
              <a:t>依赖</a:t>
            </a:r>
            <a:r>
              <a:rPr lang="en-US" altLang="zh-CN" b="0" i="0" u="none" strike="noStrike" baseline="0" smtClean="0">
                <a:latin typeface="Times New Roman"/>
              </a:rPr>
              <a:t>B</a:t>
            </a:r>
            <a:r>
              <a:rPr lang="zh-CN" altLang="en-US" b="0" i="0" u="none" strike="noStrike" baseline="0" smtClean="0">
                <a:latin typeface="Times New Roman"/>
              </a:rPr>
              <a:t>，</a:t>
            </a:r>
            <a:r>
              <a:rPr lang="en-US" altLang="zh-CN" b="0" i="0" u="none" strike="noStrike" baseline="0" smtClean="0">
                <a:latin typeface="Times New Roman"/>
              </a:rPr>
              <a:t>B</a:t>
            </a:r>
            <a:r>
              <a:rPr lang="zh-CN" altLang="en-US" b="0" i="0" u="none" strike="noStrike" baseline="0" smtClean="0">
                <a:latin typeface="Times New Roman"/>
              </a:rPr>
              <a:t>依赖</a:t>
            </a:r>
            <a:r>
              <a:rPr lang="en-US" altLang="zh-CN" b="0" i="0" u="none" strike="noStrike" baseline="0" smtClean="0">
                <a:latin typeface="Times New Roman"/>
              </a:rPr>
              <a:t>C</a:t>
            </a:r>
            <a:r>
              <a:rPr lang="zh-CN" altLang="en-US" b="0" i="0" u="none" strike="noStrike" baseline="0" smtClean="0">
                <a:latin typeface="Times New Roman"/>
              </a:rPr>
              <a:t>，</a:t>
            </a:r>
            <a:r>
              <a:rPr lang="en-US" altLang="zh-CN" b="0" i="0" u="none" strike="noStrike" baseline="0" smtClean="0">
                <a:latin typeface="Times New Roman"/>
              </a:rPr>
              <a:t>C</a:t>
            </a:r>
            <a:r>
              <a:rPr lang="zh-CN" altLang="en-US" b="0" i="0" u="none" strike="noStrike" baseline="0" smtClean="0">
                <a:latin typeface="Times New Roman"/>
              </a:rPr>
              <a:t>依赖</a:t>
            </a:r>
            <a:r>
              <a:rPr lang="en-US" altLang="zh-CN" b="0" i="0" u="none" strike="noStrike" baseline="0" smtClean="0">
                <a:latin typeface="Times New Roman"/>
              </a:rPr>
              <a:t>D……”</a:t>
            </a:r>
            <a:r>
              <a:rPr lang="zh-CN" altLang="en-US" b="0" i="0" u="none" strike="noStrike" baseline="0" smtClean="0">
                <a:latin typeface="Times New Roman"/>
              </a:rPr>
              <a:t>这类无休止的纠缠中。正是着眼于解决这类问题，以</a:t>
            </a:r>
            <a:r>
              <a:rPr lang="en-US" altLang="zh-CN" b="0" i="0" u="none" strike="noStrike" baseline="0" smtClean="0">
                <a:latin typeface="Times New Roman"/>
              </a:rPr>
              <a:t>APT</a:t>
            </a:r>
            <a:r>
              <a:rPr lang="zh-CN" altLang="en-US" b="0" i="0" u="none" strike="noStrike" baseline="0" smtClean="0">
                <a:latin typeface="Times New Roman"/>
              </a:rPr>
              <a:t>、</a:t>
            </a:r>
            <a:r>
              <a:rPr lang="en-US" altLang="zh-CN" b="0" i="0" u="none" strike="noStrike" baseline="0" smtClean="0">
                <a:latin typeface="Times New Roman"/>
              </a:rPr>
              <a:t>yum</a:t>
            </a:r>
            <a:r>
              <a:rPr lang="zh-CN" altLang="en-US" b="0" i="0" u="none" strike="noStrike" baseline="0" smtClean="0">
                <a:latin typeface="Times New Roman"/>
              </a:rPr>
              <a:t>等为代表的高级软件包管理工具应运而生了。</a:t>
            </a:r>
          </a:p>
        </p:txBody>
      </p:sp>
    </p:spTree>
    <p:extLst>
      <p:ext uri="{BB962C8B-B14F-4D97-AF65-F5344CB8AC3E}">
        <p14:creationId xmlns:p14="http://schemas.microsoft.com/office/powerpoint/2010/main" val="3891713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7.5.1  APT</a:t>
            </a:r>
            <a:r>
              <a:rPr lang="zh-CN" altLang="en-US" b="0" i="0" u="none" strike="noStrike" kern="1800" baseline="0" smtClean="0">
                <a:latin typeface="Times New Roman"/>
                <a:ea typeface="黑体"/>
              </a:rPr>
              <a:t>简介</a:t>
            </a: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APT</a:t>
            </a:r>
            <a:r>
              <a:rPr lang="zh-CN" altLang="en-US" b="0" i="0" u="none" strike="noStrike" baseline="0" smtClean="0">
                <a:latin typeface="Times New Roman"/>
              </a:rPr>
              <a:t>概述</a:t>
            </a:r>
          </a:p>
        </p:txBody>
      </p:sp>
    </p:spTree>
    <p:extLst>
      <p:ext uri="{BB962C8B-B14F-4D97-AF65-F5344CB8AC3E}">
        <p14:creationId xmlns:p14="http://schemas.microsoft.com/office/powerpoint/2010/main" val="849007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7.5.2  </a:t>
            </a:r>
            <a:r>
              <a:rPr lang="zh-CN" altLang="en-US" b="0" i="0" u="none" strike="noStrike" kern="1800" baseline="0" smtClean="0">
                <a:latin typeface="Times New Roman"/>
                <a:ea typeface="黑体"/>
              </a:rPr>
              <a:t>下载和安装软件包</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使用</a:t>
            </a:r>
            <a:r>
              <a:rPr lang="en-US" altLang="zh-CN" b="0" i="0" u="none" strike="noStrike" baseline="0" smtClean="0">
                <a:latin typeface="Times New Roman"/>
              </a:rPr>
              <a:t>apt-get</a:t>
            </a:r>
            <a:r>
              <a:rPr lang="zh-CN" altLang="en-US" b="0" i="0" u="none" strike="noStrike" baseline="0" smtClean="0">
                <a:latin typeface="Times New Roman"/>
              </a:rPr>
              <a:t>命令下载和安装软件包</a:t>
            </a:r>
          </a:p>
        </p:txBody>
      </p:sp>
    </p:spTree>
    <p:extLst>
      <p:ext uri="{BB962C8B-B14F-4D97-AF65-F5344CB8AC3E}">
        <p14:creationId xmlns:p14="http://schemas.microsoft.com/office/powerpoint/2010/main" val="22313208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7.5.3</a:t>
            </a:r>
            <a:r>
              <a:rPr lang="zh-CN" altLang="en-US" b="0" i="0" u="none" strike="noStrike" kern="1800" baseline="0" smtClean="0">
                <a:latin typeface="Times New Roman"/>
                <a:ea typeface="黑体"/>
              </a:rPr>
              <a:t>  查询软件包信息</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使用</a:t>
            </a:r>
            <a:r>
              <a:rPr lang="en-US" altLang="zh-CN" b="0" i="0" u="none" strike="noStrike" baseline="0" smtClean="0">
                <a:latin typeface="Times New Roman"/>
              </a:rPr>
              <a:t>apt-cache</a:t>
            </a:r>
            <a:r>
              <a:rPr lang="zh-CN" altLang="en-US" b="0" i="0" u="none" strike="noStrike" baseline="0" smtClean="0">
                <a:latin typeface="Times New Roman"/>
              </a:rPr>
              <a:t>命令查询软件包信息</a:t>
            </a:r>
          </a:p>
        </p:txBody>
      </p:sp>
    </p:spTree>
    <p:extLst>
      <p:ext uri="{BB962C8B-B14F-4D97-AF65-F5344CB8AC3E}">
        <p14:creationId xmlns:p14="http://schemas.microsoft.com/office/powerpoint/2010/main" val="19268110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7.5.4</a:t>
            </a:r>
            <a:r>
              <a:rPr lang="zh-CN" altLang="en-US" b="0" i="0" u="none" strike="noStrike" kern="1800" baseline="0" smtClean="0">
                <a:latin typeface="Times New Roman"/>
                <a:ea typeface="黑体"/>
              </a:rPr>
              <a:t>  配置</a:t>
            </a:r>
            <a:r>
              <a:rPr lang="en-US" altLang="zh-CN" b="0" i="0" u="none" strike="noStrike" kern="1800" baseline="0" smtClean="0">
                <a:latin typeface="Times New Roman"/>
                <a:ea typeface="黑体"/>
              </a:rPr>
              <a:t>apt-get</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apt-get</a:t>
            </a:r>
            <a:r>
              <a:rPr lang="zh-CN" altLang="en-US" b="0" i="0" u="none" strike="noStrike" baseline="0" smtClean="0">
                <a:latin typeface="Times New Roman"/>
              </a:rPr>
              <a:t>安装源的存放位置</a:t>
            </a:r>
            <a:endParaRPr lang="zh-CN" altLang="en-US" b="0" i="0" u="none" strike="noStrike" baseline="0" smtClean="0">
              <a:solidFill>
                <a:srgbClr val="FF0000"/>
              </a:solidFill>
              <a:latin typeface="Times New Roman"/>
            </a:endParaRPr>
          </a:p>
        </p:txBody>
      </p:sp>
    </p:spTree>
    <p:extLst>
      <p:ext uri="{BB962C8B-B14F-4D97-AF65-F5344CB8AC3E}">
        <p14:creationId xmlns:p14="http://schemas.microsoft.com/office/powerpoint/2010/main" val="15809741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7.5.5</a:t>
            </a:r>
            <a:r>
              <a:rPr lang="zh-CN" altLang="en-US" b="0" i="0" u="none" strike="noStrike" kern="1800" baseline="0" smtClean="0">
                <a:latin typeface="Times New Roman"/>
                <a:ea typeface="黑体"/>
              </a:rPr>
              <a:t>  使用图形化的</a:t>
            </a:r>
            <a:r>
              <a:rPr lang="en-US" altLang="zh-CN" b="0" i="0" u="none" strike="noStrike" kern="1800" baseline="0" smtClean="0">
                <a:latin typeface="Times New Roman"/>
                <a:ea typeface="黑体"/>
              </a:rPr>
              <a:t>APT</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使用图形界面安装软件包</a:t>
            </a:r>
          </a:p>
        </p:txBody>
      </p:sp>
    </p:spTree>
    <p:extLst>
      <p:ext uri="{BB962C8B-B14F-4D97-AF65-F5344CB8AC3E}">
        <p14:creationId xmlns:p14="http://schemas.microsoft.com/office/powerpoint/2010/main" val="35291983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smtClean="0">
                <a:latin typeface="Times New Roman"/>
                <a:ea typeface="黑体"/>
              </a:rPr>
              <a:t>7.6  </a:t>
            </a:r>
            <a:r>
              <a:rPr lang="zh-CN" altLang="en-US" b="0" i="0" u="none" strike="noStrike" kern="1800" baseline="0" smtClean="0">
                <a:latin typeface="Times New Roman"/>
                <a:ea typeface="黑体"/>
              </a:rPr>
              <a:t>进阶：从源代码编译软件</a:t>
            </a:r>
            <a:r>
              <a:rPr lang="en-US" altLang="zh-CN" b="0" i="0" u="none" strike="noStrike" kern="1800" baseline="0" smtClean="0">
                <a:latin typeface="Times New Roman"/>
                <a:ea typeface="宋体"/>
              </a:rPr>
              <a:t>——</a:t>
            </a:r>
            <a:r>
              <a:rPr lang="zh-CN" altLang="en-US" b="0" i="0" u="none" strike="noStrike" kern="1800" baseline="0" smtClean="0">
                <a:latin typeface="Times New Roman"/>
                <a:ea typeface="黑体"/>
              </a:rPr>
              <a:t>以</a:t>
            </a:r>
            <a:r>
              <a:rPr lang="en-US" altLang="zh-CN" b="0" i="0" u="none" strike="noStrike" kern="1800" baseline="0" smtClean="0">
                <a:latin typeface="Times New Roman"/>
                <a:ea typeface="黑体"/>
              </a:rPr>
              <a:t>MPlayer</a:t>
            </a:r>
            <a:r>
              <a:rPr lang="zh-CN" altLang="en-US" b="0" i="0" u="none" strike="noStrike" kern="1800" baseline="0" smtClean="0">
                <a:latin typeface="Times New Roman"/>
                <a:ea typeface="黑体"/>
              </a:rPr>
              <a:t>为例</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从源代码编译软件从来没有一个绝对正确的流程。如果没有实例，那么本节的内容将变得毫无意义。这里以多媒体播放软件</a:t>
            </a:r>
            <a:r>
              <a:rPr lang="en-US" altLang="zh-CN" b="0" i="0" u="none" strike="noStrike" baseline="0" smtClean="0">
                <a:latin typeface="Times New Roman"/>
              </a:rPr>
              <a:t>MPlayer</a:t>
            </a:r>
            <a:r>
              <a:rPr lang="zh-CN" altLang="en-US" b="0" i="0" u="none" strike="noStrike" baseline="0" smtClean="0">
                <a:latin typeface="Times New Roman"/>
              </a:rPr>
              <a:t>为例进行讨论，尽管不同的软件有不同的编译方式，但基本思想是一致的。如果读者能够从中体会到</a:t>
            </a:r>
            <a:r>
              <a:rPr lang="en-US" altLang="zh-CN" b="0" i="0" u="none" strike="noStrike" baseline="0" smtClean="0">
                <a:latin typeface="Times New Roman"/>
              </a:rPr>
              <a:t>DIY</a:t>
            </a:r>
            <a:r>
              <a:rPr lang="zh-CN" altLang="en-US" b="0" i="0" u="none" strike="noStrike" baseline="0" smtClean="0">
                <a:latin typeface="Times New Roman"/>
              </a:rPr>
              <a:t>（自己动手）的基本思维方式，那么本节的目的也就达到了。</a:t>
            </a:r>
          </a:p>
        </p:txBody>
      </p:sp>
    </p:spTree>
    <p:extLst>
      <p:ext uri="{BB962C8B-B14F-4D97-AF65-F5344CB8AC3E}">
        <p14:creationId xmlns:p14="http://schemas.microsoft.com/office/powerpoint/2010/main" val="2271995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7.6.1  </a:t>
            </a:r>
            <a:r>
              <a:rPr lang="zh-CN" altLang="en-US" b="0" i="0" u="none" strike="noStrike" kern="1800" baseline="0" smtClean="0">
                <a:latin typeface="Times New Roman"/>
                <a:ea typeface="黑体"/>
              </a:rPr>
              <a:t>为什么要从源代码编译</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从源码编译的几个原因</a:t>
            </a:r>
          </a:p>
        </p:txBody>
      </p:sp>
    </p:spTree>
    <p:extLst>
      <p:ext uri="{BB962C8B-B14F-4D97-AF65-F5344CB8AC3E}">
        <p14:creationId xmlns:p14="http://schemas.microsoft.com/office/powerpoint/2010/main" val="1691602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7.6.2  </a:t>
            </a:r>
            <a:r>
              <a:rPr lang="zh-CN" altLang="en-US" b="0" i="0" u="none" strike="noStrike" kern="1800" baseline="0" smtClean="0">
                <a:latin typeface="Times New Roman"/>
                <a:ea typeface="黑体"/>
              </a:rPr>
              <a:t>下载和解压软件包</a:t>
            </a: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1.</a:t>
            </a:r>
            <a:r>
              <a:rPr lang="zh-CN" altLang="en-US" b="0" i="0" u="none" strike="noStrike" baseline="0" smtClean="0">
                <a:latin typeface="Times New Roman"/>
              </a:rPr>
              <a:t>下载</a:t>
            </a:r>
            <a:r>
              <a:rPr lang="en-US" altLang="zh-CN" b="0" i="0" u="none" strike="noStrike" baseline="0" smtClean="0">
                <a:latin typeface="Times New Roman"/>
              </a:rPr>
              <a:t>MPlayer</a:t>
            </a:r>
            <a:r>
              <a:rPr lang="zh-CN" altLang="en-US" b="0" i="0" u="none" strike="noStrike" baseline="0" smtClean="0">
                <a:latin typeface="Times New Roman"/>
              </a:rPr>
              <a:t>软件包</a:t>
            </a:r>
          </a:p>
          <a:p>
            <a:pPr marR="0" lvl="0" rtl="0"/>
            <a:r>
              <a:rPr lang="en-US" altLang="zh-CN" b="0" i="0" u="none" strike="noStrike" baseline="0" smtClean="0">
                <a:latin typeface="Times New Roman"/>
              </a:rPr>
              <a:t>2.</a:t>
            </a:r>
            <a:r>
              <a:rPr lang="zh-CN" altLang="en-US" b="0" i="0" u="none" strike="noStrike" baseline="0" smtClean="0">
                <a:latin typeface="Times New Roman"/>
              </a:rPr>
              <a:t>解压</a:t>
            </a:r>
            <a:r>
              <a:rPr lang="en-US" altLang="zh-CN" b="0" i="0" u="none" strike="noStrike" baseline="0" smtClean="0">
                <a:latin typeface="Times New Roman"/>
              </a:rPr>
              <a:t>MPlayer</a:t>
            </a:r>
            <a:r>
              <a:rPr lang="zh-CN" altLang="en-US" b="0" i="0" u="none" strike="noStrike" baseline="0" smtClean="0">
                <a:latin typeface="Times New Roman"/>
              </a:rPr>
              <a:t>软件包</a:t>
            </a:r>
          </a:p>
        </p:txBody>
      </p:sp>
    </p:spTree>
    <p:extLst>
      <p:ext uri="{BB962C8B-B14F-4D97-AF65-F5344CB8AC3E}">
        <p14:creationId xmlns:p14="http://schemas.microsoft.com/office/powerpoint/2010/main" val="20652015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7.6.3  </a:t>
            </a:r>
            <a:r>
              <a:rPr lang="zh-CN" altLang="en-US" b="0" i="0" u="none" strike="noStrike" kern="1800" baseline="0" smtClean="0">
                <a:latin typeface="Times New Roman"/>
                <a:ea typeface="黑体"/>
              </a:rPr>
              <a:t>正确配置软件</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配置</a:t>
            </a:r>
            <a:r>
              <a:rPr lang="en-US" altLang="zh-CN" b="0" i="0" u="none" strike="noStrike" baseline="0" smtClean="0">
                <a:latin typeface="Times New Roman"/>
              </a:rPr>
              <a:t>MPlayer</a:t>
            </a:r>
            <a:r>
              <a:rPr lang="zh-CN" altLang="en-US" b="0" i="0" u="none" strike="noStrike" baseline="0" smtClean="0">
                <a:latin typeface="Times New Roman"/>
              </a:rPr>
              <a:t>软件包</a:t>
            </a:r>
          </a:p>
        </p:txBody>
      </p:sp>
    </p:spTree>
    <p:extLst>
      <p:ext uri="{BB962C8B-B14F-4D97-AF65-F5344CB8AC3E}">
        <p14:creationId xmlns:p14="http://schemas.microsoft.com/office/powerpoint/2010/main" val="2176176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7.6.4  </a:t>
            </a:r>
            <a:r>
              <a:rPr lang="zh-CN" altLang="en-US" b="0" i="0" u="none" strike="noStrike" kern="1800" baseline="0" smtClean="0">
                <a:latin typeface="Times New Roman"/>
                <a:ea typeface="黑体"/>
              </a:rPr>
              <a:t>编译源代码</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编译</a:t>
            </a:r>
            <a:r>
              <a:rPr lang="en-US" altLang="zh-CN" b="0" i="0" u="none" strike="noStrike" baseline="0" smtClean="0">
                <a:latin typeface="Times New Roman"/>
              </a:rPr>
              <a:t>MPlayer</a:t>
            </a:r>
            <a:r>
              <a:rPr lang="zh-CN" altLang="en-US" b="0" i="0" u="none" strike="noStrike" baseline="0" smtClean="0">
                <a:latin typeface="Times New Roman"/>
              </a:rPr>
              <a:t>源码包</a:t>
            </a:r>
          </a:p>
        </p:txBody>
      </p:sp>
    </p:spTree>
    <p:extLst>
      <p:ext uri="{BB962C8B-B14F-4D97-AF65-F5344CB8AC3E}">
        <p14:creationId xmlns:p14="http://schemas.microsoft.com/office/powerpoint/2010/main" val="27920741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7.6.5  </a:t>
            </a:r>
            <a:r>
              <a:rPr lang="zh-CN" altLang="en-US" b="0" i="0" u="none" strike="noStrike" kern="1800" baseline="0" smtClean="0">
                <a:latin typeface="Times New Roman"/>
                <a:ea typeface="黑体"/>
              </a:rPr>
              <a:t>安装软件到硬盘</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安装</a:t>
            </a:r>
            <a:r>
              <a:rPr lang="en-US" altLang="zh-CN" b="0" i="0" u="none" strike="noStrike" baseline="0" smtClean="0">
                <a:latin typeface="Times New Roman"/>
              </a:rPr>
              <a:t>MPlayer</a:t>
            </a:r>
            <a:r>
              <a:rPr lang="zh-CN" altLang="en-US" b="0" i="0" u="none" strike="noStrike" baseline="0" smtClean="0">
                <a:latin typeface="Times New Roman"/>
              </a:rPr>
              <a:t>源码包</a:t>
            </a:r>
          </a:p>
        </p:txBody>
      </p:sp>
    </p:spTree>
    <p:extLst>
      <p:ext uri="{BB962C8B-B14F-4D97-AF65-F5344CB8AC3E}">
        <p14:creationId xmlns:p14="http://schemas.microsoft.com/office/powerpoint/2010/main" val="8958615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7.6.6  </a:t>
            </a:r>
            <a:r>
              <a:rPr lang="zh-CN" altLang="en-US" b="0" i="0" u="none" strike="noStrike" kern="1800" baseline="0" smtClean="0">
                <a:latin typeface="Times New Roman"/>
                <a:ea typeface="黑体"/>
              </a:rPr>
              <a:t>出错了怎么办</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启动</a:t>
            </a:r>
            <a:r>
              <a:rPr lang="en-US" altLang="zh-CN" b="0" i="0" u="none" strike="noStrike" baseline="0" smtClean="0">
                <a:latin typeface="Times New Roman"/>
              </a:rPr>
              <a:t>MPlayer</a:t>
            </a:r>
            <a:r>
              <a:rPr lang="zh-CN" altLang="en-US" b="0" i="0" u="none" strike="noStrike" baseline="0" smtClean="0">
                <a:latin typeface="Times New Roman"/>
              </a:rPr>
              <a:t>播放器</a:t>
            </a:r>
          </a:p>
        </p:txBody>
      </p:sp>
    </p:spTree>
    <p:extLst>
      <p:ext uri="{BB962C8B-B14F-4D97-AF65-F5344CB8AC3E}">
        <p14:creationId xmlns:p14="http://schemas.microsoft.com/office/powerpoint/2010/main" val="32252838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波形">
  <a:themeElements>
    <a:clrScheme name="波形">
      <a:dk1>
        <a:sysClr val="windowText" lastClr="000000"/>
      </a:dk1>
      <a:lt1>
        <a:sysClr val="window" lastClr="CCE8C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1152</Words>
  <Application>Microsoft Office PowerPoint</Application>
  <PresentationFormat>全屏显示(4:3)</PresentationFormat>
  <Paragraphs>67</Paragraphs>
  <Slides>28</Slides>
  <Notes>0</Notes>
  <HiddenSlides>0</HiddenSlides>
  <MMClips>0</MMClips>
  <ScaleCrop>false</ScaleCrop>
  <HeadingPairs>
    <vt:vector size="4" baseType="variant">
      <vt:variant>
        <vt:lpstr>主题</vt:lpstr>
      </vt:variant>
      <vt:variant>
        <vt:i4>1</vt:i4>
      </vt:variant>
      <vt:variant>
        <vt:lpstr>幻灯片标题</vt:lpstr>
      </vt:variant>
      <vt:variant>
        <vt:i4>28</vt:i4>
      </vt:variant>
    </vt:vector>
  </HeadingPairs>
  <TitlesOfParts>
    <vt:vector size="29" baseType="lpstr">
      <vt:lpstr>波形</vt:lpstr>
      <vt:lpstr>第7章  软件包管理</vt:lpstr>
      <vt:lpstr>7.1  快速上手：安装和卸载Chrome for Linux</vt:lpstr>
      <vt:lpstr>7.1.1  安装Chrome for Linux</vt:lpstr>
      <vt:lpstr>7.1.2  运行Chrome for Linux</vt:lpstr>
      <vt:lpstr>7.1.3  卸载Chrome for Linux</vt:lpstr>
      <vt:lpstr>7.2  软件包管理系统简述</vt:lpstr>
      <vt:lpstr>7.3  管理.deb软件包：dpkg</vt:lpstr>
      <vt:lpstr>7.3.1  安装软件包</vt:lpstr>
      <vt:lpstr>7.3.2  查看已安装的软件包</vt:lpstr>
      <vt:lpstr>7.3.3  卸载软件包</vt:lpstr>
      <vt:lpstr>7.4  管理RPM软件包：rpm</vt:lpstr>
      <vt:lpstr>7.4.1  安装软件包</vt:lpstr>
      <vt:lpstr>7.4.2  升级软件包</vt:lpstr>
      <vt:lpstr>7.4.3  查看已安装的软件包</vt:lpstr>
      <vt:lpstr>7.4.4  卸载软件包</vt:lpstr>
      <vt:lpstr>7.5  高级软件包工具：APT</vt:lpstr>
      <vt:lpstr>7.5.1  APT简介</vt:lpstr>
      <vt:lpstr>7.5.2  下载和安装软件包</vt:lpstr>
      <vt:lpstr>7.5.3  查询软件包信息</vt:lpstr>
      <vt:lpstr>7.5.4  配置apt-get</vt:lpstr>
      <vt:lpstr>7.5.5  使用图形化的APT</vt:lpstr>
      <vt:lpstr>7.6  进阶：从源代码编译软件——以MPlayer为例</vt:lpstr>
      <vt:lpstr>7.6.1  为什么要从源代码编译</vt:lpstr>
      <vt:lpstr>7.6.2  下载和解压软件包</vt:lpstr>
      <vt:lpstr>7.6.3  正确配置软件</vt:lpstr>
      <vt:lpstr>7.6.4  编译源代码</vt:lpstr>
      <vt:lpstr>7.6.5  安装软件到硬盘</vt:lpstr>
      <vt:lpstr>7.6.6  出错了怎么办</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第7章  软件包管理</dc:title>
  <dc:creator>User</dc:creator>
  <cp:lastModifiedBy>User</cp:lastModifiedBy>
  <cp:revision>1</cp:revision>
  <dcterms:created xsi:type="dcterms:W3CDTF">2013-01-29T02:20:36Z</dcterms:created>
  <dcterms:modified xsi:type="dcterms:W3CDTF">2013-01-29T02:20:52Z</dcterms:modified>
</cp:coreProperties>
</file>
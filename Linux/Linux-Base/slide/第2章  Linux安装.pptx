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3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F3F3F61-3330-4274-BBE4-BF2B0F905B74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4F77B12-3000-4F83-BD61-809A96442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了解了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的历史和发展过程，读者大概已经急切地想要把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安装到自己的计算机上。无所畏惧的读者可能已经在阅读本章之前就做过这样的尝试。无论这些尝试最终是成功还是失败，就从这里开始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之旅吧！</a:t>
            </a:r>
          </a:p>
        </p:txBody>
      </p:sp>
    </p:spTree>
    <p:extLst>
      <p:ext uri="{BB962C8B-B14F-4D97-AF65-F5344CB8AC3E}">
        <p14:creationId xmlns:p14="http://schemas.microsoft.com/office/powerpoint/2010/main" val="394863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安装前的准备工作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在安装这个全新的操作系统之前，需要做一些准备工作。从哪里得到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？对电脑配置有什么要求？安装会删除机器上原有的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吗？</a:t>
            </a:r>
            <a:r>
              <a:rPr lang="en-US" altLang="zh-CN" b="0" i="0" u="none" strike="noStrike" baseline="0" smtClean="0">
                <a:latin typeface="Times New Roman"/>
              </a:rPr>
              <a:t>……</a:t>
            </a:r>
            <a:r>
              <a:rPr lang="zh-CN" altLang="en-US" b="0" i="0" u="none" strike="noStrike" baseline="0" smtClean="0">
                <a:latin typeface="Times New Roman"/>
              </a:rPr>
              <a:t>对这些在论坛上经常出现的问题，本节将逐一给予回答。</a:t>
            </a:r>
          </a:p>
        </p:txBody>
      </p:sp>
    </p:spTree>
    <p:extLst>
      <p:ext uri="{BB962C8B-B14F-4D97-AF65-F5344CB8AC3E}">
        <p14:creationId xmlns:p14="http://schemas.microsoft.com/office/powerpoint/2010/main" val="167731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我能从哪里获得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获得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的安装光盘</a:t>
            </a:r>
          </a:p>
        </p:txBody>
      </p:sp>
    </p:spTree>
    <p:extLst>
      <p:ext uri="{BB962C8B-B14F-4D97-AF65-F5344CB8AC3E}">
        <p14:creationId xmlns:p14="http://schemas.microsoft.com/office/powerpoint/2010/main" val="86149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硬件要求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1.Ubuntu</a:t>
            </a:r>
            <a:r>
              <a:rPr lang="zh-CN" altLang="en-US" b="0" i="0" u="none" strike="noStrike" baseline="0" smtClean="0">
                <a:latin typeface="Times New Roman"/>
              </a:rPr>
              <a:t>发行版的硬件要求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其他发行版的硬件要求</a:t>
            </a:r>
          </a:p>
        </p:txBody>
      </p:sp>
    </p:spTree>
    <p:extLst>
      <p:ext uri="{BB962C8B-B14F-4D97-AF65-F5344CB8AC3E}">
        <p14:creationId xmlns:p14="http://schemas.microsoft.com/office/powerpoint/2010/main" val="179284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与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“同处一室”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装双系统遇到的问题</a:t>
            </a:r>
          </a:p>
        </p:txBody>
      </p:sp>
    </p:spTree>
    <p:extLst>
      <p:ext uri="{BB962C8B-B14F-4D97-AF65-F5344CB8AC3E}">
        <p14:creationId xmlns:p14="http://schemas.microsoft.com/office/powerpoint/2010/main" val="157356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2.1.4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虚拟机的使用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虚拟机示意图</a:t>
            </a:r>
            <a:endParaRPr lang="zh-CN" altLang="en-US" dirty="0"/>
          </a:p>
        </p:txBody>
      </p:sp>
      <p:pic>
        <p:nvPicPr>
          <p:cNvPr id="1026" name="Picture 2" descr="图形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717032"/>
            <a:ext cx="32480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062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2.1.5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免费的虚拟机软件：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VMware Server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1.</a:t>
            </a:r>
            <a:r>
              <a:rPr lang="zh-CN" altLang="en-US" b="0" i="0" u="none" strike="noStrike" baseline="0" dirty="0" smtClean="0">
                <a:latin typeface="Times New Roman"/>
              </a:rPr>
              <a:t>获得</a:t>
            </a:r>
            <a:r>
              <a:rPr lang="en-US" altLang="zh-CN" b="0" i="0" u="none" strike="noStrike" baseline="0" dirty="0" smtClean="0">
                <a:latin typeface="Times New Roman"/>
              </a:rPr>
              <a:t>VMware</a:t>
            </a:r>
            <a:r>
              <a:rPr lang="zh-CN" altLang="en-US" b="0" i="0" u="none" strike="noStrike" baseline="0" dirty="0" smtClean="0">
                <a:latin typeface="Times New Roman"/>
              </a:rPr>
              <a:t> </a:t>
            </a:r>
            <a:r>
              <a:rPr lang="en-US" altLang="zh-CN" b="0" i="0" u="none" strike="noStrike" baseline="0" dirty="0" smtClean="0">
                <a:latin typeface="Times New Roman"/>
              </a:rPr>
              <a:t>Server</a:t>
            </a:r>
            <a:r>
              <a:rPr lang="zh-CN" altLang="en-US" b="0" i="0" u="none" strike="noStrike" baseline="0" dirty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2.</a:t>
            </a:r>
            <a:r>
              <a:rPr lang="zh-CN" altLang="en-US" b="0" i="0" u="none" strike="noStrike" baseline="0" dirty="0" smtClean="0">
                <a:latin typeface="Times New Roman"/>
              </a:rPr>
              <a:t>安装软件</a:t>
            </a:r>
          </a:p>
        </p:txBody>
      </p:sp>
    </p:spTree>
    <p:extLst>
      <p:ext uri="{BB962C8B-B14F-4D97-AF65-F5344CB8AC3E}">
        <p14:creationId xmlns:p14="http://schemas.microsoft.com/office/powerpoint/2010/main" val="40301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至硬盘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准备工作完成之后，就可以着手将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安装到硬盘中了。如今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的安装过程已经非常“傻瓜”化，只需要轻点几下鼠标，就能够完成整个系统的安装。尽管如此，这里仍然详细地给出安装过程的每一步。同时，对于和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存在显著区别的地方，如硬盘分区的组织方式，本节将做详细的讨论。</a:t>
            </a:r>
          </a:p>
        </p:txBody>
      </p:sp>
    </p:spTree>
    <p:extLst>
      <p:ext uri="{BB962C8B-B14F-4D97-AF65-F5344CB8AC3E}">
        <p14:creationId xmlns:p14="http://schemas.microsoft.com/office/powerpoint/2010/main" val="60387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获取帮助信息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从</a:t>
            </a:r>
            <a:r>
              <a:rPr lang="en-US" altLang="zh-CN" dirty="0" smtClean="0"/>
              <a:t>Dash</a:t>
            </a:r>
            <a:r>
              <a:rPr lang="zh-CN" altLang="en-US" dirty="0" smtClean="0"/>
              <a:t>页中获取帮助信息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14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进阶：修复受损的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Grub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把这部分内容放在这里的确有一点超前，但实在没有比这样的安排更合适的了（下一章的“进阶”部分会进一步讨论这个引导程序）。如果读者觉得理解下面这些文字有困难的话，那不妨先跳过这一节，待阅读完第</a:t>
            </a:r>
            <a:r>
              <a:rPr lang="en-US" altLang="zh-CN" b="0" i="0" u="none" strike="noStrike" baseline="0" smtClean="0">
                <a:latin typeface="Times New Roman"/>
              </a:rPr>
              <a:t>8</a:t>
            </a:r>
            <a:r>
              <a:rPr lang="zh-CN" altLang="en-US" b="0" i="0" u="none" strike="noStrike" baseline="0" smtClean="0">
                <a:latin typeface="Times New Roman"/>
              </a:rPr>
              <a:t>章后再回过来学习这部分的内容。</a:t>
            </a:r>
          </a:p>
        </p:txBody>
      </p:sp>
    </p:spTree>
    <p:extLst>
      <p:ext uri="{BB962C8B-B14F-4D97-AF65-F5344CB8AC3E}">
        <p14:creationId xmlns:p14="http://schemas.microsoft.com/office/powerpoint/2010/main" val="111413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2.4.1  Windows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惹的祸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老手们告诫新用户一定要先装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，然后再安装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。但遗憾的是，新手们总有一天会打破这个规则（想一想处理中毒后的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最简单有效的办法是什么？），于是他们会在论坛上抱怨：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“我的机器是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双系统，昨天我重新安装了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，但重启后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跑哪儿去了？”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这的确不是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的错，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自作聪明地把多重引导程序</a:t>
            </a:r>
            <a:r>
              <a:rPr lang="en-US" altLang="zh-CN" b="0" i="0" u="none" strike="noStrike" baseline="0" smtClean="0">
                <a:latin typeface="Times New Roman"/>
              </a:rPr>
              <a:t>Grub</a:t>
            </a:r>
            <a:r>
              <a:rPr lang="zh-CN" altLang="en-US" b="0" i="0" u="none" strike="noStrike" baseline="0" smtClean="0">
                <a:latin typeface="Times New Roman"/>
              </a:rPr>
              <a:t>覆盖了，而自己的引导程序并没有（或者也不愿意有）引导启动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的能力。这个问题十分常见，在最近的一个星期里，已经有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用户前来寻求这方面的帮助，这也是促使笔者最后决定在本书中加入这一节的原因。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解决的方法很简单：重新安装</a:t>
            </a:r>
            <a:r>
              <a:rPr lang="en-US" altLang="zh-CN" b="0" i="0" u="none" strike="noStrike" baseline="0" smtClean="0">
                <a:latin typeface="Times New Roman"/>
              </a:rPr>
              <a:t>Grub</a:t>
            </a:r>
            <a:r>
              <a:rPr lang="zh-CN" altLang="en-US" b="0" i="0" u="none" strike="noStrike" baseline="0" smtClean="0">
                <a:latin typeface="Times New Roman"/>
              </a:rPr>
              <a:t>。当然前提是用户有一张相同版本的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安装光盘，这通常不难做到。</a:t>
            </a:r>
          </a:p>
        </p:txBody>
      </p:sp>
    </p:spTree>
    <p:extLst>
      <p:ext uri="{BB962C8B-B14F-4D97-AF65-F5344CB8AC3E}">
        <p14:creationId xmlns:p14="http://schemas.microsoft.com/office/powerpoint/2010/main" val="411395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2.4.2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使用救援光盘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latin typeface="Times New Roman"/>
              </a:rPr>
              <a:t>1.SUSELinux</a:t>
            </a:r>
            <a:r>
              <a:rPr lang="zh-CN" altLang="en-US" dirty="0" smtClean="0">
                <a:latin typeface="Times New Roman"/>
              </a:rPr>
              <a:t>的救援模式</a:t>
            </a:r>
            <a:endParaRPr lang="en-US" altLang="zh-CN" dirty="0" smtClean="0">
              <a:latin typeface="Times New Roman"/>
            </a:endParaRPr>
          </a:p>
          <a:p>
            <a:pPr lvl="0"/>
            <a:r>
              <a:rPr lang="en-US" altLang="zh-CN" dirty="0" err="1" smtClean="0">
                <a:latin typeface="Times New Roman"/>
              </a:rPr>
              <a:t>1.Ubuntu</a:t>
            </a:r>
            <a:r>
              <a:rPr lang="en-US" altLang="zh-CN" dirty="0" smtClean="0">
                <a:latin typeface="Times New Roman"/>
              </a:rPr>
              <a:t> Linux</a:t>
            </a:r>
            <a:r>
              <a:rPr lang="zh-CN" altLang="en-US" dirty="0" smtClean="0">
                <a:latin typeface="Times New Roman"/>
              </a:rPr>
              <a:t>的</a:t>
            </a:r>
            <a:r>
              <a:rPr lang="en-US" altLang="zh-CN" dirty="0" err="1" smtClean="0">
                <a:latin typeface="Times New Roman"/>
              </a:rPr>
              <a:t>LiveCD</a:t>
            </a:r>
            <a:endParaRPr lang="en-US" altLang="zh-CN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555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2.4.3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重新安装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Grub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481689"/>
              </p:ext>
            </p:extLst>
          </p:nvPr>
        </p:nvGraphicFramePr>
        <p:xfrm>
          <a:off x="961926" y="3284984"/>
          <a:ext cx="7228085" cy="188616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03189"/>
                <a:gridCol w="5624896"/>
              </a:tblGrid>
              <a:tr h="213527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 dirty="0">
                          <a:effectLst/>
                        </a:rPr>
                        <a:t>命</a:t>
                      </a:r>
                      <a:r>
                        <a:rPr lang="en-US" sz="1050" dirty="0">
                          <a:effectLst/>
                        </a:rPr>
                        <a:t>    </a:t>
                      </a:r>
                      <a:r>
                        <a:rPr lang="zh-CN" sz="1050" dirty="0">
                          <a:effectLst/>
                        </a:rPr>
                        <a:t>令</a:t>
                      </a:r>
                      <a:endParaRPr lang="zh-CN" sz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>
                          <a:effectLst/>
                        </a:rPr>
                        <a:t>含</a:t>
                      </a:r>
                      <a:r>
                        <a:rPr lang="en-US" sz="1050">
                          <a:effectLst/>
                        </a:rPr>
                        <a:t>    </a:t>
                      </a:r>
                      <a:r>
                        <a:rPr lang="zh-CN" sz="1050">
                          <a:effectLst/>
                        </a:rPr>
                        <a:t>义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13527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050" dirty="0">
                          <a:effectLst/>
                        </a:rPr>
                        <a:t>grub</a:t>
                      </a:r>
                      <a:endParaRPr lang="zh-CN" sz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>
                          <a:effectLst/>
                        </a:rPr>
                        <a:t>启动光盘上的</a:t>
                      </a:r>
                      <a:r>
                        <a:rPr lang="en-US" sz="1050">
                          <a:effectLst/>
                        </a:rPr>
                        <a:t>Grub</a:t>
                      </a:r>
                      <a:r>
                        <a:rPr lang="zh-CN" sz="1050">
                          <a:effectLst/>
                        </a:rPr>
                        <a:t>程序。如果读者正在使用</a:t>
                      </a:r>
                      <a:r>
                        <a:rPr lang="en-US" sz="1050">
                          <a:effectLst/>
                        </a:rPr>
                        <a:t>Ubuntu</a:t>
                      </a:r>
                      <a:r>
                        <a:rPr lang="zh-CN" sz="1050">
                          <a:effectLst/>
                        </a:rPr>
                        <a:t>的话，那么应该使用</a:t>
                      </a:r>
                      <a:r>
                        <a:rPr lang="en-US" sz="1050">
                          <a:effectLst/>
                        </a:rPr>
                        <a:t>sudo grub</a:t>
                      </a:r>
                      <a:r>
                        <a:rPr lang="zh-CN" sz="1050">
                          <a:effectLst/>
                        </a:rPr>
                        <a:t>以</a:t>
                      </a:r>
                      <a:r>
                        <a:rPr lang="en-US" sz="1050">
                          <a:effectLst/>
                        </a:rPr>
                        <a:t>root</a:t>
                      </a:r>
                      <a:r>
                        <a:rPr lang="zh-CN" sz="1050">
                          <a:effectLst/>
                        </a:rPr>
                        <a:t>身份运行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992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050">
                          <a:effectLst/>
                        </a:rPr>
                        <a:t>find /boot/grub/stage1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 dirty="0">
                          <a:effectLst/>
                        </a:rPr>
                        <a:t>查找硬盘上的</a:t>
                      </a:r>
                      <a:r>
                        <a:rPr lang="en-US" sz="1050" dirty="0">
                          <a:effectLst/>
                        </a:rPr>
                        <a:t>Linux</a:t>
                      </a:r>
                      <a:r>
                        <a:rPr lang="zh-CN" sz="1050" dirty="0">
                          <a:effectLst/>
                        </a:rPr>
                        <a:t>系统将</a:t>
                      </a:r>
                      <a:r>
                        <a:rPr lang="en-US" sz="1050" dirty="0">
                          <a:effectLst/>
                        </a:rPr>
                        <a:t>/boot</a:t>
                      </a:r>
                      <a:r>
                        <a:rPr lang="zh-CN" sz="1050" dirty="0">
                          <a:effectLst/>
                        </a:rPr>
                        <a:t>目录存放在哪个硬盘分区中。</a:t>
                      </a:r>
                      <a:r>
                        <a:rPr lang="en-US" sz="1050" dirty="0">
                          <a:effectLst/>
                        </a:rPr>
                        <a:t>Grub</a:t>
                      </a:r>
                      <a:r>
                        <a:rPr lang="zh-CN" sz="1050" dirty="0">
                          <a:effectLst/>
                        </a:rPr>
                        <a:t>在安装的时候需要读取这个目录中的相关配置文件</a:t>
                      </a:r>
                      <a:endParaRPr lang="zh-CN" sz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992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050">
                          <a:effectLst/>
                        </a:rPr>
                        <a:t>root (hdx,y)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>
                          <a:effectLst/>
                        </a:rPr>
                        <a:t>指示</a:t>
                      </a:r>
                      <a:r>
                        <a:rPr lang="en-US" sz="1050">
                          <a:effectLst/>
                        </a:rPr>
                        <a:t>Linux</a:t>
                      </a:r>
                      <a:r>
                        <a:rPr lang="zh-CN" sz="1050">
                          <a:effectLst/>
                        </a:rPr>
                        <a:t>内核文件所在的硬盘分区（也就是</a:t>
                      </a:r>
                      <a:r>
                        <a:rPr lang="en-US" sz="1050">
                          <a:effectLst/>
                        </a:rPr>
                        <a:t>/boot</a:t>
                      </a:r>
                      <a:r>
                        <a:rPr lang="zh-CN" sz="1050">
                          <a:effectLst/>
                        </a:rPr>
                        <a:t>目录所在的分区），将这里的（</a:t>
                      </a:r>
                      <a:r>
                        <a:rPr lang="en-US" sz="1050">
                          <a:effectLst/>
                        </a:rPr>
                        <a:t>hdx,y</a:t>
                      </a:r>
                      <a:r>
                        <a:rPr lang="zh-CN" sz="1050">
                          <a:effectLst/>
                        </a:rPr>
                        <a:t>）替换为上一行中查找到的那个分区。注意这个括号中不能存在空格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13527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050">
                          <a:effectLst/>
                        </a:rPr>
                        <a:t>setup (hd0)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>
                          <a:effectLst/>
                        </a:rPr>
                        <a:t>在第一块硬盘上安装引导程序</a:t>
                      </a:r>
                      <a:r>
                        <a:rPr lang="en-US" sz="1050">
                          <a:effectLst/>
                        </a:rPr>
                        <a:t>Grub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13527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1050">
                          <a:effectLst/>
                        </a:rPr>
                        <a:t>quit</a:t>
                      </a:r>
                      <a:endParaRPr lang="zh-CN" sz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1050" dirty="0">
                          <a:effectLst/>
                        </a:rPr>
                        <a:t>退出</a:t>
                      </a:r>
                      <a:r>
                        <a:rPr lang="en-US" sz="1050" dirty="0">
                          <a:effectLst/>
                        </a:rPr>
                        <a:t>Grub</a:t>
                      </a:r>
                      <a:r>
                        <a:rPr lang="zh-CN" sz="1050" dirty="0">
                          <a:effectLst/>
                        </a:rPr>
                        <a:t>程序</a:t>
                      </a:r>
                      <a:endParaRPr lang="zh-CN" sz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408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8</TotalTime>
  <Words>697</Words>
  <Application>Microsoft Office PowerPoint</Application>
  <PresentationFormat>全屏显示(4:3)</PresentationFormat>
  <Paragraphs>44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波形</vt:lpstr>
      <vt:lpstr>第2章  Linux安装</vt:lpstr>
      <vt:lpstr>2.1  安装前的准备工作</vt:lpstr>
      <vt:lpstr>2.1.1  我能从哪里获得Linux</vt:lpstr>
      <vt:lpstr>2.1.2  硬件要求</vt:lpstr>
      <vt:lpstr>2.1.3  与Windows“同处一室”</vt:lpstr>
      <vt:lpstr>2.1.4  虚拟机的使用</vt:lpstr>
      <vt:lpstr>2.1.5  免费的虚拟机软件：VMware Server</vt:lpstr>
      <vt:lpstr>2.2  安装Linux至硬盘</vt:lpstr>
      <vt:lpstr>2.3  获取帮助信息</vt:lpstr>
      <vt:lpstr>2.4  进阶：修复受损的Grub</vt:lpstr>
      <vt:lpstr>2.4.1  Windows惹的祸</vt:lpstr>
      <vt:lpstr>2.4.2  使用救援光盘</vt:lpstr>
      <vt:lpstr>2.4.3  重新安装Grub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Linux安装</dc:title>
  <dc:creator>User</dc:creator>
  <cp:lastModifiedBy>User</cp:lastModifiedBy>
  <cp:revision>3</cp:revision>
  <dcterms:created xsi:type="dcterms:W3CDTF">2013-01-28T10:19:18Z</dcterms:created>
  <dcterms:modified xsi:type="dcterms:W3CDTF">2013-01-31T00:52:01Z</dcterms:modified>
</cp:coreProperties>
</file>
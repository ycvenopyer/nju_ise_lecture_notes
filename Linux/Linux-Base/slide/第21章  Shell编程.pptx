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27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D2BAABBD-9616-4922-9F63-D73E1DB79EB1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F0E5B3F-3ACE-4299-BFCC-73E0D02C68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编程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无法想象没有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的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会是什么样子。从一开始，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就是黑客们的玩具，在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的世界里，没有什么是不可控的。如果想要成为一名高级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用户，那么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编程是必须跨过的一道坎。本章将从正则表达式开始，逐步介绍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编程的基本知识。这些内容对于没有任何编程经验的读者可能有点困难，不过想一想将要接触到的激动人心的技术，请打起精神来！</a:t>
            </a:r>
          </a:p>
        </p:txBody>
      </p:sp>
    </p:spTree>
    <p:extLst>
      <p:ext uri="{BB962C8B-B14F-4D97-AF65-F5344CB8AC3E}">
        <p14:creationId xmlns:p14="http://schemas.microsoft.com/office/powerpoint/2010/main" val="5054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正则表达式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正则表达式广泛地应用在各种脚本编程语言中，包括</a:t>
            </a:r>
            <a:r>
              <a:rPr lang="en-US" altLang="zh-CN" b="0" i="0" u="none" strike="noStrike" baseline="0" smtClean="0">
                <a:latin typeface="Times New Roman"/>
              </a:rPr>
              <a:t>Perl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Ruby</a:t>
            </a:r>
            <a:r>
              <a:rPr lang="zh-CN" altLang="en-US" b="0" i="0" u="none" strike="noStrike" baseline="0" smtClean="0">
                <a:latin typeface="Times New Roman"/>
              </a:rPr>
              <a:t>等。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的各种编程工具也大量采用了正则表达式。可以说，有字符串处理的地方，就有正则表达式的身影。本节简要介绍正则表达式的基本语法。在开始之前，首先关心一下正则表达式的“定义”。</a:t>
            </a:r>
          </a:p>
        </p:txBody>
      </p:sp>
    </p:spTree>
    <p:extLst>
      <p:ext uri="{BB962C8B-B14F-4D97-AF65-F5344CB8AC3E}">
        <p14:creationId xmlns:p14="http://schemas.microsoft.com/office/powerpoint/2010/main" val="382603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什么是正则表达式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正则表达式概述</a:t>
            </a:r>
          </a:p>
        </p:txBody>
      </p:sp>
    </p:spTree>
    <p:extLst>
      <p:ext uri="{BB962C8B-B14F-4D97-AF65-F5344CB8AC3E}">
        <p14:creationId xmlns:p14="http://schemas.microsoft.com/office/powerpoint/2010/main" val="49832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不同风格的正则表达式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1.POSIX</a:t>
            </a:r>
            <a:r>
              <a:rPr lang="zh-CN" altLang="en-US" b="0" i="0" u="none" strike="noStrike" baseline="0" smtClean="0">
                <a:latin typeface="Times New Roman"/>
              </a:rPr>
              <a:t>库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2.PCRE</a:t>
            </a:r>
            <a:r>
              <a:rPr lang="zh-CN" altLang="en-US" b="0" i="0" u="none" strike="noStrike" baseline="0" smtClean="0">
                <a:latin typeface="Times New Roman"/>
              </a:rPr>
              <a:t>库。</a:t>
            </a:r>
          </a:p>
        </p:txBody>
      </p:sp>
    </p:spTree>
    <p:extLst>
      <p:ext uri="{BB962C8B-B14F-4D97-AF65-F5344CB8AC3E}">
        <p14:creationId xmlns:p14="http://schemas.microsoft.com/office/powerpoint/2010/main" val="239000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快速上手：在字典中查找单词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egrep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404754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字符集和单词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匹配字符串</a:t>
            </a:r>
          </a:p>
        </p:txBody>
      </p:sp>
    </p:spTree>
    <p:extLst>
      <p:ext uri="{BB962C8B-B14F-4D97-AF65-F5344CB8AC3E}">
        <p14:creationId xmlns:p14="http://schemas.microsoft.com/office/powerpoint/2010/main" val="39814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字符类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010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位置匹配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“</a:t>
            </a:r>
            <a:r>
              <a:rPr lang="en-US" altLang="zh-CN" b="0" i="0" u="none" strike="noStrike" baseline="0" smtClean="0">
                <a:latin typeface="Times New Roman"/>
              </a:rPr>
              <a:t>^</a:t>
            </a:r>
            <a:r>
              <a:rPr lang="zh-CN" altLang="en-US" b="0" i="0" u="none" strike="noStrike" baseline="0" smtClean="0">
                <a:latin typeface="Times New Roman"/>
              </a:rPr>
              <a:t>”匹配行首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“</a:t>
            </a:r>
            <a:r>
              <a:rPr lang="en-US" altLang="zh-CN" b="0" i="0" u="none" strike="noStrike" baseline="0" smtClean="0">
                <a:latin typeface="Times New Roman"/>
              </a:rPr>
              <a:t>$</a:t>
            </a:r>
            <a:r>
              <a:rPr lang="zh-CN" altLang="en-US" b="0" i="0" u="none" strike="noStrike" baseline="0" smtClean="0">
                <a:latin typeface="Times New Roman"/>
              </a:rPr>
              <a:t>”匹配行尾</a:t>
            </a:r>
          </a:p>
        </p:txBody>
      </p:sp>
    </p:spTree>
    <p:extLst>
      <p:ext uri="{BB962C8B-B14F-4D97-AF65-F5344CB8AC3E}">
        <p14:creationId xmlns:p14="http://schemas.microsoft.com/office/powerpoint/2010/main" val="223848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21.1.7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字符转义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转义字符“</a:t>
            </a:r>
            <a:r>
              <a:rPr lang="en-US" altLang="zh-CN" b="0" i="0" u="none" strike="noStrike" baseline="0" smtClean="0">
                <a:latin typeface="Times New Roman"/>
              </a:rPr>
              <a:t>\</a:t>
            </a:r>
            <a:r>
              <a:rPr lang="zh-CN" altLang="en-US" b="0" i="0" u="none" strike="noStrike" baseline="0" smtClean="0">
                <a:latin typeface="Times New Roman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210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Times New Roman"/>
                <a:ea typeface="黑体"/>
              </a:rPr>
              <a:t>21.1.8  </a:t>
            </a:r>
            <a:r>
              <a:rPr lang="zh-CN" altLang="en-US" b="0" i="0" u="none" strike="noStrike" kern="1800" baseline="0" dirty="0" smtClean="0">
                <a:latin typeface="Times New Roman"/>
                <a:ea typeface="黑体"/>
              </a:rPr>
              <a:t>重复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endParaRPr lang="zh-CN" altLang="en-US" b="0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1415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1800" dirty="0" smtClean="0">
                <a:latin typeface="Times New Roman"/>
                <a:ea typeface="黑体"/>
              </a:rPr>
              <a:t>21.1.9  </a:t>
            </a:r>
            <a:r>
              <a:rPr lang="zh-CN" altLang="en-US" kern="1800" dirty="0" smtClean="0">
                <a:latin typeface="Times New Roman"/>
                <a:ea typeface="黑体"/>
              </a:rPr>
              <a:t>子表达式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>
                <a:latin typeface="Times New Roman"/>
              </a:rPr>
              <a:t>(or</a:t>
            </a:r>
            <a:r>
              <a:rPr lang="en-US" altLang="zh-CN" dirty="0" smtClean="0">
                <a:latin typeface="Times New Roman"/>
              </a:rPr>
              <a:t>)</a:t>
            </a:r>
            <a:endParaRPr lang="zh-CN" altLang="en-US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995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21.1.10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反义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反义“</a:t>
            </a:r>
            <a:r>
              <a:rPr lang="en-US" altLang="zh-CN" b="0" i="0" u="none" strike="noStrike" baseline="0" smtClean="0">
                <a:latin typeface="Times New Roman"/>
              </a:rPr>
              <a:t>^</a:t>
            </a:r>
            <a:r>
              <a:rPr lang="zh-CN" altLang="en-US" b="0" i="0" u="none" strike="noStrike" baseline="0" smtClean="0">
                <a:latin typeface="Times New Roman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2863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21.1.11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分支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分支字符用“</a:t>
            </a:r>
            <a:r>
              <a:rPr lang="en-US" altLang="zh-CN" b="0" i="0" u="none" strike="noStrike" baseline="0" smtClean="0">
                <a:latin typeface="Times New Roman"/>
              </a:rPr>
              <a:t>|</a:t>
            </a:r>
            <a:r>
              <a:rPr lang="zh-CN" altLang="en-US" b="0" i="0" u="none" strike="noStrike" baseline="0" smtClean="0">
                <a:latin typeface="Times New Roman"/>
              </a:rPr>
              <a:t>”来分隔</a:t>
            </a:r>
          </a:p>
        </p:txBody>
      </p:sp>
    </p:spTree>
    <p:extLst>
      <p:ext uri="{BB962C8B-B14F-4D97-AF65-F5344CB8AC3E}">
        <p14:creationId xmlns:p14="http://schemas.microsoft.com/office/powerpoint/2010/main" val="125834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21.1.12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逆向引用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(\&lt;.</a:t>
            </a:r>
            <a:r>
              <a:rPr lang="zh-CN" altLang="en-US" b="0" i="0" u="none" strike="noStrike" baseline="-25000" smtClean="0">
                <a:latin typeface="Times New Roman"/>
              </a:rPr>
              <a:t>*</a:t>
            </a:r>
            <a:r>
              <a:rPr lang="en-US" altLang="zh-CN" b="0" i="0" u="none" strike="noStrike" baseline="0" smtClean="0">
                <a:latin typeface="Times New Roman"/>
              </a:rPr>
              <a:t>\&gt;)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匹配任意长度的单词。第</a:t>
            </a:r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个子表达式。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.?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匹配</a:t>
            </a:r>
            <a:r>
              <a:rPr lang="en-US" altLang="zh-CN" b="0" i="0" u="none" strike="noStrike" baseline="0" smtClean="0">
                <a:latin typeface="Times New Roman"/>
              </a:rPr>
              <a:t>0</a:t>
            </a:r>
            <a:r>
              <a:rPr lang="zh-CN" altLang="en-US" b="0" i="0" u="none" strike="noStrike" baseline="0" smtClean="0">
                <a:latin typeface="Times New Roman"/>
              </a:rPr>
              <a:t>个或</a:t>
            </a:r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个标点符号。由于在句点之前匹配的是单词，因此句点“</a:t>
            </a:r>
            <a:r>
              <a:rPr lang="en-US" altLang="zh-CN" b="0" i="0" u="none" strike="noStrike" baseline="0" smtClean="0">
                <a:latin typeface="Times New Roman"/>
              </a:rPr>
              <a:t>.</a:t>
            </a:r>
            <a:r>
              <a:rPr lang="zh-CN" altLang="en-US" b="0" i="0" u="none" strike="noStrike" baseline="0" smtClean="0">
                <a:latin typeface="Times New Roman"/>
              </a:rPr>
              <a:t>”在这里只能匹配标点。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( )</a:t>
            </a:r>
            <a:r>
              <a:rPr lang="zh-CN" altLang="en-US" b="0" i="0" u="none" strike="noStrike" baseline="-25000" smtClean="0">
                <a:latin typeface="Times New Roman"/>
              </a:rPr>
              <a:t>*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匹配</a:t>
            </a:r>
            <a:r>
              <a:rPr lang="en-US" altLang="zh-CN" b="0" i="0" u="none" strike="noStrike" baseline="0" smtClean="0">
                <a:latin typeface="Times New Roman"/>
              </a:rPr>
              <a:t>0</a:t>
            </a:r>
            <a:r>
              <a:rPr lang="zh-CN" altLang="en-US" b="0" i="0" u="none" strike="noStrike" baseline="0" smtClean="0">
                <a:latin typeface="Times New Roman"/>
              </a:rPr>
              <a:t>个或多个空格。第</a:t>
            </a:r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个子表达式。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\1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指代第</a:t>
            </a:r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个子表达式匹配到的模式。如果第</a:t>
            </a:r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个子表达式匹配到单词</a:t>
            </a:r>
            <a:r>
              <a:rPr lang="en-US" altLang="zh-CN" b="0" i="0" u="none" strike="noStrike" baseline="0" smtClean="0">
                <a:latin typeface="Times New Roman"/>
              </a:rPr>
              <a:t>cart</a:t>
            </a:r>
            <a:r>
              <a:rPr lang="zh-CN" altLang="en-US" b="0" i="0" u="none" strike="noStrike" baseline="0" smtClean="0">
                <a:latin typeface="Times New Roman"/>
              </a:rPr>
              <a:t>，那么这里也自动成为</a:t>
            </a:r>
            <a:r>
              <a:rPr lang="en-US" altLang="zh-CN" b="0" i="0" u="none" strike="noStrike" baseline="0" smtClean="0">
                <a:latin typeface="Times New Roman"/>
              </a:rPr>
              <a:t>cart</a:t>
            </a:r>
            <a:r>
              <a:rPr lang="zh-CN" altLang="en-US" b="0" i="0" u="none" strike="noStrike" baseline="0" smtClean="0">
                <a:latin typeface="Times New Roma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0326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脚本编程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本节将正式开始介绍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脚本编程，严格地说是</a:t>
            </a:r>
            <a:r>
              <a:rPr lang="en-US" altLang="zh-CN" b="0" i="0" u="none" strike="noStrike" baseline="0" smtClean="0">
                <a:latin typeface="Times New Roman"/>
              </a:rPr>
              <a:t>BASH</a:t>
            </a:r>
            <a:r>
              <a:rPr lang="zh-CN" altLang="en-US" b="0" i="0" u="none" strike="noStrike" baseline="0" smtClean="0">
                <a:latin typeface="Times New Roman"/>
              </a:rPr>
              <a:t>编程，这个“外壳”程序将贯穿于整本书。本节将尽可能多而清晰地向读者展现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编程的魅力，但也只是“尽可能多”而已。的确，要在这样一个小节内讲述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编程的全部细节是不现实的，很多介绍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编程的努力最终都变成了厚厚的一本书。读者如果希望了解更多这方面的内容，那么介绍</a:t>
            </a:r>
            <a:r>
              <a:rPr lang="en-US" altLang="zh-CN" b="0" i="0" u="none" strike="noStrike" baseline="0" smtClean="0">
                <a:latin typeface="Times New Roman"/>
              </a:rPr>
              <a:t>UNIX Shell</a:t>
            </a:r>
            <a:r>
              <a:rPr lang="zh-CN" altLang="en-US" b="0" i="0" u="none" strike="noStrike" baseline="0" smtClean="0">
                <a:latin typeface="Times New Roman"/>
              </a:rPr>
              <a:t>编程的经典书籍都是值得推荐的资料。一再强调的是，本节的内容只适合入门。</a:t>
            </a:r>
          </a:p>
        </p:txBody>
      </p:sp>
    </p:spTree>
    <p:extLst>
      <p:ext uri="{BB962C8B-B14F-4D97-AF65-F5344CB8AC3E}">
        <p14:creationId xmlns:p14="http://schemas.microsoft.com/office/powerpoint/2010/main" val="1185345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我需要什么工具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1.Vim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Emacs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2.gedit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kate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9010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第一个程序：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Hello World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使用文本编辑器建立文件</a:t>
            </a:r>
          </a:p>
        </p:txBody>
      </p:sp>
    </p:spTree>
    <p:extLst>
      <p:ext uri="{BB962C8B-B14F-4D97-AF65-F5344CB8AC3E}">
        <p14:creationId xmlns:p14="http://schemas.microsoft.com/office/powerpoint/2010/main" val="302604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变量和运算符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本节介绍变量和运算符的使用。变量是任何一种编程语言所必备的元素，运算符也是。通过将一些信息保存在变量中，可以留作以后使用。通过本节的学习，读者将学会如何操作变量和使用运算符。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．变量的赋值和使用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．变量替换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．位置变量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BASH </a:t>
            </a:r>
            <a:r>
              <a:rPr lang="zh-CN" altLang="en-US" b="0" i="0" u="none" strike="noStrike" baseline="0" smtClean="0">
                <a:latin typeface="Times New Roman"/>
              </a:rPr>
              <a:t>引号规则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5</a:t>
            </a:r>
            <a:r>
              <a:rPr lang="zh-CN" altLang="en-US" b="0" i="0" u="none" strike="noStrike" baseline="0" smtClean="0">
                <a:latin typeface="Times New Roman"/>
              </a:rPr>
              <a:t>．运算符</a:t>
            </a:r>
          </a:p>
        </p:txBody>
      </p:sp>
    </p:spTree>
    <p:extLst>
      <p:ext uri="{BB962C8B-B14F-4D97-AF65-F5344CB8AC3E}">
        <p14:creationId xmlns:p14="http://schemas.microsoft.com/office/powerpoint/2010/main" val="3847129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表达式求值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1.num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2.expr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695231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脚本执行命令和控制语句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本节将介绍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脚本中的执行命令以及控制语句。在正常情况下，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按顺序执行每一条语句，直至碰到文件尾。但在多数情况下，需要根据情况选择相应的语句执行，或者对一段程序循环执行。这些都是通过控制语句实现的。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if</a:t>
            </a:r>
            <a:r>
              <a:rPr lang="zh-CN" altLang="en-US" b="0" i="0" u="none" strike="noStrike" baseline="0" smtClean="0">
                <a:latin typeface="Times New Roman"/>
              </a:rPr>
              <a:t>选择结构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case</a:t>
            </a:r>
            <a:r>
              <a:rPr lang="zh-CN" altLang="en-US" b="0" i="0" u="none" strike="noStrike" baseline="0" smtClean="0">
                <a:latin typeface="Times New Roman"/>
              </a:rPr>
              <a:t>多选结构</a:t>
            </a:r>
          </a:p>
        </p:txBody>
      </p:sp>
    </p:spTree>
    <p:extLst>
      <p:ext uri="{BB962C8B-B14F-4D97-AF65-F5344CB8AC3E}">
        <p14:creationId xmlns:p14="http://schemas.microsoft.com/office/powerpoint/2010/main" val="3754435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条件测试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几乎所有初学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编程的人都会对这部分内容感到由衷的困惑。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和其他编程语言在条件测试上的表现非常不同，读者在</a:t>
            </a:r>
            <a:r>
              <a:rPr lang="en-US" altLang="zh-CN" b="0" i="0" u="none" strike="noStrike" baseline="0" smtClean="0">
                <a:latin typeface="Times New Roman"/>
              </a:rPr>
              <a:t>C/C++</a:t>
            </a:r>
            <a:r>
              <a:rPr lang="zh-CN" altLang="en-US" b="0" i="0" u="none" strike="noStrike" baseline="0" smtClean="0">
                <a:latin typeface="Times New Roman"/>
              </a:rPr>
              <a:t>积累的经验甚至可能会帮倒忙。理解本节对顺利进行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编程至关重要，因此，如果读者是第一次接触的话，请耐心地读完这冗长的一节。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if</a:t>
            </a:r>
            <a:r>
              <a:rPr lang="zh-CN" altLang="en-US" b="0" i="0" u="none" strike="noStrike" baseline="0" smtClean="0">
                <a:latin typeface="Times New Roman"/>
              </a:rPr>
              <a:t>判断的依据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test</a:t>
            </a:r>
            <a:r>
              <a:rPr lang="zh-CN" altLang="en-US" b="0" i="0" u="none" strike="noStrike" baseline="0" smtClean="0">
                <a:latin typeface="Times New Roman"/>
              </a:rPr>
              <a:t>命令和空格的使用</a:t>
            </a:r>
          </a:p>
        </p:txBody>
      </p:sp>
    </p:spTree>
    <p:extLst>
      <p:ext uri="{BB962C8B-B14F-4D97-AF65-F5344CB8AC3E}">
        <p14:creationId xmlns:p14="http://schemas.microsoft.com/office/powerpoint/2010/main" val="1972868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21.2.7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循环结构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循环结构用于反复执行一段语句，这也是程序设计中的基本结构之一。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中的循环结构有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种：</a:t>
            </a:r>
            <a:r>
              <a:rPr lang="en-US" altLang="zh-CN" b="0" i="0" u="none" strike="noStrike" baseline="0" smtClean="0">
                <a:latin typeface="Times New Roman"/>
              </a:rPr>
              <a:t>while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until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for</a:t>
            </a:r>
            <a:r>
              <a:rPr lang="zh-CN" altLang="en-US" b="0" i="0" u="none" strike="noStrike" baseline="0" smtClean="0">
                <a:latin typeface="Times New Roman"/>
              </a:rPr>
              <a:t>，下面逐一介绍这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种循环语句。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while</a:t>
            </a:r>
            <a:r>
              <a:rPr lang="zh-CN" altLang="en-US" b="0" i="0" u="none" strike="noStrike" baseline="0" smtClean="0">
                <a:latin typeface="Times New Roman"/>
              </a:rPr>
              <a:t>语句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until</a:t>
            </a:r>
            <a:r>
              <a:rPr lang="zh-CN" altLang="en-US" b="0" i="0" u="none" strike="noStrike" baseline="0" smtClean="0">
                <a:latin typeface="Times New Roman"/>
              </a:rPr>
              <a:t>语句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for</a:t>
            </a:r>
            <a:r>
              <a:rPr lang="zh-CN" altLang="en-US" b="0" i="0" u="none" strike="noStrike" baseline="0" smtClean="0">
                <a:latin typeface="Times New Roman"/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321862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21.2.8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读取用户输入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read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530274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21.2.9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脚本执行命令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下面介绍另两条用于控制脚本行为的命令</a:t>
            </a:r>
            <a:r>
              <a:rPr lang="en-US" altLang="zh-CN" b="0" i="0" u="none" strike="noStrike" baseline="0" smtClean="0">
                <a:latin typeface="Times New Roman"/>
              </a:rPr>
              <a:t>exit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trap</a:t>
            </a:r>
            <a:r>
              <a:rPr lang="zh-CN" altLang="en-US" b="0" i="0" u="none" strike="noStrike" baseline="0" smtClean="0">
                <a:latin typeface="Times New Roman"/>
              </a:rPr>
              <a:t>。前者退出脚本并返回一个特定的值，后者用于捕获信号。合理地使用这两条命令，可以使脚本的表现更为灵活高效。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exit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trap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217503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21.2.10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创建命令表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12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21.2.11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其他有用的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编程工具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本节介绍一些有用的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工具。这些工具在之前的章节中没有出现，但是可能对从事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编程的用户会很有用。其中一些和脚本编程密切相关，另一些则是关于文件操作的。表</a:t>
            </a:r>
            <a:r>
              <a:rPr lang="en-US" altLang="zh-CN" b="0" i="0" u="none" strike="noStrike" baseline="0" smtClean="0">
                <a:latin typeface="Times New Roman"/>
              </a:rPr>
              <a:t>21.9</a:t>
            </a:r>
            <a:r>
              <a:rPr lang="zh-CN" altLang="en-US" b="0" i="0" u="none" strike="noStrike" baseline="0" smtClean="0">
                <a:latin typeface="Times New Roman"/>
              </a:rPr>
              <a:t>列出了这里将要介绍的命令工具及其简要描述。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cut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diff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sort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uniq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5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tr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6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wc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7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substr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8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seq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517930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21.2.12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定制工具：安全的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delete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delete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998834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定制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本节介绍如何在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中设置环境变量，以及如何使用别名。到目前为止，读者已经掌握了足够多的和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有关的知识，这部分的内容将帮助读者定制自己的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。创建一个足够顺手的工作环境总会让人心情愉快。</a:t>
            </a:r>
          </a:p>
        </p:txBody>
      </p:sp>
    </p:spTree>
    <p:extLst>
      <p:ext uri="{BB962C8B-B14F-4D97-AF65-F5344CB8AC3E}">
        <p14:creationId xmlns:p14="http://schemas.microsoft.com/office/powerpoint/2010/main" val="2540745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修改环境变量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printenv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127787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设置别名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alias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766818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21.3.3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个性化设置：修改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.bashrc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.bashrc</a:t>
            </a:r>
            <a:r>
              <a:rPr lang="zh-CN" altLang="en-US" b="0" i="0" u="none" strike="noStrike" baseline="0" smtClean="0">
                <a:latin typeface="Times New Roman"/>
              </a:rPr>
              <a:t>文件的重要性</a:t>
            </a:r>
          </a:p>
        </p:txBody>
      </p:sp>
    </p:spTree>
    <p:extLst>
      <p:ext uri="{BB962C8B-B14F-4D97-AF65-F5344CB8AC3E}">
        <p14:creationId xmlns:p14="http://schemas.microsoft.com/office/powerpoint/2010/main" val="1988280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5</TotalTime>
  <Words>1074</Words>
  <Application>Microsoft Office PowerPoint</Application>
  <PresentationFormat>全屏显示(4:3)</PresentationFormat>
  <Paragraphs>88</Paragraphs>
  <Slides>31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2" baseType="lpstr">
      <vt:lpstr>波形</vt:lpstr>
      <vt:lpstr>第21章  Shell编程</vt:lpstr>
      <vt:lpstr>21.1  正则表达式</vt:lpstr>
      <vt:lpstr>21.1.1  什么是正则表达式</vt:lpstr>
      <vt:lpstr>21.1.2  不同风格的正则表达式</vt:lpstr>
      <vt:lpstr>21.1.3  快速上手：在字典中查找单词</vt:lpstr>
      <vt:lpstr>21.1.4  字符集和单词</vt:lpstr>
      <vt:lpstr>21.1.5  字符类</vt:lpstr>
      <vt:lpstr>21.1.6  位置匹配</vt:lpstr>
      <vt:lpstr>21.1.7  字符转义</vt:lpstr>
      <vt:lpstr>21.1.8  重复</vt:lpstr>
      <vt:lpstr>21.1.9  子表达式</vt:lpstr>
      <vt:lpstr>21.1.10  反义</vt:lpstr>
      <vt:lpstr>21.1.11  分支</vt:lpstr>
      <vt:lpstr>21.1.12  逆向引用</vt:lpstr>
      <vt:lpstr>21.2  Shell脚本编程</vt:lpstr>
      <vt:lpstr>21.2.1  我需要什么工具</vt:lpstr>
      <vt:lpstr>21.2.2  第一个程序：Hello World</vt:lpstr>
      <vt:lpstr>21.2.3  变量和运算符</vt:lpstr>
      <vt:lpstr>21.2.4  表达式求值</vt:lpstr>
      <vt:lpstr>21.2.5  脚本执行命令和控制语句</vt:lpstr>
      <vt:lpstr>21.2.6  条件测试</vt:lpstr>
      <vt:lpstr>21.2.7  循环结构</vt:lpstr>
      <vt:lpstr>21.2.8  读取用户输入</vt:lpstr>
      <vt:lpstr>21.2.9  脚本执行命令</vt:lpstr>
      <vt:lpstr>21.2.10  创建命令表</vt:lpstr>
      <vt:lpstr>21.2.11  其他有用的Shell编程工具</vt:lpstr>
      <vt:lpstr>21.2.12  定制工具：安全的delete命令</vt:lpstr>
      <vt:lpstr>21.3  Shell定制</vt:lpstr>
      <vt:lpstr>21.3.1  修改环境变量</vt:lpstr>
      <vt:lpstr>21.3.2  设置别名</vt:lpstr>
      <vt:lpstr>21.3.3  个性化设置：修改.bashrc文件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第21章  Shell编程</dc:title>
  <dc:creator>User</dc:creator>
  <cp:lastModifiedBy>User</cp:lastModifiedBy>
  <cp:revision>1</cp:revision>
  <dcterms:created xsi:type="dcterms:W3CDTF">2013-01-30T06:02:10Z</dcterms:created>
  <dcterms:modified xsi:type="dcterms:W3CDTF">2013-01-30T06:07:49Z</dcterms:modified>
</cp:coreProperties>
</file>
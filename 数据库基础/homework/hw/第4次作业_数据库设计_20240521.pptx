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901" r:id="rId3"/>
  </p:sldIdLst>
  <p:sldSz cx="12192000" cy="6858000"/>
  <p:notesSz cx="6858000" cy="9144000"/>
  <p:embeddedFontLst>
    <p:embeddedFont>
      <p:font typeface="楷体" panose="02010609060101010101" charset="-122"/>
      <p:regular r:id="rId10"/>
    </p:embeddedFont>
    <p:embeddedFont>
      <p:font typeface="华文细黑" panose="02010600040101010101" charset="-122"/>
      <p:regular r:id="rId11"/>
    </p:embeddedFont>
    <p:embeddedFont>
      <p:font typeface="微软雅黑" panose="020B0503020204020204" charset="-122"/>
      <p:regular r:id="rId12"/>
    </p:embeddedFont>
    <p:embeddedFont>
      <p:font typeface="Calibri" panose="020F0502020204030204" charset="0"/>
      <p:regular r:id="rId13"/>
      <p:bold r:id="rId14"/>
      <p:italic r:id="rId15"/>
      <p:boldItalic r:id="rId16"/>
    </p:embeddedFont>
  </p:embeddedFontLst>
  <p:custDataLst>
    <p:tags r:id="rId1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PS" initials="W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2D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commentAuthors" Target="commentAuthors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gs" Target="tags/tag4.xml"/><Relationship Id="rId16" Type="http://schemas.openxmlformats.org/officeDocument/2006/relationships/font" Target="fonts/font7.fntdata"/><Relationship Id="rId15" Type="http://schemas.openxmlformats.org/officeDocument/2006/relationships/font" Target="fonts/font6.fntdata"/><Relationship Id="rId14" Type="http://schemas.openxmlformats.org/officeDocument/2006/relationships/font" Target="fonts/font5.fntdata"/><Relationship Id="rId13" Type="http://schemas.openxmlformats.org/officeDocument/2006/relationships/font" Target="fonts/font4.fntdata"/><Relationship Id="rId12" Type="http://schemas.openxmlformats.org/officeDocument/2006/relationships/font" Target="fonts/font3.fntdata"/><Relationship Id="rId11" Type="http://schemas.openxmlformats.org/officeDocument/2006/relationships/font" Target="fonts/font2.fntdata"/><Relationship Id="rId10" Type="http://schemas.openxmlformats.org/officeDocument/2006/relationships/font" Target="fonts/font1.fntdata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ch02_关系数据库@数据管理基础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ch02_关系数据库@数据管理基础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24815" y="615950"/>
            <a:ext cx="5579745" cy="59817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615950"/>
            <a:ext cx="5588635" cy="59817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ch02_关系数据库@数据管理基础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521970"/>
          </a:xfrm>
        </p:spPr>
        <p:txBody>
          <a:bodyPr wrap="square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24800" y="604203"/>
            <a:ext cx="5580000" cy="823912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24815" y="1428115"/>
            <a:ext cx="5579745" cy="518668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604520"/>
            <a:ext cx="5589270" cy="823595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1428115"/>
            <a:ext cx="5589270" cy="518668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ch02_关系数据库@数据管理基础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ch02_关系数据库@数据管理基础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ch02_关系数据库@数据管理基础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horz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ch02_关系数据库@数据管理基础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-635" y="0"/>
            <a:ext cx="12192635" cy="59563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</p:spPr>
        <p:txBody>
          <a:bodyPr vert="horz" wrap="square" lIns="91440" tIns="82550" rIns="91440" bIns="82550" rtlCol="0" anchor="ctr">
            <a:no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24180" y="687070"/>
            <a:ext cx="11343005" cy="58978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0" y="6696000"/>
            <a:ext cx="4114800" cy="152400"/>
          </a:xfrm>
          <a:prstGeom prst="rect">
            <a:avLst/>
          </a:prstGeom>
        </p:spPr>
        <p:txBody>
          <a:bodyPr vert="horz" lIns="91440" tIns="0" rIns="91440" bIns="0" rtlCol="0" anchor="ctr">
            <a:spAutoFit/>
          </a:bodyPr>
          <a:lstStyle>
            <a:lvl1pPr algn="l">
              <a:defRPr sz="1000" b="1" i="1">
                <a:solidFill>
                  <a:schemeClr val="tx1">
                    <a:tint val="75000"/>
                  </a:schemeClr>
                </a:solidFill>
                <a:latin typeface="楷体" panose="02010609060101010101" charset="-122"/>
                <a:ea typeface="楷体" panose="02010609060101010101" charset="-122"/>
              </a:defRPr>
            </a:lvl1pPr>
          </a:lstStyle>
          <a:p>
            <a:r>
              <a:rPr lang="zh-CN" altLang="en-US"/>
              <a:t>ch02_关系数据库@数据管理基础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461115" y="6696000"/>
            <a:ext cx="730885" cy="153670"/>
          </a:xfrm>
          <a:prstGeom prst="rect">
            <a:avLst/>
          </a:prstGeom>
        </p:spPr>
        <p:txBody>
          <a:bodyPr vert="horz" wrap="square" lIns="91440" tIns="0" rIns="91440" bIns="0" rtlCol="0" anchor="ctr">
            <a:spAutoFit/>
          </a:bodyPr>
          <a:lstStyle>
            <a:lvl1pPr algn="r">
              <a:defRPr sz="1000" b="1" i="1">
                <a:solidFill>
                  <a:schemeClr val="tx1">
                    <a:tint val="75000"/>
                  </a:schemeClr>
                </a:solidFill>
                <a:latin typeface="楷体" panose="02010609060101010101" charset="-122"/>
                <a:ea typeface="楷体" panose="02010609060101010101" charset="-122"/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dt="0"/>
  <p:txStyles>
    <p:titleStyle>
      <a:lvl1pPr algn="ct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None/>
        <a:defRPr sz="28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spcAft>
          <a:spcPts val="0"/>
        </a:spcAft>
        <a:buClr>
          <a:srgbClr val="C00000"/>
        </a:buClr>
        <a:buSzPct val="85000"/>
        <a:buFont typeface="Wingdings" panose="05000000000000000000" charset="0"/>
        <a:buChar char="q"/>
        <a:defRPr sz="3000" b="1" kern="1200">
          <a:solidFill>
            <a:srgbClr val="1F2DA8"/>
          </a:solidFill>
          <a:latin typeface="楷体" panose="02010609060101010101" charset="-122"/>
          <a:ea typeface="楷体" panose="02010609060101010101" charset="-122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>
          <a:srgbClr val="C00000"/>
        </a:buClr>
        <a:buSzPct val="85000"/>
        <a:buFont typeface="Wingdings" panose="05000000000000000000" charset="0"/>
        <a:buChar char="Ø"/>
        <a:defRPr sz="2800" b="1" kern="1200">
          <a:solidFill>
            <a:srgbClr val="1F2DA8"/>
          </a:solidFill>
          <a:latin typeface="楷体" panose="02010609060101010101" charset="-122"/>
          <a:ea typeface="楷体" panose="02010609060101010101" charset="-122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>
          <a:srgbClr val="C00000"/>
        </a:buClr>
        <a:buSzPct val="85000"/>
        <a:buFont typeface="Arial" panose="020B0604020202020204" pitchFamily="34" charset="0"/>
        <a:buChar char="●"/>
        <a:defRPr sz="2800" b="1" kern="1200">
          <a:solidFill>
            <a:srgbClr val="1F2DA8"/>
          </a:solidFill>
          <a:latin typeface="楷体" panose="02010609060101010101" charset="-122"/>
          <a:ea typeface="楷体" panose="02010609060101010101" charset="-122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>
          <a:srgbClr val="C00000"/>
        </a:buClr>
        <a:buSzPct val="85000"/>
        <a:buFont typeface="Arial" panose="020B0604020202020204" pitchFamily="34" charset="0"/>
        <a:buChar char="‒"/>
        <a:defRPr sz="2800" b="1" kern="1200">
          <a:solidFill>
            <a:srgbClr val="1F2DA8"/>
          </a:solidFill>
          <a:latin typeface="楷体" panose="02010609060101010101" charset="-122"/>
          <a:ea typeface="楷体" panose="02010609060101010101" charset="-122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>
          <a:srgbClr val="C00000"/>
        </a:buClr>
        <a:buSzPct val="85000"/>
        <a:buFont typeface="Wingdings" panose="05000000000000000000" charset="0"/>
        <a:buChar char=""/>
        <a:defRPr sz="2800" b="1" kern="1200">
          <a:solidFill>
            <a:srgbClr val="1F2DA8"/>
          </a:solidFill>
          <a:latin typeface="楷体" panose="02010609060101010101" charset="-122"/>
          <a:ea typeface="楷体" panose="02010609060101010101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4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2192635" cy="595630"/>
          </a:xfrm>
        </p:spPr>
        <p:txBody>
          <a:bodyPr/>
          <a:p>
            <a:r>
              <a:rPr lang="en-US" altLang="zh-CN" sz="2000" b="1">
                <a:solidFill>
                  <a:srgbClr val="C00000"/>
                </a:soli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  <a:sym typeface="+mn-ea"/>
              </a:rPr>
              <a:t>H04 - </a:t>
            </a:r>
            <a:r>
              <a:rPr lang="zh-CN" altLang="en-US" sz="2000" b="1">
                <a:solidFill>
                  <a:srgbClr val="C00000"/>
                </a:soli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  <a:sym typeface="+mn-ea"/>
              </a:rPr>
              <a:t>数据库设计</a:t>
            </a:r>
            <a:r>
              <a:rPr lang="zh-CN" altLang="en-US" sz="2000" b="1">
                <a:solidFill>
                  <a:schemeClr val="tx1"/>
                </a:soli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  <a:sym typeface="+mn-ea"/>
              </a:rPr>
              <a:t>（</a:t>
            </a:r>
            <a:r>
              <a:rPr lang="zh-CN" altLang="en-US" sz="2000" b="1">
                <a:solidFill>
                  <a:schemeClr val="tx1"/>
                </a:soli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  <a:sym typeface="+mn-ea"/>
              </a:rPr>
              <a:t>作业提交：</a:t>
            </a:r>
            <a:r>
              <a:rPr lang="en-US" altLang="zh-CN" sz="2000" b="1">
                <a:solidFill>
                  <a:schemeClr val="tx1"/>
                </a:soli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  <a:sym typeface="+mn-ea"/>
              </a:rPr>
              <a:t>PDF</a:t>
            </a:r>
            <a:r>
              <a:rPr lang="zh-CN" altLang="en-US" sz="2000" b="1">
                <a:solidFill>
                  <a:schemeClr val="tx1"/>
                </a:soli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  <a:sym typeface="+mn-ea"/>
              </a:rPr>
              <a:t>文件，文件名为</a:t>
            </a:r>
            <a:r>
              <a:rPr lang="en-US" altLang="zh-CN" sz="2000" b="1">
                <a:solidFill>
                  <a:schemeClr val="tx1"/>
                </a:soli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  <a:sym typeface="+mn-ea"/>
              </a:rPr>
              <a:t>‘</a:t>
            </a:r>
            <a:r>
              <a:rPr lang="zh-CN" altLang="en-US" sz="2000" b="1">
                <a:solidFill>
                  <a:schemeClr val="tx1"/>
                </a:soli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  <a:sym typeface="+mn-ea"/>
              </a:rPr>
              <a:t>学号</a:t>
            </a:r>
            <a:r>
              <a:rPr lang="en-US" altLang="zh-CN" sz="2000" b="1">
                <a:solidFill>
                  <a:schemeClr val="tx1"/>
                </a:soli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  <a:sym typeface="+mn-ea"/>
              </a:rPr>
              <a:t>+</a:t>
            </a:r>
            <a:r>
              <a:rPr lang="zh-CN" altLang="en-US" sz="2000" b="1">
                <a:solidFill>
                  <a:schemeClr val="tx1"/>
                </a:soli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  <a:sym typeface="+mn-ea"/>
              </a:rPr>
              <a:t>姓名</a:t>
            </a:r>
            <a:r>
              <a:rPr lang="en-US" altLang="zh-CN" sz="2000" b="1">
                <a:solidFill>
                  <a:schemeClr val="tx1"/>
                </a:soli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  <a:sym typeface="+mn-ea"/>
              </a:rPr>
              <a:t>’</a:t>
            </a:r>
            <a:r>
              <a:rPr lang="zh-CN" altLang="en-US" sz="2000" b="1">
                <a:solidFill>
                  <a:schemeClr val="tx1"/>
                </a:soli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  <a:sym typeface="+mn-ea"/>
              </a:rPr>
              <a:t>，提交截止时间：</a:t>
            </a:r>
            <a:r>
              <a:rPr lang="en-US" altLang="zh-CN" sz="2000" b="1">
                <a:solidFill>
                  <a:srgbClr val="C00000"/>
                </a:soli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  <a:sym typeface="+mn-ea"/>
              </a:rPr>
              <a:t>2024.05.28</a:t>
            </a:r>
            <a:r>
              <a:rPr lang="zh-CN" altLang="en-US" sz="2000" b="1">
                <a:solidFill>
                  <a:schemeClr val="tx1"/>
                </a:soli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  <a:sym typeface="+mn-ea"/>
              </a:rPr>
              <a:t>）</a:t>
            </a:r>
            <a:endParaRPr lang="zh-CN" altLang="en-US" sz="2000" b="1">
              <a:solidFill>
                <a:schemeClr val="tx1"/>
              </a:solidFill>
              <a:latin typeface="华文细黑" panose="02010600040101010101" charset="-122"/>
              <a:ea typeface="华文细黑" panose="02010600040101010101" charset="-122"/>
              <a:cs typeface="华文细黑" panose="02010600040101010101" charset="-122"/>
              <a:sym typeface="+mn-ea"/>
            </a:endParaRPr>
          </a:p>
        </p:txBody>
      </p:sp>
      <p:sp>
        <p:nvSpPr>
          <p:cNvPr id="105473" name="Rectangle 3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52095" y="659130"/>
            <a:ext cx="11672570" cy="6031865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txBody>
          <a:bodyPr wrap="square" anchor="t">
            <a:noAutofit/>
          </a:bodyPr>
          <a:lstStyle>
            <a:lvl1pPr marL="342900" lvl="0" indent="-342900" algn="l" defTabSz="91440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85000"/>
              <a:buFont typeface="Wingdings" panose="05000000000000000000" pitchFamily="2" charset="2"/>
              <a:buChar char="q"/>
              <a:defRPr sz="2400" b="1" i="0" u="none" kern="1200" baseline="0">
                <a:solidFill>
                  <a:schemeClr val="accent2"/>
                </a:solidFill>
                <a:latin typeface="Times New Roman" panose="02020603050405020304" pitchFamily="2" charset="0"/>
                <a:ea typeface="楷体" panose="02010609060101010101" charset="-122"/>
                <a:cs typeface="+mn-cs"/>
              </a:defRPr>
            </a:lvl1pPr>
            <a:lvl2pPr marL="742950" lvl="1" indent="-285750" algn="l" defTabSz="91440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85000"/>
              <a:buFont typeface="Wingdings" panose="05000000000000000000" pitchFamily="2" charset="2"/>
              <a:buChar char="Ø"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楷体" panose="02010609060101010101" charset="-122"/>
                <a:cs typeface="+mn-cs"/>
              </a:defRPr>
            </a:lvl2pPr>
            <a:lvl3pPr marL="1143000" lvl="2" indent="-228600" algn="l" defTabSz="91440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Wingdings 2" panose="05020102010507070707" charset="0"/>
              <a:buChar char="¡"/>
              <a:defRPr sz="2400" b="1" i="0" u="none" kern="1200" baseline="0">
                <a:solidFill>
                  <a:schemeClr val="accent2"/>
                </a:solidFill>
                <a:latin typeface="Times New Roman" panose="02020603050405020304" pitchFamily="2" charset="0"/>
                <a:ea typeface="楷体" panose="02010609060101010101" charset="-122"/>
                <a:cs typeface="+mn-cs"/>
              </a:defRPr>
            </a:lvl3pPr>
            <a:lvl4pPr marL="1600200" lvl="3" indent="-228600" algn="l" defTabSz="91440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Arial" panose="020B0604020202020204" pitchFamily="34" charset="0"/>
              <a:buChar char="‒"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2" charset="0"/>
                <a:ea typeface="楷体" panose="02010609060101010101" charset="-122"/>
                <a:cs typeface="+mn-cs"/>
              </a:defRPr>
            </a:lvl4pPr>
            <a:lvl5pPr marL="2057400" lvl="4" indent="-228600" algn="l" defTabSz="91440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Wingdings" panose="05000000000000000000" charset="0"/>
              <a:buChar char=""/>
              <a:defRPr sz="2400" b="1" i="0" u="none" kern="1200" baseline="0">
                <a:solidFill>
                  <a:schemeClr val="accent2"/>
                </a:solidFill>
                <a:latin typeface="Times New Roman" panose="02020603050405020304" pitchFamily="2" charset="0"/>
                <a:ea typeface="楷体" panose="02010609060101010101" charset="-122"/>
                <a:cs typeface="+mn-cs"/>
              </a:defRPr>
            </a:lvl5pPr>
            <a:lvl6pPr marL="2514600" lvl="5" indent="-228600" algn="l" defTabSz="91440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¤"/>
              <a:defRPr sz="2000" b="1" i="0" u="none" kern="1200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¤"/>
              <a:defRPr sz="2000" b="1" i="0" u="none" kern="1200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¤"/>
              <a:defRPr sz="2000" b="1" i="0" u="none" kern="1200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¤"/>
              <a:defRPr sz="2000" b="1" i="0" u="none" kern="1200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353695">
              <a:lnSpc>
                <a:spcPct val="100000"/>
              </a:lnSpc>
              <a:buNone/>
            </a:pPr>
            <a:r>
              <a:rPr lang="zh-CN" altLang="en-US" sz="1800">
                <a:solidFill>
                  <a:srgbClr val="0000CC"/>
                </a:solidFill>
                <a:cs typeface="Times New Roman" panose="02020603050405020304" pitchFamily="2" charset="0"/>
                <a:sym typeface="+mn-ea"/>
              </a:rPr>
              <a:t>设有一个民用航空旅客运输</a:t>
            </a:r>
            <a:r>
              <a:rPr lang="zh-CN" altLang="en-US" sz="1800">
                <a:solidFill>
                  <a:srgbClr val="0000CC"/>
                </a:solidFill>
                <a:cs typeface="Times New Roman" panose="02020603050405020304" pitchFamily="2" charset="0"/>
                <a:sym typeface="+mn-ea"/>
              </a:rPr>
              <a:t>航班管理系统，需要管理的信息有：</a:t>
            </a:r>
            <a:endParaRPr lang="zh-CN" altLang="en-US" sz="1800">
              <a:solidFill>
                <a:srgbClr val="0000CC"/>
              </a:solidFill>
              <a:cs typeface="Times New Roman" panose="02020603050405020304" pitchFamily="2" charset="0"/>
              <a:sym typeface="+mn-ea"/>
            </a:endParaRPr>
          </a:p>
          <a:p>
            <a:pPr marL="367030" lvl="0" indent="-354330">
              <a:lnSpc>
                <a:spcPct val="100000"/>
              </a:lnSpc>
              <a:buFont typeface="+mj-ea"/>
              <a:buAutoNum type="circleNumDbPlain"/>
            </a:pPr>
            <a:r>
              <a:rPr lang="zh-CN" altLang="en-US" sz="1800">
                <a:solidFill>
                  <a:srgbClr val="0000CC"/>
                </a:solidFill>
                <a:cs typeface="Times New Roman" panose="02020603050405020304" pitchFamily="2" charset="0"/>
                <a:sym typeface="+mn-ea"/>
              </a:rPr>
              <a:t>飞机场的编号</a:t>
            </a:r>
            <a:r>
              <a:rPr lang="zh-CN" altLang="en-US" sz="1800">
                <a:solidFill>
                  <a:srgbClr val="0000CC"/>
                </a:solidFill>
                <a:cs typeface="Times New Roman" panose="02020603050405020304" pitchFamily="2" charset="0"/>
                <a:sym typeface="+mn-ea"/>
              </a:rPr>
              <a:t>和</a:t>
            </a:r>
            <a:r>
              <a:rPr lang="zh-CN" altLang="en-US" sz="1800">
                <a:solidFill>
                  <a:srgbClr val="0000CC"/>
                </a:solidFill>
                <a:cs typeface="Times New Roman" panose="02020603050405020304" pitchFamily="2" charset="0"/>
                <a:sym typeface="+mn-ea"/>
              </a:rPr>
              <a:t>名称；飞机的编号</a:t>
            </a:r>
            <a:r>
              <a:rPr lang="zh-CN" altLang="en-US" sz="1800">
                <a:solidFill>
                  <a:srgbClr val="0000CC"/>
                </a:solidFill>
                <a:cs typeface="Times New Roman" panose="02020603050405020304" pitchFamily="2" charset="0"/>
                <a:sym typeface="+mn-ea"/>
              </a:rPr>
              <a:t>、航空公司编号</a:t>
            </a:r>
            <a:r>
              <a:rPr lang="zh-CN" altLang="en-US" sz="1800">
                <a:solidFill>
                  <a:srgbClr val="0000CC"/>
                </a:solidFill>
                <a:cs typeface="Times New Roman" panose="02020603050405020304" pitchFamily="2" charset="0"/>
                <a:sym typeface="+mn-ea"/>
              </a:rPr>
              <a:t>、机型、累计飞行小时，</a:t>
            </a:r>
            <a:r>
              <a:rPr lang="zh-CN" altLang="en-US" sz="1800">
                <a:solidFill>
                  <a:srgbClr val="0000CC"/>
                </a:solidFill>
                <a:cs typeface="Times New Roman" panose="02020603050405020304" pitchFamily="2" charset="0"/>
                <a:sym typeface="+mn-ea"/>
              </a:rPr>
              <a:t>一架飞机只能属于一家</a:t>
            </a:r>
            <a:r>
              <a:rPr lang="zh-CN" altLang="en-US" sz="1800">
                <a:solidFill>
                  <a:srgbClr val="0000CC"/>
                </a:solidFill>
                <a:cs typeface="Times New Roman" panose="02020603050405020304" pitchFamily="2" charset="0"/>
                <a:sym typeface="+mn-ea"/>
              </a:rPr>
              <a:t>航空公司。</a:t>
            </a:r>
            <a:endParaRPr lang="zh-CN" altLang="en-US" sz="1800">
              <a:solidFill>
                <a:srgbClr val="0000CC"/>
              </a:solidFill>
              <a:cs typeface="Times New Roman" panose="02020603050405020304" pitchFamily="2" charset="0"/>
              <a:sym typeface="+mn-ea"/>
            </a:endParaRPr>
          </a:p>
          <a:p>
            <a:pPr marL="367030" lvl="0" indent="-354330">
              <a:lnSpc>
                <a:spcPct val="100000"/>
              </a:lnSpc>
              <a:buFont typeface="+mj-ea"/>
              <a:buAutoNum type="circleNumDbPlain"/>
            </a:pPr>
            <a:r>
              <a:rPr lang="zh-CN" altLang="en-US" sz="1800">
                <a:solidFill>
                  <a:srgbClr val="0000CC"/>
                </a:solidFill>
                <a:cs typeface="Times New Roman" panose="02020603050405020304" pitchFamily="2" charset="0"/>
                <a:sym typeface="+mn-ea"/>
              </a:rPr>
              <a:t>航空公司职工的身份证号、姓名、当前就职的航空公司编号、聘用类型</a:t>
            </a:r>
            <a:r>
              <a:rPr lang="zh-CN" altLang="en-US" sz="1800">
                <a:solidFill>
                  <a:srgbClr val="0000CC"/>
                </a:solidFill>
                <a:cs typeface="Times New Roman" panose="02020603050405020304" pitchFamily="2" charset="0"/>
                <a:sym typeface="+mn-ea"/>
              </a:rPr>
              <a:t>及聘用合同号。聘用类型分飞行员、乘务人员、其他三种类型；飞行员的信息还包括飞机驾驶执照的编号、执照类型和总飞行小时；乘务人员的信息还包括航空服务员证书编号</a:t>
            </a:r>
            <a:r>
              <a:rPr lang="zh-CN" altLang="en-US" sz="1800">
                <a:solidFill>
                  <a:srgbClr val="0000CC"/>
                </a:solidFill>
                <a:cs typeface="Times New Roman" panose="02020603050405020304" pitchFamily="2" charset="0"/>
                <a:sym typeface="+mn-ea"/>
              </a:rPr>
              <a:t>和上年度</a:t>
            </a:r>
            <a:r>
              <a:rPr lang="zh-CN" altLang="en-US" sz="1800">
                <a:solidFill>
                  <a:srgbClr val="0000CC"/>
                </a:solidFill>
                <a:cs typeface="Times New Roman" panose="02020603050405020304" pitchFamily="2" charset="0"/>
                <a:sym typeface="+mn-ea"/>
              </a:rPr>
              <a:t>总飞行小时。</a:t>
            </a:r>
            <a:endParaRPr lang="zh-CN" altLang="en-US" sz="1800">
              <a:solidFill>
                <a:srgbClr val="0000CC"/>
              </a:solidFill>
              <a:cs typeface="Times New Roman" panose="02020603050405020304" pitchFamily="2" charset="0"/>
              <a:sym typeface="+mn-ea"/>
            </a:endParaRPr>
          </a:p>
          <a:p>
            <a:pPr marL="367030" lvl="0" indent="-354330">
              <a:lnSpc>
                <a:spcPct val="100000"/>
              </a:lnSpc>
              <a:buFont typeface="+mj-ea"/>
              <a:buAutoNum type="circleNumDbPlain"/>
            </a:pPr>
            <a:r>
              <a:rPr lang="zh-CN" altLang="en-US" sz="1800">
                <a:solidFill>
                  <a:srgbClr val="0000CC"/>
                </a:solidFill>
                <a:cs typeface="Times New Roman" panose="02020603050405020304" pitchFamily="2" charset="0"/>
                <a:sym typeface="+mn-ea"/>
              </a:rPr>
              <a:t>航班的航班号</a:t>
            </a:r>
            <a:r>
              <a:rPr lang="zh-CN" altLang="en-US" sz="1800">
                <a:solidFill>
                  <a:srgbClr val="0000CC"/>
                </a:solidFill>
                <a:cs typeface="Times New Roman" panose="02020603050405020304" pitchFamily="2" charset="0"/>
                <a:sym typeface="+mn-ea"/>
              </a:rPr>
              <a:t>、航空公司编号</a:t>
            </a:r>
            <a:r>
              <a:rPr lang="zh-CN" altLang="en-US" sz="1800">
                <a:solidFill>
                  <a:srgbClr val="0000CC"/>
                </a:solidFill>
                <a:cs typeface="Times New Roman" panose="02020603050405020304" pitchFamily="2" charset="0"/>
                <a:sym typeface="+mn-ea"/>
              </a:rPr>
              <a:t>、飞机机型和最大载客人数。这里的航班是指飞机定期自始发机场起飞，按规定航线经经停</a:t>
            </a:r>
            <a:r>
              <a:rPr lang="zh-CN" altLang="en-US" sz="1800">
                <a:solidFill>
                  <a:srgbClr val="0000CC"/>
                </a:solidFill>
                <a:cs typeface="Times New Roman" panose="02020603050405020304" pitchFamily="2" charset="0"/>
                <a:sym typeface="+mn-ea"/>
              </a:rPr>
              <a:t>机场</a:t>
            </a:r>
            <a:r>
              <a:rPr lang="zh-CN" altLang="en-US" sz="1800">
                <a:solidFill>
                  <a:srgbClr val="0000CC"/>
                </a:solidFill>
                <a:cs typeface="Times New Roman" panose="02020603050405020304" pitchFamily="2" charset="0"/>
                <a:sym typeface="+mn-ea"/>
              </a:rPr>
              <a:t>至终点</a:t>
            </a:r>
            <a:r>
              <a:rPr lang="zh-CN" altLang="en-US" sz="1800">
                <a:solidFill>
                  <a:srgbClr val="0000CC"/>
                </a:solidFill>
                <a:cs typeface="Times New Roman" panose="02020603050405020304" pitchFamily="2" charset="0"/>
                <a:sym typeface="+mn-ea"/>
              </a:rPr>
              <a:t>机场</a:t>
            </a:r>
            <a:r>
              <a:rPr lang="zh-CN" altLang="en-US" sz="1800">
                <a:solidFill>
                  <a:srgbClr val="0000CC"/>
                </a:solidFill>
                <a:cs typeface="Times New Roman" panose="02020603050405020304" pitchFamily="2" charset="0"/>
                <a:sym typeface="+mn-ea"/>
              </a:rPr>
              <a:t>或直达终点</a:t>
            </a:r>
            <a:r>
              <a:rPr lang="zh-CN" altLang="en-US" sz="1800">
                <a:solidFill>
                  <a:srgbClr val="0000CC"/>
                </a:solidFill>
                <a:cs typeface="Times New Roman" panose="02020603050405020304" pitchFamily="2" charset="0"/>
                <a:sym typeface="+mn-ea"/>
              </a:rPr>
              <a:t>机场</a:t>
            </a:r>
            <a:r>
              <a:rPr lang="zh-CN" altLang="en-US" sz="1800">
                <a:solidFill>
                  <a:srgbClr val="0000CC"/>
                </a:solidFill>
                <a:cs typeface="Times New Roman" panose="02020603050405020304" pitchFamily="2" charset="0"/>
                <a:sym typeface="+mn-ea"/>
              </a:rPr>
              <a:t>的飞行。</a:t>
            </a:r>
            <a:endParaRPr lang="zh-CN" altLang="en-US" sz="1800">
              <a:solidFill>
                <a:srgbClr val="0000CC"/>
              </a:solidFill>
              <a:cs typeface="Times New Roman" panose="02020603050405020304" pitchFamily="2" charset="0"/>
              <a:sym typeface="+mn-ea"/>
            </a:endParaRPr>
          </a:p>
          <a:p>
            <a:pPr marL="367030" lvl="0" indent="-354330">
              <a:lnSpc>
                <a:spcPct val="100000"/>
              </a:lnSpc>
              <a:buFont typeface="+mj-ea"/>
              <a:buAutoNum type="circleNumDbPlain"/>
            </a:pPr>
            <a:r>
              <a:rPr lang="zh-CN" altLang="en-US" sz="1800">
                <a:solidFill>
                  <a:srgbClr val="0000CC"/>
                </a:solidFill>
                <a:cs typeface="Times New Roman" panose="02020603050405020304" pitchFamily="2" charset="0"/>
                <a:sym typeface="+mn-ea"/>
              </a:rPr>
              <a:t>航班时刻表：每个航班在每个机场（</a:t>
            </a:r>
            <a:r>
              <a:rPr lang="zh-CN" altLang="en-US" sz="1800">
                <a:solidFill>
                  <a:srgbClr val="0000CC"/>
                </a:solidFill>
                <a:cs typeface="Times New Roman" panose="02020603050405020304" pitchFamily="2" charset="0"/>
                <a:sym typeface="+mn-ea"/>
              </a:rPr>
              <a:t>包括始发机场、终点机场和经停机场）</a:t>
            </a:r>
            <a:r>
              <a:rPr lang="zh-CN" altLang="en-US" sz="1800">
                <a:solidFill>
                  <a:srgbClr val="0000CC"/>
                </a:solidFill>
                <a:cs typeface="Times New Roman" panose="02020603050405020304" pitchFamily="2" charset="0"/>
                <a:sym typeface="+mn-ea"/>
              </a:rPr>
              <a:t>的计划</a:t>
            </a:r>
            <a:r>
              <a:rPr lang="zh-CN" altLang="en-US" sz="1800">
                <a:solidFill>
                  <a:srgbClr val="0000CC"/>
                </a:solidFill>
                <a:cs typeface="Times New Roman" panose="02020603050405020304" pitchFamily="2" charset="0"/>
                <a:sym typeface="+mn-ea"/>
              </a:rPr>
              <a:t>起飞</a:t>
            </a:r>
            <a:r>
              <a:rPr lang="zh-CN" altLang="en-US" sz="1800">
                <a:solidFill>
                  <a:srgbClr val="0000CC"/>
                </a:solidFill>
                <a:cs typeface="Times New Roman" panose="02020603050405020304" pitchFamily="2" charset="0"/>
                <a:sym typeface="+mn-ea"/>
              </a:rPr>
              <a:t>时间和</a:t>
            </a:r>
            <a:r>
              <a:rPr lang="zh-CN" altLang="en-US" sz="1800">
                <a:solidFill>
                  <a:srgbClr val="0000CC"/>
                </a:solidFill>
                <a:cs typeface="Times New Roman" panose="02020603050405020304" pitchFamily="2" charset="0"/>
                <a:sym typeface="+mn-ea"/>
              </a:rPr>
              <a:t>到达</a:t>
            </a:r>
            <a:r>
              <a:rPr lang="zh-CN" altLang="en-US" sz="1800">
                <a:solidFill>
                  <a:srgbClr val="0000CC"/>
                </a:solidFill>
                <a:cs typeface="Times New Roman" panose="02020603050405020304" pitchFamily="2" charset="0"/>
                <a:sym typeface="+mn-ea"/>
              </a:rPr>
              <a:t>时间；航班时刻表一般按周编排，不是每个航班每天都有安排</a:t>
            </a:r>
            <a:r>
              <a:rPr lang="zh-CN" altLang="en-US" sz="1800">
                <a:solidFill>
                  <a:srgbClr val="0000CC"/>
                </a:solidFill>
                <a:cs typeface="Times New Roman" panose="02020603050405020304" pitchFamily="2" charset="0"/>
                <a:sym typeface="+mn-ea"/>
              </a:rPr>
              <a:t>。</a:t>
            </a:r>
            <a:endParaRPr lang="zh-CN" altLang="en-US" sz="1800">
              <a:solidFill>
                <a:srgbClr val="0000CC"/>
              </a:solidFill>
              <a:cs typeface="Times New Roman" panose="02020603050405020304" pitchFamily="2" charset="0"/>
              <a:sym typeface="+mn-ea"/>
            </a:endParaRPr>
          </a:p>
          <a:p>
            <a:pPr marL="367030" lvl="0" indent="-354330">
              <a:lnSpc>
                <a:spcPct val="100000"/>
              </a:lnSpc>
              <a:buFont typeface="+mj-ea"/>
              <a:buAutoNum type="circleNumDbPlain"/>
            </a:pPr>
            <a:r>
              <a:rPr lang="zh-CN" altLang="en-US" sz="1800">
                <a:solidFill>
                  <a:srgbClr val="0000CC"/>
                </a:solidFill>
                <a:cs typeface="Times New Roman" panose="02020603050405020304" pitchFamily="2" charset="0"/>
                <a:sym typeface="+mn-ea"/>
              </a:rPr>
              <a:t>航班动态表：记录每个航班的每次实际飞行情况，包括：承担本次航班任务的飞机；执飞本次航班的机组</a:t>
            </a:r>
            <a:r>
              <a:rPr lang="zh-CN" altLang="en-US" sz="1800">
                <a:solidFill>
                  <a:srgbClr val="0000CC"/>
                </a:solidFill>
                <a:cs typeface="Times New Roman" panose="02020603050405020304" pitchFamily="2" charset="0"/>
                <a:sym typeface="+mn-ea"/>
              </a:rPr>
              <a:t>人员，包括</a:t>
            </a:r>
            <a:r>
              <a:rPr lang="en-US" altLang="zh-CN" sz="1800">
                <a:solidFill>
                  <a:srgbClr val="0000CC"/>
                </a:solidFill>
                <a:cs typeface="Times New Roman" panose="02020603050405020304" pitchFamily="2" charset="0"/>
                <a:sym typeface="+mn-ea"/>
              </a:rPr>
              <a:t>1</a:t>
            </a:r>
            <a:r>
              <a:rPr lang="zh-CN" altLang="en-US" sz="1800">
                <a:solidFill>
                  <a:srgbClr val="0000CC"/>
                </a:solidFill>
                <a:cs typeface="Times New Roman" panose="02020603050405020304" pitchFamily="2" charset="0"/>
                <a:sym typeface="+mn-ea"/>
              </a:rPr>
              <a:t>名机长、</a:t>
            </a:r>
            <a:r>
              <a:rPr lang="en-US" altLang="zh-CN" sz="1800">
                <a:solidFill>
                  <a:srgbClr val="0000CC"/>
                </a:solidFill>
                <a:cs typeface="Times New Roman" panose="02020603050405020304" pitchFamily="2" charset="0"/>
                <a:sym typeface="+mn-ea"/>
              </a:rPr>
              <a:t>1</a:t>
            </a:r>
            <a:r>
              <a:rPr lang="zh-CN" altLang="en-US" sz="1800">
                <a:solidFill>
                  <a:srgbClr val="0000CC"/>
                </a:solidFill>
                <a:cs typeface="Times New Roman" panose="02020603050405020304" pitchFamily="2" charset="0"/>
                <a:sym typeface="+mn-ea"/>
              </a:rPr>
              <a:t>名副机长、</a:t>
            </a:r>
            <a:r>
              <a:rPr lang="en-US" altLang="zh-CN" sz="1800">
                <a:solidFill>
                  <a:srgbClr val="0000CC"/>
                </a:solidFill>
                <a:cs typeface="Times New Roman" panose="02020603050405020304" pitchFamily="2" charset="0"/>
                <a:sym typeface="+mn-ea"/>
              </a:rPr>
              <a:t>1</a:t>
            </a:r>
            <a:r>
              <a:rPr lang="zh-CN" altLang="en-US" sz="1800">
                <a:solidFill>
                  <a:srgbClr val="0000CC"/>
                </a:solidFill>
                <a:cs typeface="Times New Roman" panose="02020603050405020304" pitchFamily="2" charset="0"/>
                <a:sym typeface="+mn-ea"/>
              </a:rPr>
              <a:t>名乘务长和若干名乘务员；在</a:t>
            </a:r>
            <a:r>
              <a:rPr lang="zh-CN" altLang="en-US" sz="1800">
                <a:solidFill>
                  <a:srgbClr val="0000CC"/>
                </a:solidFill>
                <a:cs typeface="Times New Roman" panose="02020603050405020304" pitchFamily="2" charset="0"/>
                <a:sym typeface="+mn-ea"/>
              </a:rPr>
              <a:t>每个机场的实际到达时间和实际起飞时间；实际搭载</a:t>
            </a:r>
            <a:r>
              <a:rPr lang="zh-CN" altLang="en-US" sz="1800">
                <a:solidFill>
                  <a:srgbClr val="0000CC"/>
                </a:solidFill>
                <a:cs typeface="Times New Roman" panose="02020603050405020304" pitchFamily="2" charset="0"/>
                <a:sym typeface="+mn-ea"/>
              </a:rPr>
              <a:t>旅客人数。（在航班经经停机场的过程中，搭载旅客人数可能有增减）</a:t>
            </a:r>
            <a:endParaRPr lang="zh-CN" altLang="en-US" sz="1800" b="1">
              <a:solidFill>
                <a:srgbClr val="0000CC"/>
              </a:solidFill>
              <a:cs typeface="Times New Roman" panose="02020603050405020304" pitchFamily="2" charset="0"/>
            </a:endParaRPr>
          </a:p>
          <a:p>
            <a:pPr marL="367030" lvl="0" indent="-354330">
              <a:lnSpc>
                <a:spcPct val="100000"/>
              </a:lnSpc>
              <a:buFont typeface="+mj-ea"/>
              <a:buAutoNum type="circleNumDbPlain"/>
            </a:pPr>
            <a:r>
              <a:rPr lang="zh-CN" altLang="en-US" sz="1800">
                <a:solidFill>
                  <a:srgbClr val="0000CC"/>
                </a:solidFill>
                <a:cs typeface="Times New Roman" panose="02020603050405020304" pitchFamily="2" charset="0"/>
                <a:sym typeface="+mn-ea"/>
              </a:rPr>
              <a:t>一个航班一次只安排一架飞机飞行，</a:t>
            </a:r>
            <a:r>
              <a:rPr lang="zh-CN" altLang="en-US" sz="1800">
                <a:solidFill>
                  <a:srgbClr val="0000CC"/>
                </a:solidFill>
                <a:cs typeface="Times New Roman" panose="02020603050405020304" pitchFamily="2" charset="0"/>
                <a:sym typeface="+mn-ea"/>
              </a:rPr>
              <a:t>在经停过程中</a:t>
            </a:r>
            <a:r>
              <a:rPr lang="zh-CN" altLang="en-US" sz="1800">
                <a:solidFill>
                  <a:srgbClr val="0000CC"/>
                </a:solidFill>
                <a:cs typeface="Times New Roman" panose="02020603050405020304" pitchFamily="2" charset="0"/>
                <a:sym typeface="+mn-ea"/>
              </a:rPr>
              <a:t>航班号不变</a:t>
            </a:r>
            <a:r>
              <a:rPr lang="zh-CN" altLang="en-US" sz="1800">
                <a:solidFill>
                  <a:srgbClr val="0000CC"/>
                </a:solidFill>
                <a:cs typeface="Times New Roman" panose="02020603050405020304" pitchFamily="2" charset="0"/>
                <a:sym typeface="+mn-ea"/>
              </a:rPr>
              <a:t>、</a:t>
            </a:r>
            <a:r>
              <a:rPr lang="zh-CN" altLang="en-US" sz="1800">
                <a:solidFill>
                  <a:srgbClr val="0000CC"/>
                </a:solidFill>
                <a:cs typeface="Times New Roman" panose="02020603050405020304" pitchFamily="2" charset="0"/>
                <a:sym typeface="+mn-ea"/>
              </a:rPr>
              <a:t>不换飞机、不换机组人员</a:t>
            </a:r>
            <a:r>
              <a:rPr lang="zh-CN" altLang="en-US" sz="1800">
                <a:solidFill>
                  <a:srgbClr val="0000CC"/>
                </a:solidFill>
                <a:cs typeface="Times New Roman" panose="02020603050405020304" pitchFamily="2" charset="0"/>
                <a:sym typeface="+mn-ea"/>
              </a:rPr>
              <a:t>。</a:t>
            </a:r>
            <a:endParaRPr lang="zh-CN" altLang="en-US" sz="1800" b="1">
              <a:solidFill>
                <a:srgbClr val="0000CC"/>
              </a:solidFill>
              <a:cs typeface="Times New Roman" panose="02020603050405020304" pitchFamily="2" charset="0"/>
            </a:endParaRPr>
          </a:p>
          <a:p>
            <a:pPr marL="367030" lvl="0" indent="-354330">
              <a:lnSpc>
                <a:spcPct val="100000"/>
              </a:lnSpc>
              <a:buFont typeface="+mj-ea"/>
              <a:buAutoNum type="circleNumDbPlain"/>
            </a:pPr>
            <a:r>
              <a:rPr lang="zh-CN" altLang="en-US" sz="1800">
                <a:solidFill>
                  <a:srgbClr val="0000CC"/>
                </a:solidFill>
                <a:cs typeface="Times New Roman" panose="02020603050405020304" pitchFamily="2" charset="0"/>
                <a:sym typeface="+mn-ea"/>
              </a:rPr>
              <a:t>共享航班：有些航班并没有安排实际飞行的飞机，而是与另外某个航班共用同一架飞机，这被称为共享航班，提供飞机的航班被称为主航班。</a:t>
            </a:r>
            <a:endParaRPr lang="zh-CN" altLang="en-US" sz="1800">
              <a:solidFill>
                <a:srgbClr val="0000CC"/>
              </a:solidFill>
              <a:cs typeface="Times New Roman" panose="02020603050405020304" pitchFamily="2" charset="0"/>
              <a:sym typeface="+mn-ea"/>
            </a:endParaRPr>
          </a:p>
          <a:p>
            <a:pPr marL="367030" lvl="0" indent="-354330">
              <a:lnSpc>
                <a:spcPct val="100000"/>
              </a:lnSpc>
              <a:buFont typeface="+mj-ea"/>
              <a:buAutoNum type="circleNumDbPlain"/>
            </a:pPr>
            <a:r>
              <a:rPr lang="zh-CN" altLang="en-US" sz="1800">
                <a:solidFill>
                  <a:srgbClr val="0000CC"/>
                </a:solidFill>
                <a:cs typeface="Times New Roman" panose="02020603050405020304" pitchFamily="2" charset="0"/>
                <a:sym typeface="+mn-ea"/>
              </a:rPr>
              <a:t>航班号、飞机场编号、飞机编号、职工身份证号、航空公司编号、聘用合同号、</a:t>
            </a:r>
            <a:r>
              <a:rPr lang="zh-CN" altLang="en-US" sz="1800">
                <a:solidFill>
                  <a:srgbClr val="0000CC"/>
                </a:solidFill>
                <a:cs typeface="Times New Roman" panose="02020603050405020304" pitchFamily="2" charset="0"/>
                <a:sym typeface="+mn-ea"/>
              </a:rPr>
              <a:t>飞机驾驶执照编号、航空服务员证书编号是各个对象的标识属性；起飞时间和到达时间是时间戳</a:t>
            </a:r>
            <a:r>
              <a:rPr lang="zh-CN" altLang="en-US" sz="1800">
                <a:solidFill>
                  <a:srgbClr val="0000CC"/>
                </a:solidFill>
                <a:cs typeface="Times New Roman" panose="02020603050405020304" pitchFamily="2" charset="0"/>
                <a:sym typeface="+mn-ea"/>
              </a:rPr>
              <a:t>类型。</a:t>
            </a:r>
            <a:endParaRPr lang="zh-CN" altLang="en-US" sz="1800" b="1">
              <a:solidFill>
                <a:srgbClr val="0000CC"/>
              </a:solidFill>
              <a:cs typeface="Times New Roman" panose="02020603050405020304" pitchFamily="2" charset="0"/>
            </a:endParaRP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AutoNum type="arabicPeriod"/>
            </a:pPr>
            <a:r>
              <a:rPr lang="zh-CN" altLang="en-US" sz="1800">
                <a:solidFill>
                  <a:srgbClr val="0000CC"/>
                </a:solidFill>
                <a:cs typeface="Times New Roman" panose="02020603050405020304" pitchFamily="2" charset="0"/>
                <a:sym typeface="+mn-ea"/>
              </a:rPr>
              <a:t>请用EE-R模型表示该数据库系统的概念数据模型；</a:t>
            </a:r>
            <a:endParaRPr lang="zh-CN" altLang="en-US" sz="1800">
              <a:solidFill>
                <a:srgbClr val="0000CC"/>
              </a:solidFill>
              <a:cs typeface="Times New Roman" panose="02020603050405020304" pitchFamily="2" charset="0"/>
              <a:sym typeface="+mn-ea"/>
            </a:endParaRP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AutoNum type="arabicPeriod"/>
            </a:pPr>
            <a:r>
              <a:rPr lang="zh-CN" altLang="en-US" sz="1800" dirty="0">
                <a:solidFill>
                  <a:srgbClr val="0000CC"/>
                </a:solidFill>
                <a:cs typeface="Times New Roman" panose="02020603050405020304" pitchFamily="2" charset="0"/>
                <a:sym typeface="+mn-ea"/>
              </a:rPr>
              <a:t>请将上述概念数据模型转换成关系数据模型；</a:t>
            </a:r>
            <a:endParaRPr lang="zh-CN" altLang="en-US" sz="1800" dirty="0">
              <a:solidFill>
                <a:srgbClr val="0000CC"/>
              </a:solidFill>
              <a:cs typeface="Times New Roman" panose="02020603050405020304" pitchFamily="2" charset="0"/>
              <a:sym typeface="+mn-ea"/>
            </a:endParaRP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AutoNum type="arabicPeriod"/>
            </a:pPr>
            <a:r>
              <a:rPr lang="zh-CN" altLang="en-US" sz="1800" dirty="0">
                <a:solidFill>
                  <a:srgbClr val="0000CC"/>
                </a:solidFill>
                <a:cs typeface="Times New Roman" panose="02020603050405020304" pitchFamily="2" charset="0"/>
                <a:sym typeface="+mn-ea"/>
              </a:rPr>
              <a:t>请写出跟航班有关的关系</a:t>
            </a:r>
            <a:r>
              <a:rPr lang="zh-CN" altLang="en-US" sz="1800" dirty="0">
                <a:solidFill>
                  <a:srgbClr val="0000CC"/>
                </a:solidFill>
                <a:cs typeface="Times New Roman" panose="02020603050405020304" pitchFamily="2" charset="0"/>
                <a:sym typeface="+mn-ea"/>
              </a:rPr>
              <a:t>上的极小函数依赖集和候选码，并说明是否满足</a:t>
            </a:r>
            <a:r>
              <a:rPr lang="en-US" altLang="zh-CN" sz="1800" dirty="0">
                <a:solidFill>
                  <a:srgbClr val="0000CC"/>
                </a:solidFill>
                <a:cs typeface="Times New Roman" panose="02020603050405020304" pitchFamily="2" charset="0"/>
                <a:sym typeface="+mn-ea"/>
              </a:rPr>
              <a:t>3NF</a:t>
            </a:r>
            <a:r>
              <a:rPr lang="zh-CN" altLang="en-US" sz="1800" dirty="0">
                <a:solidFill>
                  <a:srgbClr val="0000CC"/>
                </a:solidFill>
                <a:cs typeface="Times New Roman" panose="02020603050405020304" pitchFamily="2" charset="0"/>
                <a:sym typeface="+mn-ea"/>
              </a:rPr>
              <a:t>和</a:t>
            </a:r>
            <a:r>
              <a:rPr lang="en-US" altLang="zh-CN" sz="1800" dirty="0">
                <a:solidFill>
                  <a:srgbClr val="0000CC"/>
                </a:solidFill>
                <a:cs typeface="Times New Roman" panose="02020603050405020304" pitchFamily="2" charset="0"/>
                <a:sym typeface="+mn-ea"/>
              </a:rPr>
              <a:t>BCNF</a:t>
            </a:r>
            <a:r>
              <a:rPr lang="zh-CN" altLang="en-US" sz="1800" dirty="0">
                <a:solidFill>
                  <a:srgbClr val="0000CC"/>
                </a:solidFill>
                <a:cs typeface="Times New Roman" panose="02020603050405020304" pitchFamily="2" charset="0"/>
                <a:sym typeface="+mn-ea"/>
              </a:rPr>
              <a:t>。</a:t>
            </a:r>
            <a:r>
              <a:rPr lang="en-US" altLang="zh-CN" sz="1800" dirty="0">
                <a:solidFill>
                  <a:srgbClr val="0000CC"/>
                </a:solidFill>
                <a:cs typeface="Times New Roman" panose="02020603050405020304" pitchFamily="2" charset="0"/>
                <a:sym typeface="+mn-ea"/>
              </a:rPr>
              <a:t>(</a:t>
            </a:r>
            <a:r>
              <a:rPr lang="zh-CN" altLang="en-US" sz="1800" dirty="0">
                <a:solidFill>
                  <a:srgbClr val="0000CC"/>
                </a:solidFill>
                <a:cs typeface="Times New Roman" panose="02020603050405020304" pitchFamily="2" charset="0"/>
                <a:sym typeface="+mn-ea"/>
              </a:rPr>
              <a:t>不需要写过程</a:t>
            </a:r>
            <a:r>
              <a:rPr lang="en-US" altLang="zh-CN" sz="1800" dirty="0">
                <a:solidFill>
                  <a:srgbClr val="0000CC"/>
                </a:solidFill>
                <a:cs typeface="Times New Roman" panose="02020603050405020304" pitchFamily="2" charset="0"/>
                <a:sym typeface="+mn-ea"/>
              </a:rPr>
              <a:t>)</a:t>
            </a:r>
            <a:endParaRPr lang="zh-CN" altLang="en-US" sz="1800" strike="noStrike" noProof="1" dirty="0">
              <a:solidFill>
                <a:srgbClr val="0000CC"/>
              </a:solidFill>
              <a:cs typeface="Times New Roman" panose="02020603050405020304" pitchFamily="2" charset="0"/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advClick="0"/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commondata" val="eyJoZGlkIjoiYWRkNGY5NWUwYjYwZDI4YzQxYTk2ZjNkOGZiZGU1MDEifQ=="/>
  <p:tag name="resource_record_key" val="{&quot;70&quot;:[3314500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794</Words>
  <Application>WPS 演示</Application>
  <PresentationFormat>宽屏</PresentationFormat>
  <Paragraphs>15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3" baseType="lpstr">
      <vt:lpstr>Arial</vt:lpstr>
      <vt:lpstr>宋体</vt:lpstr>
      <vt:lpstr>Wingdings</vt:lpstr>
      <vt:lpstr>楷体</vt:lpstr>
      <vt:lpstr>Wingdings</vt:lpstr>
      <vt:lpstr>华文细黑</vt:lpstr>
      <vt:lpstr>Times New Roman</vt:lpstr>
      <vt:lpstr>Wingdings 2</vt:lpstr>
      <vt:lpstr>微软雅黑</vt:lpstr>
      <vt:lpstr>Arial Unicode MS</vt:lpstr>
      <vt:lpstr>Calibri</vt:lpstr>
      <vt:lpstr>WPS</vt:lpstr>
      <vt:lpstr>H04 - 数据库设计（作业提交：PDF文件，文件名为‘学号+姓名’，提交截止时间：2024.05.28）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pc403</dc:creator>
  <cp:lastModifiedBy>百老汇</cp:lastModifiedBy>
  <cp:revision>194</cp:revision>
  <dcterms:created xsi:type="dcterms:W3CDTF">2023-08-09T12:44:00Z</dcterms:created>
  <dcterms:modified xsi:type="dcterms:W3CDTF">2024-05-21T12:41:18Z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D08EFEFE3EAF4785B8D973C8868709BC_13</vt:lpwstr>
  </property>
  <property fmtid="{D5CDD505-2E9C-101B-9397-08002B2CF9AE}" pid="3" name="KSOProductBuildVer">
    <vt:lpwstr>2052-12.1.0.16729</vt:lpwstr>
  </property>
</Properties>
</file>